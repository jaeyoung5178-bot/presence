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3f406a6ef2c41a6" /><Relationship Type="http://schemas.openxmlformats.org/officeDocument/2006/relationships/extended-properties" Target="/docProps/app.xml" Id="Rfc5e9870177c4a48" /><Relationship Type="http://schemas.openxmlformats.org/officeDocument/2006/relationships/officeDocument" Target="/ppt/presentation.xml" Id="Re567056a38a3445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7e4772f2baa4b05"/>
  </p:sldMasterIdLst>
  <p:notesMasterIdLst>
    <p:notesMasterId xmlns:r="http://schemas.openxmlformats.org/officeDocument/2006/relationships" r:id="Rc0a42559285b496c"/>
  </p:notesMasterIdLst>
  <p:sldIdLst>
    <p:sldId xmlns:r="http://schemas.openxmlformats.org/officeDocument/2006/relationships" id="256" r:id="R5a3911193d984ef5"/>
    <p:sldId xmlns:r="http://schemas.openxmlformats.org/officeDocument/2006/relationships" id="257" r:id="R7e9fe74424024872"/>
    <p:sldId xmlns:r="http://schemas.openxmlformats.org/officeDocument/2006/relationships" id="258" r:id="R11cdff0603214ac9"/>
    <p:sldId xmlns:r="http://schemas.openxmlformats.org/officeDocument/2006/relationships" id="259" r:id="Ra279ca4f4c1943d8"/>
    <p:sldId xmlns:r="http://schemas.openxmlformats.org/officeDocument/2006/relationships" id="260" r:id="R066029f3ea644f79"/>
    <p:sldId xmlns:r="http://schemas.openxmlformats.org/officeDocument/2006/relationships" id="261" r:id="R3fab1d48af964a3c"/>
    <p:sldId xmlns:r="http://schemas.openxmlformats.org/officeDocument/2006/relationships" id="262" r:id="R3a3544ad0ad24b6b"/>
    <p:sldId xmlns:r="http://schemas.openxmlformats.org/officeDocument/2006/relationships" id="263" r:id="Rd7b4cfc7894c4b42"/>
    <p:sldId xmlns:r="http://schemas.openxmlformats.org/officeDocument/2006/relationships" id="264" r:id="R1e7060040b7643ab"/>
    <p:sldId xmlns:r="http://schemas.openxmlformats.org/officeDocument/2006/relationships" id="265" r:id="R35300bd9c4944587"/>
    <p:sldId xmlns:r="http://schemas.openxmlformats.org/officeDocument/2006/relationships" id="266" r:id="Ra06d872261174aec"/>
    <p:sldId xmlns:r="http://schemas.openxmlformats.org/officeDocument/2006/relationships" id="267" r:id="R30de557749d945a1"/>
    <p:sldId xmlns:r="http://schemas.openxmlformats.org/officeDocument/2006/relationships" id="268" r:id="R627231799ae840fd"/>
    <p:sldId xmlns:r="http://schemas.openxmlformats.org/officeDocument/2006/relationships" id="269" r:id="R0bee8250f37449c0"/>
    <p:sldId xmlns:r="http://schemas.openxmlformats.org/officeDocument/2006/relationships" id="270" r:id="R372160a02ef2424e"/>
    <p:sldId xmlns:r="http://schemas.openxmlformats.org/officeDocument/2006/relationships" id="271" r:id="Rbe7b510517be442c"/>
    <p:sldId xmlns:r="http://schemas.openxmlformats.org/officeDocument/2006/relationships" id="272" r:id="Rbdf3834caa1c4c50"/>
    <p:sldId xmlns:r="http://schemas.openxmlformats.org/officeDocument/2006/relationships" id="273" r:id="R902744503da047e4"/>
    <p:sldId xmlns:r="http://schemas.openxmlformats.org/officeDocument/2006/relationships" id="274" r:id="Rd2f963559ea84b16"/>
    <p:sldId xmlns:r="http://schemas.openxmlformats.org/officeDocument/2006/relationships" id="275" r:id="Rf86f84d9b22f480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ac8fae35f48486b" /><Relationship Type="http://schemas.openxmlformats.org/officeDocument/2006/relationships/slideMaster" Target="/ppt/slideMasters/slideMaster1.xml" Id="R97e4772f2baa4b05" /><Relationship Type="http://schemas.openxmlformats.org/officeDocument/2006/relationships/notesMaster" Target="/ppt/notesMasters/notesMaster1.xml" Id="Rc0a42559285b496c" /><Relationship Type="http://schemas.openxmlformats.org/officeDocument/2006/relationships/presProps" Target="/ppt/presProps.xml" Id="R5bbd6ee132e447c9" /><Relationship Type="http://schemas.openxmlformats.org/officeDocument/2006/relationships/tableStyles" Target="/ppt/tableStyles.xml" Id="R0a88a4fef1604dbf" /><Relationship Type="http://schemas.openxmlformats.org/officeDocument/2006/relationships/slide" Target="/ppt/slides/slide1.xml" Id="R5a3911193d984ef5" /><Relationship Type="http://schemas.openxmlformats.org/officeDocument/2006/relationships/slide" Target="/ppt/slides/slide2.xml" Id="R7e9fe74424024872" /><Relationship Type="http://schemas.openxmlformats.org/officeDocument/2006/relationships/slide" Target="/ppt/slides/slide3.xml" Id="R11cdff0603214ac9" /><Relationship Type="http://schemas.openxmlformats.org/officeDocument/2006/relationships/slide" Target="/ppt/slides/slide4.xml" Id="Ra279ca4f4c1943d8" /><Relationship Type="http://schemas.openxmlformats.org/officeDocument/2006/relationships/slide" Target="/ppt/slides/slide5.xml" Id="R066029f3ea644f79" /><Relationship Type="http://schemas.openxmlformats.org/officeDocument/2006/relationships/slide" Target="/ppt/slides/slide6.xml" Id="R3fab1d48af964a3c" /><Relationship Type="http://schemas.openxmlformats.org/officeDocument/2006/relationships/slide" Target="/ppt/slides/slide7.xml" Id="R3a3544ad0ad24b6b" /><Relationship Type="http://schemas.openxmlformats.org/officeDocument/2006/relationships/slide" Target="/ppt/slides/slide8.xml" Id="Rd7b4cfc7894c4b42" /><Relationship Type="http://schemas.openxmlformats.org/officeDocument/2006/relationships/slide" Target="/ppt/slides/slide9.xml" Id="R1e7060040b7643ab" /><Relationship Type="http://schemas.openxmlformats.org/officeDocument/2006/relationships/slide" Target="/ppt/slides/slide10.xml" Id="R35300bd9c4944587" /><Relationship Type="http://schemas.openxmlformats.org/officeDocument/2006/relationships/slide" Target="/ppt/slides/slide11.xml" Id="Ra06d872261174aec" /><Relationship Type="http://schemas.openxmlformats.org/officeDocument/2006/relationships/slide" Target="/ppt/slides/slide12.xml" Id="R30de557749d945a1" /><Relationship Type="http://schemas.openxmlformats.org/officeDocument/2006/relationships/slide" Target="/ppt/slides/slide13.xml" Id="R627231799ae840fd" /><Relationship Type="http://schemas.openxmlformats.org/officeDocument/2006/relationships/slide" Target="/ppt/slides/slide14.xml" Id="R0bee8250f37449c0" /><Relationship Type="http://schemas.openxmlformats.org/officeDocument/2006/relationships/slide" Target="/ppt/slides/slide15.xml" Id="R372160a02ef2424e" /><Relationship Type="http://schemas.openxmlformats.org/officeDocument/2006/relationships/slide" Target="/ppt/slides/slide16.xml" Id="Rbe7b510517be442c" /><Relationship Type="http://schemas.openxmlformats.org/officeDocument/2006/relationships/slide" Target="/ppt/slides/slide17.xml" Id="Rbdf3834caa1c4c50" /><Relationship Type="http://schemas.openxmlformats.org/officeDocument/2006/relationships/slide" Target="/ppt/slides/slide18.xml" Id="R902744503da047e4" /><Relationship Type="http://schemas.openxmlformats.org/officeDocument/2006/relationships/slide" Target="/ppt/slides/slide19.xml" Id="Rd2f963559ea84b16" /><Relationship Type="http://schemas.openxmlformats.org/officeDocument/2006/relationships/slide" Target="/ppt/slides/slide20.xml" Id="Rf86f84d9b22f48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0b6a427401c46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d9cd302c6d24d9a" /><Relationship Type="http://schemas.openxmlformats.org/officeDocument/2006/relationships/notesMaster" Target="/ppt/notesMasters/notesMaster1.xml" Id="R545971de37ee4a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86a2d83761f4732" /><Relationship Type="http://schemas.openxmlformats.org/officeDocument/2006/relationships/notesMaster" Target="/ppt/notesMasters/notesMaster1.xml" Id="Re664fdab1e374d0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e890c4e83964736" /><Relationship Type="http://schemas.openxmlformats.org/officeDocument/2006/relationships/notesMaster" Target="/ppt/notesMasters/notesMaster1.xml" Id="R4544b673afb546f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3fbaa8aaaf14c46" /><Relationship Type="http://schemas.openxmlformats.org/officeDocument/2006/relationships/notesMaster" Target="/ppt/notesMasters/notesMaster1.xml" Id="R9f5af0230a8746b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05abca342c94fbf" /><Relationship Type="http://schemas.openxmlformats.org/officeDocument/2006/relationships/notesMaster" Target="/ppt/notesMasters/notesMaster1.xml" Id="Rc184a5efbc6c4f7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fa93e6a130d4640" /><Relationship Type="http://schemas.openxmlformats.org/officeDocument/2006/relationships/notesMaster" Target="/ppt/notesMasters/notesMaster1.xml" Id="Rf9677561ca7343b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9b4a87584bd4b02" /><Relationship Type="http://schemas.openxmlformats.org/officeDocument/2006/relationships/notesMaster" Target="/ppt/notesMasters/notesMaster1.xml" Id="R0be560358dae409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b2d363a7c144ad3" /><Relationship Type="http://schemas.openxmlformats.org/officeDocument/2006/relationships/notesMaster" Target="/ppt/notesMasters/notesMaster1.xml" Id="Rc9e193acfc5c43a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96dee6611d541b5" /><Relationship Type="http://schemas.openxmlformats.org/officeDocument/2006/relationships/notesMaster" Target="/ppt/notesMasters/notesMaster1.xml" Id="R4c48cb5600cd48e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2e595b1ae9b49aa" /><Relationship Type="http://schemas.openxmlformats.org/officeDocument/2006/relationships/notesMaster" Target="/ppt/notesMasters/notesMaster1.xml" Id="Rca71a0786d144e8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073ef01ec984928" /><Relationship Type="http://schemas.openxmlformats.org/officeDocument/2006/relationships/notesMaster" Target="/ppt/notesMasters/notesMaster1.xml" Id="Re20b7775720a4d3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c3bdf8ce9284596" /><Relationship Type="http://schemas.openxmlformats.org/officeDocument/2006/relationships/notesMaster" Target="/ppt/notesMasters/notesMaster1.xml" Id="R981b83d66a9d42e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7650bdfdc264330" /><Relationship Type="http://schemas.openxmlformats.org/officeDocument/2006/relationships/notesMaster" Target="/ppt/notesMasters/notesMaster1.xml" Id="R39cb232abb014b5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e3682008cd9401b" /><Relationship Type="http://schemas.openxmlformats.org/officeDocument/2006/relationships/notesMaster" Target="/ppt/notesMasters/notesMaster1.xml" Id="R3fb03442ef47418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f17035c6359418c" /><Relationship Type="http://schemas.openxmlformats.org/officeDocument/2006/relationships/notesMaster" Target="/ppt/notesMasters/notesMaster1.xml" Id="R9f5ecd603591461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85ea04d621b46cd" /><Relationship Type="http://schemas.openxmlformats.org/officeDocument/2006/relationships/notesMaster" Target="/ppt/notesMasters/notesMaster1.xml" Id="Re409e99a62cb488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cfbaf3a992f41e7" /><Relationship Type="http://schemas.openxmlformats.org/officeDocument/2006/relationships/notesMaster" Target="/ppt/notesMasters/notesMaster1.xml" Id="Red8d9cfabc714b8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ace1442e9bc4a66" /><Relationship Type="http://schemas.openxmlformats.org/officeDocument/2006/relationships/notesMaster" Target="/ppt/notesMasters/notesMaster1.xml" Id="Rd3603b50b3f74e1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39846d496fc4084" /><Relationship Type="http://schemas.openxmlformats.org/officeDocument/2006/relationships/notesMaster" Target="/ppt/notesMasters/notesMaster1.xml" Id="Rbc4fa9e4c35e405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08aba54ab5b4395" /><Relationship Type="http://schemas.openxmlformats.org/officeDocument/2006/relationships/notesMaster" Target="/ppt/notesMasters/notesMaster1.xml" Id="R4ee307d0945f4d8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FUTURE LEADERS MEETING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신입 IC 트레이닝 가이드</a:t>
            </a:r>
          </a:p>
          <a:p xmlns:a="http://schemas.openxmlformats.org/drawingml/2006/main">
            <a:r>
              <a:t>신입을 '나가면 반드시 세일즈하는' 사람으로 키우는 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 배우고 싶게 만들라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피드백 전에 관찰하라</a:t>
            </a:r>
          </a:p>
          <a:p xmlns:a="http://schemas.openxmlformats.org/drawingml/2006/main">
            <a:r>
              <a:t>임재영 AOP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 · 임재영 AOP. 배경: AI 생성 컨셉 이미지, 실제 팀 활동 기록 아님.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4</a:t>
            </a:r>
          </a:p>
          <a:p xmlns:a="http://schemas.openxmlformats.org/drawingml/2006/main">
            <a:r>
              <a:t>TRAINING PHILOSOPHY  ·  01</a:t>
            </a:r>
          </a:p>
          <a:p xmlns:a="http://schemas.openxmlformats.org/drawingml/2006/main">
            <a:r>
              <a:t>가르치기 전에, 먼저 배우고 싶게 만들라</a:t>
            </a:r>
          </a:p>
          <a:p xmlns:a="http://schemas.openxmlformats.org/drawingml/2006/main">
            <a:r>
              <a:t>"How to teach"보다 먼저 풀어야 할 것은 "Why they want to learn"이다.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동기가 먼저다</a:t>
            </a:r>
          </a:p>
          <a:p xmlns:a="http://schemas.openxmlformats.org/drawingml/2006/main">
            <a:r>
              <a:t>지식을 밀어넣기 전에 '하고 싶다'는 마음을 먼저 켠다. 동기 없는 신입에게 스킬은 흡수되지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쇼잉으로 욕망을 만든다</a:t>
            </a:r>
          </a:p>
          <a:p xmlns:a="http://schemas.openxmlformats.org/drawingml/2006/main">
            <a:r>
              <a:t>잘하는 모습을 직접 보여줘 '나도 저렇게 되고 싶다'를 끌어낸다. 첫날의 긍정 경험이 학습 엔진이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작은 성공을 빨리 준다</a:t>
            </a:r>
          </a:p>
          <a:p xmlns:a="http://schemas.openxmlformats.org/drawingml/2006/main">
            <a:r>
              <a:t>스스로 해냈다는 성취감이 다음 학습 의지를 만든다. 가르침은 그 의지 위에 얹는다.</a:t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5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01  |  『EMILE』</a:t>
            </a:r>
          </a:p>
          <a:p xmlns:a="http://schemas.openxmlformats.org/drawingml/2006/main">
            <a:r>
              <a:t>소극적 교육 — 가르치기 전에, 관찰하기</a:t>
            </a:r>
          </a:p>
          <a:p xmlns:a="http://schemas.openxmlformats.org/drawingml/2006/main">
            <a:r>
              <a:t>루소가 말한 가장 도발적인 개념. 가장 훌륭한 교육은 '아무것도 하지 않는 것처럼 보이는' 교육이다.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Negative Education</a:t>
            </a:r>
          </a:p>
          <a:p xmlns:a="http://schemas.openxmlformats.org/drawingml/2006/main">
            <a:r>
              <a:t>"가장 초기의 교육은 순전히 소극적이어야 한다. 덕이나 진리를 가르치는 데 있지 않고, 마음을 악덕으로부터, 정신을 오류로부터 지키는 데 있다."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"시간을 잃어라"</a:t>
            </a:r>
          </a:p>
          <a:p xmlns:a="http://schemas.openxmlformats.org/drawingml/2006/main">
            <a:r>
              <a:t>"가장 유용한 교육 규칙은 시간을 버는 것이 아니라, 시간을 잃는 것이다."</a:t>
            </a:r>
          </a:p>
          <a:p xmlns:a="http://schemas.openxmlformats.org/drawingml/2006/main">
            <a:r>
              <a:t>— 『에밀』 제2권</a:t>
            </a:r>
          </a:p>
          <a:p xmlns:a="http://schemas.openxmlformats.org/drawingml/2006/main">
            <a:r>
              <a:t>트레이닝에 적용하면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조급함이 가장 큰 위험</a:t>
            </a:r>
          </a:p>
          <a:p xmlns:a="http://schemas.openxmlformats.org/drawingml/2006/main">
            <a:r>
              <a:t>준비되지 않은 신입에게 억지로 주입하면, 텅빈 </a:t>
            </a:r>
          </a:p>
          <a:p xmlns:a="http://schemas.openxmlformats.org/drawingml/2006/main">
            <a:r>
              <a:t>암기에 그치고 오히려 진짜 이해를 방해한다.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먼저, 얼마나 이해했는지 관찰</a:t>
            </a:r>
          </a:p>
          <a:p xmlns:a="http://schemas.openxmlformats.org/drawingml/2006/main">
            <a:r>
              <a:t>가르치기 전에 트레이니가 무엇을, 어디까지 이해하고 있는지 관찰한다. 그 위에 필요한 것을 얹는다.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기다림이 가장 빠른 길</a:t>
            </a:r>
          </a:p>
          <a:p xmlns:a="http://schemas.openxmlformats.org/drawingml/2006/main">
            <a:r>
              <a:t>스스로 경험하고 성숙할 '시간'을 허락하는 것이, 멀리 보면 가장 빠른 성장의 길이다.</a:t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6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02</a:t>
            </a:r>
          </a:p>
          <a:p xmlns:a="http://schemas.openxmlformats.org/drawingml/2006/main">
            <a:r>
              <a:t>피드백 전에, 트레이니를 먼저 관찰하라</a:t>
            </a:r>
          </a:p>
          <a:p xmlns:a="http://schemas.openxmlformats.org/drawingml/2006/main">
            <a:r>
              <a:t>같은 피드백도 사람에 따라 독이 되고 약이 된다. 처방 전에 진단이 먼저다.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관찰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진단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맞춤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</a:t>
            </a:r>
          </a:p>
          <a:p xmlns:a="http://schemas.openxmlformats.org/drawingml/2006/main">
            <a:r>
              <a:t>2시간 뛰게 한 뒤 '할 만한가'를 본다. 결과보다 자세·의지가 먼저.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두려움의 위치</a:t>
            </a:r>
          </a:p>
          <a:p xmlns:a="http://schemas.openxmlformats.org/drawingml/2006/main">
            <a:r>
              <a:t>어디서 멈칫하는가 — 접근? 피치? 클로징? 두려움의 좌표를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 속도</a:t>
            </a:r>
          </a:p>
          <a:p xmlns:a="http://schemas.openxmlformats.org/drawingml/2006/main">
            <a:r>
              <a:t>어제 준 피드백이 오늘 반영되는가. 성장 곡선을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강점과 결</a:t>
            </a:r>
          </a:p>
          <a:p xmlns:a="http://schemas.openxmlformats.org/drawingml/2006/main">
            <a:r>
              <a:t>리액션형인가, 논리형인가. 사람의 결에 맞춰 코칭 방식을 바꾼다.</a:t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7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TRAINING PHILOSOPHY · 02</a:t>
            </a:r>
          </a:p>
          <a:p xmlns:a="http://schemas.openxmlformats.org/drawingml/2006/main">
            <a:r>
              <a:t>사람이 다르면, 트레이닝도 달라야 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필드에 나가기 전에, '이 사람이 어떤 사람인가'를 먼저 파악해야 한다. 관찰은 첫 만남이 아니라 그 이전부터 시작된다.</a:t>
            </a:r>
          </a:p>
          <a:p xmlns:a="http://schemas.openxmlformats.org/drawingml/2006/main">
            <a:r>
              <a:t>필드 전, 이렇게 준비한다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이력서를 꼼꼼히 읽자</a:t>
            </a:r>
          </a:p>
          <a:p xmlns:a="http://schemas.openxmlformats.org/drawingml/2006/main">
            <a:r>
              <a:t>경력·이전 직무·성향의 단서를 미리 읽는다. 어디서 일했고 무엇을 잘했는지가 트레이닝의 출발점이 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주변에 피드백을 요청하자</a:t>
            </a:r>
          </a:p>
          <a:p xmlns:a="http://schemas.openxmlformats.org/drawingml/2006/main">
            <a:r>
              <a:t>오너·클라이언트·교육자에게 '어떤 사람이었는지' 묻는다. 다양한 시선이 모이면 한 사람의 윤곽이 또렷해진다.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트레이닝을 미리 설계하자</a:t>
            </a:r>
          </a:p>
          <a:p xmlns:a="http://schemas.openxmlformats.org/drawingml/2006/main">
            <a:r>
              <a:t>필드에서 무엇을, 어떻게 가르칠지 사전에 고민한다. 준비된 관찰이 첫날의 시행착오를 줄인다.</a:t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8</a:t>
            </a:r>
          </a:p>
          <a:p xmlns:a="http://schemas.openxmlformats.org/drawingml/2006/main">
            <a:r>
              <a:t>TRAINING PHILOSOPHY  ·  03</a:t>
            </a:r>
          </a:p>
          <a:p xmlns:a="http://schemas.openxmlformats.org/drawingml/2006/main">
            <a:r>
              <a:t>신입에게 답이 있다</a:t>
            </a:r>
          </a:p>
          <a:p xmlns:a="http://schemas.openxmlformats.org/drawingml/2006/main">
            <a:r>
              <a:t>현장의 어려움은 현장에서 답을 찾는 것이 가장 좋다. 트레이닝도 마찬가지 — 신입에게 답이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1</a:t>
            </a:r>
          </a:p>
          <a:p xmlns:a="http://schemas.openxmlformats.org/drawingml/2006/main">
            <a:r>
              <a:t>어려워하는 부분 포착하기</a:t>
            </a:r>
          </a:p>
          <a:p xmlns:a="http://schemas.openxmlformats.org/drawingml/2006/main">
            <a:r>
              <a:t>신입이 이해 못 하거나 머뭇거리는 순간을 놓치지 않는다.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2</a:t>
            </a:r>
          </a:p>
          <a:p xmlns:a="http://schemas.openxmlformats.org/drawingml/2006/main">
            <a:r>
              <a:t>부드럽게 먼저 묻기</a:t>
            </a:r>
          </a:p>
          <a:p xmlns:a="http://schemas.openxmlformats.org/drawingml/2006/main">
            <a:r>
              <a:t>"왜 그 부분이 어렵고 이해가 안 되는지" 신입의 입으로 듣기 위해 질문해보자</a:t>
            </a:r>
          </a:p>
          <a:p xmlns:a="http://schemas.openxmlformats.org/drawingml/2006/main">
            <a:r>
              <a:t>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STEP 3</a:t>
            </a:r>
          </a:p>
          <a:p xmlns:a="http://schemas.openxmlformats.org/drawingml/2006/main">
            <a:r>
              <a:t>솔직하게 피드백하기</a:t>
            </a:r>
          </a:p>
          <a:p xmlns:a="http://schemas.openxmlformats.org/drawingml/2006/main">
            <a:r>
              <a:t>들은 내용을 바탕으로 솔직하게, </a:t>
            </a:r>
          </a:p>
          <a:p xmlns:a="http://schemas.openxmlformats.org/drawingml/2006/main">
            <a:r>
              <a:t>함께 답을 찾아가는 시간을 갖는다.</a:t>
            </a:r>
          </a:p>
          <a:p xmlns:a="http://schemas.openxmlformats.org/drawingml/2006/main">
            <a:r>
              <a:t>07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26</a:t>
            </a:r>
          </a:p>
          <a:p xmlns:a="http://schemas.openxmlformats.org/drawingml/2006/main">
            <a:r>
              <a:t>INSIGHT  ·  ON HUMAN &amp; EDUCATION</a:t>
            </a:r>
          </a:p>
          <a:p xmlns:a="http://schemas.openxmlformats.org/drawingml/2006/main">
            <a:r>
              <a:t>장 자크 루소, 『에밀』에서</a:t>
            </a:r>
          </a:p>
          <a:p xmlns:a="http://schemas.openxmlformats.org/drawingml/2006/main">
            <a:r>
              <a:t>"진리를 가르치는 것보다, 알고 싶고 배우고 싶은 욕구를 일으키는</a:t>
            </a:r>
          </a:p>
          <a:p xmlns:a="http://schemas.openxmlformats.org/drawingml/2006/main">
            <a:r>
              <a:t>방법이 더 중요하다. 교육자는 결코 </a:t>
            </a:r>
          </a:p>
          <a:p xmlns:a="http://schemas.openxmlformats.org/drawingml/2006/main">
            <a:r>
              <a:t>아이보다 앞서서는 안 된다."</a:t>
            </a:r>
          </a:p>
          <a:p xmlns:a="http://schemas.openxmlformats.org/drawingml/2006/main">
            <a:r>
              <a:t>— 장 자크 루소, 『에밀』 (1762)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우리의 트레이닝과 닿아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먼저 배우고 싶게</a:t>
            </a:r>
          </a:p>
          <a:p xmlns:a="http://schemas.openxmlformats.org/drawingml/2006/main">
            <a:r>
              <a:t>지식을 밀어넣기 전에 호기심과 욕구를 켠다 — 루소의 '욕구가 먼저'와 같은 출발점.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앞서지 말고 관찰하라</a:t>
            </a:r>
          </a:p>
          <a:p xmlns:a="http://schemas.openxmlformats.org/drawingml/2006/main">
            <a:r>
              <a:t>스스로 깨닫게 두되 꼭 필요할 때 최소한만. 관찰·경청이 피드백을 앞선다.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경험이 곧 배움</a:t>
            </a:r>
          </a:p>
          <a:p xmlns:a="http://schemas.openxmlformats.org/drawingml/2006/main">
            <a:r>
              <a:t>위험과 어려움은 위기가 아니라 기회. 필드의 경험으로 신입은 자란다.</a:t>
            </a:r>
          </a:p>
          <a:p xmlns:a="http://schemas.openxmlformats.org/drawingml/2006/main">
            <a:r>
              <a:t>결국 신입에게 답이 있다 — 트레이너는 그 답이 피어나도록 돕는 사람이다.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9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트레이너의 전제 조건</a:t>
            </a:r>
          </a:p>
          <a:p xmlns:a="http://schemas.openxmlformats.org/drawingml/2006/main">
            <a:r>
              <a:t>효과적인 신입 트레이닝은 트레이너의 역량과 일관된 표준에서 시작된다. </a:t>
            </a:r>
          </a:p>
          <a:p xmlns:a="http://schemas.openxmlformats.org/drawingml/2006/main">
            <a:r>
              <a:t>마치 '기초군사훈련’처럼 </a:t>
            </a:r>
          </a:p>
          <a:p xmlns:a="http://schemas.openxmlformats.org/drawingml/2006/main">
            <a:r>
              <a:t>누구에게나 동일하게 적용 가능해야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세일즈 역량</a:t>
            </a:r>
          </a:p>
          <a:p xmlns:a="http://schemas.openxmlformats.org/drawingml/2006/main">
            <a:r>
              <a:t>주 1회이상 벨-공 세일즈 증명</a:t>
            </a:r>
          </a:p>
          <a:p xmlns:a="http://schemas.openxmlformats.org/drawingml/2006/main">
            <a:r>
              <a:t>4시간 안에 세일즈 가능</a:t>
            </a:r>
          </a:p>
          <a:p xmlns:a="http://schemas.openxmlformats.org/drawingml/2006/main">
            <a:r>
              <a:t>신입에게 쇼잉할 수 있는 실전 능력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쇼잉(Showing)의 중요성</a:t>
            </a:r>
          </a:p>
          <a:p xmlns:a="http://schemas.openxmlformats.org/drawingml/2006/main">
            <a:r>
              <a:t>가장 효과적인 교육은 '직접 보여주기'</a:t>
            </a:r>
          </a:p>
          <a:p xmlns:a="http://schemas.openxmlformats.org/drawingml/2006/main">
            <a:r>
              <a:t>신입은 실제 과정을 관찰하며 학습</a:t>
            </a:r>
          </a:p>
          <a:p xmlns:a="http://schemas.openxmlformats.org/drawingml/2006/main">
            <a:r>
              <a:t>트레이너의 실전 역량 = 교육의 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스탠다드(표준) 적용 원칙</a:t>
            </a:r>
          </a:p>
          <a:p xmlns:a="http://schemas.openxmlformats.org/drawingml/2006/main">
            <a:r>
              <a:t>일관된 표준을 모든 신입에게 동일하게</a:t>
            </a:r>
          </a:p>
          <a:p xmlns:a="http://schemas.openxmlformats.org/drawingml/2006/main">
            <a:r>
              <a:t>개인 맞춤보다 기본 패턴 통일 우선</a:t>
            </a:r>
          </a:p>
          <a:p xmlns:a="http://schemas.openxmlformats.org/drawingml/2006/main">
            <a:r>
              <a:t>나가면 반드시 세일즈 가능한 기본기</a:t>
            </a:r>
          </a:p>
          <a:p xmlns:a="http://schemas.openxmlformats.org/drawingml/2006/main">
            <a:r>
              <a:t>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첫날은</a:t>
            </a:r>
          </a:p>
          <a:p xmlns:a="http://schemas.openxmlformats.org/drawingml/2006/main">
            <a:r>
              <a:t>경험의 날</a:t>
            </a:r>
          </a:p>
          <a:p xmlns:a="http://schemas.openxmlformats.org/drawingml/2006/main">
            <a:r>
              <a:t>성과보다 적응과 관찰. 신입이 '필드는 할 만하다'를 느끼게 하는 것이 첫날의 유일한 목표, 신입이 마음껏 시도하게 해주는 ”안전벨트”같은 리더십 발휘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 확인</a:t>
            </a:r>
          </a:p>
          <a:p xmlns:a="http://schemas.openxmlformats.org/drawingml/2006/main">
            <a:r>
              <a:t>세일즈 결과보다 반응·태도가 중요. 2시간쯤 뛰게 한 뒤 '할 만한지' 체크하고 기본 자세와 의지를 파악한다.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쇼잉 집중</a:t>
            </a:r>
          </a:p>
          <a:p xmlns:a="http://schemas.openxmlformats.org/drawingml/2006/main">
            <a:r>
              <a:t>신입보다 자신의 세일즈에 집중해 실제 과정을 직접 보여준다. 첫날은 곧 '쇼잉의 날'.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필드 두려움을 없애고 프리엠티브를 충분히 제공한다. ‘필드가 재미있다, 해볼만 하다'를 느끼게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긍정적 첫 경험</a:t>
            </a:r>
          </a:p>
          <a:p xmlns:a="http://schemas.openxmlformats.org/drawingml/2006/main">
            <a:r>
              <a:t>결과 압박 대신 환경 적응을 돕는다. 다음 날을 위한 심리적 준비를 만든다.</a:t>
            </a:r>
          </a:p>
          <a:p xmlns:a="http://schemas.openxmlformats.org/drawingml/2006/main">
            <a:r>
              <a:t>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10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첫날은</a:t>
            </a:r>
          </a:p>
          <a:p xmlns:a="http://schemas.openxmlformats.org/drawingml/2006/main">
            <a:r>
              <a:t>경험의 날</a:t>
            </a:r>
          </a:p>
          <a:p xmlns:a="http://schemas.openxmlformats.org/drawingml/2006/main">
            <a:r>
              <a:t>성과보다 적응과 관찰. 신입이 '필드는 할 만하다'를 느끼게 하는 것이 첫날의 유일한 목표, 신입이 마음껏 시도하게 해주는 ”안전벨트”같은 리더십 발휘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반응과 태도 확인</a:t>
            </a:r>
          </a:p>
          <a:p xmlns:a="http://schemas.openxmlformats.org/drawingml/2006/main">
            <a:r>
              <a:t>세일즈 결과보다 반응·태도가 중요. 2시간쯤 뛰게 한 뒤 '할 만한지' 체크하고 기본 자세와 의지를 파악한다.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트레이너의 쇼잉 집중</a:t>
            </a:r>
          </a:p>
          <a:p xmlns:a="http://schemas.openxmlformats.org/drawingml/2006/main">
            <a:r>
              <a:t>신입보다 자신의 세일즈에 집중해 실제 과정을 직접 보여준다. 첫날은 곧 '쇼잉의 날'.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필드 두려움을 없애고 프리엠티브를 충분히 제공한다. ‘필드가 재미있다, 해볼만 하다'를 느끼게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긍정적 첫 경험</a:t>
            </a:r>
          </a:p>
          <a:p xmlns:a="http://schemas.openxmlformats.org/drawingml/2006/main">
            <a:r>
              <a:t>결과 압박 대신 환경 적응을 돕는다. 다음 날을 위한 심리적 준비를 만든다.</a:t>
            </a:r>
          </a:p>
          <a:p xmlns:a="http://schemas.openxmlformats.org/drawingml/2006/main">
            <a:r>
              <a:t>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10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둘째 날은</a:t>
            </a:r>
          </a:p>
          <a:p xmlns:a="http://schemas.openxmlformats.org/drawingml/2006/main">
            <a:r>
              <a:t>학습의 날</a:t>
            </a:r>
          </a:p>
          <a:p xmlns:a="http://schemas.openxmlformats.org/drawingml/2006/main">
            <a:r>
              <a:t>첫날이 경험이었다면, 둘째 날은 학습이다. 신입이 반드시 세일즈 1개 이상을 달성하게 하는 가장 중요한 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첫 세일즈 달성 (매우 중요)</a:t>
            </a:r>
          </a:p>
          <a:p xmlns:a="http://schemas.openxmlformats.org/drawingml/2006/main">
            <a:r>
              <a:t>반드시 1개 이상을 함께 만들어낸다. 신입이 직접 성공을 체감하게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학습력 · 성장성 체크</a:t>
            </a:r>
          </a:p>
          <a:p xmlns:a="http://schemas.openxmlformats.org/drawingml/2006/main">
            <a:r>
              <a:t>학습 능력과 성장 가능성을 평가하고, 첫날 대비 개선점을 짚어 피드백한다.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트레이너와 신입의 균형</a:t>
            </a:r>
          </a:p>
          <a:p xmlns:a="http://schemas.openxmlformats.org/drawingml/2006/main">
            <a:r>
              <a:t>신입의 세일즈가 우선이지만 트레이너도 성과가 필요. 함께 내는 것이 이상적.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둘째 날의 의미</a:t>
            </a:r>
          </a:p>
          <a:p xmlns:a="http://schemas.openxmlformats.org/drawingml/2006/main">
            <a:r>
              <a:t>경험에서 '결과에 대한 학습'으로. 신입의 실질 역량을 가늠하는 시점.</a:t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11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12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THE FIRST 3 DAYS</a:t>
            </a:r>
          </a:p>
          <a:p xmlns:a="http://schemas.openxmlformats.org/drawingml/2006/main">
            <a:r>
              <a:t>DAY 3 · 판단의 날</a:t>
            </a:r>
          </a:p>
          <a:p xmlns:a="http://schemas.openxmlformats.org/drawingml/2006/main">
            <a:r>
              <a:t>셋째 날, Stay인가 Qualifying인가 (반드시 오너와 상의)</a:t>
            </a:r>
          </a:p>
          <a:p xmlns:a="http://schemas.openxmlformats.org/drawingml/2006/main">
            <a:r>
              <a:t>전략적 사이트 선택과 시간 확보로 '제로(0)'를 막고, 3일간의 성과 패턴으로 향후 가능성을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전략적 사이트 선택</a:t>
            </a:r>
          </a:p>
          <a:p xmlns:a="http://schemas.openxmlformats.org/drawingml/2006/main">
            <a:r>
              <a:t>신입이 벨을 칠 수 있는 사이트를 전략적으로 고르고 스케줄을 미리 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제로(0) 방지 전략</a:t>
            </a:r>
          </a:p>
          <a:p xmlns:a="http://schemas.openxmlformats.org/drawingml/2006/main">
            <a:r>
              <a:t>제로는 절대 금물. 시간 확보는 필수, 성공 가능성 높은 필드를 찾는다.</a:t>
            </a:r>
          </a:p>
          <a:p xmlns:a="http://schemas.openxmlformats.org/drawingml/2006/main">
            <a:r>
              <a:t>3일간 성과 → 판단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1 – 2</a:t>
            </a:r>
          </a:p>
          <a:p xmlns:a="http://schemas.openxmlformats.org/drawingml/2006/main">
            <a:r>
              <a:t>가장 이상적 · 리더로 육성 가능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2개</a:t>
            </a:r>
          </a:p>
          <a:p xmlns:a="http://schemas.openxmlformats.org/drawingml/2006/main">
            <a:r>
              <a:t>로드트립 제안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3일간 3개</a:t>
            </a:r>
          </a:p>
          <a:p xmlns:a="http://schemas.openxmlformats.org/drawingml/2006/main">
            <a:r>
              <a:t>의지와 센스 모두 보유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 – 0 – 0</a:t>
            </a:r>
          </a:p>
          <a:p xmlns:a="http://schemas.openxmlformats.org/drawingml/2006/main">
            <a:r>
              <a:t>의지·센스 부족 → 빠른 Qualifying</a:t>
            </a:r>
          </a:p>
          <a:p xmlns:a="http://schemas.openxmlformats.org/drawingml/2006/main">
            <a:r>
              <a:t>단, 모든 판단은 Case by Case — 기준 위에서 유연하게.</a:t>
            </a:r>
          </a:p>
          <a:p xmlns:a="http://schemas.openxmlformats.org/drawingml/2006/main">
            <a:r>
              <a:t>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13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13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5 Step 트레이닝</a:t>
            </a:r>
          </a:p>
          <a:p xmlns:a="http://schemas.openxmlformats.org/drawingml/2006/main">
            <a:r>
              <a:t>주목부터 재확인까지, 한 호흡으로 이어지는 표준 세일즈 흐름.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Intro</a:t>
            </a:r>
          </a:p>
          <a:p xmlns:a="http://schemas.openxmlformats.org/drawingml/2006/main">
            <a:r>
              <a:t>주목시키기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핵심은 '주목'. 시선과 발걸음을 멈춰 세운다. 적극적 리액션과 아이스브레이크로 '대화하고 싶은 분위기'를 만들고 경계심을 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Short Story</a:t>
            </a:r>
          </a:p>
          <a:p xmlns:a="http://schemas.openxmlformats.org/drawingml/2006/main">
            <a:r>
              <a:t>짧고 명확한 피치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짧은 피치 + Yes Question으로 긍정 응답률을 올린다. WOW 포인트를 활용해 흥미를 끌어올린다.</a:t>
            </a:r>
          </a:p>
          <a:p xmlns:a="http://schemas.openxmlformats.org/drawingml/2006/main">
            <a:r>
              <a:t>이때  Tone of Voice와 Body Language 를 상황에 맞게 활용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Presentation</a:t>
            </a:r>
          </a:p>
          <a:p xmlns:a="http://schemas.openxmlformats.org/drawingml/2006/main">
            <a:r>
              <a:t>해결책 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액션: 해결책으로 구호물품을 직접 보여준다. 효과: 구매 욕구를 최대치로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Closing · TAAIS</a:t>
            </a:r>
          </a:p>
          <a:p xmlns:a="http://schemas.openxmlformats.org/drawingml/2006/main">
            <a:r>
              <a:t>구매를 전제로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Trial(항상 시도) · Assumptive(구매 전제 대화) · Alternative · Indifference · Silence(선택권 부여와 침묵 활용).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Rehash</a:t>
            </a:r>
          </a:p>
          <a:p xmlns:a="http://schemas.openxmlformats.org/drawingml/2006/main">
            <a:r>
              <a:t>거래정보 재확인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거래 정보를 다시 확인해 취소율을 낮추고, 구매 만족도를 한 번 더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참고 · 5 Step 外</a:t>
            </a:r>
          </a:p>
          <a:p xmlns:a="http://schemas.openxmlformats.org/drawingml/2006/main">
            <a:r>
              <a:t>쿠션 멘트  피치 전반에 꼭 필요한 핵심 요소.  "바쁘시니까", "이미 좋은 일 많이 하시겠지만" 등으로 거절 확률을 낮춘다.</a:t>
            </a:r>
          </a:p>
          <a:p xmlns:a="http://schemas.openxmlformats.org/drawingml/2006/main">
            <a:r>
              <a:t>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15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WHAT</a:t>
            </a:r>
          </a:p>
          <a:p xmlns:a="http://schemas.openxmlformats.org/drawingml/2006/main">
            <a:r>
              <a:t>필드 전, 무엇을 준비하는가</a:t>
            </a:r>
          </a:p>
          <a:p xmlns:a="http://schemas.openxmlformats.org/drawingml/2006/main">
            <a:r>
              <a:t>필드에 나가기 전, 신입과 함께 점검하고 설계하는 것들.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피치 점검</a:t>
            </a:r>
          </a:p>
          <a:p xmlns:a="http://schemas.openxmlformats.org/drawingml/2006/main">
            <a:r>
              <a:t>피치 숙지·클로즈·약정서</a:t>
            </a:r>
          </a:p>
          <a:p xmlns:a="http://schemas.openxmlformats.org/drawingml/2006/main">
            <a:r>
              <a:t>핸들링 정도를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니즈 파악</a:t>
            </a:r>
          </a:p>
          <a:p xmlns:a="http://schemas.openxmlformats.org/drawingml/2006/main">
            <a:r>
              <a:t>내일 필드를 통해</a:t>
            </a:r>
          </a:p>
          <a:p xmlns:a="http://schemas.openxmlformats.org/drawingml/2006/main">
            <a:r>
              <a:t>무엇을 배우고 싶은지 묻는다.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목표 설정</a:t>
            </a:r>
          </a:p>
          <a:p xmlns:a="http://schemas.openxmlformats.org/drawingml/2006/main">
            <a:r>
              <a:t>필드시간·리해쉬·클로즈.</a:t>
            </a:r>
          </a:p>
          <a:p xmlns:a="http://schemas.openxmlformats.org/drawingml/2006/main">
            <a:r>
              <a:t>개인+섹터목표(AVG)까지 나누면 BEST.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사이트 전략 공유</a:t>
            </a:r>
          </a:p>
          <a:p xmlns:a="http://schemas.openxmlformats.org/drawingml/2006/main">
            <a:r>
              <a:t>사이트를 익숙하게 만들고 전략대로,</a:t>
            </a:r>
          </a:p>
          <a:p xmlns:a="http://schemas.openxmlformats.org/drawingml/2006/main">
            <a:r>
              <a:t>'나도 할 수 있다'는 기대를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사전 안내 (프리엠티브)</a:t>
            </a:r>
          </a:p>
          <a:p xmlns:a="http://schemas.openxmlformats.org/drawingml/2006/main">
            <a:r>
              <a:t>타 에이전시·우천 등 갑자기 닥치면</a:t>
            </a:r>
          </a:p>
          <a:p xmlns:a="http://schemas.openxmlformats.org/drawingml/2006/main">
            <a:r>
              <a:t>네거티브해지는 요소를 미리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필드 물품·복장 점검</a:t>
            </a:r>
          </a:p>
          <a:p xmlns:a="http://schemas.openxmlformats.org/drawingml/2006/main">
            <a:r>
              <a:t>콜백싯·조끼·아이디카드·</a:t>
            </a:r>
          </a:p>
          <a:p xmlns:a="http://schemas.openxmlformats.org/drawingml/2006/main">
            <a:r>
              <a:t>태블릿·부스 등을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16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HOW</a:t>
            </a:r>
          </a:p>
          <a:p xmlns:a="http://schemas.openxmlformats.org/drawingml/2006/main">
            <a:r>
              <a:t>필드 중, 어떻게 끌어가는가</a:t>
            </a:r>
          </a:p>
          <a:p xmlns:a="http://schemas.openxmlformats.org/drawingml/2006/main">
            <a:r>
              <a:t>필드 안에서 실시간으로 관찰하고, 보여주고, 케어한다.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트레이닝 대상 파악</a:t>
            </a:r>
          </a:p>
          <a:p xmlns:a="http://schemas.openxmlformats.org/drawingml/2006/main">
            <a:r>
              <a:t>어떤 유형인지,</a:t>
            </a:r>
          </a:p>
          <a:p xmlns:a="http://schemas.openxmlformats.org/drawingml/2006/main">
            <a:r>
              <a:t>어느 정도의 이해도인지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집중·계속 시도</a:t>
            </a:r>
          </a:p>
          <a:p xmlns:a="http://schemas.openxmlformats.org/drawingml/2006/main">
            <a:r>
              <a:t>계속되는 시도를 통해</a:t>
            </a:r>
          </a:p>
          <a:p xmlns:a="http://schemas.openxmlformats.org/drawingml/2006/main">
            <a:r>
              <a:t>객관적 데이터를 쌓게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상황에 맞는 피드백·점검</a:t>
            </a:r>
          </a:p>
          <a:p xmlns:a="http://schemas.openxmlformats.org/drawingml/2006/main">
            <a:r>
              <a:t>칭찬과 즉시 CS·넘버 피드백.</a:t>
            </a:r>
          </a:p>
          <a:p xmlns:a="http://schemas.openxmlformats.org/drawingml/2006/main">
            <a:r>
              <a:t>2시간마다 콜백싯을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보여주기 (Showing)</a:t>
            </a:r>
          </a:p>
          <a:p xmlns:a="http://schemas.openxmlformats.org/drawingml/2006/main">
            <a:r>
              <a:t>Showing Is The Best.</a:t>
            </a:r>
          </a:p>
          <a:p xmlns:a="http://schemas.openxmlformats.org/drawingml/2006/main">
            <a:r>
              <a:t>쉽고 빠른 벨로 직접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네거티브 파악</a:t>
            </a:r>
          </a:p>
          <a:p xmlns:a="http://schemas.openxmlformats.org/drawingml/2006/main">
            <a:r>
              <a:t>빠른 네거티브 파악과 해결,</a:t>
            </a:r>
          </a:p>
          <a:p xmlns:a="http://schemas.openxmlformats.org/drawingml/2006/main">
            <a:r>
              <a:t>그리고 멘탈 케어.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06</a:t>
            </a:r>
          </a:p>
          <a:p xmlns:a="http://schemas.openxmlformats.org/drawingml/2006/main">
            <a:r>
              <a:t>좋은 소식 공유</a:t>
            </a:r>
          </a:p>
          <a:p xmlns:a="http://schemas.openxmlformats.org/drawingml/2006/main">
            <a:r>
              <a:t>시민의 응원의 말,</a:t>
            </a:r>
          </a:p>
          <a:p xmlns:a="http://schemas.openxmlformats.org/drawingml/2006/main">
            <a:r>
              <a:t>후원자가 남긴 후원 사유를 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17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TIMING · WHY</a:t>
            </a:r>
          </a:p>
          <a:p xmlns:a="http://schemas.openxmlformats.org/drawingml/2006/main">
            <a:r>
              <a:t>필드 후, 무엇을 남기는가</a:t>
            </a:r>
          </a:p>
          <a:p xmlns:a="http://schemas.openxmlformats.org/drawingml/2006/main">
            <a:r>
              <a:t>하루를 돌아보고, 콜백싯 기준으로 피드백하고, 다음을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필드 소감 파악</a:t>
            </a:r>
          </a:p>
          <a:p xmlns:a="http://schemas.openxmlformats.org/drawingml/2006/main">
            <a:r>
              <a:t>오늘 하루 어땠는지 묻는다.</a:t>
            </a:r>
          </a:p>
          <a:p xmlns:a="http://schemas.openxmlformats.org/drawingml/2006/main">
            <a:r>
              <a:t>무엇을 배웠고, 좋았던 점과</a:t>
            </a:r>
          </a:p>
          <a:p xmlns:a="http://schemas.openxmlformats.org/drawingml/2006/main">
            <a:r>
              <a:t>아쉬운 점은 무엇이었는지.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콜백싯 기준 피드백</a:t>
            </a:r>
          </a:p>
          <a:p xmlns:a="http://schemas.openxmlformats.org/drawingml/2006/main">
            <a:r>
              <a:t>같이 필드한 사람들과 넘버를</a:t>
            </a:r>
          </a:p>
          <a:p xmlns:a="http://schemas.openxmlformats.org/drawingml/2006/main">
            <a:r>
              <a:t>비교하며, 넘버·스킬·태도의</a:t>
            </a:r>
          </a:p>
          <a:p xmlns:a="http://schemas.openxmlformats.org/drawingml/2006/main">
            <a:r>
              <a:t>보완점을 함께 이야기한다.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다음 교육 일정 안내 · 기본 5일</a:t>
            </a:r>
          </a:p>
          <a:p xmlns:a="http://schemas.openxmlformats.org/drawingml/2006/main">
            <a:r>
              <a:t>DAY 1</a:t>
            </a:r>
          </a:p>
          <a:p xmlns:a="http://schemas.openxmlformats.org/drawingml/2006/main">
            <a:r>
              <a:t>콜백싯 교육 기본 작성법</a:t>
            </a:r>
          </a:p>
          <a:p xmlns:a="http://schemas.openxmlformats.org/drawingml/2006/main">
            <a:r>
              <a:t>DAY 2</a:t>
            </a:r>
          </a:p>
          <a:p xmlns:a="http://schemas.openxmlformats.org/drawingml/2006/main">
            <a:r>
              <a:t>콜백싯 교육 분석 · Contact to Stop &amp; 부스 컨트롤</a:t>
            </a:r>
          </a:p>
          <a:p xmlns:a="http://schemas.openxmlformats.org/drawingml/2006/main">
            <a:r>
              <a:t>DAY 3</a:t>
            </a:r>
          </a:p>
          <a:p xmlns:a="http://schemas.openxmlformats.org/drawingml/2006/main">
            <a:r>
              <a:t>5 Steps</a:t>
            </a:r>
          </a:p>
          <a:p xmlns:a="http://schemas.openxmlformats.org/drawingml/2006/main">
            <a:r>
              <a:t>DAY 4</a:t>
            </a:r>
          </a:p>
          <a:p xmlns:a="http://schemas.openxmlformats.org/drawingml/2006/main">
            <a:r>
              <a:t>Closing</a:t>
            </a:r>
          </a:p>
          <a:p xmlns:a="http://schemas.openxmlformats.org/drawingml/2006/main">
            <a:r>
              <a:t>DAY 5</a:t>
            </a:r>
          </a:p>
          <a:p xmlns:a="http://schemas.openxmlformats.org/drawingml/2006/main">
            <a:r>
              <a:t>약정서 &amp; 리해쉬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개인별 맞춤 피드백</a:t>
            </a:r>
          </a:p>
          <a:p xmlns:a="http://schemas.openxmlformats.org/drawingml/2006/main">
            <a:r>
              <a:t>관찰로 약점을 진단한 뒤, 그 사람에게 맞는 처방을 내린다. — 관찰이 먼저, 피드백은 그 다음.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리액션이 약하다</a:t>
            </a:r>
          </a:p>
          <a:p xmlns:a="http://schemas.openxmlformats.org/drawingml/2006/main">
            <a:r>
              <a:t>리액션 강화</a:t>
            </a:r>
          </a:p>
          <a:p xmlns:a="http://schemas.openxmlformats.org/drawingml/2006/main">
            <a:r>
              <a:t>표정·제스처 훈련</a:t>
            </a:r>
          </a:p>
          <a:p xmlns:a="http://schemas.openxmlformats.org/drawingml/2006/main">
            <a:r>
              <a:t>고객 반응에 즉각 대응</a:t>
            </a:r>
          </a:p>
          <a:p xmlns:a="http://schemas.openxmlformats.org/drawingml/2006/main">
            <a:r>
              <a:t>임펄스·바디랭귀지</a:t>
            </a:r>
          </a:p>
          <a:p xmlns:a="http://schemas.openxmlformats.org/drawingml/2006/main">
            <a:r>
              <a:t>롤플레이 반복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부스 연결이 약하다</a:t>
            </a:r>
          </a:p>
          <a:p xmlns:a="http://schemas.openxmlformats.org/drawingml/2006/main">
            <a:r>
              <a:t>스트릿 스킬</a:t>
            </a:r>
          </a:p>
          <a:p xmlns:a="http://schemas.openxmlformats.org/drawingml/2006/main">
            <a:r>
              <a:t>접근 방법 다양화</a:t>
            </a:r>
          </a:p>
          <a:p xmlns:a="http://schemas.openxmlformats.org/drawingml/2006/main">
            <a:r>
              <a:t>첫인상 개선 훈련</a:t>
            </a:r>
          </a:p>
          <a:p xmlns:a="http://schemas.openxmlformats.org/drawingml/2006/main">
            <a:r>
              <a:t>거절 극복 기술</a:t>
            </a:r>
          </a:p>
          <a:p xmlns:a="http://schemas.openxmlformats.org/drawingml/2006/main">
            <a:r>
              <a:t>고객 유형별 접근법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클로징이 약하다</a:t>
            </a:r>
          </a:p>
          <a:p xmlns:a="http://schemas.openxmlformats.org/drawingml/2006/main">
            <a:r>
              <a:t>클로징 강화</a:t>
            </a:r>
          </a:p>
          <a:p xmlns:a="http://schemas.openxmlformats.org/drawingml/2006/main">
            <a:r>
              <a:t>TAAIS 집중 훈련</a:t>
            </a:r>
          </a:p>
          <a:p xmlns:a="http://schemas.openxmlformats.org/drawingml/2006/main">
            <a:r>
              <a:t>Buying sign 포착</a:t>
            </a:r>
          </a:p>
          <a:p xmlns:a="http://schemas.openxmlformats.org/drawingml/2006/main">
            <a:r>
              <a:t>침묵·대안 제시 기술</a:t>
            </a:r>
          </a:p>
          <a:p xmlns:a="http://schemas.openxmlformats.org/drawingml/2006/main">
            <a:r>
              <a:t>클로징 타이밍 습득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이미 잘한다</a:t>
            </a:r>
          </a:p>
          <a:p xmlns:a="http://schemas.openxmlformats.org/drawingml/2006/main">
            <a:r>
              <a:t>목표 상향</a:t>
            </a:r>
          </a:p>
          <a:p xmlns:a="http://schemas.openxmlformats.org/drawingml/2006/main">
            <a:r>
              <a:t>더 높은 목표 제시</a:t>
            </a:r>
          </a:p>
          <a:p xmlns:a="http://schemas.openxmlformats.org/drawingml/2006/main">
            <a:r>
              <a:t>자기주도 성장 유도</a:t>
            </a:r>
          </a:p>
          <a:p xmlns:a="http://schemas.openxmlformats.org/drawingml/2006/main">
            <a:r>
              <a:t>리더십·멘토링 기회</a:t>
            </a:r>
          </a:p>
          <a:p xmlns:a="http://schemas.openxmlformats.org/drawingml/2006/main">
            <a:r>
              <a:t>장기 커리어 설계</a:t>
            </a:r>
          </a:p>
          <a:p xmlns:a="http://schemas.openxmlformats.org/drawingml/2006/main">
            <a:r>
              <a:t>13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14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CAUTION</a:t>
            </a:r>
          </a:p>
          <a:p xmlns:a="http://schemas.openxmlformats.org/drawingml/2006/main">
            <a:r>
              <a:t>피드백할 때 주의사항</a:t>
            </a:r>
          </a:p>
          <a:p xmlns:a="http://schemas.openxmlformats.org/drawingml/2006/main">
            <a:r>
              <a:t>좋은 의도라도 방식이 틀리면 독이 된다. 다섯 가지를 기억한다.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감정·느낌이 아닌 기준으로</a:t>
            </a:r>
          </a:p>
          <a:p xmlns:a="http://schemas.openxmlformats.org/drawingml/2006/main">
            <a:r>
              <a:t>넘버·스킬·태도 모두 콜백싯 기준으로 피드백한다.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내 말이 아닌, 상대에게 필요한 말인가 (매우 중요)</a:t>
            </a:r>
          </a:p>
          <a:p xmlns:a="http://schemas.openxmlformats.org/drawingml/2006/main">
            <a:r>
              <a:t>하고 싶은 말보다 상대에게 정말 필요한 말인지 먼저 고민한다.</a:t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KISS — 간단·명료·눈높이</a:t>
            </a:r>
          </a:p>
          <a:p xmlns:a="http://schemas.openxmlformats.org/drawingml/2006/main">
            <a:r>
              <a:t>상대가 공감하기 좋은 예시로 쉽게 이해되도록 트레이닝한다.</a:t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COD 공부하기</a:t>
            </a:r>
          </a:p>
          <a:p xmlns:a="http://schemas.openxmlformats.org/drawingml/2006/main">
            <a:r>
              <a:t>올바른 정보인지 확인하고 피드백. 긴가민가한 이야기는 하지 않는다.</a:t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타이밍을 정해두기</a:t>
            </a:r>
          </a:p>
          <a:p xmlns:a="http://schemas.openxmlformats.org/drawingml/2006/main">
            <a:r>
              <a:t>꼭 필요한 상황 외엔 2시간에 1번. 그 사이엔 개인 목표 달성에 집중한다.</a:t>
            </a:r>
          </a:p>
          <a:p xmlns:a="http://schemas.openxmlformats.org/drawingml/2006/main">
            <a:r>
              <a:t>TIP   피드백 수용이 빠른 신입, 주거테리·유동이 적은 B패턴에는 전략적으로 피드백을 활용하면 좋다.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18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FEEDBACK · MODELS</a:t>
            </a:r>
          </a:p>
          <a:p xmlns:a="http://schemas.openxmlformats.org/drawingml/2006/main">
            <a:r>
              <a:t>사용 중인 피드백 모델</a:t>
            </a:r>
          </a:p>
          <a:p xmlns:a="http://schemas.openxmlformats.org/drawingml/2006/main">
            <a:r>
              <a:t>상황에 맞게 골라 쓰는 세 가지 피드백 프레임.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샌드위치 기법</a:t>
            </a:r>
          </a:p>
          <a:p xmlns:a="http://schemas.openxmlformats.org/drawingml/2006/main">
            <a:r>
              <a:t>“우쮸쮸..!”</a:t>
            </a:r>
          </a:p>
          <a:p xmlns:a="http://schemas.openxmlformats.org/drawingml/2006/main">
            <a:r>
              <a:t>긍정 → 개선점 → 긍정</a:t>
            </a:r>
          </a:p>
          <a:p xmlns:a="http://schemas.openxmlformats.org/drawingml/2006/main">
            <a:r>
              <a:t>긍정적인 피드백으로 시작해 개선점을 짚고, 다시 긍정으로 마무리한다.</a:t>
            </a:r>
          </a:p>
          <a:p xmlns:a="http://schemas.openxmlformats.org/drawingml/2006/main">
            <a:r>
              <a:t>“이것도 저것도 좋았는데, 이 부분만 이렇게 바꿔보면 어떨까요?”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SBI 모델</a:t>
            </a:r>
          </a:p>
          <a:p xmlns:a="http://schemas.openxmlformats.org/drawingml/2006/main">
            <a:r>
              <a:t>“직관적!”</a:t>
            </a:r>
          </a:p>
          <a:p xmlns:a="http://schemas.openxmlformats.org/drawingml/2006/main">
            <a:r>
              <a:t>상황 → 행동 → 영향</a:t>
            </a:r>
          </a:p>
          <a:p xmlns:a="http://schemas.openxmlformats.org/drawingml/2006/main">
            <a:r>
              <a:t>상황(Situation)</a:t>
            </a:r>
          </a:p>
          <a:p xmlns:a="http://schemas.openxmlformats.org/drawingml/2006/main">
            <a:r>
              <a:t>행동(Behavior)</a:t>
            </a:r>
          </a:p>
          <a:p xmlns:a="http://schemas.openxmlformats.org/drawingml/2006/main">
            <a:r>
              <a:t>영향(Impact)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“이럴 땐(상황) 이렇게(행동) 하면 이런 장점(영향)이 있어요!”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5R 코칭법</a:t>
            </a:r>
          </a:p>
          <a:p xmlns:a="http://schemas.openxmlformats.org/drawingml/2006/main">
            <a:r>
              <a:t>“디테일한 발전을 위해”</a:t>
            </a:r>
          </a:p>
          <a:p xmlns:a="http://schemas.openxmlformats.org/drawingml/2006/main">
            <a:r>
              <a:t>Relation · Refocus · Reality</a:t>
            </a:r>
          </a:p>
          <a:p xmlns:a="http://schemas.openxmlformats.org/drawingml/2006/main">
            <a:r>
              <a:t>Resources · Responsibility</a:t>
            </a:r>
          </a:p>
          <a:p xmlns:a="http://schemas.openxmlformats.org/drawingml/2006/main">
            <a:r>
              <a:t>관계형성 → 목표설정 → 현실 장애물 → 해결자원 → 책임지기.</a:t>
            </a:r>
          </a:p>
          <a:p xmlns:a="http://schemas.openxmlformats.org/drawingml/2006/main">
            <a:r>
              <a:t>목표는? 장애물은? 그럼에도 해결할 방법은? 언제까지 무엇을 할지 약속하고 지키게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19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SKILL TRAINING</a:t>
            </a:r>
          </a:p>
          <a:p xmlns:a="http://schemas.openxmlformats.org/drawingml/2006/main">
            <a:r>
              <a:t>트레이너도 콜백싯을 쓴다</a:t>
            </a:r>
          </a:p>
          <a:p xmlns:a="http://schemas.openxmlformats.org/drawingml/2006/main">
            <a:r>
              <a:t>신입이 필드 콜백싯으로 하루를 점검하듯, 트레이너는 같은 3축으로 '내가 신입을 위해 무엇을 챙겼는가'를 매일 점검한다.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Number</a:t>
            </a:r>
          </a:p>
          <a:p xmlns:a="http://schemas.openxmlformats.org/drawingml/2006/main">
            <a:r>
              <a:t>넘버를 쌓게 했는가</a:t>
            </a:r>
          </a:p>
          <a:p xmlns:a="http://schemas.openxmlformats.org/drawingml/2006/main">
            <a:r>
              <a:t>넘버를 쌓을 수 있는 사이트를 준비했는가</a:t>
            </a:r>
          </a:p>
          <a:p xmlns:a="http://schemas.openxmlformats.org/drawingml/2006/main">
            <a:r>
              <a:t>시도하도록 만드는 피드백을 했는가</a:t>
            </a:r>
          </a:p>
          <a:p xmlns:a="http://schemas.openxmlformats.org/drawingml/2006/main">
            <a:r>
              <a:t>거절 없는 시도 횟수를 끌어냈는가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Pitch · Skill</a:t>
            </a:r>
          </a:p>
          <a:p xmlns:a="http://schemas.openxmlformats.org/drawingml/2006/main">
            <a:r>
              <a:t>스킬을 보강했는가</a:t>
            </a:r>
          </a:p>
          <a:p xmlns:a="http://schemas.openxmlformats.org/drawingml/2006/main">
            <a:r>
              <a:t>약한 부분을 필드에서 바로 교육했는가</a:t>
            </a:r>
          </a:p>
          <a:p xmlns:a="http://schemas.openxmlformats.org/drawingml/2006/main">
            <a:r>
              <a:t>어떤 스킬이든 보강하도록 도왔는가</a:t>
            </a:r>
          </a:p>
          <a:p xmlns:a="http://schemas.openxmlformats.org/drawingml/2006/main">
            <a:r>
              <a:t>내일 바로 쓸 수 있게 알려줬는가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Attitude · Mental</a:t>
            </a:r>
          </a:p>
          <a:p xmlns:a="http://schemas.openxmlformats.org/drawingml/2006/main">
            <a:r>
              <a:t>멘탈을 지켜줬는가</a:t>
            </a:r>
          </a:p>
          <a:p xmlns:a="http://schemas.openxmlformats.org/drawingml/2006/main">
            <a:r>
              <a:t>불안·두려움 요소를 제거했는가</a:t>
            </a:r>
          </a:p>
          <a:p xmlns:a="http://schemas.openxmlformats.org/drawingml/2006/main">
            <a:r>
              <a:t>필드에 방해되는 마음을 케어했는가</a:t>
            </a:r>
          </a:p>
          <a:p xmlns:a="http://schemas.openxmlformats.org/drawingml/2006/main">
            <a:r>
              <a:t>필드에 온전히 집중하게 해줬는가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매일 반복</a:t>
            </a:r>
          </a:p>
          <a:p xmlns:a="http://schemas.openxmlformats.org/drawingml/2006/main">
            <a:r>
              <a:t>이 세 가지를 매일 점검하면, 트레이닝이 성장한다.  신입의 콜백싯이 신입을 키우듯, 트레이너의 콜백싯이 트레이너를 키운다.</a:t>
            </a:r>
          </a:p>
          <a:p xmlns:a="http://schemas.openxmlformats.org/drawingml/2006/main">
            <a:r>
              <a:t>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20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자립을 위한 6주 전략</a:t>
            </a:r>
          </a:p>
          <a:p xmlns:a="http://schemas.openxmlformats.org/drawingml/2006/main">
            <a:r>
              <a:t>신입이 필드에 완전히 적응하기까지 약 6주. 이 기간 동안 전략적인 스케줄 관리와 필드 시간 확보가 자립의 핵심이다.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리더힛, 2주 이내</a:t>
            </a:r>
          </a:p>
          <a:p xmlns:a="http://schemas.openxmlformats.org/drawingml/2006/main">
            <a:r>
              <a:t>리더힛은 2주 이내 달성이 이상적. 전략적으로 스케줄과 필드 시간을 확보하고, 신입의 성장 속도에 맞춰 목표를 설정한다.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6주 필드 적응</a:t>
            </a:r>
          </a:p>
          <a:p xmlns:a="http://schemas.openxmlformats.org/drawingml/2006/main">
            <a:r>
              <a:t>필드 적응에는 약 6주가 소요. 3–5주차에 로드트립을 적극 활용하며 단계별 성장 과정을 모니터링한다.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Self 세일즈 준비</a:t>
            </a:r>
          </a:p>
          <a:p xmlns:a="http://schemas.openxmlformats.org/drawingml/2006/main">
            <a:r>
              <a:t>혼자 세일즈해야 하는 시점을 미리 안내하고 프리엠티브한다. 심리적 준비와 실전 역량을 동시에 강화한다.</a:t>
            </a:r>
          </a:p>
          <a:p xmlns:a="http://schemas.openxmlformats.org/drawingml/2006/main">
            <a:r>
              <a:t>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21 · 임재영 AOP.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22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트레이너의 3가지 핵심 역할</a:t>
            </a:r>
          </a:p>
          <a:p xmlns:a="http://schemas.openxmlformats.org/drawingml/2006/main">
            <a:r>
              <a:t>신입이 '자발적으로' 성장하는 환경을 만드는 세 개의 레버.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성취감 제공</a:t>
            </a:r>
          </a:p>
          <a:p xmlns:a="http://schemas.openxmlformats.org/drawingml/2006/main">
            <a:r>
              <a:t>'내가 직접 해냈다'를 느끼게 한다.</a:t>
            </a:r>
          </a:p>
          <a:p xmlns:a="http://schemas.openxmlformats.org/drawingml/2006/main">
            <a:r>
              <a:t>두려워하면 돕고, 아니면 혼자 하게.</a:t>
            </a:r>
          </a:p>
          <a:p xmlns:a="http://schemas.openxmlformats.org/drawingml/2006/main">
            <a:r>
              <a:t>두려움 수준 파악이 판단 기준.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두려움 제거</a:t>
            </a:r>
          </a:p>
          <a:p xmlns:a="http://schemas.openxmlformats.org/drawingml/2006/main">
            <a:r>
              <a:t>초기엔 충분한 서포트를 제공.</a:t>
            </a:r>
          </a:p>
          <a:p xmlns:a="http://schemas.openxmlformats.org/drawingml/2006/main">
            <a:r>
              <a:t>점진적으로 독립성을 부여.</a:t>
            </a:r>
          </a:p>
          <a:p xmlns:a="http://schemas.openxmlformats.org/drawingml/2006/main">
            <a:r>
              <a:t>안전한 환경에서 도전하게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인정과 칭찬</a:t>
            </a:r>
          </a:p>
          <a:p xmlns:a="http://schemas.openxmlformats.org/drawingml/2006/main">
            <a:r>
              <a:t>인정·칭찬을 아끼지 않는다.</a:t>
            </a:r>
          </a:p>
          <a:p xmlns:a="http://schemas.openxmlformats.org/drawingml/2006/main">
            <a:r>
              <a:t>사람은 인정받을 때 주도적이 된다.</a:t>
            </a:r>
          </a:p>
          <a:p xmlns:a="http://schemas.openxmlformats.org/drawingml/2006/main">
            <a:r>
              <a:t>혼냄은 효과 없음 — 스스로 깨닫게.</a:t>
            </a:r>
          </a:p>
          <a:p xmlns:a="http://schemas.openxmlformats.org/drawingml/2006/main">
            <a:r>
              <a:t>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24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매슬로우 5단계 욕구</a:t>
            </a:r>
          </a:p>
          <a:p xmlns:a="http://schemas.openxmlformats.org/drawingml/2006/main">
            <a:r>
              <a:t>사람은 아래 욕구가 채워지면 더 높은 욕구를 향한다. 트레이너는 신입을 단계마다 끌어올린다.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05</a:t>
            </a:r>
          </a:p>
          <a:p xmlns:a="http://schemas.openxmlformats.org/drawingml/2006/main">
            <a:r>
              <a:t>자아실현  Self-Actualization</a:t>
            </a:r>
          </a:p>
          <a:p xmlns:a="http://schemas.openxmlformats.org/drawingml/2006/main">
            <a:r>
              <a:t>더 큰 목표·성장. 스스로 리더로 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04</a:t>
            </a:r>
          </a:p>
          <a:p xmlns:a="http://schemas.openxmlformats.org/drawingml/2006/main">
            <a:r>
              <a:t>존중  Esteem</a:t>
            </a:r>
          </a:p>
          <a:p xmlns:a="http://schemas.openxmlformats.org/drawingml/2006/main">
            <a:r>
              <a:t>인정과 칭찬. 성취를 알아준다.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03</a:t>
            </a:r>
          </a:p>
          <a:p xmlns:a="http://schemas.openxmlformats.org/drawingml/2006/main">
            <a:r>
              <a:t>소속·애정  Love &amp; Belonging</a:t>
            </a:r>
          </a:p>
          <a:p xmlns:a="http://schemas.openxmlformats.org/drawingml/2006/main">
            <a:r>
              <a:t>팀의 일원이라는 소속감을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02</a:t>
            </a:r>
          </a:p>
          <a:p xmlns:a="http://schemas.openxmlformats.org/drawingml/2006/main">
            <a:r>
              <a:t>안전  Safety</a:t>
            </a:r>
          </a:p>
          <a:p xmlns:a="http://schemas.openxmlformats.org/drawingml/2006/main">
            <a:r>
              <a:t>두려움 제거. 안전한 환경에서 도전.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01</a:t>
            </a:r>
          </a:p>
          <a:p xmlns:a="http://schemas.openxmlformats.org/drawingml/2006/main">
            <a:r>
              <a:t>생리적 욕구  Physiological</a:t>
            </a:r>
          </a:p>
          <a:p xmlns:a="http://schemas.openxmlformats.org/drawingml/2006/main">
            <a:r>
              <a:t>기본 생계·수입. 가장 먼저 채워질 토대.</a:t>
            </a:r>
          </a:p>
          <a:p xmlns:a="http://schemas.openxmlformats.org/drawingml/2006/main">
            <a:r>
              <a:t>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23</a:t>
            </a:r>
          </a:p>
          <a:p xmlns:a="http://schemas.openxmlformats.org/drawingml/2006/main">
            <a:r>
              <a:t>ALWAYS BE LEADER</a:t>
            </a:r>
          </a:p>
          <a:p xmlns:a="http://schemas.openxmlformats.org/drawingml/2006/main">
            <a:r>
              <a:t>캔슬 관리 &amp; 그로스 집중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캔슬은 '그로스(Gross)'에만 집중하는 것이 옳은 방향. 캔슬에 대한 두려움은 오히려 세일즈에 대한 확신을 떨어뜨린다.</a:t>
            </a:r>
          </a:p>
          <a:p xmlns:a="http://schemas.openxmlformats.org/drawingml/2006/main">
            <a:r>
              <a:t>다만 리젝은 자연스러운 것 + 수치(20-30%)만큼 발생할 수 있다는 심리적 준비가 되도록 건강한 매니징 필요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매니지먼트 영역</a:t>
            </a:r>
          </a:p>
          <a:p xmlns:a="http://schemas.openxmlformats.org/drawingml/2006/main">
            <a:r>
              <a:t>캔슬은 지점 차원에서 관리. IC 개인이 과도하게 신경 쓸 부분이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BEP 대비 타겟 조정</a:t>
            </a:r>
          </a:p>
          <a:p xmlns:a="http://schemas.openxmlformats.org/drawingml/2006/main">
            <a:r>
              <a:t>손익분기점(BEP) 대비 세일즈 타겟을 분명히. 최종 + 수익이 얼마인가가 중요.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그로스(Gross) 집중</a:t>
            </a:r>
          </a:p>
          <a:p xmlns:a="http://schemas.openxmlformats.org/drawingml/2006/main">
            <a:r>
              <a:t>캔슬을 두려워하면 세일즈 Drop으로 이어진다. 총매출에만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하이롤러 리젝 대응</a:t>
            </a:r>
          </a:p>
          <a:p xmlns:a="http://schemas.openxmlformats.org/drawingml/2006/main">
            <a:r>
              <a:t>하이롤러는 1일 1건 리젝 리스크. 사전 프리엠티브가 핵심 </a:t>
            </a:r>
          </a:p>
          <a:p xmlns:a="http://schemas.openxmlformats.org/drawingml/2006/main">
            <a:r>
              <a:t>(주 10세일즈+).</a:t>
            </a:r>
          </a:p>
          <a:p xmlns:a="http://schemas.openxmlformats.org/drawingml/2006/main">
            <a:r>
              <a:t>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25</a:t>
            </a:r>
          </a:p>
          <a:p xmlns:a="http://schemas.openxmlformats.org/drawingml/2006/main">
            <a:r>
              <a:t>WRAP-UP</a:t>
            </a:r>
          </a:p>
          <a:p xmlns:a="http://schemas.openxmlformats.org/drawingml/2006/main">
            <a:r>
              <a:t>결과 판단 &amp;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트레이너의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50%  신입의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STAY</a:t>
            </a:r>
          </a:p>
          <a:p xmlns:a="http://schemas.openxmlformats.org/drawingml/2006/main">
            <a:r>
              <a:t>결과가 좋거나 기준 도달 확신이 있으면 — 머무르게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QUALIFYING</a:t>
            </a:r>
          </a:p>
          <a:p xmlns:a="http://schemas.openxmlformats.org/drawingml/2006/main">
            <a:r>
              <a:t>최소 기준 도달이 어렵고 확신이 없으면 — 과감하게 결정한다.</a:t>
            </a:r>
          </a:p>
          <a:p xmlns:a="http://schemas.openxmlformats.org/drawingml/2006/main">
            <a:r>
              <a:t>실제 트레이닝은 Case by Case. 명확한 기준과 일관된 원칙을 유지하되, 개별 상황의 특수성을 고려해 최선의 결정을 내린다.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원본 슬라이드 27</a:t>
            </a:r>
          </a:p>
          <a:p xmlns:a="http://schemas.openxmlformats.org/drawingml/2006/main">
            <a:r>
              <a:t>WHY I WANTED TO LEAD · 리더가 되고 싶었던 이유</a:t>
            </a:r>
          </a:p>
          <a:p xmlns:a="http://schemas.openxmlformats.org/drawingml/2006/main">
            <a:r>
              <a:t>내가 리더가 되고 싶었던 10가지 이유</a:t>
            </a:r>
          </a:p>
          <a:p xmlns:a="http://schemas.openxmlformats.org/drawingml/2006/main">
            <a:r>
              <a:t>루소가 말한 '아이보다 앞서지 않는' 교육처럼 — 딱 한 걸음 앞서 기다리는 리더가 되고 싶었다.</a:t>
            </a:r>
          </a:p>
          <a:p xmlns:a="http://schemas.openxmlformats.org/drawingml/2006/main">
            <a:r>
              <a:t>01   세일즈웍스의 첫 번째 목표여서</a:t>
            </a:r>
          </a:p>
          <a:p xmlns:a="http://schemas.openxmlformats.org/drawingml/2006/main">
            <a:r>
              <a:t>02   내 가치관이 담긴 팀을 만들 수 있어서</a:t>
            </a:r>
          </a:p>
          <a:p xmlns:a="http://schemas.openxmlformats.org/drawingml/2006/main">
            <a:r>
              <a:t>03   누군가의 리더가 된다는 것이 기뻐서</a:t>
            </a:r>
          </a:p>
          <a:p xmlns:a="http://schemas.openxmlformats.org/drawingml/2006/main">
            <a:r>
              <a:t>04   'OO리'라 불리는 친근함이 좋아서</a:t>
            </a:r>
          </a:p>
          <a:p xmlns:a="http://schemas.openxmlformats.org/drawingml/2006/main">
            <a:r>
              <a:t>05   조끼·피치카드·사물함을 쓸 수 있어서</a:t>
            </a:r>
          </a:p>
          <a:p xmlns:a="http://schemas.openxmlformats.org/drawingml/2006/main">
            <a:r>
              <a:t>06   리더라는 위치가 동기부여가 되어서</a:t>
            </a:r>
          </a:p>
          <a:p xmlns:a="http://schemas.openxmlformats.org/drawingml/2006/main">
            <a:r>
              <a:t>07   상위 프로모션에 도전할 수 있어서</a:t>
            </a:r>
          </a:p>
          <a:p xmlns:a="http://schemas.openxmlformats.org/drawingml/2006/main">
            <a:r>
              <a:t>08   리더힛 부담이 아닌 더 큰 비전으로</a:t>
            </a:r>
          </a:p>
          <a:p xmlns:a="http://schemas.openxmlformats.org/drawingml/2006/main">
            <a:r>
              <a:t>09   섬기고 돕는 자리에서만 배울 수 있어서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</a:t>
            </a:r>
          </a:p>
          <a:p xmlns:a="http://schemas.openxmlformats.org/drawingml/2006/main">
            <a:r>
              <a:t>이런 리더가 되고 싶어서</a:t>
            </a:r>
          </a:p>
          <a:p xmlns:a="http://schemas.openxmlformats.org/drawingml/2006/main">
            <a:r>
              <a:t>아주 먼 곳까지 내다보되, 앞서 달음박질하지 않고</a:t>
            </a:r>
          </a:p>
          <a:p xmlns:a="http://schemas.openxmlformats.org/drawingml/2006/main">
            <a:r>
              <a:t>언제든 따라올 수 있도록 딱 한 걸음 앞서 기다릴 줄 아는 리더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ONE-PAGE GUIDE</a:t>
            </a:r>
          </a:p>
          <a:p xmlns:a="http://schemas.openxmlformats.org/drawingml/2006/main">
            <a:r>
              <a:t>신입 트레이닝 1–3일, 한 장 요약</a:t>
            </a:r>
          </a:p>
          <a:p xmlns:a="http://schemas.openxmlformats.org/drawingml/2006/main">
            <a:r>
              <a:t>나가면 반드시 세일즈하는 신입으로</a:t>
            </a:r>
          </a:p>
          <a:p xmlns:a="http://schemas.openxmlformats.org/drawingml/2006/main">
            <a:r>
              <a:t>DAY별 필수 액션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1</a:t>
            </a:r>
          </a:p>
          <a:p xmlns:a="http://schemas.openxmlformats.org/drawingml/2006/main">
            <a:r>
              <a:t>경험</a:t>
            </a:r>
          </a:p>
          <a:p xmlns:a="http://schemas.openxmlformats.org/drawingml/2006/main">
            <a:r>
              <a:t>2시간 뛰게 한 뒤 반응·태도 관찰</a:t>
            </a:r>
          </a:p>
          <a:p xmlns:a="http://schemas.openxmlformats.org/drawingml/2006/main">
            <a:r>
              <a:t>트레이너가 직접 쇼잉</a:t>
            </a:r>
          </a:p>
          <a:p xmlns:a="http://schemas.openxmlformats.org/drawingml/2006/main">
            <a:r>
              <a:t>두려움 제거 · 프리엠티브</a:t>
            </a:r>
          </a:p>
          <a:p xmlns:a="http://schemas.openxmlformats.org/drawingml/2006/main">
            <a:r>
              <a:t>제로 방지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2</a:t>
            </a:r>
          </a:p>
          <a:p xmlns:a="http://schemas.openxmlformats.org/drawingml/2006/main">
            <a:r>
              <a:t>학습</a:t>
            </a:r>
          </a:p>
          <a:p xmlns:a="http://schemas.openxmlformats.org/drawingml/2006/main">
            <a:r>
              <a:t>첫 세일즈 1개 함께 달성(필수)</a:t>
            </a:r>
          </a:p>
          <a:p xmlns:a="http://schemas.openxmlformats.org/drawingml/2006/main">
            <a:r>
              <a:t>학습력 · 성장성 체크</a:t>
            </a:r>
          </a:p>
          <a:p xmlns:a="http://schemas.openxmlformats.org/drawingml/2006/main">
            <a:r>
              <a:t>첫날 대비 개선점 피드백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DAY 3</a:t>
            </a:r>
          </a:p>
          <a:p xmlns:a="http://schemas.openxmlformats.org/drawingml/2006/main">
            <a:r>
              <a:t>판단</a:t>
            </a:r>
          </a:p>
          <a:p xmlns:a="http://schemas.openxmlformats.org/drawingml/2006/main">
            <a:r>
              <a:t>전략적 사이트 선택</a:t>
            </a:r>
          </a:p>
          <a:p xmlns:a="http://schemas.openxmlformats.org/drawingml/2006/main">
            <a:r>
              <a:t>3일 성과 패턴으로 판단</a:t>
            </a:r>
          </a:p>
          <a:p xmlns:a="http://schemas.openxmlformats.org/drawingml/2006/main">
            <a:r>
              <a:t>Stay / Qualifying 결정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가져야 할 태도</a:t>
            </a:r>
          </a:p>
          <a:p xmlns:a="http://schemas.openxmlformats.org/drawingml/2006/main">
            <a:r>
              <a:t>성취감 제공 · 인정과 칭찬</a:t>
            </a:r>
          </a:p>
          <a:p xmlns:a="http://schemas.openxmlformats.org/drawingml/2006/main">
            <a:r>
              <a:t>혼냄보다 스스로 깨닫게 (앞서지 않기)</a:t>
            </a:r>
          </a:p>
          <a:p xmlns:a="http://schemas.openxmlformats.org/drawingml/2006/main">
            <a:r>
              <a:t>불안·두려움을 케어해 필드에 집중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갖춰야 할 스킬</a:t>
            </a:r>
          </a:p>
          <a:p xmlns:a="http://schemas.openxmlformats.org/drawingml/2006/main">
            <a:r>
              <a:t>5 Step : Intro·Short Story·Presentation·Closing·Rehash</a:t>
            </a:r>
          </a:p>
          <a:p xmlns:a="http://schemas.openxmlformats.org/drawingml/2006/main">
            <a:r>
              <a:t>TAAIS 클로징 · 쿠션 멘트</a:t>
            </a:r>
          </a:p>
          <a:p xmlns:a="http://schemas.openxmlformats.org/drawingml/2006/main">
            <a:r>
              <a:t>약점별 보강 : 리액션·스트릿·클로징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매일 점검 체크리스트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사이트를 준비해 넘버를 쌓게 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약한 스킬을 필드에서 바로 보강했는가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두려움을 제거해 집중하게 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신입의 콜백싯을 함께 점검했는가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원본 슬라이드 29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Presence Team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Thank you</a:t>
            </a:r>
          </a:p>
          <a:p xmlns:a="http://schemas.openxmlformats.org/drawingml/2006/main">
            <a:r>
              <a:t>후원의 기쁨과 가치를 전할 수 있는 곳이라면 어디든 가는 사람</a:t>
            </a:r>
          </a:p>
          <a:p xmlns:a="http://schemas.openxmlformats.org/drawingml/2006/main">
            <a:r>
              <a:t>임재영 AOP</a:t>
            </a:r>
          </a:p>
          <a:p xmlns:a="http://schemas.openxmlformats.org/drawingml/2006/main">
            <a:r>
              <a:t>☎  Tel : 010-5178-1713        ✉  e-mail : jaeyoung5178@naver.com</a:t>
            </a:r>
          </a:p>
          <a:p xmlns:a="http://schemas.openxmlformats.org/drawingml/2006/main">
            <a:r>
              <a:t>기타 궁금하거나 질문이 있으시면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20장 핵심 버전. 상세 설명은 50장 버전과 함께 참고.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픽토그램: Lucide Icons https://lucide.dev · ISC / Feather MIT license. 투명 배경 PNG로 포함. 자산 라이선스: assets/line-icons/LICENSE.txt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0bdceb510d424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738e764779478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b3db63894e441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36287b5506437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25f1c3d0704da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d47a21eb3240f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5BE8F49-2A43-4560-99D6-DD806CE891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ECA0144-2443-4E32-A1E2-7B1EAEF31F9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36D5F23-A867-4ACF-8CD4-1CA9A1C401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37AB72F-C570-4EC2-BCD7-62329DADCD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7264C21-9EE8-4BCD-97D3-B36C9B598D6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1617272-0CD9-48F6-874A-240092AE8F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957419A-269A-406F-8425-3DB1ADABA9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DAA037B-ABAE-4E43-AC43-378E70DD589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4AB990E-B68F-47B5-934A-8A6F587848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4B3529E-CC0C-405F-8BED-A155A5B2AB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5d33a041e4f4035" /><Relationship Type="http://schemas.openxmlformats.org/officeDocument/2006/relationships/slideLayout" Target="/ppt/slideLayouts/slideLayout1.xml" Id="Rb504ffd95111403e" /><Relationship Type="http://schemas.openxmlformats.org/officeDocument/2006/relationships/slideLayout" Target="/ppt/slideLayouts/slideLayout2.xml" Id="R3d94a293435a4763" /><Relationship Type="http://schemas.openxmlformats.org/officeDocument/2006/relationships/slideLayout" Target="/ppt/slideLayouts/slideLayout3.xml" Id="R36a0e2f2c27944d8" /><Relationship Type="http://schemas.openxmlformats.org/officeDocument/2006/relationships/slideLayout" Target="/ppt/slideLayouts/slideLayout4.xml" Id="R136b66828d2e416f" /><Relationship Type="http://schemas.openxmlformats.org/officeDocument/2006/relationships/slideLayout" Target="/ppt/slideLayouts/slideLayout5.xml" Id="R2584e89845764534" /><Relationship Type="http://schemas.openxmlformats.org/officeDocument/2006/relationships/slideLayout" Target="/ppt/slideLayouts/slideLayout6.xml" Id="R10b0c13890f446e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504ffd95111403e"/>
    <p:sldLayoutId xmlns:r="http://schemas.openxmlformats.org/officeDocument/2006/relationships" id="2147483650" r:id="R3d94a293435a4763"/>
    <p:sldLayoutId xmlns:r="http://schemas.openxmlformats.org/officeDocument/2006/relationships" id="2147483651" r:id="R36a0e2f2c27944d8"/>
    <p:sldLayoutId xmlns:r="http://schemas.openxmlformats.org/officeDocument/2006/relationships" id="2147483652" r:id="R136b66828d2e416f"/>
    <p:sldLayoutId xmlns:r="http://schemas.openxmlformats.org/officeDocument/2006/relationships" id="2147483653" r:id="R2584e89845764534"/>
    <p:sldLayoutId xmlns:r="http://schemas.openxmlformats.org/officeDocument/2006/relationships" id="2147483654" r:id="R10b0c13890f446e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178f1ea9b1436a" /><Relationship Type="http://schemas.openxmlformats.org/officeDocument/2006/relationships/image" Target="/ppt/media/image.jpeg" Id="R656d442b2f274e2b" /><Relationship Type="http://schemas.openxmlformats.org/officeDocument/2006/relationships/notesSlide" Target="/ppt/notesSlides/notesSlide1.xml" Id="Ref9adf49e8a94a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2c3dddd059476b" /><Relationship Type="http://schemas.openxmlformats.org/officeDocument/2006/relationships/image" Target="/ppt/media/image2.jpeg" Id="R52c52f783ae84d7c" /><Relationship Type="http://schemas.openxmlformats.org/officeDocument/2006/relationships/image" Target="/ppt/media/image.png" Id="R97da8d52309e4deb" /><Relationship Type="http://schemas.openxmlformats.org/officeDocument/2006/relationships/image" Target="/ppt/media/image2.png" Id="Re94dbc87d63840ff" /><Relationship Type="http://schemas.openxmlformats.org/officeDocument/2006/relationships/notesSlide" Target="/ppt/notesSlides/notesSlide2.xml" Id="R2938fbd2ebe64e6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e0af1a94b74275" /><Relationship Type="http://schemas.openxmlformats.org/officeDocument/2006/relationships/image" Target="/ppt/media/image3.jpeg" Id="R465fabb2ae8b4ddf" /><Relationship Type="http://schemas.openxmlformats.org/officeDocument/2006/relationships/image" Target="/ppt/media/image3.png" Id="R73f645de36ea487e" /><Relationship Type="http://schemas.openxmlformats.org/officeDocument/2006/relationships/image" Target="/ppt/media/image4.png" Id="Re9f6de7958444821" /><Relationship Type="http://schemas.openxmlformats.org/officeDocument/2006/relationships/notesSlide" Target="/ppt/notesSlides/notesSlide3.xml" Id="R8e480fcc09ab474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ae938bad8d4fca" /><Relationship Type="http://schemas.openxmlformats.org/officeDocument/2006/relationships/image" Target="/ppt/media/image4.jpeg" Id="R90aad067bd884ab1" /><Relationship Type="http://schemas.openxmlformats.org/officeDocument/2006/relationships/notesSlide" Target="/ppt/notesSlides/notesSlide4.xml" Id="Ra107e191142a4da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d97aef83994cd7" /><Relationship Type="http://schemas.openxmlformats.org/officeDocument/2006/relationships/image" Target="/ppt/media/image5.png" Id="R990c11bb78624feb" /><Relationship Type="http://schemas.openxmlformats.org/officeDocument/2006/relationships/image" Target="/ppt/media/image6.png" Id="R77237a4fe7b64503" /><Relationship Type="http://schemas.openxmlformats.org/officeDocument/2006/relationships/image" Target="/ppt/media/image7.png" Id="Re8bb15efd4a84fac" /><Relationship Type="http://schemas.openxmlformats.org/officeDocument/2006/relationships/image" Target="/ppt/media/image8.png" Id="R0d229df73e644e04" /><Relationship Type="http://schemas.openxmlformats.org/officeDocument/2006/relationships/notesSlide" Target="/ppt/notesSlides/notesSlide5.xml" Id="R220c219db8004b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cb77b3afe6409d" /><Relationship Type="http://schemas.openxmlformats.org/officeDocument/2006/relationships/image" Target="/ppt/media/image9.png" Id="Rb22166ed60e34262" /><Relationship Type="http://schemas.openxmlformats.org/officeDocument/2006/relationships/image" Target="/ppt/media/image10.png" Id="R88e7a117ad564664" /><Relationship Type="http://schemas.openxmlformats.org/officeDocument/2006/relationships/image" Target="/ppt/media/image11.png" Id="R916e26acc47e4900" /><Relationship Type="http://schemas.openxmlformats.org/officeDocument/2006/relationships/notesSlide" Target="/ppt/notesSlides/notesSlide6.xml" Id="R201d9e9ed86c4af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452fb231f645df" /><Relationship Type="http://schemas.openxmlformats.org/officeDocument/2006/relationships/image" Target="/ppt/media/image5.jpeg" Id="Rf33122aae7414c68" /><Relationship Type="http://schemas.openxmlformats.org/officeDocument/2006/relationships/notesSlide" Target="/ppt/notesSlides/notesSlide7.xml" Id="Re3458fa86fd643a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cb570570df43eb" /><Relationship Type="http://schemas.openxmlformats.org/officeDocument/2006/relationships/notesSlide" Target="/ppt/notesSlides/notesSlide8.xml" Id="Rc1e54faa0ee44df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518eb57f274c67" /><Relationship Type="http://schemas.openxmlformats.org/officeDocument/2006/relationships/notesSlide" Target="/ppt/notesSlides/notesSlide9.xml" Id="R49590590046149a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59860dc8d74e40" /><Relationship Type="http://schemas.openxmlformats.org/officeDocument/2006/relationships/notesSlide" Target="/ppt/notesSlides/notesSlide10.xml" Id="R8ac49c7990c34e3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d9996709c24262" /><Relationship Type="http://schemas.openxmlformats.org/officeDocument/2006/relationships/image" Target="/ppt/media/image12.png" Id="Rcba65484ed124924" /><Relationship Type="http://schemas.openxmlformats.org/officeDocument/2006/relationships/image" Target="/ppt/media/image13.png" Id="R768d16be09be4804" /><Relationship Type="http://schemas.openxmlformats.org/officeDocument/2006/relationships/image" Target="/ppt/media/image14.png" Id="Rda5b5d7b3dee4a13" /><Relationship Type="http://schemas.openxmlformats.org/officeDocument/2006/relationships/image" Target="/ppt/media/image15.png" Id="R986d7efe394e4673" /><Relationship Type="http://schemas.openxmlformats.org/officeDocument/2006/relationships/notesSlide" Target="/ppt/notesSlides/notesSlide11.xml" Id="R68d31f54524240a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0d4129e5044cc5" /><Relationship Type="http://schemas.openxmlformats.org/officeDocument/2006/relationships/image" Target="/ppt/media/image16.png" Id="Rc828acdade514b51" /><Relationship Type="http://schemas.openxmlformats.org/officeDocument/2006/relationships/image" Target="/ppt/media/image17.png" Id="R7c3b3e27666b4e93" /><Relationship Type="http://schemas.openxmlformats.org/officeDocument/2006/relationships/image" Target="/ppt/media/image18.png" Id="Rc45790349b574264" /><Relationship Type="http://schemas.openxmlformats.org/officeDocument/2006/relationships/image" Target="/ppt/media/image19.png" Id="R94f3007961ea4d76" /><Relationship Type="http://schemas.openxmlformats.org/officeDocument/2006/relationships/image" Target="/ppt/media/image20.png" Id="R35366cf61cd9463e" /><Relationship Type="http://schemas.openxmlformats.org/officeDocument/2006/relationships/notesSlide" Target="/ppt/notesSlides/notesSlide12.xml" Id="R58572b5a74cf4e5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cff8aa2d674ae3" /><Relationship Type="http://schemas.openxmlformats.org/officeDocument/2006/relationships/image" Target="/ppt/media/image21.png" Id="Rc0414607968545b1" /><Relationship Type="http://schemas.openxmlformats.org/officeDocument/2006/relationships/image" Target="/ppt/media/image22.png" Id="R37ddfcd9e6b9412a" /><Relationship Type="http://schemas.openxmlformats.org/officeDocument/2006/relationships/image" Target="/ppt/media/image23.png" Id="Rfddc3dcf4dd841c0" /><Relationship Type="http://schemas.openxmlformats.org/officeDocument/2006/relationships/notesSlide" Target="/ppt/notesSlides/notesSlide13.xml" Id="R11f068ead6c3457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5ee7f566844b9b" /><Relationship Type="http://schemas.openxmlformats.org/officeDocument/2006/relationships/notesSlide" Target="/ppt/notesSlides/notesSlide14.xml" Id="R2f57f37e10514f2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677e573ce64469" /><Relationship Type="http://schemas.openxmlformats.org/officeDocument/2006/relationships/notesSlide" Target="/ppt/notesSlides/notesSlide15.xml" Id="Rd3524bf3ad414b6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6c477113be486b" /><Relationship Type="http://schemas.openxmlformats.org/officeDocument/2006/relationships/notesSlide" Target="/ppt/notesSlides/notesSlide16.xml" Id="Rb6eda412b7b3456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3a0befa38947e9" /><Relationship Type="http://schemas.openxmlformats.org/officeDocument/2006/relationships/image" Target="/ppt/media/image6.jpeg" Id="Rf584fe7507d4473d" /><Relationship Type="http://schemas.openxmlformats.org/officeDocument/2006/relationships/notesSlide" Target="/ppt/notesSlides/notesSlide17.xml" Id="R765713f3288e480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8a790d52f14376" /><Relationship Type="http://schemas.openxmlformats.org/officeDocument/2006/relationships/image" Target="/ppt/media/image24.png" Id="R0f3a01af16404cba" /><Relationship Type="http://schemas.openxmlformats.org/officeDocument/2006/relationships/image" Target="/ppt/media/image25.png" Id="R3a09deb9326e43b1" /><Relationship Type="http://schemas.openxmlformats.org/officeDocument/2006/relationships/image" Target="/ppt/media/image26.png" Id="R96170949a53a4201" /><Relationship Type="http://schemas.openxmlformats.org/officeDocument/2006/relationships/notesSlide" Target="/ppt/notesSlides/notesSlide18.xml" Id="Reb895f264dfe4c8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1bc6517dc544f6" /><Relationship Type="http://schemas.openxmlformats.org/officeDocument/2006/relationships/image" Target="/ppt/media/image27.png" Id="Rcdf78bb1783e420f" /><Relationship Type="http://schemas.openxmlformats.org/officeDocument/2006/relationships/image" Target="/ppt/media/image28.png" Id="R70578a52dcb14651" /><Relationship Type="http://schemas.openxmlformats.org/officeDocument/2006/relationships/notesSlide" Target="/ppt/notesSlides/notesSlide19.xml" Id="Rb51b29bd1cb742a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49c3b8ada6405d" /><Relationship Type="http://schemas.openxmlformats.org/officeDocument/2006/relationships/image" Target="/ppt/media/image7.jpeg" Id="R67ea943eb6bd45ba" /><Relationship Type="http://schemas.openxmlformats.org/officeDocument/2006/relationships/notesSlide" Target="/ppt/notesSlides/notesSlide20.xml" Id="R5556dbf06ca24da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8DF342-AF45-43F6-B2DF-878399735EC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6d442b2f274e2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A3AE81-4FCF-4C07-ADC5-6BFEC205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임재영 AOP · PRESENCE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B6A900-9A63-48F4-A37D-E8A0AAF88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92392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2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딱 한 걸음 앞서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76D26D-6D2E-4B3D-8431-19B8348E2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38475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 IC 트레이닝 · 핵심 강의 20장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9CAEA1-D8D2-42F5-8F7D-F0A3E89C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905250"/>
            <a:ext cx="762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먼저 배우고 싶게 만들라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피드백 전에 관찰하라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A17A43-5BB3-46A4-8CFF-946F48566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8167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임재영 AOP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B2F8BD-B871-45B1-B364-6B4CD05BA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01 / 20</a:t>
            </a:r>
          </a:p>
        </p:txBody>
      </p:sp>
    </p:spTree>
    <p:extLst>
      <p:ext uri="{BB962C8B-B14F-4D97-AF65-F5344CB8AC3E}">
        <p14:creationId xmlns:p14="http://schemas.microsoft.com/office/powerpoint/2010/main" val="5631532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0512CD-3111-4AC8-9D98-6F36D4E925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c52f783ae84d7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0250" y="0"/>
            <a:ext cx="63817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E7B043-4988-458C-B7A8-CE306C18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01 철학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933CC1-A437-4404-9C8E-3C46EF34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먼저 배우고 싶게, 피드백 전에 관찰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3876B4-479C-44F4-9859-844CD5D38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가르치기 전에 신입의 마음과 상태를 먼저 살핀다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A94155-4A08-4D64-860E-04144EDD6C2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da8d52309e4deb"/>
          <a:stretch xmlns:a="http://schemas.openxmlformats.org/drawingml/2006/main"/>
        </p:blipFill>
        <p:spPr>
          <a:xfrm xmlns:a="http://schemas.openxmlformats.org/drawingml/2006/main">
            <a:off x="723900" y="26765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F2698B-8022-4F92-9392-21C512DDF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47950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배우고 싶은 마음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E1BE4E-BBA8-439C-974C-EA3CA6DD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00400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쇼잉으로 나도 할 수 있다는 기대를 만든다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작은 성공으로 다음 학습 의지를 만든다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01ED2C-9785-4CC7-80C4-1B0BAAECD1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4dbc87d63840ff"/>
          <a:stretch xmlns:a="http://schemas.openxmlformats.org/drawingml/2006/main"/>
        </p:blipFill>
        <p:spPr>
          <a:xfrm xmlns:a="http://schemas.openxmlformats.org/drawingml/2006/main">
            <a:off x="723900" y="41529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1F4266-763A-4C59-AC0D-8CBD6263D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24325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관찰 후 피드백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72CC2F-D360-4BAE-AB75-B0922A228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76775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반응 · 두려움 · 학습 속도 · 강점을 본다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이력서와 주변 피드백으로 필드 전에 준비한다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16597B-4CCA-4DCD-ACD2-0B07F1D9F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02 / 20</a:t>
            </a:r>
          </a:p>
        </p:txBody>
      </p:sp>
    </p:spTree>
    <p:extLst>
      <p:ext uri="{BB962C8B-B14F-4D97-AF65-F5344CB8AC3E}">
        <p14:creationId xmlns:p14="http://schemas.microsoft.com/office/powerpoint/2010/main" val="10233025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4FD594-9B09-4BD6-8033-5501EDEFE7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5fabb2ae8b4dd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0250" y="0"/>
            <a:ext cx="63817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DFE2DC-C174-45FC-A2CE-AE8F5E379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02 전제 조건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15A6F8-5AA6-4272-805D-438EBDF74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트레이너의 실력과 스탠다드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A9C8AA-9C2C-44BD-AE0B-FCF93F9AE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직접 보여줄 수 있는 실력, 누구에게나 일관된 기본기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1A2CA9-9E4F-47EB-9175-E47F5F5A89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f645de36ea487e"/>
          <a:stretch xmlns:a="http://schemas.openxmlformats.org/drawingml/2006/main"/>
        </p:blipFill>
        <p:spPr>
          <a:xfrm xmlns:a="http://schemas.openxmlformats.org/drawingml/2006/main">
            <a:off x="723900" y="26765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A786A9-1FDD-4D90-8E5D-F6AB6772F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47950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직접 보여주는 실력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218D36-B990-4188-8932-EB338589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00400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주 1회 이상 벨-공 세일즈 증명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4시간 안에 세일즈할 수 있는 실전 능력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804D26-DEC5-4B25-AF49-B81E78558EA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f6de7958444821"/>
          <a:stretch xmlns:a="http://schemas.openxmlformats.org/drawingml/2006/main"/>
        </p:blipFill>
        <p:spPr>
          <a:xfrm xmlns:a="http://schemas.openxmlformats.org/drawingml/2006/main">
            <a:off x="723900" y="41529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3E8736-74DB-4618-AD39-387F5FF4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24325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일관된 기본 패턴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CE5C17-21C9-4690-9A24-737EEEEC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76775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직접 보여주고 실제 과정을 관찰하게 한다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모든 신입에게 같은 기본 스탠다드를 적용한다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F836D0-4BA4-4ABB-8E64-45A168F5A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03 / 20</a:t>
            </a:r>
          </a:p>
        </p:txBody>
      </p:sp>
    </p:spTree>
    <p:extLst>
      <p:ext uri="{BB962C8B-B14F-4D97-AF65-F5344CB8AC3E}">
        <p14:creationId xmlns:p14="http://schemas.microsoft.com/office/powerpoint/2010/main" val="16781798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0D9338-2684-46BE-813D-78A15FE912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aad067bd884ab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193FE6-093D-4872-9D99-9486A2137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D9055B-AE2B-4950-983B-0821233A1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3일의 설계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D2B4CE-ECCC-4F61-90FE-383CA4E6C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각 단계에서 이렇게 느끼도록 돕는다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3A6A34-FE2D-4005-89FC-6111CA031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8571DB-84D3-4260-9263-ADD63BF02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경험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1B9604-62EB-48D4-B02C-FD17BB12D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필드가 할 만하다고 느끼게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57001F-B0E8-40F2-B52C-9E254BA23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7625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47B29D-B72D-4140-9E41-869231C56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2197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학습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967C51-22CA-4E00-AEFC-916681C2C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6769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잘 배우고 성장하면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할 수 있다고 느끼게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EB565E-E71C-48DB-A727-BB7E20C3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625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515548-DF77-47E1-83E8-1E80CDCDE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2197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판단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114E86-108D-4A05-AC90-5AB4C1462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6769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스스로 가능성이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있다고 느끼게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37449D-0D5D-4CB1-B003-0388BB295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04 / 20</a:t>
            </a:r>
          </a:p>
        </p:txBody>
      </p:sp>
    </p:spTree>
    <p:extLst>
      <p:ext uri="{BB962C8B-B14F-4D97-AF65-F5344CB8AC3E}">
        <p14:creationId xmlns:p14="http://schemas.microsoft.com/office/powerpoint/2010/main" val="6100623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BFF876-9B2D-4F8F-8F5F-3127F47B8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41239A-370A-429A-BC39-83843989A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1 · 긍정적인 첫 경험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E54AF7-D163-4E4E-AA18-BF4B57F8C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성과보다 적응과 관찰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1C8CEB-EA45-4DD3-9833-3595559913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0c11bb78624feb"/>
          <a:stretch xmlns:a="http://schemas.openxmlformats.org/drawingml/2006/main"/>
        </p:blipFill>
        <p:spPr>
          <a:xfrm xmlns:a="http://schemas.openxmlformats.org/drawingml/2006/main">
            <a:off x="82867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65D75A-BD6F-4B9A-9250-F71ED8322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반응과 태도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DA0168-44A3-4F6A-A78A-C8C58ED0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2시간쯤 뛰게 한 뒤 할 만한지 확인하고 기본 자세와 의지를 파악한다.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4E5F90-8560-40B3-ACE5-86D1A5D868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237a4fe7b64503"/>
          <a:stretch xmlns:a="http://schemas.openxmlformats.org/drawingml/2006/main"/>
        </p:blipFill>
        <p:spPr>
          <a:xfrm xmlns:a="http://schemas.openxmlformats.org/drawingml/2006/main">
            <a:off x="828675" y="3576638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E0A567-864F-4807-8649-411ED4B85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548063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트레이너의 쇼잉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C6B58F-E2D4-4CB1-84D9-B4D8F8B15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57638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자신의 세일즈에 집중해 실제 과정을 직접 보여준다.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7A90C8-C700-4229-BAA8-63A7A94E09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bb15efd4a84fac"/>
          <a:stretch xmlns:a="http://schemas.openxmlformats.org/drawingml/2006/main"/>
        </p:blipFill>
        <p:spPr>
          <a:xfrm xmlns:a="http://schemas.openxmlformats.org/drawingml/2006/main">
            <a:off x="828675" y="4410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CEA9AD-4D9B-4CEB-B749-0A84AFD85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381500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두려움 제거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CD19E2-7222-4D33-9681-C8C0215FB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791075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프리엠티브를 충분히 제공한다. 재미있고 해볼 만하다고 느끼게 한다.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087D4C-2F7A-49A6-B30B-9EC8F2D810A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229df73e644e04"/>
          <a:stretch xmlns:a="http://schemas.openxmlformats.org/drawingml/2006/main"/>
        </p:blipFill>
        <p:spPr>
          <a:xfrm xmlns:a="http://schemas.openxmlformats.org/drawingml/2006/main">
            <a:off x="828675" y="5243513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FB1F4A-C2FB-4631-8095-E81C73C9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214938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다음 날의 준비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0005E6-276B-494C-841C-67C4DAC13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624513"/>
            <a:ext cx="10020300" cy="423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결과 압박 대신 환경 적응을 돕고 심리적 준비를 만든다.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72B085-EA79-4F63-9243-C153849F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05 / 20</a:t>
            </a:r>
          </a:p>
        </p:txBody>
      </p:sp>
    </p:spTree>
    <p:extLst>
      <p:ext uri="{BB962C8B-B14F-4D97-AF65-F5344CB8AC3E}">
        <p14:creationId xmlns:p14="http://schemas.microsoft.com/office/powerpoint/2010/main" val="17495501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BF6A88-DE2D-41BC-A0D1-8AF522229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E7EBFD-4FAB-487E-88EB-61464D599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2 · 결과로 배우는 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E2AFF3-942F-46F2-90CD-E4088C3E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실질 역량을 가늠하는 시점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6CAC8-F713-46E7-8589-2F409A121F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166ed60e34262"/>
          <a:stretch xmlns:a="http://schemas.openxmlformats.org/drawingml/2006/main"/>
        </p:blipFill>
        <p:spPr>
          <a:xfrm xmlns:a="http://schemas.openxmlformats.org/drawingml/2006/main">
            <a:off x="82867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62235A-E69C-460B-8440-A0757AF0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146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첫 세일즈 1개 이상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C0E01C-CFAA-427C-AB48-18AC8272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242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반드시 함께 만들어낸다. 신입이 직접 성공을 체감하게 한다.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8FC3A0-223E-4FD4-8390-B4472F2BB9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e7a117ad564664"/>
          <a:stretch xmlns:a="http://schemas.openxmlformats.org/drawingml/2006/main"/>
        </p:blipFill>
        <p:spPr>
          <a:xfrm xmlns:a="http://schemas.openxmlformats.org/drawingml/2006/main">
            <a:off x="828675" y="38481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A7B879-2DEC-44BD-91B5-138557135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8195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학습력과 성장성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80A3C8-BFA2-4311-831F-7E5A4534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2291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첫날 대비 개선점을 짚고 학습 능력과 성장 가능성을 본다.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00CCB3-E4DE-41E8-9136-32302C4EFA3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6e26acc47e4900"/>
          <a:stretch xmlns:a="http://schemas.openxmlformats.org/drawingml/2006/main"/>
        </p:blipFill>
        <p:spPr>
          <a:xfrm xmlns:a="http://schemas.openxmlformats.org/drawingml/2006/main">
            <a:off x="828675" y="49530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8ADB64-2BD6-45BE-9987-E596E989E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24425"/>
            <a:ext cx="10020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트레이너와 신입의 균형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F59D58-F02B-4FAE-B8A6-CF3A3FA84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34000"/>
            <a:ext cx="100203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세일즈가 우선이며, 트레이너도 함께 성과를 낸다.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8984B8-0472-4F3F-822C-CAE1D15CB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06 / 20</a:t>
            </a:r>
          </a:p>
        </p:txBody>
      </p:sp>
    </p:spTree>
    <p:extLst>
      <p:ext uri="{BB962C8B-B14F-4D97-AF65-F5344CB8AC3E}">
        <p14:creationId xmlns:p14="http://schemas.microsoft.com/office/powerpoint/2010/main" val="126133454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D0798E-8063-406C-91CC-3389EA9536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3122aae7414c6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71BFAA-BA0A-45EE-9C11-0CC9563AF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03 첫 3일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78FDBF-F0A8-4AD3-8FFF-2ED46E322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DAY 3 · 성과의 패턴 읽기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224F06-CD3C-4850-B1C0-121019F33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Stay / Qualifying은 반드시 오너와 상의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85AA8-887B-4C0B-A775-7329C33D1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 · 1 · 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DB4F29-E44A-4960-A43F-2630BC495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가장 이상적</a:t>
            </a:r>
          </a:p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리더로 육성 가능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70CBBE-F8C6-4675-B292-8DFBF2980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14625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3일간 2개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1A91E5-B830-4ADB-B4EA-9A5F3DF91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86150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로드트립 제안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D45CD4-682F-4CDB-9FED-31E7C1C9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3일간 3개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D29382-7F6D-486E-8D6C-0FCC67E13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53025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의지와 센스 모두 보유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394EB6-891A-4C9D-811F-79DE44BB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381500"/>
            <a:ext cx="50006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 · 0 · 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8440FB-8ED7-443B-B051-0E617CEB2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153025"/>
            <a:ext cx="5000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빠른 Qualifying 검토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334E6E-18B6-4E1A-9D7C-55CD80CC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사이트와 시간을 전략적으로 확보해 제로를 막는다. 판단은 반드시 오너와 상의한다.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24755D-2028-4E61-B807-CCA4A622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07 / 20</a:t>
            </a:r>
          </a:p>
        </p:txBody>
      </p:sp>
    </p:spTree>
    <p:extLst>
      <p:ext uri="{BB962C8B-B14F-4D97-AF65-F5344CB8AC3E}">
        <p14:creationId xmlns:p14="http://schemas.microsoft.com/office/powerpoint/2010/main" val="129537634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BB3F23-F183-4668-BD27-79211C829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D68548-74C6-4163-B3AC-DDC334C12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5 Step 트레이닝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57CB21-BA81-4EB2-88F1-59DBC03E9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주목 · 짧은 피치 · 해결책 · 클로징 · 거래정보 재확인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16BB99-3D9E-42A1-9BE4-CA07A8CCF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00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D5D3DA-A86D-456C-81F6-1BD07CE05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00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82BD1A-9E0D-40D8-9165-501B85468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Intro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AEB1B1-2B6D-4BCE-BBF8-E13763E5C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주목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48CA48-D090-487C-A2B0-A034965A0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10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C3019D-0EF6-405B-8FC3-9B4D7AF7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64CD9E-5D37-44C7-849E-F61E42C24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6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48A365-2DF8-46F4-AB90-BD650D263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Short Story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053871-1DC0-408D-832A-1E9C2CEB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46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짧은 피치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F341E8-43CE-4317-9828-012FCC43B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866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0DBF63-2519-4CC8-B2E6-5C2D1A62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12796A-4F3C-41D7-B82A-A56E4FC9B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DA134D-F067-45E7-9094-3925A397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Presentation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86D8B1-3E88-457F-9855-ABCC00E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해결책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B856F3-BD83-43A0-BD8D-F1B63A325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1779C3-3C17-4AF1-8815-4C6CAC5A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68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D1C67D-2719-436A-9048-FABF27194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68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5674B8-1D7B-4F93-9121-81C880989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Closing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D8ACCD-E9F8-455D-9B0B-57F229FB6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58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TAAIS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D2113B-D6E2-4C9E-8A3D-8C1CCCEC9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785" y="3257550"/>
            <a:ext cx="88011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969DDC-2BC1-40E7-8635-D5BD44BE0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1245" y="2733675"/>
            <a:ext cx="1047750" cy="1047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130E"/>
          </a:solidFill>
          <a:ln xmlns:a="http://schemas.openxmlformats.org/drawingml/2006/main" w="14288">
            <a:solidFill>
              <a:srgbClr val="C99A59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6E31FE-057A-4EE8-95EF-D5C099E63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1245" y="2733675"/>
            <a:ext cx="104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187858-26E6-42E8-8187-E4DC8BC9C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4181475"/>
            <a:ext cx="196596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Rehash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A21637-466A-47B1-AAD6-EB1ABE1C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2140" y="4953000"/>
            <a:ext cx="19659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ctr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재확인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3C783B-16EE-4D6A-A19C-54D796B8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08 / 20</a:t>
            </a:r>
          </a:p>
        </p:txBody>
      </p:sp>
    </p:spTree>
    <p:extLst>
      <p:ext uri="{BB962C8B-B14F-4D97-AF65-F5344CB8AC3E}">
        <p14:creationId xmlns:p14="http://schemas.microsoft.com/office/powerpoint/2010/main" val="15922308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59B5A1-5DD2-4E9B-B791-E2A2ABD3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7C68EB-4D20-415E-B3C4-58DE09B3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Closing · TAAIS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AA4CF5-A44B-4418-BADD-7F48BAED8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구매를 전제로 대화하고, 선택권과 침묵을 활용한다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EEE5FE-528F-4246-86F8-49491889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0C653A-6C3F-4BB1-A8D2-D5406CD21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Trial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31B3E4-E161-40E9-ACE6-1E8C4F3A5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항상 시도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8BE42A-4E4E-4E0E-BCDF-06F62AD0E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534C9A-079A-4A17-8B50-60BB149E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Assumptive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906C49-3749-4CDE-8C3E-E89A62F28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구매 전제 대화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5E2E13-C219-469D-BBE4-08A56BE7D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13B843-195D-4874-8B4B-2876E6D33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Alternative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717D9E-8151-4E7F-8AFD-48D989FD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대안 제시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D42D5F-EA28-4F3F-90D3-8A2D268E4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4F0DCD-A122-4825-8A09-2C02A45E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Indifference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BC0D09-BFC5-4C51-B0AA-7CC920C4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선택권 부여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6AF516-38C0-4B04-A1B6-8D3432571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857500"/>
            <a:ext cx="1889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D9C2DB-1929-433F-8B85-A2C39686C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4143375"/>
            <a:ext cx="188976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Silence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E03C4B-C1AC-424D-9A20-917B1DFE0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4905375"/>
            <a:ext cx="188976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침묵 활용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62CEC8-F4FE-4909-B8B8-3D2C2A783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쿠션 멘트: “바쁘시니까”, “이미 좋은 일 많이 하시겠지만”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E517EB-C3CE-4B4E-AF0F-0E235A5E6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09 / 20</a:t>
            </a:r>
          </a:p>
        </p:txBody>
      </p:sp>
    </p:spTree>
    <p:extLst>
      <p:ext uri="{BB962C8B-B14F-4D97-AF65-F5344CB8AC3E}">
        <p14:creationId xmlns:p14="http://schemas.microsoft.com/office/powerpoint/2010/main" val="93878381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A09B38-F3B4-4BE7-A1A6-B32DE03F4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08F7CF-E8C4-4634-BD51-CF9E753B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전·중·후, 트레이너가 챙길 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D3E367-50C7-4920-A5E2-51A69C9C0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준비부터 복기까지 이어지는 하루의 트레이닝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2CC475-6E2C-4EBB-B650-DCAFFAF9B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333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필드 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5543EF-D5FA-4C4A-AE50-A5D0B413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09925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함께 준비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6C84AC-4F16-428C-A9CF-316695F5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3333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피치와 니즈 점검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개인·섹터 목표 설정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사이트 전략·프리엠티브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물품과 복장 확인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02334D-104E-4696-B22D-BEAB27FD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714625"/>
            <a:ext cx="333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필드 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73E51E-8EA2-43EB-AC51-F6D1828F6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209925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관찰하고 보여주기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DFFF90-6140-4479-99D0-04706B85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905250"/>
            <a:ext cx="3333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유형과 이해도 파악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계속 시도하며 데이터 쌓기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2시간마다 콜백싯 점검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쇼잉·멘탈 케어·좋은 소식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18316C-8389-4874-979C-687F6662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14625"/>
            <a:ext cx="333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필드 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E519F1-B430-4B19-AE7B-8D91144BB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09925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돌아보고 다음을 준비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94D2F3-35E3-4E0A-8706-042144BAE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05250"/>
            <a:ext cx="3333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오늘의 소감·배움 확인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콜백싯으로 넘버 비교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스킬·태도 보완점 피드백</a:t>
            </a:r>
          </a:p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다음 교육 일정 안내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57456C-C190-445B-B952-B2E8EB88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10 / 20</a:t>
            </a:r>
          </a:p>
        </p:txBody>
      </p:sp>
    </p:spTree>
    <p:extLst>
      <p:ext uri="{BB962C8B-B14F-4D97-AF65-F5344CB8AC3E}">
        <p14:creationId xmlns:p14="http://schemas.microsoft.com/office/powerpoint/2010/main" val="203495119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2A0231-D5DA-4DC7-A480-A1EEBC08B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1B7A2C-77C4-49E4-87D7-054F87AED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관찰에 맞춘 피드백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95AD0D-20CB-4377-B5F9-A9B1FE6A2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사람의 약점에 따라 처방을 달리한다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5C3CE8-20BC-4339-81A0-84A6F46AB2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a65484ed124924"/>
          <a:stretch xmlns:a="http://schemas.openxmlformats.org/drawingml/2006/main"/>
        </p:blipFill>
        <p:spPr>
          <a:xfrm xmlns:a="http://schemas.openxmlformats.org/drawingml/2006/main">
            <a:off x="809625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882321-5115-4A27-AAB6-C4E35F12B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146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리액션이 약하다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43AC2D-B683-473B-9C23-3591BDE1C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765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리액션 강화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EC03E9-D51D-46F0-AFB4-BDD8532A6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433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표정·제스처 / 즉각 대응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임펄스·바디랭귀지 / 롤플레이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E0D38D-E9F5-4B28-AAA8-9C0040BF209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8d16be09be4804"/>
          <a:stretch xmlns:a="http://schemas.openxmlformats.org/drawingml/2006/main"/>
        </p:blipFill>
        <p:spPr>
          <a:xfrm xmlns:a="http://schemas.openxmlformats.org/drawingml/2006/main">
            <a:off x="6419850" y="27432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AED50E-8614-4EB1-9E75-DA7FE0B18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146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부스 연결이 약하다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5101E3-8F73-4DF0-A3AA-C22896397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765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스트릿 스킬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DD97E5-2841-41D4-82F6-402CB9000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5433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접근 방법 / 첫인상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거절 극복 / 고객 유형별 접근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560999-EEEC-4465-BFDC-824BEF24B81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5b5d7b3dee4a13"/>
          <a:stretch xmlns:a="http://schemas.openxmlformats.org/drawingml/2006/main"/>
        </p:blipFill>
        <p:spPr>
          <a:xfrm xmlns:a="http://schemas.openxmlformats.org/drawingml/2006/main">
            <a:off x="809625" y="44577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D6B3A7-792E-43FF-AAA6-9FC7537EE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291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클로징이 약하다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D2320E-E6DB-4E71-909D-225CCD2C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910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클로징 강화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F6C065-2BE5-4372-A588-DDE4ECB32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2578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TAAIS / Buying sign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침묵·대안 / 클로징 타이밍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47C589-7AAB-480D-BA4E-373CCBEF98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6d7efe394e4673"/>
          <a:stretch xmlns:a="http://schemas.openxmlformats.org/drawingml/2006/main"/>
        </p:blipFill>
        <p:spPr>
          <a:xfrm xmlns:a="http://schemas.openxmlformats.org/drawingml/2006/main">
            <a:off x="6419850" y="4457700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EE8DDB-E904-4B7B-B7F8-A3B2964EF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429125"/>
            <a:ext cx="44672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이미 잘한다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085A82-C3DE-48A7-A746-0D077EFB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791075"/>
            <a:ext cx="4467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목표 상향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484F82-8257-46BC-B246-AE90D6F11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257800"/>
            <a:ext cx="44672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높은 목표 / 자기주도 성장</a:t>
            </a:r>
          </a:p>
          <a:p xmlns:a="http://schemas.openxmlformats.org/drawingml/2006/main">
            <a:pPr algn="l">
              <a:def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리더십·멘토링 / 커리어 설계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39C2C0-3E75-4D61-B3F5-FE3A8CE4C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11 / 20</a:t>
            </a:r>
          </a:p>
        </p:txBody>
      </p:sp>
    </p:spTree>
    <p:extLst>
      <p:ext uri="{BB962C8B-B14F-4D97-AF65-F5344CB8AC3E}">
        <p14:creationId xmlns:p14="http://schemas.microsoft.com/office/powerpoint/2010/main" val="177676474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641241-5AB8-447A-BAEA-BAFABC62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1B6FB4-D87C-49CB-BF28-ECFA69C8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피드백의 다섯 가지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254A35-1465-45E9-94D8-BE3B1BAD8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좋은 의도만으로는 충분하지 않다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59EBFD-9D7E-4E25-A0D4-2FF169A7DD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28acdade514b51"/>
          <a:stretch xmlns:a="http://schemas.openxmlformats.org/drawingml/2006/main"/>
        </p:blipFill>
        <p:spPr>
          <a:xfrm xmlns:a="http://schemas.openxmlformats.org/drawingml/2006/main">
            <a:off x="762000" y="27146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9E376B-42CF-4F48-97A2-EE1098C9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71462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콜백싯 기준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E54C19-86F8-4844-BAD1-EEE7931E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146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감정·느낌 대신 넘버 · 스킬 · 태도를 기준으로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B57186-121E-4225-B607-26D62D861A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3b3e27666b4e93"/>
          <a:stretch xmlns:a="http://schemas.openxmlformats.org/drawingml/2006/main"/>
        </p:blipFill>
        <p:spPr>
          <a:xfrm xmlns:a="http://schemas.openxmlformats.org/drawingml/2006/main">
            <a:off x="762000" y="33813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F607C7-1678-4652-B82C-6A893A924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8137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상대에게 필요한 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C2ED2F-CA94-4DE3-9029-0E28B3B9C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38137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내가 하고 싶은 말인지 먼저 점검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26EE6E-FB5C-45EE-8978-EA589C162E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5790349b574264"/>
          <a:stretch xmlns:a="http://schemas.openxmlformats.org/drawingml/2006/main"/>
        </p:blipFill>
        <p:spPr>
          <a:xfrm xmlns:a="http://schemas.openxmlformats.org/drawingml/2006/main">
            <a:off x="762000" y="40481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CCA82D-FDE3-4E92-A07F-73600300F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4812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KISS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EE30BE-7A9F-4CC0-B4EB-E47234FCA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0481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간단 · 명료 · 눈높이, 공감할 수 있는 예시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9A45F4-7DF6-49FF-9CB3-3CE58F0592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f3007961ea4d76"/>
          <a:stretch xmlns:a="http://schemas.openxmlformats.org/drawingml/2006/main"/>
        </p:blipFill>
        <p:spPr>
          <a:xfrm xmlns:a="http://schemas.openxmlformats.org/drawingml/2006/main">
            <a:off x="762000" y="47148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54C7B2-7760-4765-AE73-D4FCE0982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71487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COD 공부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11684-F118-4FB5-A90D-7521B28A4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71487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올바른 정보인지 확인, 긴가민가한 말은 하지 않기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349693-EB23-4D63-A8E0-1C32EAD5D5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366cf61cd9463e"/>
          <a:stretch xmlns:a="http://schemas.openxmlformats.org/drawingml/2006/main"/>
        </p:blipFill>
        <p:spPr>
          <a:xfrm xmlns:a="http://schemas.openxmlformats.org/drawingml/2006/main">
            <a:off x="762000" y="538162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D31705-42FB-4AF3-A1CA-017AA81F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381625"/>
            <a:ext cx="2809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타이밍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C83DF2-B29B-4311-9CC7-603906A4A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381625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필수 상황 외에는 2시간에 1번, 그 사이는 개인 목표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F0CE5F-AD0B-42D9-8B75-D571CF64E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피드백 수용이 빠른 신입, 주거테리·유동이 적은 B패턴에는 전략적으로 활용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991699-792D-4853-B673-BD865DBB8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12 / 20</a:t>
            </a:r>
          </a:p>
        </p:txBody>
      </p:sp>
    </p:spTree>
    <p:extLst>
      <p:ext uri="{BB962C8B-B14F-4D97-AF65-F5344CB8AC3E}">
        <p14:creationId xmlns:p14="http://schemas.microsoft.com/office/powerpoint/2010/main" val="103196168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44C7B0-34A7-4682-9F47-F8D63627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31A884-CBCE-405D-A125-86632C2E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샌드위치 기법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A00F13-9DFB-4F2D-B827-A20B0DA8C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긍정으로 시작하고, 개선점을 전하고, 다시 긍정으로 마무리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3C2EAE-A5A6-4917-B2EA-FB261A3B45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414607968545b1"/>
          <a:stretch xmlns:a="http://schemas.openxmlformats.org/drawingml/2006/main"/>
        </p:blipFill>
        <p:spPr>
          <a:xfrm xmlns:a="http://schemas.openxmlformats.org/drawingml/2006/main">
            <a:off x="7239635" y="2476500"/>
            <a:ext cx="4094480" cy="11811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09986F-9CFA-453E-8CBD-245B733D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48000"/>
            <a:ext cx="723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0ACB8D-987E-421A-8AA2-5BE8E5A2CE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ddfcd9e6b9412a"/>
          <a:stretch xmlns:a="http://schemas.openxmlformats.org/drawingml/2006/main"/>
        </p:blipFill>
        <p:spPr>
          <a:xfrm xmlns:a="http://schemas.openxmlformats.org/drawingml/2006/main">
            <a:off x="7239635" y="3543300"/>
            <a:ext cx="4094480" cy="11811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4CD3D5-5D08-4B49-8BEE-89137A96D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14800"/>
            <a:ext cx="723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E6D244-A815-46BF-94B5-4567B6E94A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dc3dcf4dd841c0"/>
          <a:stretch xmlns:a="http://schemas.openxmlformats.org/drawingml/2006/main"/>
        </p:blipFill>
        <p:spPr>
          <a:xfrm xmlns:a="http://schemas.openxmlformats.org/drawingml/2006/main">
            <a:off x="7239635" y="4610100"/>
            <a:ext cx="4094480" cy="11811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162A46-2BB0-4606-8EB3-057CD12B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81600"/>
            <a:ext cx="723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7B5960-7C69-4E39-888B-1DA36C77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95550"/>
            <a:ext cx="504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긍정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EAF6BA-B90E-4782-8F31-5B975B4F9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765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좋았던 행동을 구체적으로 인정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CBDCD8-0251-4138-9EB4-EA0FDE43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62350"/>
            <a:ext cx="504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925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개선점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B1E50C-A5C5-44C2-9429-F2D3701DF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433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바꿔볼 한 가지를 제안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BCA6D7-5AF6-450B-9FCC-80783434F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048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긍정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E30C0F-18C7-408E-959D-F8EF58F1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01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잘할 수 있다는 믿음으로 마무리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E5B1F0-D17A-495F-9894-3D2FDA5B3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293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“이것도 저것도 좋았는데, 이 부분만 이렇게 바꿔보면 어떨까요?”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041495-FB6C-409E-A510-C9183F3C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13 / 20</a:t>
            </a:r>
          </a:p>
        </p:txBody>
      </p:sp>
    </p:spTree>
    <p:extLst>
      <p:ext uri="{BB962C8B-B14F-4D97-AF65-F5344CB8AC3E}">
        <p14:creationId xmlns:p14="http://schemas.microsoft.com/office/powerpoint/2010/main" val="70577049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24EF0A-5C9E-4AD1-B587-9AEAEF720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3E2C0B-0CFB-4D01-879F-2E777D1B6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SBI 모델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FFB908-9A8A-431F-B454-035B1E95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상황 · 행동 · 영향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CC2B73-4035-44D1-A0F9-D83005138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3048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8C9DA5-AD8E-4E88-853A-F43EB464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Situation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183104-2130-4AFE-AB16-CE62777F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1485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상황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4DABC3-4809-4735-8080-BFEEBC11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29225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이럴 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8CD272-0B3C-4B88-92CE-E0DCCE0F5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62250"/>
            <a:ext cx="3048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30295A-DDBF-45D4-9D91-3B00DD9D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0957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Behavior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69DD04-0C2C-41B0-BEC9-6441638F1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51485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행동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2D384B-F136-46D6-9ECE-A3C66245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229225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이렇게 하면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E94D85-50B2-40DB-A0CA-28E3BFCF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62250"/>
            <a:ext cx="3048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0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780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00" b="1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E37DC4-4309-4CE8-A58F-CAF4D41D2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957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Impact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EDE9F8-4449-46B2-8728-21B394C9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51485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영향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634886-7E15-41AB-A97F-B1B31EB88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229225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이런 장점이 있어요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372B44-896E-48C6-B28F-9CB49EB37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2935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“이럴 땐 이렇게 하면 이런 장점이 있어요!”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5D4EBB-81C4-4983-BE18-46F4F170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14 / 20</a:t>
            </a:r>
          </a:p>
        </p:txBody>
      </p:sp>
    </p:spTree>
    <p:extLst>
      <p:ext uri="{BB962C8B-B14F-4D97-AF65-F5344CB8AC3E}">
        <p14:creationId xmlns:p14="http://schemas.microsoft.com/office/powerpoint/2010/main" val="211657083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867B40-5E06-487A-8F0B-95C70D8E2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FEEDBACK MODEL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91D663-C1EB-4887-B659-01C3A8736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5R 코칭법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948B10-87F5-4D63-B71E-94F0DF515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디테일한 발전을 위한 대화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EB8B92-33E6-4802-88BC-BE709A42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Relation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1C3852-86E0-4BDD-8341-07BEAD8B8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관계형성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1F20C8-CB8F-4080-BF73-74095D477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Refocus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95585F-E7F8-4E19-9891-D6D1A90F8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751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목표설정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DF6B0A-0911-4501-BD31-DAF40B1F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Reality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602E10-4B62-4F64-8BD7-E9EBFEA46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112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현실 장애물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594581-0EF3-4F0C-B467-976C4C867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Resources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E3F636-73C2-40BB-9136-529A178D0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473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해결자원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CF4211-5F80-44A4-A72F-B4D33C083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2857500"/>
            <a:ext cx="188976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Responsibility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52DE63-0BF3-446E-9FE5-21A82B0F5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340" y="3905250"/>
            <a:ext cx="188976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책임지기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57BCCC-2D7A-4CD4-AE4C-C7E1F1908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9592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목표는? 장애물은? 그럼에도 해결할 방법은? 언제까지 무엇을 할지 약속하고 지킨다.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93A989-1288-4AD9-B6AC-A8E07962C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15 / 20</a:t>
            </a:r>
          </a:p>
        </p:txBody>
      </p:sp>
    </p:spTree>
    <p:extLst>
      <p:ext uri="{BB962C8B-B14F-4D97-AF65-F5344CB8AC3E}">
        <p14:creationId xmlns:p14="http://schemas.microsoft.com/office/powerpoint/2010/main" val="15404178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E39644-5D59-4191-8CCC-130D9551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04 스킬과 피드백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816FE3-49B9-41D4-8635-23ACACBBC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트레이너도 콜백싯을 쓴다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EDBD21-A696-481A-908E-0847A002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내가 신입을 위해 무엇을 챙겼는가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AB7FAA-FA17-4762-8F3B-7E15A1661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3190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DF39C6-F3A4-47ED-ACB0-BD33C4749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71825"/>
            <a:ext cx="3190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Number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154977-F34A-4010-9491-6AE1223D2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3190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넘버를 쌓게 했는가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A71610-2857-4017-A6DA-833A7B86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3190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사이트 준비 / 시도하게 하는 피드백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거절 없는 시도 횟수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C0AAFB-C2A8-4136-A5FA-7915558C7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57500"/>
            <a:ext cx="3190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8731BE-AA27-42BC-B8B3-59E25667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71825"/>
            <a:ext cx="3190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Pitch · Skill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35A69E-2954-4126-9122-C7CA2342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714750"/>
            <a:ext cx="3190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스킬을 보강했는가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8C1D97-CFE8-4BE3-A091-FD71A660A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572000"/>
            <a:ext cx="3190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약한 부분 즉시 교육 / 어떤 스킬이든 보강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내일 바로 쓸 수 있게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E017E8-836D-418C-A7EC-D8452266B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57500"/>
            <a:ext cx="31908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04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A73015-4591-4373-A206-A9D9D749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71825"/>
            <a:ext cx="3190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3D9C2"/>
                </a:solidFill>
                <a:latin typeface="Apple SD Gothic Neo"/>
                <a:ea typeface="Apple SD Gothic Neo"/>
                <a:cs typeface="Apple SD Gothic Neo"/>
              </a:rPr>
              <a:t>Attitude · Mental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F63CFA-F346-401E-8A1B-751DD1AB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14750"/>
            <a:ext cx="3190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멘탈을 지켜줬는가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C35639-A90D-4D6A-BD39-2C5197AA9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72000"/>
            <a:ext cx="3190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불안·두려움 제거 / 방해되는 마음 케어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필드에 온전히 집중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87A9AA-2AFA-452F-B602-EA77D97C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콜백싯이 신입을 키우듯, 트레이너의 콜백싯이 트레이너를 키운다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B70054-6543-4B1B-AA66-DA54DA456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16 / 20</a:t>
            </a:r>
          </a:p>
        </p:txBody>
      </p:sp>
    </p:spTree>
    <p:extLst>
      <p:ext uri="{BB962C8B-B14F-4D97-AF65-F5344CB8AC3E}">
        <p14:creationId xmlns:p14="http://schemas.microsoft.com/office/powerpoint/2010/main" val="136642031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3DEF94-ABB8-49A4-AF98-CAAAFDE76A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84fe7507d4473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79CF55-50B2-4A48-A5A4-0EE2BDBAE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05 자립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CA6625-1287-4519-B8CF-1601BB6C2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자립을 위한 6주 전략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848F49-DD12-4612-8FD9-62EE0DA94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신입의 성장 속도에 맞춰, 단계별로 모니터링한다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E7DF26-2A3B-4536-A134-0C219A266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1–2주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2B0434-A605-4052-A522-3B1A43DA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리더힛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B48A51-9A1D-41E2-A79F-3DE87BE94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2주 이내 달성이 이상적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스케줄과 필드 시간 확보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BFE51F-0315-462A-99AA-21EB174DE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3–5주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5B87F9-F431-435C-90D7-6480D3FA1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로드트립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B15611-224F-4850-9783-0592E5F26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5626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적극 활용하며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성장 과정을 모니터링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834C42-138D-41C3-8C08-2E524A71B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482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약 6주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576BBC-2E4B-4434-8D26-DEA9F0B58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054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필드 적응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797150-A3FB-4025-8034-B68BF66F7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5626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Self 시점 사전 안내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심리적 준비와 실전 역량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5DF632-7724-40AB-B863-B24031E3E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6주는 원본의 트레이닝 운영 기준이며, 개인별 적응 속도를 고려한다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8BECAA-C648-40BC-BB94-386C5D344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17 / 20</a:t>
            </a:r>
          </a:p>
        </p:txBody>
      </p:sp>
    </p:spTree>
    <p:extLst>
      <p:ext uri="{BB962C8B-B14F-4D97-AF65-F5344CB8AC3E}">
        <p14:creationId xmlns:p14="http://schemas.microsoft.com/office/powerpoint/2010/main" val="195073646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70AFE4-BCCA-4066-9793-1D0CDB220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613B03-E138-4681-BB4E-E64033ADC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트레이너의 세 가지 핵심 역할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329A90-28A0-4492-922B-A00FFDBE3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자발적으로 성장할 수 있는 환경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FFB244-73C1-495E-AD48-4B2C3C49E1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3a01af16404cba"/>
          <a:stretch xmlns:a="http://schemas.openxmlformats.org/drawingml/2006/main"/>
        </p:blipFill>
        <p:spPr>
          <a:xfrm xmlns:a="http://schemas.openxmlformats.org/drawingml/2006/main">
            <a:off x="81915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2D30CC-13FB-499F-847D-5B9AE8582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857500"/>
            <a:ext cx="269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성취감 제공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D84DEB-D09F-4B1B-8321-235472FE5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336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내가 직접 해냈다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BC2389-D6A7-439B-921C-DA1577FEE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86250"/>
            <a:ext cx="3365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두려워하면 돕고, 아니면 혼자 하게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두려움의 수준을 먼저 파악한다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438019-533F-4AF1-85DA-906B19ABC2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09deb9326e43b1"/>
          <a:stretch xmlns:a="http://schemas.openxmlformats.org/drawingml/2006/main"/>
        </p:blipFill>
        <p:spPr>
          <a:xfrm xmlns:a="http://schemas.openxmlformats.org/drawingml/2006/main">
            <a:off x="45085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A8B024-F212-4E4F-B0DF-920DDD37A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0000" y="2857500"/>
            <a:ext cx="269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두려움 제거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154500-DC5E-4AF8-B940-8AFBDE51D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3571875"/>
            <a:ext cx="336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안전하게 도전한다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A6B585-473F-4958-979F-07A663D0E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3250" y="4286250"/>
            <a:ext cx="3365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초기에 충분한 서포트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점진적으로 독립성을 부여한다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1640D0-E69A-48B7-8D25-E1CF7B4D8E2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170949a53a4201"/>
          <a:stretch xmlns:a="http://schemas.openxmlformats.org/drawingml/2006/main"/>
        </p:blipFill>
        <p:spPr>
          <a:xfrm xmlns:a="http://schemas.openxmlformats.org/drawingml/2006/main">
            <a:off x="819785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F1807B-4DDF-40E9-A4C7-2FB3AB7AE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9350" y="2857500"/>
            <a:ext cx="269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인정과 칭찬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8CBFD0-E576-475F-B653-2040AEF93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571875"/>
            <a:ext cx="336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스스로 깨닫게 한다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2B3D10-6D9C-46A6-98C8-9CFDECA3E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4286250"/>
            <a:ext cx="3365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인정받을 때 주도적이 된다</a:t>
            </a:r>
          </a:p>
          <a:p xmlns:a="http://schemas.openxmlformats.org/drawingml/2006/main">
            <a:pPr algn="l">
              <a:def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혼냄보다 인정과 칭찬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86B73D-71A2-47A3-8BC3-B3CF72CB8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생계·수입, 안전, 소속감, 존중을 살피며 스스로 더 큰 목표에 도전하도록 돕는다.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4430F3-6D7F-4CBC-B331-DEA2E7194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18 / 20</a:t>
            </a:r>
          </a:p>
        </p:txBody>
      </p:sp>
    </p:spTree>
    <p:extLst>
      <p:ext uri="{BB962C8B-B14F-4D97-AF65-F5344CB8AC3E}">
        <p14:creationId xmlns:p14="http://schemas.microsoft.com/office/powerpoint/2010/main" val="78479643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FA6000-64AE-4E1F-9C8A-B9CFE79D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06 리더의 역할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23BDFA-858B-4416-8EDC-22A1A1E07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47750"/>
            <a:ext cx="107632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7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Stay / Qualifying, 함께 책임지는 판단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0C47A3-3031-498C-8257-92E88539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857375"/>
            <a:ext cx="1071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트레이너 50%, 신입 50%. 반드시 오너와 상의한다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C6E888-379A-4EFA-96C7-499D26C4E1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f78bb1783e420f"/>
          <a:stretch xmlns:a="http://schemas.openxmlformats.org/drawingml/2006/main"/>
        </p:blipFill>
        <p:spPr>
          <a:xfrm xmlns:a="http://schemas.openxmlformats.org/drawingml/2006/main">
            <a:off x="838200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6D6AC4-8D1D-4C04-B2C9-1DB871FF3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STAY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1E5109-2DA5-49BE-B10F-B527007AC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결과가 좋거나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기준 도달에 확신이 있을 때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5866E4-42B2-4F5B-B4E3-D1EFF9D50C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578a52dcb14651"/>
          <a:stretch xmlns:a="http://schemas.openxmlformats.org/drawingml/2006/main"/>
        </p:blipFill>
        <p:spPr>
          <a:xfrm xmlns:a="http://schemas.openxmlformats.org/drawingml/2006/main">
            <a:off x="6372225" y="2886075"/>
            <a:ext cx="323850" cy="32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65EEBA-684F-41BE-9CDE-5EB11E8C1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57500"/>
            <a:ext cx="44481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QUALIFYING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D82271-23B4-466D-83B0-AA0F2D4F8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05250"/>
            <a:ext cx="44481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최소 기준 도달이 어렵고</a:t>
            </a:r>
          </a:p>
          <a:p xmlns:a="http://schemas.openxmlformats.org/drawingml/2006/main">
            <a:pPr algn="l">
              <a:def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확신이 없을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E742CD-20C7-43CF-9D79-E97E461FB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1057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개별 상황을 고려한다. 캔슬은 지점에서 관리하고 IC는 그로스에 집중하도록 돕는다.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2FEF56-961E-4DC5-AA52-7F325B258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19 / 20</a:t>
            </a:r>
          </a:p>
        </p:txBody>
      </p:sp>
    </p:spTree>
    <p:extLst>
      <p:ext uri="{BB962C8B-B14F-4D97-AF65-F5344CB8AC3E}">
        <p14:creationId xmlns:p14="http://schemas.microsoft.com/office/powerpoint/2010/main" val="138883636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9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6C184C-9E58-420D-82F5-1E438C46DC9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ea943eb6bd45b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76169C-66DC-4947-889F-B24E55BE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EFBB73"/>
                </a:solidFill>
                <a:latin typeface="Apple SD Gothic Neo"/>
                <a:ea typeface="Apple SD Gothic Neo"/>
                <a:cs typeface="Apple SD Gothic Neo"/>
              </a:rPr>
              <a:t>PRESENCE · 임재영 AOP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7F327A-7BE4-4935-930C-9B8D09541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9239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딱 한 걸음 앞서</a:t>
            </a:r>
          </a:p>
          <a:p xmlns:a="http://schemas.openxmlformats.org/drawingml/2006/main">
            <a:pPr algn="l">
              <a:def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150" b="1">
                <a:solidFill>
                  <a:srgbClr val="F4F3EF"/>
                </a:solidFill>
                <a:latin typeface="Apple SD Gothic Neo"/>
                <a:ea typeface="Apple SD Gothic Neo"/>
                <a:cs typeface="Apple SD Gothic Neo"/>
              </a:rPr>
              <a:t>기다릴 줄 아는 리더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E7733A-55F5-486E-ACD0-2CFBACE8D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752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먼저 배우고 싶게 만들고, 피드백 전에 관찰한다</a:t>
            </a:r>
          </a:p>
          <a:p xmlns:a="http://schemas.openxmlformats.org/drawingml/2006/main">
            <a:pPr algn="l">
              <a:def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신입이 스스로 할 수 있다고 느끼도록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6AD833-74AC-4FA8-8A0F-1E67916CC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72125"/>
            <a:ext cx="9048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PRESENCE · 임재영 AOP</a:t>
            </a:r>
          </a:p>
          <a:p xmlns:a="http://schemas.openxmlformats.org/drawingml/2006/main">
            <a:pPr algn="l">
              <a:def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Presence Team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ED4A5B-D66C-45FD-8225-E39A29455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AFB6BC"/>
                </a:solidFill>
                <a:latin typeface="Apple SD Gothic Neo"/>
                <a:ea typeface="Apple SD Gothic Neo"/>
                <a:cs typeface="Apple SD Gothic Neo"/>
              </a:rPr>
              <a:t>20 / 20</a:t>
            </a:r>
          </a:p>
        </p:txBody>
      </p:sp>
    </p:spTree>
    <p:extLst>
      <p:ext uri="{BB962C8B-B14F-4D97-AF65-F5344CB8AC3E}">
        <p14:creationId xmlns:p14="http://schemas.microsoft.com/office/powerpoint/2010/main" val="5694412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2026-10-25T04:12:07.1120000Z</dcterms:created>
  <dcterms:modified xsi:type="dcterms:W3CDTF">2026-10-25T04:12:07.1120000Z</dcterms:modified>
</coreProperties>
</file>