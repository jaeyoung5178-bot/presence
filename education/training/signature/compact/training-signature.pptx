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3097d6966f4334" /><Relationship Type="http://schemas.openxmlformats.org/officeDocument/2006/relationships/extended-properties" Target="/docProps/app.xml" Id="Rc929f38d69b44077" /><Relationship Type="http://schemas.openxmlformats.org/officeDocument/2006/relationships/officeDocument" Target="/ppt/presentation.xml" Id="Rc4f4e0673f4143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bf454d6b74ede"/>
  </p:sldMasterIdLst>
  <p:notesMasterIdLst>
    <p:notesMasterId xmlns:r="http://schemas.openxmlformats.org/officeDocument/2006/relationships" r:id="R1891e47c5de14915"/>
  </p:notesMasterIdLst>
  <p:sldIdLst>
    <p:sldId xmlns:r="http://schemas.openxmlformats.org/officeDocument/2006/relationships" id="256" r:id="R73adb8e3133f43cc"/>
    <p:sldId xmlns:r="http://schemas.openxmlformats.org/officeDocument/2006/relationships" id="257" r:id="R864db455d02f44dd"/>
    <p:sldId xmlns:r="http://schemas.openxmlformats.org/officeDocument/2006/relationships" id="258" r:id="R31203715b00a4d17"/>
    <p:sldId xmlns:r="http://schemas.openxmlformats.org/officeDocument/2006/relationships" id="259" r:id="Rc31dbc1730ca4146"/>
    <p:sldId xmlns:r="http://schemas.openxmlformats.org/officeDocument/2006/relationships" id="260" r:id="Rd882ce381aac441f"/>
    <p:sldId xmlns:r="http://schemas.openxmlformats.org/officeDocument/2006/relationships" id="261" r:id="Raa83ec398f5941af"/>
    <p:sldId xmlns:r="http://schemas.openxmlformats.org/officeDocument/2006/relationships" id="262" r:id="Rf9d164c2bca44157"/>
    <p:sldId xmlns:r="http://schemas.openxmlformats.org/officeDocument/2006/relationships" id="263" r:id="Rc1170b8044ff4930"/>
    <p:sldId xmlns:r="http://schemas.openxmlformats.org/officeDocument/2006/relationships" id="264" r:id="R9494046b12ae4b95"/>
    <p:sldId xmlns:r="http://schemas.openxmlformats.org/officeDocument/2006/relationships" id="265" r:id="R0e19359c1a734f82"/>
    <p:sldId xmlns:r="http://schemas.openxmlformats.org/officeDocument/2006/relationships" id="266" r:id="R84e3927466324283"/>
    <p:sldId xmlns:r="http://schemas.openxmlformats.org/officeDocument/2006/relationships" id="267" r:id="Ra4511195fb364644"/>
    <p:sldId xmlns:r="http://schemas.openxmlformats.org/officeDocument/2006/relationships" id="268" r:id="Rba70c520041f4db7"/>
    <p:sldId xmlns:r="http://schemas.openxmlformats.org/officeDocument/2006/relationships" id="269" r:id="Ra357f1d89cb74f03"/>
    <p:sldId xmlns:r="http://schemas.openxmlformats.org/officeDocument/2006/relationships" id="270" r:id="R196e34d33a664baf"/>
    <p:sldId xmlns:r="http://schemas.openxmlformats.org/officeDocument/2006/relationships" id="271" r:id="R9d5026a1e9444a4d"/>
    <p:sldId xmlns:r="http://schemas.openxmlformats.org/officeDocument/2006/relationships" id="272" r:id="Rbc9adc5e8f8d4a4e"/>
    <p:sldId xmlns:r="http://schemas.openxmlformats.org/officeDocument/2006/relationships" id="273" r:id="R80d4e5e4d1fe44a0"/>
    <p:sldId xmlns:r="http://schemas.openxmlformats.org/officeDocument/2006/relationships" id="274" r:id="R28825bcc53c642c0"/>
    <p:sldId xmlns:r="http://schemas.openxmlformats.org/officeDocument/2006/relationships" id="275" r:id="Raa376f99003c4d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70d689d2634c8e" /><Relationship Type="http://schemas.openxmlformats.org/officeDocument/2006/relationships/slideMaster" Target="/ppt/slideMasters/slideMaster1.xml" Id="R2d1bf454d6b74ede" /><Relationship Type="http://schemas.openxmlformats.org/officeDocument/2006/relationships/notesMaster" Target="/ppt/notesMasters/notesMaster1.xml" Id="R1891e47c5de14915" /><Relationship Type="http://schemas.openxmlformats.org/officeDocument/2006/relationships/presProps" Target="/ppt/presProps.xml" Id="Rd548fdaf752e4d7b" /><Relationship Type="http://schemas.openxmlformats.org/officeDocument/2006/relationships/tableStyles" Target="/ppt/tableStyles.xml" Id="Rfb82c9efc09649a3" /><Relationship Type="http://schemas.openxmlformats.org/officeDocument/2006/relationships/slide" Target="/ppt/slides/slide1.xml" Id="R73adb8e3133f43cc" /><Relationship Type="http://schemas.openxmlformats.org/officeDocument/2006/relationships/slide" Target="/ppt/slides/slide2.xml" Id="R864db455d02f44dd" /><Relationship Type="http://schemas.openxmlformats.org/officeDocument/2006/relationships/slide" Target="/ppt/slides/slide3.xml" Id="R31203715b00a4d17" /><Relationship Type="http://schemas.openxmlformats.org/officeDocument/2006/relationships/slide" Target="/ppt/slides/slide4.xml" Id="Rc31dbc1730ca4146" /><Relationship Type="http://schemas.openxmlformats.org/officeDocument/2006/relationships/slide" Target="/ppt/slides/slide5.xml" Id="Rd882ce381aac441f" /><Relationship Type="http://schemas.openxmlformats.org/officeDocument/2006/relationships/slide" Target="/ppt/slides/slide6.xml" Id="Raa83ec398f5941af" /><Relationship Type="http://schemas.openxmlformats.org/officeDocument/2006/relationships/slide" Target="/ppt/slides/slide7.xml" Id="Rf9d164c2bca44157" /><Relationship Type="http://schemas.openxmlformats.org/officeDocument/2006/relationships/slide" Target="/ppt/slides/slide8.xml" Id="Rc1170b8044ff4930" /><Relationship Type="http://schemas.openxmlformats.org/officeDocument/2006/relationships/slide" Target="/ppt/slides/slide9.xml" Id="R9494046b12ae4b95" /><Relationship Type="http://schemas.openxmlformats.org/officeDocument/2006/relationships/slide" Target="/ppt/slides/slide10.xml" Id="R0e19359c1a734f82" /><Relationship Type="http://schemas.openxmlformats.org/officeDocument/2006/relationships/slide" Target="/ppt/slides/slide11.xml" Id="R84e3927466324283" /><Relationship Type="http://schemas.openxmlformats.org/officeDocument/2006/relationships/slide" Target="/ppt/slides/slide12.xml" Id="Ra4511195fb364644" /><Relationship Type="http://schemas.openxmlformats.org/officeDocument/2006/relationships/slide" Target="/ppt/slides/slide13.xml" Id="Rba70c520041f4db7" /><Relationship Type="http://schemas.openxmlformats.org/officeDocument/2006/relationships/slide" Target="/ppt/slides/slide14.xml" Id="Ra357f1d89cb74f03" /><Relationship Type="http://schemas.openxmlformats.org/officeDocument/2006/relationships/slide" Target="/ppt/slides/slide15.xml" Id="R196e34d33a664baf" /><Relationship Type="http://schemas.openxmlformats.org/officeDocument/2006/relationships/slide" Target="/ppt/slides/slide16.xml" Id="R9d5026a1e9444a4d" /><Relationship Type="http://schemas.openxmlformats.org/officeDocument/2006/relationships/slide" Target="/ppt/slides/slide17.xml" Id="Rbc9adc5e8f8d4a4e" /><Relationship Type="http://schemas.openxmlformats.org/officeDocument/2006/relationships/slide" Target="/ppt/slides/slide18.xml" Id="R80d4e5e4d1fe44a0" /><Relationship Type="http://schemas.openxmlformats.org/officeDocument/2006/relationships/slide" Target="/ppt/slides/slide19.xml" Id="R28825bcc53c642c0" /><Relationship Type="http://schemas.openxmlformats.org/officeDocument/2006/relationships/slide" Target="/ppt/slides/slide20.xml" Id="Raa376f99003c4d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0aeb4e942349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8150a16abd47b7" /><Relationship Type="http://schemas.openxmlformats.org/officeDocument/2006/relationships/notesMaster" Target="/ppt/notesMasters/notesMaster1.xml" Id="R31e799ca70464a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274a90fa604576" /><Relationship Type="http://schemas.openxmlformats.org/officeDocument/2006/relationships/notesMaster" Target="/ppt/notesMasters/notesMaster1.xml" Id="R175475a931b64d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2185508e944755" /><Relationship Type="http://schemas.openxmlformats.org/officeDocument/2006/relationships/notesMaster" Target="/ppt/notesMasters/notesMaster1.xml" Id="Rab39ccae73f242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95df11935f4fb6" /><Relationship Type="http://schemas.openxmlformats.org/officeDocument/2006/relationships/notesMaster" Target="/ppt/notesMasters/notesMaster1.xml" Id="R826c0e0176364a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5f2eb7665642a7" /><Relationship Type="http://schemas.openxmlformats.org/officeDocument/2006/relationships/notesMaster" Target="/ppt/notesMasters/notesMaster1.xml" Id="R064fd7d1369b4f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c7d340770e4883" /><Relationship Type="http://schemas.openxmlformats.org/officeDocument/2006/relationships/notesMaster" Target="/ppt/notesMasters/notesMaster1.xml" Id="R6cb235cd39c246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94b399cfb94ca4" /><Relationship Type="http://schemas.openxmlformats.org/officeDocument/2006/relationships/notesMaster" Target="/ppt/notesMasters/notesMaster1.xml" Id="R9bd495e373834d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3233ea7fd746cb" /><Relationship Type="http://schemas.openxmlformats.org/officeDocument/2006/relationships/notesMaster" Target="/ppt/notesMasters/notesMaster1.xml" Id="Rf9c8975cb07d43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de78d108b74a5e" /><Relationship Type="http://schemas.openxmlformats.org/officeDocument/2006/relationships/notesMaster" Target="/ppt/notesMasters/notesMaster1.xml" Id="R08da0ba2c2f74f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38977f6f1f4bb8" /><Relationship Type="http://schemas.openxmlformats.org/officeDocument/2006/relationships/notesMaster" Target="/ppt/notesMasters/notesMaster1.xml" Id="R26a890760cc444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70bae57e2c46e3" /><Relationship Type="http://schemas.openxmlformats.org/officeDocument/2006/relationships/notesMaster" Target="/ppt/notesMasters/notesMaster1.xml" Id="Rc0caa1e4f4884f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4d37dbd1be4a6e" /><Relationship Type="http://schemas.openxmlformats.org/officeDocument/2006/relationships/notesMaster" Target="/ppt/notesMasters/notesMaster1.xml" Id="R44ca7f31af504c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ea907ca0cd4c45" /><Relationship Type="http://schemas.openxmlformats.org/officeDocument/2006/relationships/notesMaster" Target="/ppt/notesMasters/notesMaster1.xml" Id="Rdad8415ce1704e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52134c399a4077" /><Relationship Type="http://schemas.openxmlformats.org/officeDocument/2006/relationships/notesMaster" Target="/ppt/notesMasters/notesMaster1.xml" Id="R1f175ababe5440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b6716cce3c4eb5" /><Relationship Type="http://schemas.openxmlformats.org/officeDocument/2006/relationships/notesMaster" Target="/ppt/notesMasters/notesMaster1.xml" Id="Raed09482176d4d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09e53c95b14580" /><Relationship Type="http://schemas.openxmlformats.org/officeDocument/2006/relationships/notesMaster" Target="/ppt/notesMasters/notesMaster1.xml" Id="Rdcfbcc0ed50642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cc9d8e4bb04ac8" /><Relationship Type="http://schemas.openxmlformats.org/officeDocument/2006/relationships/notesMaster" Target="/ppt/notesMasters/notesMaster1.xml" Id="R37a1b932ff9043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376a690578465b" /><Relationship Type="http://schemas.openxmlformats.org/officeDocument/2006/relationships/notesMaster" Target="/ppt/notesMasters/notesMaster1.xml" Id="R52335f705d7045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32b62f40ae4bae" /><Relationship Type="http://schemas.openxmlformats.org/officeDocument/2006/relationships/notesMaster" Target="/ppt/notesMasters/notesMaster1.xml" Id="Rba06f6f5d0fd4f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34d51bbad043d5" /><Relationship Type="http://schemas.openxmlformats.org/officeDocument/2006/relationships/notesMaster" Target="/ppt/notesMasters/notesMaster1.xml" Id="Ra2191defed2d48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LEADERS MEETING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신입 IC 트레이닝 가이드</a:t>
            </a:r>
          </a:p>
          <a:p xmlns:a="http://schemas.openxmlformats.org/drawingml/2006/main">
            <a:r>
              <a:t>신입을 '나가면 반드시 세일즈하는' 사람으로 키우는 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 배우고 싶게 만들라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피드백 전에 관찰하라</a:t>
            </a:r>
          </a:p>
          <a:p xmlns:a="http://schemas.openxmlformats.org/drawingml/2006/main">
            <a:r>
              <a:t>임재영 AOP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 · 임재영 AOP. 배경: AI 생성 컨셉 이미지, 실제 팀 활동 기록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슬라이드 4</a:t>
            </a:r>
          </a:p>
          <a:p xmlns:a="http://schemas.openxmlformats.org/drawingml/2006/main">
            <a:r>
              <a:t>TRAINING PHILOSOPHY  ·  01</a:t>
            </a:r>
          </a:p>
          <a:p xmlns:a="http://schemas.openxmlformats.org/drawingml/2006/main">
            <a:r>
              <a:t>가르치기 전에, 먼저 배우고 싶게 만들라</a:t>
            </a:r>
          </a:p>
          <a:p xmlns:a="http://schemas.openxmlformats.org/drawingml/2006/main">
            <a:r>
              <a:t>"How to teach"보다 먼저 풀어야 할 것은 "Why they want to learn"이다.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동기가 먼저다</a:t>
            </a:r>
          </a:p>
          <a:p xmlns:a="http://schemas.openxmlformats.org/drawingml/2006/main">
            <a:r>
              <a:t>지식을 밀어넣기 전에 '하고 싶다'는 마음을 먼저 켠다. 동기 없는 신입에게 스킬은 흡수되지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쇼잉으로 욕망을 만든다</a:t>
            </a:r>
          </a:p>
          <a:p xmlns:a="http://schemas.openxmlformats.org/drawingml/2006/main">
            <a:r>
              <a:t>잘하는 모습을 직접 보여줘 '나도 저렇게 되고 싶다'를 끌어낸다. 첫날의 긍정 경험이 학습 엔진이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작은 성공을 빨리 준다</a:t>
            </a:r>
          </a:p>
          <a:p xmlns:a="http://schemas.openxmlformats.org/drawingml/2006/main">
            <a:r>
              <a:t>스스로 해냈다는 성취감이 다음 학습 의지를 만든다. 가르침은 그 의지 위에 얹는다.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5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TRAINING PHILOSOPHY · 01  |  『EMILE』</a:t>
            </a:r>
          </a:p>
          <a:p xmlns:a="http://schemas.openxmlformats.org/drawingml/2006/main">
            <a:r>
              <a:t>소극적 교육 — 가르치기 전에, 관찰하기</a:t>
            </a:r>
          </a:p>
          <a:p xmlns:a="http://schemas.openxmlformats.org/drawingml/2006/main">
            <a:r>
              <a:t>루소가 말한 가장 도발적인 개념. 가장 훌륭한 교육은 '아무것도 하지 않는 것처럼 보이는' 교육이다.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Negative Education</a:t>
            </a:r>
          </a:p>
          <a:p xmlns:a="http://schemas.openxmlformats.org/drawingml/2006/main">
            <a:r>
              <a:t>"가장 초기의 교육은 순전히 소극적이어야 한다. 덕이나 진리를 가르치는 데 있지 않고, 마음을 악덕으로부터, 정신을 오류로부터 지키는 데 있다."</a:t>
            </a:r>
          </a:p>
          <a:p xmlns:a="http://schemas.openxmlformats.org/drawingml/2006/main">
            <a:r>
              <a:t>— 『에밀』 제2권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"시간을 잃어라"</a:t>
            </a:r>
          </a:p>
          <a:p xmlns:a="http://schemas.openxmlformats.org/drawingml/2006/main">
            <a:r>
              <a:t>"가장 유용한 교육 규칙은 시간을 버는 것이 아니라, 시간을 잃는 것이다."</a:t>
            </a:r>
          </a:p>
          <a:p xmlns:a="http://schemas.openxmlformats.org/drawingml/2006/main">
            <a:r>
              <a:t>— 『에밀』 제2권</a:t>
            </a:r>
          </a:p>
          <a:p xmlns:a="http://schemas.openxmlformats.org/drawingml/2006/main">
            <a:r>
              <a:t>트레이닝에 적용하면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조급함이 가장 큰 위험</a:t>
            </a:r>
          </a:p>
          <a:p xmlns:a="http://schemas.openxmlformats.org/drawingml/2006/main">
            <a:r>
              <a:t>준비되지 않은 신입에게 억지로 주입하면, 텅빈 </a:t>
            </a:r>
          </a:p>
          <a:p xmlns:a="http://schemas.openxmlformats.org/drawingml/2006/main">
            <a:r>
              <a:t>암기에 그치고 오히려 진짜 이해를 방해한다.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먼저, 얼마나 이해했는지 관찰</a:t>
            </a:r>
          </a:p>
          <a:p xmlns:a="http://schemas.openxmlformats.org/drawingml/2006/main">
            <a:r>
              <a:t>가르치기 전에 트레이니가 무엇을, 어디까지 이해하고 있는지 관찰한다. 그 위에 필요한 것을 얹는다.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기다림이 가장 빠른 길</a:t>
            </a:r>
          </a:p>
          <a:p xmlns:a="http://schemas.openxmlformats.org/drawingml/2006/main">
            <a:r>
              <a:t>스스로 경험하고 성숙할 '시간'을 허락하는 것이, 멀리 보면 가장 빠른 성장의 길이다.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6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TRAINING PHILOSOPHY · 02</a:t>
            </a:r>
          </a:p>
          <a:p xmlns:a="http://schemas.openxmlformats.org/drawingml/2006/main">
            <a:r>
              <a:t>피드백 전에, 트레이니를 먼저 관찰하라</a:t>
            </a:r>
          </a:p>
          <a:p xmlns:a="http://schemas.openxmlformats.org/drawingml/2006/main">
            <a:r>
              <a:t>같은 피드백도 사람에 따라 독이 되고 약이 된다. 처방 전에 진단이 먼저다.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관찰</a:t>
            </a:r>
          </a:p>
          <a:p xmlns:a="http://schemas.openxmlformats.org/drawingml/2006/main">
            <a: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진단</a:t>
            </a:r>
          </a:p>
          <a:p xmlns:a="http://schemas.openxmlformats.org/drawingml/2006/main">
            <a: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맞춤 피드백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반응과 태도</a:t>
            </a:r>
          </a:p>
          <a:p xmlns:a="http://schemas.openxmlformats.org/drawingml/2006/main">
            <a:r>
              <a:t>2시간 뛰게 한 뒤 '할 만한가'를 본다. 결과보다 자세·의지가 먼저.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두려움의 위치</a:t>
            </a:r>
          </a:p>
          <a:p xmlns:a="http://schemas.openxmlformats.org/drawingml/2006/main">
            <a:r>
              <a:t>어디서 멈칫하는가 — 접근? 피치? 클로징? 두려움의 좌표를 찾는다.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학습 속도</a:t>
            </a:r>
          </a:p>
          <a:p xmlns:a="http://schemas.openxmlformats.org/drawingml/2006/main">
            <a:r>
              <a:t>어제 준 피드백이 오늘 반영되는가. 성장 곡선을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강점과 결</a:t>
            </a:r>
          </a:p>
          <a:p xmlns:a="http://schemas.openxmlformats.org/drawingml/2006/main">
            <a:r>
              <a:t>리액션형인가, 논리형인가. 사람의 결에 맞춰 코칭 방식을 바꾼다.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7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TRAINING PHILOSOPHY · 02</a:t>
            </a:r>
          </a:p>
          <a:p xmlns:a="http://schemas.openxmlformats.org/drawingml/2006/main">
            <a:r>
              <a:t>사람이 다르면, 트레이닝도 달라야 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필드에 나가기 전에, '이 사람이 어떤 사람인가'를 먼저 파악해야 한다. 관찰은 첫 만남이 아니라 그 이전부터 시작된다.</a:t>
            </a:r>
          </a:p>
          <a:p xmlns:a="http://schemas.openxmlformats.org/drawingml/2006/main">
            <a:r>
              <a:t>필드 전, 이렇게 준비한다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이력서를 꼼꼼히 읽자</a:t>
            </a:r>
          </a:p>
          <a:p xmlns:a="http://schemas.openxmlformats.org/drawingml/2006/main">
            <a:r>
              <a:t>경력·이전 직무·성향의 단서를 미리 읽는다. 어디서 일했고 무엇을 잘했는지가 트레이닝의 출발점이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주변에 피드백을 요청하자</a:t>
            </a:r>
          </a:p>
          <a:p xmlns:a="http://schemas.openxmlformats.org/drawingml/2006/main">
            <a:r>
              <a:t>오너·클라이언트·교육자에게 '어떤 사람이었는지' 묻는다. 다양한 시선이 모이면 한 사람의 윤곽이 또렷해진다.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트레이닝을 미리 설계하자</a:t>
            </a:r>
          </a:p>
          <a:p xmlns:a="http://schemas.openxmlformats.org/drawingml/2006/main">
            <a:r>
              <a:t>필드에서 무엇을, 어떻게 가르칠지 사전에 고민한다. 준비된 관찰이 첫날의 시행착오를 줄인다.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8</a:t>
            </a:r>
          </a:p>
          <a:p xmlns:a="http://schemas.openxmlformats.org/drawingml/2006/main">
            <a:r>
              <a:t>TRAINING PHILOSOPHY  ·  03</a:t>
            </a:r>
          </a:p>
          <a:p xmlns:a="http://schemas.openxmlformats.org/drawingml/2006/main">
            <a:r>
              <a:t>신입에게 답이 있다</a:t>
            </a:r>
          </a:p>
          <a:p xmlns:a="http://schemas.openxmlformats.org/drawingml/2006/main">
            <a:r>
              <a:t>현장의 어려움은 현장에서 답을 찾는 것이 가장 좋다. 트레이닝도 마찬가지 — 신입에게 답이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어려워하는 부분 포착하기</a:t>
            </a:r>
          </a:p>
          <a:p xmlns:a="http://schemas.openxmlformats.org/drawingml/2006/main">
            <a:r>
              <a:t>신입이 이해 못 하거나 머뭇거리는 순간을 놓치지 않는다.</a:t>
            </a:r>
          </a:p>
          <a:p xmlns:a="http://schemas.openxmlformats.org/drawingml/2006/main">
            <a: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부드럽게 먼저 묻기</a:t>
            </a:r>
          </a:p>
          <a:p xmlns:a="http://schemas.openxmlformats.org/drawingml/2006/main">
            <a:r>
              <a:t>"왜 그 부분이 어렵고 이해가 안 되는지" 신입의 입으로 듣기 위해 질문해보자</a:t>
            </a:r>
          </a:p>
          <a:p xmlns:a="http://schemas.openxmlformats.org/drawingml/2006/main">
            <a:r>
              <a:t>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솔직하게 피드백하기</a:t>
            </a:r>
          </a:p>
          <a:p xmlns:a="http://schemas.openxmlformats.org/drawingml/2006/main">
            <a:r>
              <a:t>들은 내용을 바탕으로 솔직하게, </a:t>
            </a:r>
          </a:p>
          <a:p xmlns:a="http://schemas.openxmlformats.org/drawingml/2006/main">
            <a:r>
              <a:t>함께 답을 찾아가는 시간을 갖는다.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26</a:t>
            </a:r>
          </a:p>
          <a:p xmlns:a="http://schemas.openxmlformats.org/drawingml/2006/main">
            <a:r>
              <a:t>INSIGHT  ·  ON HUMAN &amp; EDUCATION</a:t>
            </a:r>
          </a:p>
          <a:p xmlns:a="http://schemas.openxmlformats.org/drawingml/2006/main">
            <a:r>
              <a:t>장 자크 루소, 『에밀』에서</a:t>
            </a:r>
          </a:p>
          <a:p xmlns:a="http://schemas.openxmlformats.org/drawingml/2006/main">
            <a:r>
              <a:t>"진리를 가르치는 것보다, 알고 싶고 배우고 싶은 욕구를 일으키는</a:t>
            </a:r>
          </a:p>
          <a:p xmlns:a="http://schemas.openxmlformats.org/drawingml/2006/main">
            <a:r>
              <a:t>방법이 더 중요하다. 교육자는 결코 </a:t>
            </a:r>
          </a:p>
          <a:p xmlns:a="http://schemas.openxmlformats.org/drawingml/2006/main">
            <a:r>
              <a:t>아이보다 앞서서는 안 된다."</a:t>
            </a:r>
          </a:p>
          <a:p xmlns:a="http://schemas.openxmlformats.org/drawingml/2006/main">
            <a:r>
              <a:t>— 장 자크 루소, 『에밀』 (1762)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우리의 트레이닝과 닿아 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 배우고 싶게</a:t>
            </a:r>
          </a:p>
          <a:p xmlns:a="http://schemas.openxmlformats.org/drawingml/2006/main">
            <a:r>
              <a:t>지식을 밀어넣기 전에 호기심과 욕구를 켠다 — 루소의 '욕구가 먼저'와 같은 출발점.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앞서지 말고 관찰하라</a:t>
            </a:r>
          </a:p>
          <a:p xmlns:a="http://schemas.openxmlformats.org/drawingml/2006/main">
            <a:r>
              <a:t>스스로 깨닫게 두되 꼭 필요할 때 최소한만. 관찰·경청이 피드백을 앞선다.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경험이 곧 배움</a:t>
            </a:r>
          </a:p>
          <a:p xmlns:a="http://schemas.openxmlformats.org/drawingml/2006/main">
            <a:r>
              <a:t>위험과 어려움은 위기가 아니라 기회. 필드의 경험으로 신입은 자란다.</a:t>
            </a:r>
          </a:p>
          <a:p xmlns:a="http://schemas.openxmlformats.org/drawingml/2006/main">
            <a:r>
              <a:t>결국 신입에게 답이 있다 — 트레이너는 그 답이 피어나도록 돕는 사람이다.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슬라이드 9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트레이너의 전제 조건</a:t>
            </a:r>
          </a:p>
          <a:p xmlns:a="http://schemas.openxmlformats.org/drawingml/2006/main">
            <a:r>
              <a:t>효과적인 신입 트레이닝은 트레이너의 역량과 일관된 표준에서 시작된다. </a:t>
            </a:r>
          </a:p>
          <a:p xmlns:a="http://schemas.openxmlformats.org/drawingml/2006/main">
            <a:r>
              <a:t>마치 '기초군사훈련’처럼 </a:t>
            </a:r>
          </a:p>
          <a:p xmlns:a="http://schemas.openxmlformats.org/drawingml/2006/main">
            <a:r>
              <a:t>누구에게나 동일하게 적용 가능해야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트레이너의 세일즈 역량</a:t>
            </a:r>
          </a:p>
          <a:p xmlns:a="http://schemas.openxmlformats.org/drawingml/2006/main">
            <a:r>
              <a:t>주 1회이상 벨-공 세일즈 증명</a:t>
            </a:r>
          </a:p>
          <a:p xmlns:a="http://schemas.openxmlformats.org/drawingml/2006/main">
            <a:r>
              <a:t>4시간 안에 세일즈 가능</a:t>
            </a:r>
          </a:p>
          <a:p xmlns:a="http://schemas.openxmlformats.org/drawingml/2006/main">
            <a:r>
              <a:t>신입에게 쇼잉할 수 있는 실전 능력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쇼잉(Showing)의 중요성</a:t>
            </a:r>
          </a:p>
          <a:p xmlns:a="http://schemas.openxmlformats.org/drawingml/2006/main">
            <a:r>
              <a:t>가장 효과적인 교육은 '직접 보여주기'</a:t>
            </a:r>
          </a:p>
          <a:p xmlns:a="http://schemas.openxmlformats.org/drawingml/2006/main">
            <a:r>
              <a:t>신입은 실제 과정을 관찰하며 학습</a:t>
            </a:r>
          </a:p>
          <a:p xmlns:a="http://schemas.openxmlformats.org/drawingml/2006/main">
            <a:r>
              <a:t>트레이너의 실전 역량 = 교육의 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스탠다드(표준) 적용 원칙</a:t>
            </a:r>
          </a:p>
          <a:p xmlns:a="http://schemas.openxmlformats.org/drawingml/2006/main">
            <a:r>
              <a:t>일관된 표준을 모든 신입에게 동일하게</a:t>
            </a:r>
          </a:p>
          <a:p xmlns:a="http://schemas.openxmlformats.org/drawingml/2006/main">
            <a:r>
              <a:t>개인 맞춤보다 기본 패턴 통일 우선</a:t>
            </a:r>
          </a:p>
          <a:p xmlns:a="http://schemas.openxmlformats.org/drawingml/2006/main">
            <a:r>
              <a:t>나가면 반드시 세일즈 가능한 기본기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>DAY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첫날은</a:t>
            </a:r>
          </a:p>
          <a:p xmlns:a="http://schemas.openxmlformats.org/drawingml/2006/main">
            <a:r>
              <a:t>경험의 날</a:t>
            </a:r>
          </a:p>
          <a:p xmlns:a="http://schemas.openxmlformats.org/drawingml/2006/main">
            <a:r>
              <a:t>성과보다 적응과 관찰. 신입이 '필드는 할 만하다'를 느끼게 하는 것이 첫날의 유일한 목표, 신입이 마음껏 시도하게 해주는 ”안전벨트”같은 리더십 발휘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반응과 태도 확인</a:t>
            </a:r>
          </a:p>
          <a:p xmlns:a="http://schemas.openxmlformats.org/drawingml/2006/main">
            <a:r>
              <a:t>세일즈 결과보다 반응·태도가 중요. 2시간쯤 뛰게 한 뒤 '할 만한지' 체크하고 기본 자세와 의지를 파악한다.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트레이너의 쇼잉 집중</a:t>
            </a:r>
          </a:p>
          <a:p xmlns:a="http://schemas.openxmlformats.org/drawingml/2006/main">
            <a:r>
              <a:t>신입보다 자신의 세일즈에 집중해 실제 과정을 직접 보여준다. 첫날은 곧 '쇼잉의 날'.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두려움 제거 · 프리엠티브</a:t>
            </a:r>
          </a:p>
          <a:p xmlns:a="http://schemas.openxmlformats.org/drawingml/2006/main">
            <a:r>
              <a:t>필드 두려움을 없애고 프리엠티브를 충분히 제공한다. ‘필드가 재미있다, 해볼만 하다'를 느끼게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긍정적 첫 경험</a:t>
            </a:r>
          </a:p>
          <a:p xmlns:a="http://schemas.openxmlformats.org/drawingml/2006/main">
            <a:r>
              <a:t>결과 압박 대신 환경 적응을 돕는다. 다음 날을 위한 심리적 준비를 만든다.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10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>DAY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첫날은</a:t>
            </a:r>
          </a:p>
          <a:p xmlns:a="http://schemas.openxmlformats.org/drawingml/2006/main">
            <a:r>
              <a:t>경험의 날</a:t>
            </a:r>
          </a:p>
          <a:p xmlns:a="http://schemas.openxmlformats.org/drawingml/2006/main">
            <a:r>
              <a:t>성과보다 적응과 관찰. 신입이 '필드는 할 만하다'를 느끼게 하는 것이 첫날의 유일한 목표, 신입이 마음껏 시도하게 해주는 ”안전벨트”같은 리더십 발휘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반응과 태도 확인</a:t>
            </a:r>
          </a:p>
          <a:p xmlns:a="http://schemas.openxmlformats.org/drawingml/2006/main">
            <a:r>
              <a:t>세일즈 결과보다 반응·태도가 중요. 2시간쯤 뛰게 한 뒤 '할 만한지' 체크하고 기본 자세와 의지를 파악한다.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트레이너의 쇼잉 집중</a:t>
            </a:r>
          </a:p>
          <a:p xmlns:a="http://schemas.openxmlformats.org/drawingml/2006/main">
            <a:r>
              <a:t>신입보다 자신의 세일즈에 집중해 실제 과정을 직접 보여준다. 첫날은 곧 '쇼잉의 날'.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두려움 제거 · 프리엠티브</a:t>
            </a:r>
          </a:p>
          <a:p xmlns:a="http://schemas.openxmlformats.org/drawingml/2006/main">
            <a:r>
              <a:t>필드 두려움을 없애고 프리엠티브를 충분히 제공한다. ‘필드가 재미있다, 해볼만 하다'를 느끼게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긍정적 첫 경험</a:t>
            </a:r>
          </a:p>
          <a:p xmlns:a="http://schemas.openxmlformats.org/drawingml/2006/main">
            <a:r>
              <a:t>결과 압박 대신 환경 적응을 돕는다. 다음 날을 위한 심리적 준비를 만든다.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10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DAY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둘째 날은</a:t>
            </a:r>
          </a:p>
          <a:p xmlns:a="http://schemas.openxmlformats.org/drawingml/2006/main">
            <a:r>
              <a:t>학습의 날</a:t>
            </a:r>
          </a:p>
          <a:p xmlns:a="http://schemas.openxmlformats.org/drawingml/2006/main">
            <a:r>
              <a:t>첫날이 경험이었다면, 둘째 날은 학습이다. 신입이 반드시 세일즈 1개 이상을 달성하게 하는 가장 중요한 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세일즈 달성 (매우 중요)</a:t>
            </a:r>
          </a:p>
          <a:p xmlns:a="http://schemas.openxmlformats.org/drawingml/2006/main">
            <a:r>
              <a:t>반드시 1개 이상을 함께 만들어낸다. 신입이 직접 성공을 체감하게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학습력 · 성장성 체크</a:t>
            </a:r>
          </a:p>
          <a:p xmlns:a="http://schemas.openxmlformats.org/drawingml/2006/main">
            <a:r>
              <a:t>학습 능력과 성장 가능성을 평가하고, 첫날 대비 개선점을 짚어 피드백한다.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트레이너와 신입의 균형</a:t>
            </a:r>
          </a:p>
          <a:p xmlns:a="http://schemas.openxmlformats.org/drawingml/2006/main">
            <a:r>
              <a:t>신입의 세일즈가 우선이지만 트레이너도 성과가 필요. 함께 내는 것이 이상적.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둘째 날의 의미</a:t>
            </a:r>
          </a:p>
          <a:p xmlns:a="http://schemas.openxmlformats.org/drawingml/2006/main">
            <a:r>
              <a:t>경험에서 '결과에 대한 학습'으로. 신입의 실질 역량을 가늠하는 시점.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11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슬라이드 12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THE FIRST 3 DAYS</a:t>
            </a:r>
          </a:p>
          <a:p xmlns:a="http://schemas.openxmlformats.org/drawingml/2006/main">
            <a:r>
              <a:t>DAY 3 · 판단의 날</a:t>
            </a:r>
          </a:p>
          <a:p xmlns:a="http://schemas.openxmlformats.org/drawingml/2006/main">
            <a:r>
              <a:t>셋째 날, Stay인가 Qualifying인가 (반드시 오너와 상의)</a:t>
            </a:r>
          </a:p>
          <a:p xmlns:a="http://schemas.openxmlformats.org/drawingml/2006/main">
            <a:r>
              <a:t>전략적 사이트 선택과 시간 확보로 '제로(0)'를 막고, 3일간의 성과 패턴으로 향후 가능성을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전략적 사이트 선택</a:t>
            </a:r>
          </a:p>
          <a:p xmlns:a="http://schemas.openxmlformats.org/drawingml/2006/main">
            <a:r>
              <a:t>신입이 벨을 칠 수 있는 사이트를 전략적으로 고르고 스케줄을 미리 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제로(0) 방지 전략</a:t>
            </a:r>
          </a:p>
          <a:p xmlns:a="http://schemas.openxmlformats.org/drawingml/2006/main">
            <a:r>
              <a:t>제로는 절대 금물. 시간 확보는 필수, 성공 가능성 높은 필드를 찾는다.</a:t>
            </a:r>
          </a:p>
          <a:p xmlns:a="http://schemas.openxmlformats.org/drawingml/2006/main">
            <a:r>
              <a:t>3일간 성과 → 판단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 – 1 – 2</a:t>
            </a:r>
          </a:p>
          <a:p xmlns:a="http://schemas.openxmlformats.org/drawingml/2006/main">
            <a:r>
              <a:t>가장 이상적 · 리더로 육성 가능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3일간 2개</a:t>
            </a:r>
          </a:p>
          <a:p xmlns:a="http://schemas.openxmlformats.org/drawingml/2006/main">
            <a:r>
              <a:t>로드트립 제안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3일간 3개</a:t>
            </a:r>
          </a:p>
          <a:p xmlns:a="http://schemas.openxmlformats.org/drawingml/2006/main">
            <a:r>
              <a:t>의지와 센스 모두 보유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 – 0 – 0</a:t>
            </a:r>
          </a:p>
          <a:p xmlns:a="http://schemas.openxmlformats.org/drawingml/2006/main">
            <a:r>
              <a:t>의지·센스 부족 → 빠른 Qualifying</a:t>
            </a:r>
          </a:p>
          <a:p xmlns:a="http://schemas.openxmlformats.org/drawingml/2006/main">
            <a:r>
              <a:t>단, 모든 판단은 Case by Case — 기준 위에서 유연하게.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슬라이드 13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5 Step 트레이닝</a:t>
            </a:r>
          </a:p>
          <a:p xmlns:a="http://schemas.openxmlformats.org/drawingml/2006/main">
            <a:r>
              <a:t>주목부터 재확인까지, 한 호흡으로 이어지는 표준 세일즈 흐름.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Intro</a:t>
            </a:r>
          </a:p>
          <a:p xmlns:a="http://schemas.openxmlformats.org/drawingml/2006/main">
            <a:r>
              <a:t>주목시키기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'주목'. 시선과 발걸음을 멈춰 세운다. 적극적 리액션과 아이스브레이크로 '대화하고 싶은 분위기'를 만들고 경계심을 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Short Story</a:t>
            </a:r>
          </a:p>
          <a:p xmlns:a="http://schemas.openxmlformats.org/drawingml/2006/main">
            <a:r>
              <a:t>짧고 명확한 피치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짧은 피치 + Yes Question으로 긍정 응답률을 올린다. WOW 포인트를 활용해 흥미를 끌어올린다.</a:t>
            </a:r>
          </a:p>
          <a:p xmlns:a="http://schemas.openxmlformats.org/drawingml/2006/main">
            <a:r>
              <a:t>이때  Tone of Voice와 Body Language 를 상황에 맞게 활용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Presentation</a:t>
            </a:r>
          </a:p>
          <a:p xmlns:a="http://schemas.openxmlformats.org/drawingml/2006/main">
            <a:r>
              <a:t>해결책 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액션: 해결책으로 구호물품을 직접 보여준다. 효과: 구매 욕구를 최대치로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Closing · TAAIS</a:t>
            </a:r>
          </a:p>
          <a:p xmlns:a="http://schemas.openxmlformats.org/drawingml/2006/main">
            <a:r>
              <a:t>구매를 전제로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Trial(항상 시도) · Assumptive(구매 전제 대화) · Alternative · Indifference · Silence(선택권 부여와 침묵 활용).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Rehash</a:t>
            </a:r>
          </a:p>
          <a:p xmlns:a="http://schemas.openxmlformats.org/drawingml/2006/main">
            <a:r>
              <a:t>거래정보 재확인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거래 정보를 다시 확인해 취소율을 낮추고, 구매 만족도를 한 번 더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참고 · 5 Step 外</a:t>
            </a:r>
          </a:p>
          <a:p xmlns:a="http://schemas.openxmlformats.org/drawingml/2006/main">
            <a:r>
              <a:t>쿠션 멘트  피치 전반에 꼭 필요한 핵심 요소.  "바쁘시니까", "이미 좋은 일 많이 하시겠지만" 등으로 거절 확률을 낮춘다.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슬라이드 13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5 Step 트레이닝</a:t>
            </a:r>
          </a:p>
          <a:p xmlns:a="http://schemas.openxmlformats.org/drawingml/2006/main">
            <a:r>
              <a:t>주목부터 재확인까지, 한 호흡으로 이어지는 표준 세일즈 흐름.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Intro</a:t>
            </a:r>
          </a:p>
          <a:p xmlns:a="http://schemas.openxmlformats.org/drawingml/2006/main">
            <a:r>
              <a:t>주목시키기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핵심은 '주목'. 시선과 발걸음을 멈춰 세운다. 적극적 리액션과 아이스브레이크로 '대화하고 싶은 분위기'를 만들고 경계심을 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Short Story</a:t>
            </a:r>
          </a:p>
          <a:p xmlns:a="http://schemas.openxmlformats.org/drawingml/2006/main">
            <a:r>
              <a:t>짧고 명확한 피치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짧은 피치 + Yes Question으로 긍정 응답률을 올린다. WOW 포인트를 활용해 흥미를 끌어올린다.</a:t>
            </a:r>
          </a:p>
          <a:p xmlns:a="http://schemas.openxmlformats.org/drawingml/2006/main">
            <a:r>
              <a:t>이때  Tone of Voice와 Body Language 를 상황에 맞게 활용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Presentation</a:t>
            </a:r>
          </a:p>
          <a:p xmlns:a="http://schemas.openxmlformats.org/drawingml/2006/main">
            <a:r>
              <a:t>해결책 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액션: 해결책으로 구호물품을 직접 보여준다. 효과: 구매 욕구를 최대치로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Closing · TAAIS</a:t>
            </a:r>
          </a:p>
          <a:p xmlns:a="http://schemas.openxmlformats.org/drawingml/2006/main">
            <a:r>
              <a:t>구매를 전제로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Trial(항상 시도) · Assumptive(구매 전제 대화) · Alternative · Indifference · Silence(선택권 부여와 침묵 활용).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Rehash</a:t>
            </a:r>
          </a:p>
          <a:p xmlns:a="http://schemas.openxmlformats.org/drawingml/2006/main">
            <a:r>
              <a:t>거래정보 재확인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거래 정보를 다시 확인해 취소율을 낮추고, 구매 만족도를 한 번 더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참고 · 5 Step 外</a:t>
            </a:r>
          </a:p>
          <a:p xmlns:a="http://schemas.openxmlformats.org/drawingml/2006/main">
            <a:r>
              <a:t>쿠션 멘트  피치 전반에 꼭 필요한 핵심 요소.  "바쁘시니까", "이미 좋은 일 많이 하시겠지만" 등으로 거절 확률을 낮춘다.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슬라이드 15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TIMING · WHAT</a:t>
            </a:r>
          </a:p>
          <a:p xmlns:a="http://schemas.openxmlformats.org/drawingml/2006/main">
            <a:r>
              <a:t>필드 전, 무엇을 준비하는가</a:t>
            </a:r>
          </a:p>
          <a:p xmlns:a="http://schemas.openxmlformats.org/drawingml/2006/main">
            <a:r>
              <a:t>필드에 나가기 전, 신입과 함께 점검하고 설계하는 것들.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피치 점검</a:t>
            </a:r>
          </a:p>
          <a:p xmlns:a="http://schemas.openxmlformats.org/drawingml/2006/main">
            <a:r>
              <a:t>피치 숙지·클로즈·약정서</a:t>
            </a:r>
          </a:p>
          <a:p xmlns:a="http://schemas.openxmlformats.org/drawingml/2006/main">
            <a:r>
              <a:t>핸들링 정도를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니즈 파악</a:t>
            </a:r>
          </a:p>
          <a:p xmlns:a="http://schemas.openxmlformats.org/drawingml/2006/main">
            <a:r>
              <a:t>내일 필드를 통해</a:t>
            </a:r>
          </a:p>
          <a:p xmlns:a="http://schemas.openxmlformats.org/drawingml/2006/main">
            <a:r>
              <a:t>무엇을 배우고 싶은지 묻는다.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목표 설정</a:t>
            </a:r>
          </a:p>
          <a:p xmlns:a="http://schemas.openxmlformats.org/drawingml/2006/main">
            <a:r>
              <a:t>필드시간·리해쉬·클로즈.</a:t>
            </a:r>
          </a:p>
          <a:p xmlns:a="http://schemas.openxmlformats.org/drawingml/2006/main">
            <a:r>
              <a:t>개인+섹터목표(AVG)까지 나누면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사이트 전략 공유</a:t>
            </a:r>
          </a:p>
          <a:p xmlns:a="http://schemas.openxmlformats.org/drawingml/2006/main">
            <a:r>
              <a:t>사이트를 익숙하게 만들고 전략대로,</a:t>
            </a:r>
          </a:p>
          <a:p xmlns:a="http://schemas.openxmlformats.org/drawingml/2006/main">
            <a:r>
              <a:t>'나도 할 수 있다'는 기대를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사전 안내 (프리엠티브)</a:t>
            </a:r>
          </a:p>
          <a:p xmlns:a="http://schemas.openxmlformats.org/drawingml/2006/main">
            <a:r>
              <a:t>타 에이전시·우천 등 갑자기 닥치면</a:t>
            </a:r>
          </a:p>
          <a:p xmlns:a="http://schemas.openxmlformats.org/drawingml/2006/main">
            <a:r>
              <a:t>네거티브해지는 요소를 미리 안내한다.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>필드 물품·복장 점검</a:t>
            </a:r>
          </a:p>
          <a:p xmlns:a="http://schemas.openxmlformats.org/drawingml/2006/main">
            <a:r>
              <a:t>콜백싯·조끼·아이디카드·</a:t>
            </a:r>
          </a:p>
          <a:p xmlns:a="http://schemas.openxmlformats.org/drawingml/2006/main">
            <a:r>
              <a:t>태블릿·부스 등을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16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TIMING · HOW</a:t>
            </a:r>
          </a:p>
          <a:p xmlns:a="http://schemas.openxmlformats.org/drawingml/2006/main">
            <a:r>
              <a:t>필드 중, 어떻게 끌어가는가</a:t>
            </a:r>
          </a:p>
          <a:p xmlns:a="http://schemas.openxmlformats.org/drawingml/2006/main">
            <a:r>
              <a:t>필드 안에서 실시간으로 관찰하고, 보여주고, 케어한다.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트레이닝 대상 파악</a:t>
            </a:r>
          </a:p>
          <a:p xmlns:a="http://schemas.openxmlformats.org/drawingml/2006/main">
            <a:r>
              <a:t>어떤 유형인지,</a:t>
            </a:r>
          </a:p>
          <a:p xmlns:a="http://schemas.openxmlformats.org/drawingml/2006/main">
            <a:r>
              <a:t>어느 정도의 이해도인지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집중·계속 시도</a:t>
            </a:r>
          </a:p>
          <a:p xmlns:a="http://schemas.openxmlformats.org/drawingml/2006/main">
            <a:r>
              <a:t>계속되는 시도를 통해</a:t>
            </a:r>
          </a:p>
          <a:p xmlns:a="http://schemas.openxmlformats.org/drawingml/2006/main">
            <a:r>
              <a:t>객관적 데이터를 쌓게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상황에 맞는 피드백·점검</a:t>
            </a:r>
          </a:p>
          <a:p xmlns:a="http://schemas.openxmlformats.org/drawingml/2006/main">
            <a:r>
              <a:t>칭찬과 즉시 CS·넘버 피드백.</a:t>
            </a:r>
          </a:p>
          <a:p xmlns:a="http://schemas.openxmlformats.org/drawingml/2006/main">
            <a:r>
              <a:t>2시간마다 콜백싯을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보여주기 (Showing)</a:t>
            </a:r>
          </a:p>
          <a:p xmlns:a="http://schemas.openxmlformats.org/drawingml/2006/main">
            <a:r>
              <a:t>Showing Is The Best.</a:t>
            </a:r>
          </a:p>
          <a:p xmlns:a="http://schemas.openxmlformats.org/drawingml/2006/main">
            <a:r>
              <a:t>쉽고 빠른 벨로 직접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네거티브 파악</a:t>
            </a:r>
          </a:p>
          <a:p xmlns:a="http://schemas.openxmlformats.org/drawingml/2006/main">
            <a:r>
              <a:t>빠른 네거티브 파악과 해결,</a:t>
            </a:r>
          </a:p>
          <a:p xmlns:a="http://schemas.openxmlformats.org/drawingml/2006/main">
            <a:r>
              <a:t>그리고 멘탈 케어.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>좋은 소식 공유</a:t>
            </a:r>
          </a:p>
          <a:p xmlns:a="http://schemas.openxmlformats.org/drawingml/2006/main">
            <a:r>
              <a:t>시민의 응원의 말,</a:t>
            </a:r>
          </a:p>
          <a:p xmlns:a="http://schemas.openxmlformats.org/drawingml/2006/main">
            <a:r>
              <a:t>후원자가 남긴 후원 사유를 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17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TIMING · WHY</a:t>
            </a:r>
          </a:p>
          <a:p xmlns:a="http://schemas.openxmlformats.org/drawingml/2006/main">
            <a:r>
              <a:t>필드 후, 무엇을 남기는가</a:t>
            </a:r>
          </a:p>
          <a:p xmlns:a="http://schemas.openxmlformats.org/drawingml/2006/main">
            <a:r>
              <a:t>하루를 돌아보고, 콜백싯 기준으로 피드백하고, 다음을 설계한다.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필드 소감 파악</a:t>
            </a:r>
          </a:p>
          <a:p xmlns:a="http://schemas.openxmlformats.org/drawingml/2006/main">
            <a:r>
              <a:t>오늘 하루 어땠는지 묻는다.</a:t>
            </a:r>
          </a:p>
          <a:p xmlns:a="http://schemas.openxmlformats.org/drawingml/2006/main">
            <a:r>
              <a:t>무엇을 배웠고, 좋았던 점과</a:t>
            </a:r>
          </a:p>
          <a:p xmlns:a="http://schemas.openxmlformats.org/drawingml/2006/main">
            <a:r>
              <a:t>아쉬운 점은 무엇이었는지.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콜백싯 기준 피드백</a:t>
            </a:r>
          </a:p>
          <a:p xmlns:a="http://schemas.openxmlformats.org/drawingml/2006/main">
            <a:r>
              <a:t>같이 필드한 사람들과 넘버를</a:t>
            </a:r>
          </a:p>
          <a:p xmlns:a="http://schemas.openxmlformats.org/drawingml/2006/main">
            <a:r>
              <a:t>비교하며, 넘버·스킬·태도의</a:t>
            </a:r>
          </a:p>
          <a:p xmlns:a="http://schemas.openxmlformats.org/drawingml/2006/main">
            <a:r>
              <a:t>보완점을 함께 이야기한다.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다음 교육 일정 안내 · 기본 5일</a:t>
            </a:r>
          </a:p>
          <a:p xmlns:a="http://schemas.openxmlformats.org/drawingml/2006/main">
            <a:r>
              <a:t>DAY 1</a:t>
            </a:r>
          </a:p>
          <a:p xmlns:a="http://schemas.openxmlformats.org/drawingml/2006/main">
            <a:r>
              <a:t>콜백싯 교육 기본 작성법</a:t>
            </a:r>
          </a:p>
          <a:p xmlns:a="http://schemas.openxmlformats.org/drawingml/2006/main">
            <a:r>
              <a:t>DAY 2</a:t>
            </a:r>
          </a:p>
          <a:p xmlns:a="http://schemas.openxmlformats.org/drawingml/2006/main">
            <a:r>
              <a:t>콜백싯 교육 분석 · Contact to Stop &amp; 부스 컨트롤</a:t>
            </a:r>
          </a:p>
          <a:p xmlns:a="http://schemas.openxmlformats.org/drawingml/2006/main">
            <a:r>
              <a:t>DAY 3</a:t>
            </a:r>
          </a:p>
          <a:p xmlns:a="http://schemas.openxmlformats.org/drawingml/2006/main">
            <a:r>
              <a:t>5 Steps</a:t>
            </a:r>
          </a:p>
          <a:p xmlns:a="http://schemas.openxmlformats.org/drawingml/2006/main">
            <a:r>
              <a:t>DAY 4</a:t>
            </a:r>
          </a:p>
          <a:p xmlns:a="http://schemas.openxmlformats.org/drawingml/2006/main">
            <a:r>
              <a:t>Closing</a:t>
            </a:r>
          </a:p>
          <a:p xmlns:a="http://schemas.openxmlformats.org/drawingml/2006/main">
            <a:r>
              <a:t>DAY 5</a:t>
            </a:r>
          </a:p>
          <a:p xmlns:a="http://schemas.openxmlformats.org/drawingml/2006/main">
            <a:r>
              <a:t>약정서 &amp; 리해쉬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개인별 맞춤 피드백</a:t>
            </a:r>
          </a:p>
          <a:p xmlns:a="http://schemas.openxmlformats.org/drawingml/2006/main">
            <a:r>
              <a:t>관찰로 약점을 진단한 뒤, 그 사람에게 맞는 처방을 내린다. — 관찰이 먼저, 피드백은 그 다음.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리액션이 약하다</a:t>
            </a:r>
          </a:p>
          <a:p xmlns:a="http://schemas.openxmlformats.org/drawingml/2006/main">
            <a:r>
              <a:t>리액션 강화</a:t>
            </a:r>
          </a:p>
          <a:p xmlns:a="http://schemas.openxmlformats.org/drawingml/2006/main">
            <a:r>
              <a:t>표정·제스처 훈련</a:t>
            </a:r>
          </a:p>
          <a:p xmlns:a="http://schemas.openxmlformats.org/drawingml/2006/main">
            <a:r>
              <a:t>고객 반응에 즉각 대응</a:t>
            </a:r>
          </a:p>
          <a:p xmlns:a="http://schemas.openxmlformats.org/drawingml/2006/main">
            <a:r>
              <a:t>임펄스·바디랭귀지</a:t>
            </a:r>
          </a:p>
          <a:p xmlns:a="http://schemas.openxmlformats.org/drawingml/2006/main">
            <a:r>
              <a:t>롤플레이 반복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부스 연결이 약하다</a:t>
            </a:r>
          </a:p>
          <a:p xmlns:a="http://schemas.openxmlformats.org/drawingml/2006/main">
            <a:r>
              <a:t>스트릿 스킬</a:t>
            </a:r>
          </a:p>
          <a:p xmlns:a="http://schemas.openxmlformats.org/drawingml/2006/main">
            <a:r>
              <a:t>접근 방법 다양화</a:t>
            </a:r>
          </a:p>
          <a:p xmlns:a="http://schemas.openxmlformats.org/drawingml/2006/main">
            <a:r>
              <a:t>첫인상 개선 훈련</a:t>
            </a:r>
          </a:p>
          <a:p xmlns:a="http://schemas.openxmlformats.org/drawingml/2006/main">
            <a:r>
              <a:t>거절 극복 기술</a:t>
            </a:r>
          </a:p>
          <a:p xmlns:a="http://schemas.openxmlformats.org/drawingml/2006/main">
            <a:r>
              <a:t>고객 유형별 접근법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클로징이 약하다</a:t>
            </a:r>
          </a:p>
          <a:p xmlns:a="http://schemas.openxmlformats.org/drawingml/2006/main">
            <a:r>
              <a:t>클로징 강화</a:t>
            </a:r>
          </a:p>
          <a:p xmlns:a="http://schemas.openxmlformats.org/drawingml/2006/main">
            <a:r>
              <a:t>TAAIS 집중 훈련</a:t>
            </a:r>
          </a:p>
          <a:p xmlns:a="http://schemas.openxmlformats.org/drawingml/2006/main">
            <a:r>
              <a:t>Buying sign 포착</a:t>
            </a:r>
          </a:p>
          <a:p xmlns:a="http://schemas.openxmlformats.org/drawingml/2006/main">
            <a:r>
              <a:t>침묵·대안 제시 기술</a:t>
            </a:r>
          </a:p>
          <a:p xmlns:a="http://schemas.openxmlformats.org/drawingml/2006/main">
            <a:r>
              <a:t>클로징 타이밍 습득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이미 잘한다</a:t>
            </a:r>
          </a:p>
          <a:p xmlns:a="http://schemas.openxmlformats.org/drawingml/2006/main">
            <a:r>
              <a:t>목표 상향</a:t>
            </a:r>
          </a:p>
          <a:p xmlns:a="http://schemas.openxmlformats.org/drawingml/2006/main">
            <a:r>
              <a:t>더 높은 목표 제시</a:t>
            </a:r>
          </a:p>
          <a:p xmlns:a="http://schemas.openxmlformats.org/drawingml/2006/main">
            <a:r>
              <a:t>자기주도 성장 유도</a:t>
            </a:r>
          </a:p>
          <a:p xmlns:a="http://schemas.openxmlformats.org/drawingml/2006/main">
            <a:r>
              <a:t>리더십·멘토링 기회</a:t>
            </a:r>
          </a:p>
          <a:p xmlns:a="http://schemas.openxmlformats.org/drawingml/2006/main">
            <a:r>
              <a:t>장기 커리어 설계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14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· CAUTION</a:t>
            </a:r>
          </a:p>
          <a:p xmlns:a="http://schemas.openxmlformats.org/drawingml/2006/main">
            <a:r>
              <a:t>피드백할 때 주의사항</a:t>
            </a:r>
          </a:p>
          <a:p xmlns:a="http://schemas.openxmlformats.org/drawingml/2006/main">
            <a:r>
              <a:t>좋은 의도라도 방식이 틀리면 독이 된다. 다섯 가지를 기억한다.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감정·느낌이 아닌 기준으로</a:t>
            </a:r>
          </a:p>
          <a:p xmlns:a="http://schemas.openxmlformats.org/drawingml/2006/main">
            <a:r>
              <a:t>넘버·스킬·태도 모두 콜백싯 기준으로 피드백한다.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내 말이 아닌, 상대에게 필요한 말인가 (매우 중요)</a:t>
            </a:r>
          </a:p>
          <a:p xmlns:a="http://schemas.openxmlformats.org/drawingml/2006/main">
            <a:r>
              <a:t>하고 싶은 말보다 상대에게 정말 필요한 말인지 먼저 고민한다.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KISS — 간단·명료·눈높이</a:t>
            </a:r>
          </a:p>
          <a:p xmlns:a="http://schemas.openxmlformats.org/drawingml/2006/main">
            <a:r>
              <a:t>상대가 공감하기 좋은 예시로 쉽게 이해되도록 트레이닝한다.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COD 공부하기</a:t>
            </a:r>
          </a:p>
          <a:p xmlns:a="http://schemas.openxmlformats.org/drawingml/2006/main">
            <a:r>
              <a:t>올바른 정보인지 확인하고 피드백. 긴가민가한 이야기는 하지 않는다.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타이밍을 정해두기</a:t>
            </a:r>
          </a:p>
          <a:p xmlns:a="http://schemas.openxmlformats.org/drawingml/2006/main">
            <a:r>
              <a:t>꼭 필요한 상황 외엔 2시간에 1번. 그 사이엔 개인 목표 달성에 집중한다.</a:t>
            </a:r>
          </a:p>
          <a:p xmlns:a="http://schemas.openxmlformats.org/drawingml/2006/main">
            <a:r>
              <a:t>TIP   피드백 수용이 빠른 신입, 주거테리·유동이 적은 B패턴에는 전략적으로 피드백을 활용하면 좋다.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18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· MODELS</a:t>
            </a:r>
          </a:p>
          <a:p xmlns:a="http://schemas.openxmlformats.org/drawingml/2006/main">
            <a:r>
              <a:t>사용 중인 피드백 모델</a:t>
            </a:r>
          </a:p>
          <a:p xmlns:a="http://schemas.openxmlformats.org/drawingml/2006/main">
            <a:r>
              <a:t>상황에 맞게 골라 쓰는 세 가지 피드백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샌드위치 기법</a:t>
            </a:r>
          </a:p>
          <a:p xmlns:a="http://schemas.openxmlformats.org/drawingml/2006/main">
            <a:r>
              <a:t>“우쮸쮸..!”</a:t>
            </a:r>
          </a:p>
          <a:p xmlns:a="http://schemas.openxmlformats.org/drawingml/2006/main">
            <a:r>
              <a:t>긍정 → 개선점 → 긍정</a:t>
            </a:r>
          </a:p>
          <a:p xmlns:a="http://schemas.openxmlformats.org/drawingml/2006/main">
            <a:r>
              <a:t>긍정적인 피드백으로 시작해 개선점을 짚고, 다시 긍정으로 마무리한다.</a:t>
            </a:r>
          </a:p>
          <a:p xmlns:a="http://schemas.openxmlformats.org/drawingml/2006/main">
            <a:r>
              <a:t>“이것도 저것도 좋았는데, 이 부분만 이렇게 바꿔보면 어떨까요?”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SBI 모델</a:t>
            </a:r>
          </a:p>
          <a:p xmlns:a="http://schemas.openxmlformats.org/drawingml/2006/main">
            <a:r>
              <a:t>“직관적!”</a:t>
            </a:r>
          </a:p>
          <a:p xmlns:a="http://schemas.openxmlformats.org/drawingml/2006/main">
            <a:r>
              <a:t>상황 → 행동 → 영향</a:t>
            </a:r>
          </a:p>
          <a:p xmlns:a="http://schemas.openxmlformats.org/drawingml/2006/main">
            <a:r>
              <a:t>상황(Situation)</a:t>
            </a:r>
          </a:p>
          <a:p xmlns:a="http://schemas.openxmlformats.org/drawingml/2006/main">
            <a:r>
              <a:t>행동(Behavior)</a:t>
            </a:r>
          </a:p>
          <a:p xmlns:a="http://schemas.openxmlformats.org/drawingml/2006/main">
            <a:r>
              <a:t>영향(Impact)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“이럴 땐(상황) 이렇게(행동) 하면 이런 장점(영향)이 있어요!”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5R 코칭법</a:t>
            </a:r>
          </a:p>
          <a:p xmlns:a="http://schemas.openxmlformats.org/drawingml/2006/main">
            <a:r>
              <a:t>“디테일한 발전을 위해”</a:t>
            </a:r>
          </a:p>
          <a:p xmlns:a="http://schemas.openxmlformats.org/drawingml/2006/main">
            <a:r>
              <a:t>Relation · Refocus · Reality</a:t>
            </a:r>
          </a:p>
          <a:p xmlns:a="http://schemas.openxmlformats.org/drawingml/2006/main">
            <a:r>
              <a:t>Resources · Responsibility</a:t>
            </a:r>
          </a:p>
          <a:p xmlns:a="http://schemas.openxmlformats.org/drawingml/2006/main">
            <a:r>
              <a:t>관계형성 → 목표설정 → 현실 장애물 → 해결자원 → 책임지기.</a:t>
            </a:r>
          </a:p>
          <a:p xmlns:a="http://schemas.openxmlformats.org/drawingml/2006/main">
            <a:r>
              <a:t>목표는? 장애물은? 그럼에도 해결할 방법은? 언제까지 무엇을 할지 약속하고 지키게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19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· MODELS</a:t>
            </a:r>
          </a:p>
          <a:p xmlns:a="http://schemas.openxmlformats.org/drawingml/2006/main">
            <a:r>
              <a:t>사용 중인 피드백 모델</a:t>
            </a:r>
          </a:p>
          <a:p xmlns:a="http://schemas.openxmlformats.org/drawingml/2006/main">
            <a:r>
              <a:t>상황에 맞게 골라 쓰는 세 가지 피드백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샌드위치 기법</a:t>
            </a:r>
          </a:p>
          <a:p xmlns:a="http://schemas.openxmlformats.org/drawingml/2006/main">
            <a:r>
              <a:t>“우쮸쮸..!”</a:t>
            </a:r>
          </a:p>
          <a:p xmlns:a="http://schemas.openxmlformats.org/drawingml/2006/main">
            <a:r>
              <a:t>긍정 → 개선점 → 긍정</a:t>
            </a:r>
          </a:p>
          <a:p xmlns:a="http://schemas.openxmlformats.org/drawingml/2006/main">
            <a:r>
              <a:t>긍정적인 피드백으로 시작해 개선점을 짚고, 다시 긍정으로 마무리한다.</a:t>
            </a:r>
          </a:p>
          <a:p xmlns:a="http://schemas.openxmlformats.org/drawingml/2006/main">
            <a:r>
              <a:t>“이것도 저것도 좋았는데, 이 부분만 이렇게 바꿔보면 어떨까요?”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SBI 모델</a:t>
            </a:r>
          </a:p>
          <a:p xmlns:a="http://schemas.openxmlformats.org/drawingml/2006/main">
            <a:r>
              <a:t>“직관적!”</a:t>
            </a:r>
          </a:p>
          <a:p xmlns:a="http://schemas.openxmlformats.org/drawingml/2006/main">
            <a:r>
              <a:t>상황 → 행동 → 영향</a:t>
            </a:r>
          </a:p>
          <a:p xmlns:a="http://schemas.openxmlformats.org/drawingml/2006/main">
            <a:r>
              <a:t>상황(Situation)</a:t>
            </a:r>
          </a:p>
          <a:p xmlns:a="http://schemas.openxmlformats.org/drawingml/2006/main">
            <a:r>
              <a:t>행동(Behavior)</a:t>
            </a:r>
          </a:p>
          <a:p xmlns:a="http://schemas.openxmlformats.org/drawingml/2006/main">
            <a:r>
              <a:t>영향(Impact)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“이럴 땐(상황) 이렇게(행동) 하면 이런 장점(영향)이 있어요!”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5R 코칭법</a:t>
            </a:r>
          </a:p>
          <a:p xmlns:a="http://schemas.openxmlformats.org/drawingml/2006/main">
            <a:r>
              <a:t>“디테일한 발전을 위해”</a:t>
            </a:r>
          </a:p>
          <a:p xmlns:a="http://schemas.openxmlformats.org/drawingml/2006/main">
            <a:r>
              <a:t>Relation · Refocus · Reality</a:t>
            </a:r>
          </a:p>
          <a:p xmlns:a="http://schemas.openxmlformats.org/drawingml/2006/main">
            <a:r>
              <a:t>Resources · Responsibility</a:t>
            </a:r>
          </a:p>
          <a:p xmlns:a="http://schemas.openxmlformats.org/drawingml/2006/main">
            <a:r>
              <a:t>관계형성 → 목표설정 → 현실 장애물 → 해결자원 → 책임지기.</a:t>
            </a:r>
          </a:p>
          <a:p xmlns:a="http://schemas.openxmlformats.org/drawingml/2006/main">
            <a:r>
              <a:t>목표는? 장애물은? 그럼에도 해결할 방법은? 언제까지 무엇을 할지 약속하고 지키게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19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FEEDBACK · MODELS</a:t>
            </a:r>
          </a:p>
          <a:p xmlns:a="http://schemas.openxmlformats.org/drawingml/2006/main">
            <a:r>
              <a:t>사용 중인 피드백 모델</a:t>
            </a:r>
          </a:p>
          <a:p xmlns:a="http://schemas.openxmlformats.org/drawingml/2006/main">
            <a:r>
              <a:t>상황에 맞게 골라 쓰는 세 가지 피드백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샌드위치 기법</a:t>
            </a:r>
          </a:p>
          <a:p xmlns:a="http://schemas.openxmlformats.org/drawingml/2006/main">
            <a:r>
              <a:t>“우쮸쮸..!”</a:t>
            </a:r>
          </a:p>
          <a:p xmlns:a="http://schemas.openxmlformats.org/drawingml/2006/main">
            <a:r>
              <a:t>긍정 → 개선점 → 긍정</a:t>
            </a:r>
          </a:p>
          <a:p xmlns:a="http://schemas.openxmlformats.org/drawingml/2006/main">
            <a:r>
              <a:t>긍정적인 피드백으로 시작해 개선점을 짚고, 다시 긍정으로 마무리한다.</a:t>
            </a:r>
          </a:p>
          <a:p xmlns:a="http://schemas.openxmlformats.org/drawingml/2006/main">
            <a:r>
              <a:t>“이것도 저것도 좋았는데, 이 부분만 이렇게 바꿔보면 어떨까요?”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SBI 모델</a:t>
            </a:r>
          </a:p>
          <a:p xmlns:a="http://schemas.openxmlformats.org/drawingml/2006/main">
            <a:r>
              <a:t>“직관적!”</a:t>
            </a:r>
          </a:p>
          <a:p xmlns:a="http://schemas.openxmlformats.org/drawingml/2006/main">
            <a:r>
              <a:t>상황 → 행동 → 영향</a:t>
            </a:r>
          </a:p>
          <a:p xmlns:a="http://schemas.openxmlformats.org/drawingml/2006/main">
            <a:r>
              <a:t>상황(Situation)</a:t>
            </a:r>
          </a:p>
          <a:p xmlns:a="http://schemas.openxmlformats.org/drawingml/2006/main">
            <a:r>
              <a:t>행동(Behavior)</a:t>
            </a:r>
          </a:p>
          <a:p xmlns:a="http://schemas.openxmlformats.org/drawingml/2006/main">
            <a:r>
              <a:t>영향(Impact)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“이럴 땐(상황) 이렇게(행동) 하면 이런 장점(영향)이 있어요!”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5R 코칭법</a:t>
            </a:r>
          </a:p>
          <a:p xmlns:a="http://schemas.openxmlformats.org/drawingml/2006/main">
            <a:r>
              <a:t>“디테일한 발전을 위해”</a:t>
            </a:r>
          </a:p>
          <a:p xmlns:a="http://schemas.openxmlformats.org/drawingml/2006/main">
            <a:r>
              <a:t>Relation · Refocus · Reality</a:t>
            </a:r>
          </a:p>
          <a:p xmlns:a="http://schemas.openxmlformats.org/drawingml/2006/main">
            <a:r>
              <a:t>Resources · Responsibility</a:t>
            </a:r>
          </a:p>
          <a:p xmlns:a="http://schemas.openxmlformats.org/drawingml/2006/main">
            <a:r>
              <a:t>관계형성 → 목표설정 → 현실 장애물 → 해결자원 → 책임지기.</a:t>
            </a:r>
          </a:p>
          <a:p xmlns:a="http://schemas.openxmlformats.org/drawingml/2006/main">
            <a:r>
              <a:t>목표는? 장애물은? 그럼에도 해결할 방법은? 언제까지 무엇을 할지 약속하고 지키게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19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SKILL TRAINING</a:t>
            </a:r>
          </a:p>
          <a:p xmlns:a="http://schemas.openxmlformats.org/drawingml/2006/main">
            <a:r>
              <a:t>트레이너도 콜백싯을 쓴다</a:t>
            </a:r>
          </a:p>
          <a:p xmlns:a="http://schemas.openxmlformats.org/drawingml/2006/main">
            <a:r>
              <a:t>신입이 필드 콜백싯으로 하루를 점검하듯, 트레이너는 같은 3축으로 '내가 신입을 위해 무엇을 챙겼는가'를 매일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Number</a:t>
            </a:r>
          </a:p>
          <a:p xmlns:a="http://schemas.openxmlformats.org/drawingml/2006/main">
            <a:r>
              <a:t>넘버를 쌓게 했는가</a:t>
            </a:r>
          </a:p>
          <a:p xmlns:a="http://schemas.openxmlformats.org/drawingml/2006/main">
            <a:r>
              <a:t>넘버를 쌓을 수 있는 사이트를 준비했는가</a:t>
            </a:r>
          </a:p>
          <a:p xmlns:a="http://schemas.openxmlformats.org/drawingml/2006/main">
            <a:r>
              <a:t>시도하도록 만드는 피드백을 했는가</a:t>
            </a:r>
          </a:p>
          <a:p xmlns:a="http://schemas.openxmlformats.org/drawingml/2006/main">
            <a:r>
              <a:t>거절 없는 시도 횟수를 끌어냈는가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· Skill</a:t>
            </a:r>
          </a:p>
          <a:p xmlns:a="http://schemas.openxmlformats.org/drawingml/2006/main">
            <a:r>
              <a:t>스킬을 보강했는가</a:t>
            </a:r>
          </a:p>
          <a:p xmlns:a="http://schemas.openxmlformats.org/drawingml/2006/main">
            <a:r>
              <a:t>약한 부분을 필드에서 바로 교육했는가</a:t>
            </a:r>
          </a:p>
          <a:p xmlns:a="http://schemas.openxmlformats.org/drawingml/2006/main">
            <a:r>
              <a:t>어떤 스킬이든 보강하도록 도왔는가</a:t>
            </a:r>
          </a:p>
          <a:p xmlns:a="http://schemas.openxmlformats.org/drawingml/2006/main">
            <a:r>
              <a:t>내일 바로 쓸 수 있게 알려줬는가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Attitude · Mental</a:t>
            </a:r>
          </a:p>
          <a:p xmlns:a="http://schemas.openxmlformats.org/drawingml/2006/main">
            <a:r>
              <a:t>멘탈을 지켜줬는가</a:t>
            </a:r>
          </a:p>
          <a:p xmlns:a="http://schemas.openxmlformats.org/drawingml/2006/main">
            <a:r>
              <a:t>불안·두려움 요소를 제거했는가</a:t>
            </a:r>
          </a:p>
          <a:p xmlns:a="http://schemas.openxmlformats.org/drawingml/2006/main">
            <a:r>
              <a:t>필드에 방해되는 마음을 케어했는가</a:t>
            </a:r>
          </a:p>
          <a:p xmlns:a="http://schemas.openxmlformats.org/drawingml/2006/main">
            <a:r>
              <a:t>필드에 온전히 집중하게 해줬는가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매일 반복</a:t>
            </a:r>
          </a:p>
          <a:p xmlns:a="http://schemas.openxmlformats.org/drawingml/2006/main">
            <a:r>
              <a:t>이 세 가지를 매일 점검하면, 트레이닝이 성장한다.  신입의 콜백싯이 신입을 키우듯, 트레이너의 콜백싯이 트레이너를 키운다.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20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자립을 위한 6주 전략</a:t>
            </a:r>
          </a:p>
          <a:p xmlns:a="http://schemas.openxmlformats.org/drawingml/2006/main">
            <a:r>
              <a:t>신입이 필드에 완전히 적응하기까지 약 6주. 이 기간 동안 전략적인 스케줄 관리와 필드 시간 확보가 자립의 핵심이다.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리더힛, 2주 이내</a:t>
            </a:r>
          </a:p>
          <a:p xmlns:a="http://schemas.openxmlformats.org/drawingml/2006/main">
            <a:r>
              <a:t>리더힛은 2주 이내 달성이 이상적. 전략적으로 스케줄과 필드 시간을 확보하고, 신입의 성장 속도에 맞춰 목표를 설정한다.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6주 필드 적응</a:t>
            </a:r>
          </a:p>
          <a:p xmlns:a="http://schemas.openxmlformats.org/drawingml/2006/main">
            <a:r>
              <a:t>필드 적응에는 약 6주가 소요. 3–5주차에 로드트립을 적극 활용하며 단계별 성장 과정을 모니터링한다.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 세일즈 준비</a:t>
            </a:r>
          </a:p>
          <a:p xmlns:a="http://schemas.openxmlformats.org/drawingml/2006/main">
            <a:r>
              <a:t>혼자 세일즈해야 하는 시점을 미리 안내하고 프리엠티브한다. 심리적 준비와 실전 역량을 동시에 강화한다.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21 · 임재영 AOP.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슬라이드 22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트레이너의 3가지 핵심 역할</a:t>
            </a:r>
          </a:p>
          <a:p xmlns:a="http://schemas.openxmlformats.org/drawingml/2006/main">
            <a:r>
              <a:t>신입이 '자발적으로' 성장하는 환경을 만드는 세 개의 레버.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성취감 제공</a:t>
            </a:r>
          </a:p>
          <a:p xmlns:a="http://schemas.openxmlformats.org/drawingml/2006/main">
            <a:r>
              <a:t>'내가 직접 해냈다'를 느끼게 한다.</a:t>
            </a:r>
          </a:p>
          <a:p xmlns:a="http://schemas.openxmlformats.org/drawingml/2006/main">
            <a:r>
              <a:t>두려워하면 돕고, 아니면 혼자 하게.</a:t>
            </a:r>
          </a:p>
          <a:p xmlns:a="http://schemas.openxmlformats.org/drawingml/2006/main">
            <a:r>
              <a:t>두려움 수준 파악이 판단 기준.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두려움 제거</a:t>
            </a:r>
          </a:p>
          <a:p xmlns:a="http://schemas.openxmlformats.org/drawingml/2006/main">
            <a:r>
              <a:t>초기엔 충분한 서포트를 제공.</a:t>
            </a:r>
          </a:p>
          <a:p xmlns:a="http://schemas.openxmlformats.org/drawingml/2006/main">
            <a:r>
              <a:t>점진적으로 독립성을 부여.</a:t>
            </a:r>
          </a:p>
          <a:p xmlns:a="http://schemas.openxmlformats.org/drawingml/2006/main">
            <a:r>
              <a:t>안전한 환경에서 도전하게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인정과 칭찬</a:t>
            </a:r>
          </a:p>
          <a:p xmlns:a="http://schemas.openxmlformats.org/drawingml/2006/main">
            <a:r>
              <a:t>인정·칭찬을 아끼지 않는다.</a:t>
            </a:r>
          </a:p>
          <a:p xmlns:a="http://schemas.openxmlformats.org/drawingml/2006/main">
            <a:r>
              <a:t>사람은 인정받을 때 주도적이 된다.</a:t>
            </a:r>
          </a:p>
          <a:p xmlns:a="http://schemas.openxmlformats.org/drawingml/2006/main">
            <a:r>
              <a:t>혼냄은 효과 없음 — 스스로 깨닫게.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24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매슬로우 5단계 욕구</a:t>
            </a:r>
          </a:p>
          <a:p xmlns:a="http://schemas.openxmlformats.org/drawingml/2006/main">
            <a:r>
              <a:t>사람은 아래 욕구가 채워지면 더 높은 욕구를 향한다. 트레이너는 신입을 단계마다 끌어올린다.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자아실현  Self-Actualization</a:t>
            </a:r>
          </a:p>
          <a:p xmlns:a="http://schemas.openxmlformats.org/drawingml/2006/main">
            <a:r>
              <a:t>더 큰 목표·성장. 스스로 리더로 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존중  Esteem</a:t>
            </a:r>
          </a:p>
          <a:p xmlns:a="http://schemas.openxmlformats.org/drawingml/2006/main">
            <a:r>
              <a:t>인정과 칭찬. 성취를 알아준다.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소속·애정  Love &amp; Belonging</a:t>
            </a:r>
          </a:p>
          <a:p xmlns:a="http://schemas.openxmlformats.org/drawingml/2006/main">
            <a:r>
              <a:t>팀의 일원이라는 소속감을 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안전  Safety</a:t>
            </a:r>
          </a:p>
          <a:p xmlns:a="http://schemas.openxmlformats.org/drawingml/2006/main">
            <a:r>
              <a:t>두려움 제거. 안전한 환경에서 도전.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생리적 욕구  Physiological</a:t>
            </a:r>
          </a:p>
          <a:p xmlns:a="http://schemas.openxmlformats.org/drawingml/2006/main">
            <a:r>
              <a:t>기본 생계·수입. 가장 먼저 채워질 토대.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슬라이드 23</a:t>
            </a:r>
          </a:p>
          <a:p xmlns:a="http://schemas.openxmlformats.org/drawingml/2006/main">
            <a:r>
              <a:t>ALWAYS BE LEADER</a:t>
            </a:r>
          </a:p>
          <a:p xmlns:a="http://schemas.openxmlformats.org/drawingml/2006/main">
            <a:r>
              <a:t>캔슬 관리 &amp; 그로스 집중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캔슬은 '그로스(Gross)'에만 집중하는 것이 옳은 방향. 캔슬에 대한 두려움은 오히려 세일즈에 대한 확신을 떨어뜨린다.</a:t>
            </a:r>
          </a:p>
          <a:p xmlns:a="http://schemas.openxmlformats.org/drawingml/2006/main">
            <a:r>
              <a:t>다만 리젝은 자연스러운 것 + 수치(20-30%)만큼 발생할 수 있다는 심리적 준비가 되도록 건강한 매니징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매니지먼트 영역</a:t>
            </a:r>
          </a:p>
          <a:p xmlns:a="http://schemas.openxmlformats.org/drawingml/2006/main">
            <a:r>
              <a:t>캔슬은 지점 차원에서 관리. IC 개인이 과도하게 신경 쓸 부분이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BEP 대비 타겟 조정</a:t>
            </a:r>
          </a:p>
          <a:p xmlns:a="http://schemas.openxmlformats.org/drawingml/2006/main">
            <a:r>
              <a:t>손익분기점(BEP) 대비 세일즈 타겟을 분명히. 최종 + 수익이 얼마인가가 중요.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그로스(Gross) 집중</a:t>
            </a:r>
          </a:p>
          <a:p xmlns:a="http://schemas.openxmlformats.org/drawingml/2006/main">
            <a:r>
              <a:t>캔슬을 두려워하면 세일즈 Drop으로 이어진다. 총매출에만 집중한다.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하이롤러 리젝 대응</a:t>
            </a:r>
          </a:p>
          <a:p xmlns:a="http://schemas.openxmlformats.org/drawingml/2006/main">
            <a:r>
              <a:t>하이롤러는 1일 1건 리젝 리스크. 사전 프리엠티브가 핵심 </a:t>
            </a:r>
          </a:p>
          <a:p xmlns:a="http://schemas.openxmlformats.org/drawingml/2006/main">
            <a:r>
              <a:t>(주 10세일즈+).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25</a:t>
            </a:r>
          </a:p>
          <a:p xmlns:a="http://schemas.openxmlformats.org/drawingml/2006/main">
            <a:r>
              <a:t>WRAP-UP</a:t>
            </a:r>
          </a:p>
          <a:p xmlns:a="http://schemas.openxmlformats.org/drawingml/2006/main">
            <a:r>
              <a:t>결과 판단 &amp;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50%  트레이너의 책임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50%  신입의 책임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STAY</a:t>
            </a:r>
          </a:p>
          <a:p xmlns:a="http://schemas.openxmlformats.org/drawingml/2006/main">
            <a:r>
              <a:t>결과가 좋거나 기준 도달 확신이 있으면 — 머무르게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QUALIFYING</a:t>
            </a:r>
          </a:p>
          <a:p xmlns:a="http://schemas.openxmlformats.org/drawingml/2006/main">
            <a:r>
              <a:t>최소 기준 도달이 어렵고 확신이 없으면 — 과감하게 결정한다.</a:t>
            </a:r>
          </a:p>
          <a:p xmlns:a="http://schemas.openxmlformats.org/drawingml/2006/main">
            <a:r>
              <a:t>실제 트레이닝은 Case by Case. 명확한 기준과 일관된 원칙을 유지하되, 개별 상황의 특수성을 고려해 최선의 결정을 내린다.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슬라이드 27</a:t>
            </a:r>
          </a:p>
          <a:p xmlns:a="http://schemas.openxmlformats.org/drawingml/2006/main">
            <a:r>
              <a:t>WHY I WANTED TO LEAD · 리더가 되고 싶었던 이유</a:t>
            </a:r>
          </a:p>
          <a:p xmlns:a="http://schemas.openxmlformats.org/drawingml/2006/main">
            <a:r>
              <a:t>내가 리더가 되고 싶었던 10가지 이유</a:t>
            </a:r>
          </a:p>
          <a:p xmlns:a="http://schemas.openxmlformats.org/drawingml/2006/main">
            <a:r>
              <a:t>루소가 말한 '아이보다 앞서지 않는' 교육처럼 — 딱 한 걸음 앞서 기다리는 리더가 되고 싶었다.</a:t>
            </a:r>
          </a:p>
          <a:p xmlns:a="http://schemas.openxmlformats.org/drawingml/2006/main">
            <a:r>
              <a:t>01   세일즈웍스의 첫 번째 목표여서</a:t>
            </a:r>
          </a:p>
          <a:p xmlns:a="http://schemas.openxmlformats.org/drawingml/2006/main">
            <a:r>
              <a:t>02   내 가치관이 담긴 팀을 만들 수 있어서</a:t>
            </a:r>
          </a:p>
          <a:p xmlns:a="http://schemas.openxmlformats.org/drawingml/2006/main">
            <a:r>
              <a:t>03   누군가의 리더가 된다는 것이 기뻐서</a:t>
            </a:r>
          </a:p>
          <a:p xmlns:a="http://schemas.openxmlformats.org/drawingml/2006/main">
            <a:r>
              <a:t>04   'OO리'라 불리는 친근함이 좋아서</a:t>
            </a:r>
          </a:p>
          <a:p xmlns:a="http://schemas.openxmlformats.org/drawingml/2006/main">
            <a:r>
              <a:t>05   조끼·피치카드·사물함을 쓸 수 있어서</a:t>
            </a:r>
          </a:p>
          <a:p xmlns:a="http://schemas.openxmlformats.org/drawingml/2006/main">
            <a:r>
              <a:t>06   리더라는 위치가 동기부여가 되어서</a:t>
            </a:r>
          </a:p>
          <a:p xmlns:a="http://schemas.openxmlformats.org/drawingml/2006/main">
            <a:r>
              <a:t>07   상위 프로모션에 도전할 수 있어서</a:t>
            </a:r>
          </a:p>
          <a:p xmlns:a="http://schemas.openxmlformats.org/drawingml/2006/main">
            <a:r>
              <a:t>08   리더힛 부담이 아닌 더 큰 비전으로</a:t>
            </a:r>
          </a:p>
          <a:p xmlns:a="http://schemas.openxmlformats.org/drawingml/2006/main">
            <a:r>
              <a:t>09   섬기고 돕는 자리에서만 배울 수 있어서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이런 리더가 되고 싶어서</a:t>
            </a:r>
          </a:p>
          <a:p xmlns:a="http://schemas.openxmlformats.org/drawingml/2006/main">
            <a:r>
              <a:t>아주 먼 곳까지 내다보되, 앞서 달음박질하지 않고</a:t>
            </a:r>
          </a:p>
          <a:p xmlns:a="http://schemas.openxmlformats.org/drawingml/2006/main">
            <a:r>
              <a:t>언제든 따라올 수 있도록 딱 한 걸음 앞서 기다릴 줄 아는 리더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ONE-PAGE GUIDE</a:t>
            </a:r>
          </a:p>
          <a:p xmlns:a="http://schemas.openxmlformats.org/drawingml/2006/main">
            <a:r>
              <a:t>신입 트레이닝 1–3일, 한 장 요약</a:t>
            </a:r>
          </a:p>
          <a:p xmlns:a="http://schemas.openxmlformats.org/drawingml/2006/main">
            <a:r>
              <a:t>나가면 반드시 세일즈하는 신입으로</a:t>
            </a:r>
          </a:p>
          <a:p xmlns:a="http://schemas.openxmlformats.org/drawingml/2006/main">
            <a:r>
              <a:t>DAY별 필수 액션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DAY 1</a:t>
            </a:r>
          </a:p>
          <a:p xmlns:a="http://schemas.openxmlformats.org/drawingml/2006/main">
            <a:r>
              <a:t>경험</a:t>
            </a:r>
          </a:p>
          <a:p xmlns:a="http://schemas.openxmlformats.org/drawingml/2006/main">
            <a:r>
              <a:t>2시간 뛰게 한 뒤 반응·태도 관찰</a:t>
            </a:r>
          </a:p>
          <a:p xmlns:a="http://schemas.openxmlformats.org/drawingml/2006/main">
            <a:r>
              <a:t>트레이너가 직접 쇼잉</a:t>
            </a:r>
          </a:p>
          <a:p xmlns:a="http://schemas.openxmlformats.org/drawingml/2006/main">
            <a:r>
              <a:t>두려움 제거 · 프리엠티브</a:t>
            </a:r>
          </a:p>
          <a:p xmlns:a="http://schemas.openxmlformats.org/drawingml/2006/main">
            <a:r>
              <a:t>제로 방지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DAY 2</a:t>
            </a:r>
          </a:p>
          <a:p xmlns:a="http://schemas.openxmlformats.org/drawingml/2006/main">
            <a:r>
              <a:t>학습</a:t>
            </a:r>
          </a:p>
          <a:p xmlns:a="http://schemas.openxmlformats.org/drawingml/2006/main">
            <a:r>
              <a:t>첫 세일즈 1개 함께 달성(필수)</a:t>
            </a:r>
          </a:p>
          <a:p xmlns:a="http://schemas.openxmlformats.org/drawingml/2006/main">
            <a:r>
              <a:t>학습력 · 성장성 체크</a:t>
            </a:r>
          </a:p>
          <a:p xmlns:a="http://schemas.openxmlformats.org/drawingml/2006/main">
            <a:r>
              <a:t>첫날 대비 개선점 피드백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DAY 3</a:t>
            </a:r>
          </a:p>
          <a:p xmlns:a="http://schemas.openxmlformats.org/drawingml/2006/main">
            <a:r>
              <a:t>판단</a:t>
            </a:r>
          </a:p>
          <a:p xmlns:a="http://schemas.openxmlformats.org/drawingml/2006/main">
            <a:r>
              <a:t>전략적 사이트 선택</a:t>
            </a:r>
          </a:p>
          <a:p xmlns:a="http://schemas.openxmlformats.org/drawingml/2006/main">
            <a:r>
              <a:t>3일 성과 패턴으로 판단</a:t>
            </a:r>
          </a:p>
          <a:p xmlns:a="http://schemas.openxmlformats.org/drawingml/2006/main">
            <a:r>
              <a:t>Stay / Qualifying 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가져야 할 태도</a:t>
            </a:r>
          </a:p>
          <a:p xmlns:a="http://schemas.openxmlformats.org/drawingml/2006/main">
            <a:r>
              <a:t>성취감 제공 · 인정과 칭찬</a:t>
            </a:r>
          </a:p>
          <a:p xmlns:a="http://schemas.openxmlformats.org/drawingml/2006/main">
            <a:r>
              <a:t>혼냄보다 스스로 깨닫게 (앞서지 않기)</a:t>
            </a:r>
          </a:p>
          <a:p xmlns:a="http://schemas.openxmlformats.org/drawingml/2006/main">
            <a:r>
              <a:t>불안·두려움을 케어해 필드에 집중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갖춰야 할 스킬</a:t>
            </a:r>
          </a:p>
          <a:p xmlns:a="http://schemas.openxmlformats.org/drawingml/2006/main">
            <a:r>
              <a:t>5 Step : Intro·Short Story·Presentation·Closing·Rehash</a:t>
            </a:r>
          </a:p>
          <a:p xmlns:a="http://schemas.openxmlformats.org/drawingml/2006/main">
            <a:r>
              <a:t>TAAIS 클로징 · 쿠션 멘트</a:t>
            </a:r>
          </a:p>
          <a:p xmlns:a="http://schemas.openxmlformats.org/drawingml/2006/main">
            <a:r>
              <a:t>약점별 보강 : 리액션·스트릿·클로징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매일 점검 체크리스트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사이트를 준비해 넘버를 쌓게 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약한 스킬을 필드에서 바로 보강했는가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두려움을 제거해 집중하게 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신입의 콜백싯을 함께 점검했는가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슬라이드 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Presence Team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Thank you</a:t>
            </a:r>
          </a:p>
          <a:p xmlns:a="http://schemas.openxmlformats.org/drawingml/2006/main">
            <a:r>
              <a:t>후원의 기쁨과 가치를 전할 수 있는 곳이라면 어디든 가는 사람</a:t>
            </a:r>
          </a:p>
          <a:p xmlns:a="http://schemas.openxmlformats.org/drawingml/2006/main">
            <a:r>
              <a:t>임재영 AOP</a:t>
            </a:r>
          </a:p>
          <a:p xmlns:a="http://schemas.openxmlformats.org/drawingml/2006/main">
            <a:r>
              <a:t>☎  Tel : 010-5178-1713        ✉  e-mail : jaeyoung5178@naver.com</a:t>
            </a:r>
          </a:p>
          <a:p xmlns:a="http://schemas.openxmlformats.org/drawingml/2006/main">
            <a:r>
              <a:t>기타 궁금하거나 질문이 있으시면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20장 핵심 버전. 상세 설명은 50장 버전과 함께 참고.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픽토그램: Lucide Icons https://lucide.dev · ISC / Feather MIT license. 투명 배경 PNG로 포함. 자산 라이선스: assets/line-icons/LICENSE.txt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617dcf16c40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132a934254c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82d45d45b46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d0228bf0b45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0e230faf744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ef23f4bf247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C65DEA-6A22-4F3E-92B2-85FABA4A69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A4F419-21AB-4AB2-BD5B-37140C4209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349459-B5A5-46F7-9200-D3ACC5AD5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3CBD51-6A97-4AC4-B090-3D451D84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499BB1-C203-4214-9DCE-24CD51741B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C5CCDD-2EB3-41DD-813F-17F9755A9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858D80-32C5-4C07-B7BA-5FA25AB37D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905DF0-FA09-4BCA-8C53-AD22A2486B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1A665C-5238-4E79-8115-D5013F1C0A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7EA6F3-EBEE-47E5-ADDC-1A1357A7E8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c73c66149147e3" /><Relationship Type="http://schemas.openxmlformats.org/officeDocument/2006/relationships/slideLayout" Target="/ppt/slideLayouts/slideLayout1.xml" Id="R663e0e12a8d54195" /><Relationship Type="http://schemas.openxmlformats.org/officeDocument/2006/relationships/slideLayout" Target="/ppt/slideLayouts/slideLayout2.xml" Id="R15137cf0edec4088" /><Relationship Type="http://schemas.openxmlformats.org/officeDocument/2006/relationships/slideLayout" Target="/ppt/slideLayouts/slideLayout3.xml" Id="R7d2eca98900549df" /><Relationship Type="http://schemas.openxmlformats.org/officeDocument/2006/relationships/slideLayout" Target="/ppt/slideLayouts/slideLayout4.xml" Id="R401e0de8abca4e6c" /><Relationship Type="http://schemas.openxmlformats.org/officeDocument/2006/relationships/slideLayout" Target="/ppt/slideLayouts/slideLayout5.xml" Id="Rca9f9fa60cc84855" /><Relationship Type="http://schemas.openxmlformats.org/officeDocument/2006/relationships/slideLayout" Target="/ppt/slideLayouts/slideLayout6.xml" Id="R3c9d69787c714a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3e0e12a8d54195"/>
    <p:sldLayoutId xmlns:r="http://schemas.openxmlformats.org/officeDocument/2006/relationships" id="2147483650" r:id="R15137cf0edec4088"/>
    <p:sldLayoutId xmlns:r="http://schemas.openxmlformats.org/officeDocument/2006/relationships" id="2147483651" r:id="R7d2eca98900549df"/>
    <p:sldLayoutId xmlns:r="http://schemas.openxmlformats.org/officeDocument/2006/relationships" id="2147483652" r:id="R401e0de8abca4e6c"/>
    <p:sldLayoutId xmlns:r="http://schemas.openxmlformats.org/officeDocument/2006/relationships" id="2147483653" r:id="Rca9f9fa60cc84855"/>
    <p:sldLayoutId xmlns:r="http://schemas.openxmlformats.org/officeDocument/2006/relationships" id="2147483654" r:id="R3c9d69787c714a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08a49460840f9" /><Relationship Type="http://schemas.openxmlformats.org/officeDocument/2006/relationships/image" Target="/ppt/media/image.jpeg" Id="R2273722bcdad4455" /><Relationship Type="http://schemas.openxmlformats.org/officeDocument/2006/relationships/notesSlide" Target="/ppt/notesSlides/notesSlide1.xml" Id="Rfb6ff8c374c645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8a26b7d52405f" /><Relationship Type="http://schemas.openxmlformats.org/officeDocument/2006/relationships/image" Target="/ppt/media/image2.jpeg" Id="Re34b45d1eec44f26" /><Relationship Type="http://schemas.openxmlformats.org/officeDocument/2006/relationships/image" Target="/ppt/media/image.png" Id="R3a432491d251435c" /><Relationship Type="http://schemas.openxmlformats.org/officeDocument/2006/relationships/image" Target="/ppt/media/image2.png" Id="Rdab5b97a8b6247ad" /><Relationship Type="http://schemas.openxmlformats.org/officeDocument/2006/relationships/notesSlide" Target="/ppt/notesSlides/notesSlide2.xml" Id="R616ce92be3bf43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275bfc78542ee" /><Relationship Type="http://schemas.openxmlformats.org/officeDocument/2006/relationships/image" Target="/ppt/media/image3.jpeg" Id="R7a45e8f2e0a94ce3" /><Relationship Type="http://schemas.openxmlformats.org/officeDocument/2006/relationships/image" Target="/ppt/media/image3.png" Id="R7dc8947d29b24168" /><Relationship Type="http://schemas.openxmlformats.org/officeDocument/2006/relationships/image" Target="/ppt/media/image4.png" Id="R9bbba43297354adc" /><Relationship Type="http://schemas.openxmlformats.org/officeDocument/2006/relationships/notesSlide" Target="/ppt/notesSlides/notesSlide3.xml" Id="R05df238109ee4e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801e63b15e4d17" /><Relationship Type="http://schemas.openxmlformats.org/officeDocument/2006/relationships/image" Target="/ppt/media/image4.jpeg" Id="R202a3278b2b7426f" /><Relationship Type="http://schemas.openxmlformats.org/officeDocument/2006/relationships/notesSlide" Target="/ppt/notesSlides/notesSlide4.xml" Id="Rec3d7109db3b4a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3ab884ae6460e" /><Relationship Type="http://schemas.openxmlformats.org/officeDocument/2006/relationships/image" Target="/ppt/media/image5.png" Id="R45b1ebc28cd3416a" /><Relationship Type="http://schemas.openxmlformats.org/officeDocument/2006/relationships/image" Target="/ppt/media/image6.png" Id="R4cf2a28ba3b743a2" /><Relationship Type="http://schemas.openxmlformats.org/officeDocument/2006/relationships/image" Target="/ppt/media/image7.png" Id="Ra841142237984876" /><Relationship Type="http://schemas.openxmlformats.org/officeDocument/2006/relationships/image" Target="/ppt/media/image8.png" Id="R30bf8441b85e4e88" /><Relationship Type="http://schemas.openxmlformats.org/officeDocument/2006/relationships/notesSlide" Target="/ppt/notesSlides/notesSlide5.xml" Id="R996c9920f7ef4c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3784a8a1e45c4" /><Relationship Type="http://schemas.openxmlformats.org/officeDocument/2006/relationships/image" Target="/ppt/media/image9.png" Id="R475e05080b5d4340" /><Relationship Type="http://schemas.openxmlformats.org/officeDocument/2006/relationships/image" Target="/ppt/media/image10.png" Id="R07efc1c376d34dde" /><Relationship Type="http://schemas.openxmlformats.org/officeDocument/2006/relationships/image" Target="/ppt/media/image11.png" Id="Rc48888740cb04d19" /><Relationship Type="http://schemas.openxmlformats.org/officeDocument/2006/relationships/notesSlide" Target="/ppt/notesSlides/notesSlide6.xml" Id="Rc92071e3abc643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fdeec5f9b4755" /><Relationship Type="http://schemas.openxmlformats.org/officeDocument/2006/relationships/image" Target="/ppt/media/image5.jpeg" Id="Rdba36033dbcf4c17" /><Relationship Type="http://schemas.openxmlformats.org/officeDocument/2006/relationships/notesSlide" Target="/ppt/notesSlides/notesSlide7.xml" Id="Ra018bd5f3b3f4b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36592e3c840c1" /><Relationship Type="http://schemas.openxmlformats.org/officeDocument/2006/relationships/notesSlide" Target="/ppt/notesSlides/notesSlide8.xml" Id="Rdf7b2ada9f3042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8cf961f60480b" /><Relationship Type="http://schemas.openxmlformats.org/officeDocument/2006/relationships/notesSlide" Target="/ppt/notesSlides/notesSlide9.xml" Id="Rbdae1711294f49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fdf1eba1a94c9b" /><Relationship Type="http://schemas.openxmlformats.org/officeDocument/2006/relationships/notesSlide" Target="/ppt/notesSlides/notesSlide10.xml" Id="R57270e5746924d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f22f29b6a41b4" /><Relationship Type="http://schemas.openxmlformats.org/officeDocument/2006/relationships/image" Target="/ppt/media/image12.png" Id="R00cced28af3e41f2" /><Relationship Type="http://schemas.openxmlformats.org/officeDocument/2006/relationships/image" Target="/ppt/media/image13.png" Id="R8d40a20f7d9b4a3c" /><Relationship Type="http://schemas.openxmlformats.org/officeDocument/2006/relationships/image" Target="/ppt/media/image14.png" Id="Ra7f70b111ac241ff" /><Relationship Type="http://schemas.openxmlformats.org/officeDocument/2006/relationships/image" Target="/ppt/media/image15.png" Id="R3ca6eb10c1c94229" /><Relationship Type="http://schemas.openxmlformats.org/officeDocument/2006/relationships/notesSlide" Target="/ppt/notesSlides/notesSlide11.xml" Id="R1f7d24dd6aa249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e4fe92cd84193" /><Relationship Type="http://schemas.openxmlformats.org/officeDocument/2006/relationships/image" Target="/ppt/media/image16.png" Id="R1d0f548c98444289" /><Relationship Type="http://schemas.openxmlformats.org/officeDocument/2006/relationships/image" Target="/ppt/media/image17.png" Id="R58d1d9550d654894" /><Relationship Type="http://schemas.openxmlformats.org/officeDocument/2006/relationships/image" Target="/ppt/media/image18.png" Id="Rf592b1ba28f3494a" /><Relationship Type="http://schemas.openxmlformats.org/officeDocument/2006/relationships/image" Target="/ppt/media/image19.png" Id="R36cdc882dd334a48" /><Relationship Type="http://schemas.openxmlformats.org/officeDocument/2006/relationships/image" Target="/ppt/media/image20.png" Id="Rfd8733059ad84c1b" /><Relationship Type="http://schemas.openxmlformats.org/officeDocument/2006/relationships/notesSlide" Target="/ppt/notesSlides/notesSlide12.xml" Id="R644023e1054e49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f3fa886274f38" /><Relationship Type="http://schemas.openxmlformats.org/officeDocument/2006/relationships/image" Target="/ppt/media/image21.png" Id="R263b3774c40a48c4" /><Relationship Type="http://schemas.openxmlformats.org/officeDocument/2006/relationships/notesSlide" Target="/ppt/notesSlides/notesSlide13.xml" Id="Ra34500c9495344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8289a9bce4e25" /><Relationship Type="http://schemas.openxmlformats.org/officeDocument/2006/relationships/notesSlide" Target="/ppt/notesSlides/notesSlide14.xml" Id="R951a69d4af5840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6ed89d3244efe" /><Relationship Type="http://schemas.openxmlformats.org/officeDocument/2006/relationships/notesSlide" Target="/ppt/notesSlides/notesSlide15.xml" Id="R0403d6e62d5a49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9f19576574d0b" /><Relationship Type="http://schemas.openxmlformats.org/officeDocument/2006/relationships/notesSlide" Target="/ppt/notesSlides/notesSlide16.xml" Id="R50fafa7d14fd48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dd659789144823" /><Relationship Type="http://schemas.openxmlformats.org/officeDocument/2006/relationships/image" Target="/ppt/media/image6.jpeg" Id="Rd1f9a5389cba4b2a" /><Relationship Type="http://schemas.openxmlformats.org/officeDocument/2006/relationships/notesSlide" Target="/ppt/notesSlides/notesSlide17.xml" Id="R2c3a991b3f9c44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237d815e44fa6" /><Relationship Type="http://schemas.openxmlformats.org/officeDocument/2006/relationships/image" Target="/ppt/media/image22.png" Id="Rc4f22244165c4924" /><Relationship Type="http://schemas.openxmlformats.org/officeDocument/2006/relationships/image" Target="/ppt/media/image23.png" Id="R06514c01d6a04a15" /><Relationship Type="http://schemas.openxmlformats.org/officeDocument/2006/relationships/image" Target="/ppt/media/image24.png" Id="R2fd802abe9604d4c" /><Relationship Type="http://schemas.openxmlformats.org/officeDocument/2006/relationships/notesSlide" Target="/ppt/notesSlides/notesSlide18.xml" Id="R465db97823804d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bf2ed96544191" /><Relationship Type="http://schemas.openxmlformats.org/officeDocument/2006/relationships/image" Target="/ppt/media/image25.png" Id="R65ef9d773cc2487e" /><Relationship Type="http://schemas.openxmlformats.org/officeDocument/2006/relationships/image" Target="/ppt/media/image26.png" Id="R27944457e5234f04" /><Relationship Type="http://schemas.openxmlformats.org/officeDocument/2006/relationships/notesSlide" Target="/ppt/notesSlides/notesSlide19.xml" Id="Rcc71315cc3ed4a3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22daa0eb04a59" /><Relationship Type="http://schemas.openxmlformats.org/officeDocument/2006/relationships/image" Target="/ppt/media/image7.jpeg" Id="Rab67d93ec0af43d7" /><Relationship Type="http://schemas.openxmlformats.org/officeDocument/2006/relationships/notesSlide" Target="/ppt/notesSlides/notesSlide20.xml" Id="R5d1af3d3dbf840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1E2AF-86B8-4343-AED2-9C5E65D44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3722bcdad44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10DD6-B2CF-443C-A80D-5E35928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임재영 AOP · PRESENCE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4AE39-EF0F-456B-80B0-C09A1F60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9239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2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2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딱 한 걸음 앞서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87B3C-A510-41E8-8F53-4015195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 IC 트레이닝 · 핵심 강의 20장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699D0-8F3E-4C0B-95DB-2D7CDF80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05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먼저 배우고 싶게 만들라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피드백 전에 관찰하라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A6974-E18E-47A9-B9A7-A8D6BECA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816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임재영 AOP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2EE4E-0C34-4E75-9672-CE9BDC11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718026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F5B2C-CD5D-4557-9545-DC1ACF4AC2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b45d1eec44f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57186-FE8E-4BC0-B2AE-337C3D75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01 철학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B1717-6302-4450-A7E7-C0E6E1EC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먼저 배우고 싶게, 피드백 전에 관찰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DE534-C339-4944-9F8A-19D7439B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가르치기 전에 신입의 마음과 상태를 먼저 살핀다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72FE1-EFAB-46AC-B531-BC8458BD2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32491d251435c"/>
          <a:stretch xmlns:a="http://schemas.openxmlformats.org/drawingml/2006/main"/>
        </p:blipFill>
        <p:spPr>
          <a:xfrm xmlns:a="http://schemas.openxmlformats.org/drawingml/2006/main">
            <a:off x="723900" y="2676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7DF9D-7025-4A85-B9E7-A1EA0D49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배우고 싶은 마음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20D7D-B64D-4CD5-9D66-46C3945B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쇼잉으로 나도 할 수 있다는 기대를 만든다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작은 성공으로 다음 학습 의지를 만든다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6C5D1-E276-4DFC-8798-F83BA63432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5b97a8b6247ad"/>
          <a:stretch xmlns:a="http://schemas.openxmlformats.org/drawingml/2006/main"/>
        </p:blipFill>
        <p:spPr>
          <a:xfrm xmlns:a="http://schemas.openxmlformats.org/drawingml/2006/main">
            <a:off x="723900" y="415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271DF-D439-4524-9DDB-8C63EFD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243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관찰 후 피드백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128F6-82CB-4FB9-BE79-1912419B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7677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반응 · 두려움 · 학습 속도 · 강점을 본다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이력서와 주변 피드백으로 필드 전에 준비한다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448BC-7BC5-46A6-A283-C06E0DC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277048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AD33E-5849-44C4-88C2-F3D898E75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5e8f2e0a94c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7AA55-B411-4852-A105-F8E7AB26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02 전제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6CF9A-23B5-4732-A67C-4864DF78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트레이너의 실력과 스탠다드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80631-2ECF-4AF5-9FAD-29BF48F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직접 보여줄 수 있는 실력, 누구에게나 일관된 기본기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204D7-315B-4DA2-979F-D2B150609A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8947d29b24168"/>
          <a:stretch xmlns:a="http://schemas.openxmlformats.org/drawingml/2006/main"/>
        </p:blipFill>
        <p:spPr>
          <a:xfrm xmlns:a="http://schemas.openxmlformats.org/drawingml/2006/main">
            <a:off x="723900" y="2676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F2F5F-D7D8-4044-B3BD-9D8BCC87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직접 보여주는 실력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92E1F-29A8-4C23-9BAE-53601B0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주 1회 이상 벨-공 세일즈 증명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4시간 안에 세일즈할 수 있는 실전 능력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8C83F-CAB1-4D8B-AECF-9296BE45E2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ba43297354adc"/>
          <a:stretch xmlns:a="http://schemas.openxmlformats.org/drawingml/2006/main"/>
        </p:blipFill>
        <p:spPr>
          <a:xfrm xmlns:a="http://schemas.openxmlformats.org/drawingml/2006/main">
            <a:off x="723900" y="415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EB22C-C1F1-4ABE-A101-454C11FD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243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일관된 기본 패턴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1EB72-9116-405A-B830-8A85DBD8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7677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직접 보여주고 실제 과정을 관찰하게 한다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모든 신입에게 같은 기본 스탠다드를 적용한다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2C021-7B9D-4901-9AB0-CE425B7A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683053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199B5-54FD-43C2-81B3-E5CB915FC7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a3278b2b742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74D38-0FB7-4A8B-B311-71C56903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 첫 3일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9F36D-4E50-435C-921A-259E52F1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첫 3일의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443AB-A3EA-45FD-B9D6-CA7515BD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신입이 각 단계에서 이렇게 느끼도록 돕는다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911C6-A743-43B8-B38E-9C1269F9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25452-963F-4346-93AB-B8632EE6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3B94D-9F8E-464A-B63B-DF44AB83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필드가 할 만하다고 느끼게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2CD8B-124C-4F9A-8730-74CF26D9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62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89A2F-7414-42A3-BD04-9908D94C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2197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학습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1C52B-916F-4535-AFB0-67531F55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6769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잘 배우고 성장하면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할 수 있다고 느끼게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1B9A9-6EE3-4571-AB32-79288D86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4CC70-E21D-4B8F-9213-D1DF8F46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E0EA1-D050-4ED5-B9F0-99B8BBD7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769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스스로 가능성이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있다고 느끼게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EE00E-2086-49B7-9CBF-19FEAFD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1549668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08624-DB77-4BC3-884A-870F8AEC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 첫 3일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A174C-88A2-439D-8AEB-B8CE6E53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1 · 긍정적인 첫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538EA-BD67-4A5E-B553-889F67E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성과보다 적응과 관찰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D5881-EE66-453D-9C75-5559C079A7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1ebc28cd3416a"/>
          <a:stretch xmlns:a="http://schemas.openxmlformats.org/drawingml/2006/main"/>
        </p:blipFill>
        <p:spPr>
          <a:xfrm xmlns:a="http://schemas.openxmlformats.org/drawingml/2006/main">
            <a:off x="828675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24884-A02B-4ACC-9059-1841928E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반응과 태도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3F627-E10D-4B3D-A975-0F91292C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100203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2시간쯤 뛰게 한 뒤 할 만한지 확인하고 기본 자세와 의지를 파악한다.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25E4A-F92E-49CB-9907-C64DE8B790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2a28ba3b743a2"/>
          <a:stretch xmlns:a="http://schemas.openxmlformats.org/drawingml/2006/main"/>
        </p:blipFill>
        <p:spPr>
          <a:xfrm xmlns:a="http://schemas.openxmlformats.org/drawingml/2006/main">
            <a:off x="828675" y="3576638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CD0FA-3D59-4F7C-9C76-3DB059C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48063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트레이너의 쇼잉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CDB5A-8740-4743-80F8-1D58F308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57638"/>
            <a:ext cx="100203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자신의 세일즈에 집중해 실제 과정을 직접 보여준다.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10515-75DB-43F9-86D7-62AC3A385C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1142237984876"/>
          <a:stretch xmlns:a="http://schemas.openxmlformats.org/drawingml/2006/main"/>
        </p:blipFill>
        <p:spPr>
          <a:xfrm xmlns:a="http://schemas.openxmlformats.org/drawingml/2006/main">
            <a:off x="828675" y="4410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EB1CE-EF28-4AB0-AE23-9DBE76A4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81500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두려움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D2682-BC55-4CCB-884E-7B60BF26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100203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프리엠티브를 충분히 제공한다. 재미있고 해볼 만하다고 느끼게 한다.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DAD46-ED62-442E-A1EB-5547095D33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f8441b85e4e88"/>
          <a:stretch xmlns:a="http://schemas.openxmlformats.org/drawingml/2006/main"/>
        </p:blipFill>
        <p:spPr>
          <a:xfrm xmlns:a="http://schemas.openxmlformats.org/drawingml/2006/main">
            <a:off x="828675" y="5243513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DD1B6-56BE-4935-A4F4-7E231391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14938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다음 날의 준비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E70F6-DBD3-4207-82A7-4945461D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24513"/>
            <a:ext cx="100203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결과 압박 대신 환경 적응을 돕고 심리적 준비를 만든다.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32A49-FC33-4E94-A801-491ECC48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1957838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93D5C-0153-4958-90B6-D3913B04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 첫 3일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EB386-BFA6-41DA-B656-0690292D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2 · 결과로 배우는 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57F8D-F575-4ECE-986F-D7A0398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신입의 실질 역량을 가늠하는 시점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3C91D-B751-4D2F-B97E-50D13A9BE0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e05080b5d4340"/>
          <a:stretch xmlns:a="http://schemas.openxmlformats.org/drawingml/2006/main"/>
        </p:blipFill>
        <p:spPr>
          <a:xfrm xmlns:a="http://schemas.openxmlformats.org/drawingml/2006/main">
            <a:off x="828675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F4065-EFA9-42A5-8F63-05934533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첫 세일즈 1개 이상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739CE-D451-4ADC-BE1A-6F5B82F4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10020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반드시 함께 만들어낸다. 신입이 직접 성공을 체감하게 한다.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01128-1595-49FD-8228-656AD0C18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fc1c376d34dde"/>
          <a:stretch xmlns:a="http://schemas.openxmlformats.org/drawingml/2006/main"/>
        </p:blipFill>
        <p:spPr>
          <a:xfrm xmlns:a="http://schemas.openxmlformats.org/drawingml/2006/main">
            <a:off x="828675" y="38481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B2134-9B9F-4F8D-BB16-9E624F6D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학습력과 성장성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A3369-6F81-4D09-A480-0849FF29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10020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첫날 대비 개선점을 짚고 학습 능력과 성장 가능성을 본다.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C9296-E6FE-47A7-8703-7B1C3BB417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888740cb04d19"/>
          <a:stretch xmlns:a="http://schemas.openxmlformats.org/drawingml/2006/main"/>
        </p:blipFill>
        <p:spPr>
          <a:xfrm xmlns:a="http://schemas.openxmlformats.org/drawingml/2006/main">
            <a:off x="828675" y="49530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60EC3-12BE-4137-AE3A-112592BD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24425"/>
            <a:ext cx="1002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트레이너와 신입의 균형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97476-DB33-4097-893F-664E97D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10020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신입의 세일즈가 우선이며, 트레이너도 함께 성과를 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2579A-881B-46EB-BC75-7C3E452E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1599471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491D6-3A18-44AE-9795-EC7D3F1158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36033dbcf4c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EB4D1-8B67-42A9-8A78-E4A12B60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03 첫 3일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24B01-3194-4583-B2D6-13706588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DAY 3 · 성과의 패턴 읽기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E5CF2-36E3-4BF9-BE9A-FE4544A6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Stay / Qualifying은 반드시 오너와 상의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9674F-1620-424D-A1F7-DF6CD587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 · 1 ·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E217C-591B-47DE-98B6-424E7C62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가장 이상적</a:t>
            </a:r>
          </a:p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리더로 육성 가능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88278-82C5-423C-B086-5D6572F6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14625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3일간 2개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558F6-C2D4-44F3-87BF-F95EBD85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로드트립 제안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D6C3D-70AD-4C4D-A873-BE35AD7F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3일간 3개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66114-A38E-4F69-BBAA-6C320415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의지와 센스 모두 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F309B-1472-411D-A1A8-FC6DE23E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 · 0 ·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5D443-8825-4CBE-8273-CCF3F38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53025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빠른 Qualifying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FBB53-3DC9-42C3-B945-1C7C5DDB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사이트와 시간을 전략적으로 확보해 제로를 막는다. 판단은 반드시 오너와 상의한다.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14B9A-F380-4751-A4E2-7C3B0C5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24294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649C3-88DF-4CD6-BF99-72ED7FB3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526B7-627A-47D7-B1FF-B88C309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5 Step 트레이닝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2F40B-18EF-4F13-AE32-E5D9A973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주목 · 짧은 피치 · 해결책 · 클로징 · 거래정보 재확인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C718A-3257-486D-8101-3A0C8AB9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6E8C3-BF19-4EE0-8E84-C329D533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BAFD2-373C-49A6-AF12-BEBB5883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Intro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A514A-5722-4FC1-9889-FD2FE2A3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주목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49033-9649-4E39-A6E4-6364D455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A7ACA-8C59-4E2A-8568-FE0176A9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6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26224-61DD-4081-A8B1-93741E4A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6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1A53F-846C-499C-8343-3E41B738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Short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2C643-B954-488E-840C-6D67578D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짧은 피치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F0DB6-7038-41B7-B02E-EBA34338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66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46A73-E9CC-4D07-BBD4-91D701A3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6182F-99CF-4472-B888-8ED8C3BD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DAABD-A11F-4598-84BA-B9598470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677B5-2E87-4095-85AE-DBF8943F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해결책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62D85-DCD3-42D3-8E23-65798A85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4B993-C3F5-4CF1-B946-CA966606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3C897-FCDD-4153-A613-6F47A60A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35439-EE05-4C16-8E1C-ACCE12C4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Closing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8B9FA-A335-4E61-9A14-7A2408B7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TAAIS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5F868-10DD-4F50-8A59-365C29BD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785" y="3257550"/>
            <a:ext cx="88011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79C2A-847E-4F79-9764-D7BBEC2B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27336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C99A5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DAC00-6DB0-4381-9BB5-9EE2F5E7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2733675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23D65-41CA-441F-9652-84A815BF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140" y="4181475"/>
            <a:ext cx="19659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Rehash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839BDD-94CF-49C5-ACEB-E9F6D93C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140" y="4953000"/>
            <a:ext cx="19659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재확인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112FC-58F5-47B6-AA08-45302E04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878106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3F822-497C-44EE-B186-579B8185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CFBB2-DD11-453F-8D0C-DD918F25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Closing · TAAIS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635D5-773C-4880-8E4B-E19DAE9D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구매를 전제로 대화하고, 선택권과 침묵을 활용한다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A74E2-FB2F-4452-BEF8-080CF5D3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E567B-12B4-458E-BEA1-6F4E9888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52046-5DDD-4E5A-AA09-BBC4E7F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88976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항상 시도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74A8A-B859-41AC-AF14-8C7C2777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28575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D25E9-E946-4E07-AE8D-9A22564B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143375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Assumptive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E01D8-D46E-4B46-B57C-316CB6E1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905375"/>
            <a:ext cx="188976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구매 전제 대화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83815-4B1F-4668-AAA8-7E67EB7A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8575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51834-14B9-4786-8690-DF112283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4143375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Alternative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E0DA8-8EF6-48F2-AADE-F942D07C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4905375"/>
            <a:ext cx="188976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대안 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5A7B6-1AED-4A38-AEAF-7409A908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28575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CABDE-7BDB-431F-9F51-7FCB8B36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143375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Indifference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7B299-7285-49AA-8849-4998120C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905375"/>
            <a:ext cx="188976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선택권 부여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DF409-76B7-4635-B7F3-879F4284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857500"/>
            <a:ext cx="1889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9D991-7DD9-4DA7-8B5C-85C8BD6D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4143375"/>
            <a:ext cx="188976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Silence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48863-49D3-4CE2-A5FD-59574C5A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4905375"/>
            <a:ext cx="188976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침묵 활용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E2F5A-CF1E-47E9-B6D4-9EE0FF1D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쿠션 멘트: “바쁘시니까”, “이미 좋은 일 많이 하시겠지만”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53C55-4C94-4805-B07E-7BA8C05C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7041949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D8083-1B46-4532-9AF7-B5F3C429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687F3-9DAE-4425-B280-FC05824A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필드 전·중·후, 트레이너가 챙길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7248C-D861-4178-BE33-B4D123C6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준비부터 복기까지 이어지는 하루의 트레이닝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C2123-9F37-4193-A334-3440DB45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필드 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8EFB8-19C2-445C-BED3-C2AD8A30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함께 준비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C5D4A-1DD4-4AC2-8A5F-3215144E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피치와 니즈 점검</a:t>
            </a:r>
          </a:p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개인·섹터 목표 설정</a:t>
            </a:r>
          </a:p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사이트 전략·프리엠티브</a:t>
            </a:r>
          </a:p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물품과 복장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91CE4-AA6B-4DB8-A5FB-E196C9EC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14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필드 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289EB-35CE-4438-91FB-59F40EED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099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관찰하고 보여주기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8E355-624D-41A9-B8AA-4268E511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052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유형과 이해도 파악</a:t>
            </a:r>
          </a:p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계속 시도하며 데이터 쌓기</a:t>
            </a:r>
          </a:p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2시간마다 콜백싯 점검</a:t>
            </a:r>
          </a:p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쇼잉·멘탈 케어·좋은 소식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DD52D-C66C-45EA-8521-450AEBD6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4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필드 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32D5A-30B5-46F9-A6A9-C012C3F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돌아보고 다음을 준비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B7B79-0CAF-4068-8E94-9FF6AE46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오늘의 소감·배움 확인</a:t>
            </a:r>
          </a:p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콜백싯으로 넘버 비교</a:t>
            </a:r>
          </a:p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스킬·태도 보완점 피드백</a:t>
            </a:r>
          </a:p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다음 교육 일정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9499C-2DF1-44AA-973F-E8039571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14286858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E16B3-DB40-45B5-9976-95D1E0DF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785A1-F68E-49B1-B92A-57C6E48C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관찰에 맞춘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5B2FB-EAF9-4F4E-9CF6-7619C30F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사람의 약점에 따라 처방을 달리한다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B97DF-5C95-4977-B4EB-81D37F2B7D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ced28af3e41f2"/>
          <a:stretch xmlns:a="http://schemas.openxmlformats.org/drawingml/2006/main"/>
        </p:blipFill>
        <p:spPr>
          <a:xfrm xmlns:a="http://schemas.openxmlformats.org/drawingml/2006/main">
            <a:off x="809625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19938-4F42-48A2-849F-7F9B468F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14625"/>
            <a:ext cx="4467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리액션이 약하다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ADAD8-E86B-4F51-950A-D875330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76575"/>
            <a:ext cx="4467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리액션 강화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6D4B6-15CD-49FA-9F01-6E2FDAB2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43300"/>
            <a:ext cx="4467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표정·제스처 / 즉각 대응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임펄스·바디랭귀지 / 롤플레이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03A46-FDFA-4D39-B6EE-D986C0097A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0a20f7d9b4a3c"/>
          <a:stretch xmlns:a="http://schemas.openxmlformats.org/drawingml/2006/main"/>
        </p:blipFill>
        <p:spPr>
          <a:xfrm xmlns:a="http://schemas.openxmlformats.org/drawingml/2006/main">
            <a:off x="6419850" y="2743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6EB81-CB82-4CF0-B7AF-8FFEEC55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4467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부스 연결이 약하다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D86EE-FD2E-49F4-9953-0B5D34A0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76575"/>
            <a:ext cx="4467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스트릿 스킬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BB591-4128-428E-BEEE-146D4011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43300"/>
            <a:ext cx="4467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접근 방법 / 첫인상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거절 극복 / 고객 유형별 접근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222FE-1FA0-4FC2-9856-5874B667B5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70b111ac241ff"/>
          <a:stretch xmlns:a="http://schemas.openxmlformats.org/drawingml/2006/main"/>
        </p:blipFill>
        <p:spPr>
          <a:xfrm xmlns:a="http://schemas.openxmlformats.org/drawingml/2006/main">
            <a:off x="809625" y="44577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0B550-84E6-4EE3-96D0-52240CBE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29125"/>
            <a:ext cx="4467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클로징이 약하다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CAA1C-826E-4485-AA1E-3752A07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91075"/>
            <a:ext cx="4467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클로징 강화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7AD2D-E026-40A9-AFE9-82E20145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4467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TAAIS / Buying sign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침묵·대안 / 클로징 타이밍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6A4E6-4B7C-4109-8934-67040BB301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6eb10c1c94229"/>
          <a:stretch xmlns:a="http://schemas.openxmlformats.org/drawingml/2006/main"/>
        </p:blipFill>
        <p:spPr>
          <a:xfrm xmlns:a="http://schemas.openxmlformats.org/drawingml/2006/main">
            <a:off x="6419850" y="44577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AA06B-E703-4D9B-9E09-7476AF0B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29125"/>
            <a:ext cx="4467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이미 잘한다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21EAA-A4AB-4E1C-BD0A-12C31B65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91075"/>
            <a:ext cx="4467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목표 상향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D92A3-DC50-43C1-8A20-CDE61248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57800"/>
            <a:ext cx="4467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높은 목표 / 자기주도 성장</a:t>
            </a:r>
          </a:p>
          <a:p xmlns:a="http://schemas.openxmlformats.org/drawingml/2006/main">
            <a:pPr algn="l">
              <a:def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리더십·멘토링 / 커리어 설계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5FBDA-4877-4CE5-9AFD-83528B9A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766809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42990-132F-47BD-87CA-FEC34BA0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1145A-D95B-41C8-A13C-1B9D9E23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피드백의 다섯 가지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35524-F18E-4B63-BCD7-CE479AB1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좋은 의도만으로는 충분하지 않다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C6281-3875-4F3F-B281-3C872D2416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f548c98444289"/>
          <a:stretch xmlns:a="http://schemas.openxmlformats.org/drawingml/2006/main"/>
        </p:blipFill>
        <p:spPr>
          <a:xfrm xmlns:a="http://schemas.openxmlformats.org/drawingml/2006/main">
            <a:off x="762000" y="2714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C834A-39AD-437C-BD8E-ADEFCC61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14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콜백싯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CF11B-B3BC-455B-A2B5-8BAF3AFE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1462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감정·느낌 대신 넘버 · 스킬 · 태도를 기준으로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6EED5-A893-4717-B95A-33F1C6567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1d9550d654894"/>
          <a:stretch xmlns:a="http://schemas.openxmlformats.org/drawingml/2006/main"/>
        </p:blipFill>
        <p:spPr>
          <a:xfrm xmlns:a="http://schemas.openxmlformats.org/drawingml/2006/main">
            <a:off x="762000" y="3381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19B89-1C9E-4C38-B1DF-459BF238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137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상대에게 필요한 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C7786-C087-44C6-ADDB-6BA6387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8137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내가 하고 싶은 말인지 먼저 점검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18EEA-D1C3-46DC-8F4D-06B81C828F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2b1ba28f3494a"/>
          <a:stretch xmlns:a="http://schemas.openxmlformats.org/drawingml/2006/main"/>
        </p:blipFill>
        <p:spPr>
          <a:xfrm xmlns:a="http://schemas.openxmlformats.org/drawingml/2006/main">
            <a:off x="762000" y="40481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865F0-503C-4064-B4DC-1F7C5364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481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KISS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A73DC-426B-4CBD-A113-726DD68C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4812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간단 · 명료 · 눈높이, 공감할 수 있는 예시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508C3-16CE-496B-B8BF-E7C1DEB013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dc882dd334a48"/>
          <a:stretch xmlns:a="http://schemas.openxmlformats.org/drawingml/2006/main"/>
        </p:blipFill>
        <p:spPr>
          <a:xfrm xmlns:a="http://schemas.openxmlformats.org/drawingml/2006/main">
            <a:off x="762000" y="47148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27279-C7A1-477F-85A9-E43AFDC6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1487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COD 공부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8D74A-0A7C-4A3D-AF6E-632A0856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1487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올바른 정보인지 확인, 긴가민가한 말은 하지 않기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C6C43-F846-4333-A374-177D8B5BE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733059ad84c1b"/>
          <a:stretch xmlns:a="http://schemas.openxmlformats.org/drawingml/2006/main"/>
        </p:blipFill>
        <p:spPr>
          <a:xfrm xmlns:a="http://schemas.openxmlformats.org/drawingml/2006/main">
            <a:off x="762000" y="5381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95974-8864-49C1-BA5D-2DE66F85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8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타이밍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C3C53-E250-4742-91EB-6D646353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8162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필수 상황 외에는 2시간에 1번, 그 사이는 개인 목표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6629F-91E1-4143-B27B-C09BE346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피드백 수용이 빠른 신입, 주거테리·유동이 적은 B패턴에는 전략적으로 활용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471DF-B99E-46C5-9197-9A9A1662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5921915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9CF6D-1FD6-4C5C-8889-09EB09AB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FEEDBACK MODEL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13B93-AAA5-4D9B-9ABB-7903573A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샌드위치 기법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A854A-0013-4BD0-BEEE-5A8EC2B7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긍정으로 시작하고, 개선점을 전하고, 다시 긍정으로 마무리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3CD17-2E0D-4953-AB4C-FE8538EB63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b3774c40a48c4"/>
          <a:stretch xmlns:a="http://schemas.openxmlformats.org/drawingml/2006/main"/>
        </p:blipFill>
        <p:spPr>
          <a:xfrm xmlns:a="http://schemas.openxmlformats.org/drawingml/2006/main">
            <a:off x="7715250" y="2905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D73E6-5D5C-4707-8158-E0CCC8E0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504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긍정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5AF53-51F0-4796-A9DD-9C6FE95F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좋았던 행동을 구체적으로 인정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12CF0-71D0-4CF3-8DE8-1037E69E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504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rPr>
              <a:t>개선점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87683-9E92-4CA3-B232-9F9323EC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바꿔볼 한 가지를 제안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A4F4C-9FD6-4293-8862-BBD0D051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04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긍정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47F67-ED3C-4128-A06C-2E47C0B7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잘할 수 있다는 믿음으로 마무리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5CBEB-EEE4-4052-B2A2-6511AB7A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“이것도 저것도 좋았는데, 이 부분만 이렇게 바꿔보면 어떨까요?”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76D97-92F5-4893-B830-AE65E045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8870010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FB708-DA12-42DE-ACBA-1E1467C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FEEDBACK MODEL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D59B2-3002-41F7-8BAC-7EBF6B8C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SBI 모델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8339F-CC0D-4042-8C7B-91015EA1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상황 · 행동 · 영향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50536-4C17-47A3-B89F-98AF5C4A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5CCF6-94D0-4685-AE0B-11B2073D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Situation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1D93D-6831-4311-A1FC-D25C73D8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DA1A0-8D54-4D5F-9AB3-B8A0503C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이럴 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3B957-22AA-4796-8975-7F843F0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265B3-71AB-4D69-B106-91E8B3F4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C27B1-54E8-4DBF-BE6E-0CF2631C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FF43D-4603-4A42-9103-EB6904FB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292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이렇게 하면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00A96-2F29-4576-8E57-85605C8F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00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00" b="1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rPr>
              <a:t>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8C50C-5794-4E34-991D-472C7D4E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A34E3-F273-457D-A9F9-1C2B51BD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영향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06042-8DF8-4B07-97C7-6F9F8DEA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292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이런 장점이 있어요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12A7E-8443-431A-991F-80710937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“이럴 땐 이렇게 하면 이런 장점이 있어요!”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D67E9-5904-4B43-8C2C-A8F34E1E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7311756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8F38F-58CA-410E-88CD-95FD5444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FEEDBACK MODEL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C0B38-BBD7-4BE7-ABE1-6B7BD0EE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5R 코칭법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7CB33-2B15-4495-8D18-70DC339C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디테일한 발전을 위한 대화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B2819-499B-4241-AFE3-A1364E1B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88976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Relation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9A2FA-7484-45F7-8258-8057F387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88976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관계형성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E44D8-43F2-49C6-83AE-52EC70BE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2857500"/>
            <a:ext cx="188976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Refocus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C1F4C-FE7B-4D8A-8B05-A454F183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3905250"/>
            <a:ext cx="188976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목표설정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04FEC-C692-4789-A0BE-90195C66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857500"/>
            <a:ext cx="188976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Reality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3B214-643F-46B2-9162-732257C3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3905250"/>
            <a:ext cx="188976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현실 장애물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D8A36-0D25-4D69-9A66-7C309372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2857500"/>
            <a:ext cx="188976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Resources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BC059-EBA1-4283-A261-5186BE63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3905250"/>
            <a:ext cx="188976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해결자원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702CC-27F2-4FFD-A570-CD323A76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857500"/>
            <a:ext cx="188976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Responsibility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3C2AF-8E04-4A52-9076-A788B957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3905250"/>
            <a:ext cx="188976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책임지기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B16CA-72DA-48BD-92B2-E1CBC5FA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목표는? 장애물은? 그럼에도 해결할 방법은? 언제까지 무엇을 할지 약속하고 지킨다.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581BF-59DE-44C6-9F0B-CC19F561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3742906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15365-8941-4123-90DD-8113BD82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04 스킬과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76D4D-1462-4152-8E80-8E4D0A0E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트레이너도 콜백싯을 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77688-BC88-4E9C-8077-F3B87003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내가 신입을 위해 무엇을 챙겼는가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A18EF-7370-42DF-9163-69A5FC8C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19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B32E1-BEE6-4F76-A505-633F1B1C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Number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86474-9EE8-4091-9EBD-DD74F2E5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넘버를 쌓게 했는가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56091-B6DA-48EE-B70D-B91F20E0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사이트 준비 / 시도하게 하는 피드백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거절 없는 시도 횟수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9C4EC-C34B-45F4-82B3-0786E3B8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19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7CF9D-8EB6-4B89-9FAF-3DEF2278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718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Pitch ·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0379F-7E79-4434-B1A7-9352049E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스킬을 보강했는가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1CE62-92B8-4012-8C28-6D7F45DE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약한 부분 즉시 교육 / 어떤 스킬이든 보강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내일 바로 쓸 수 있게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3472A-C677-4368-82CA-2E3FFA7B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19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0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7143E-6DAC-471E-93BF-070FA7B2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718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3D9C2"/>
                </a:solidFill>
                <a:latin typeface="Apple SD Gothic Neo"/>
                <a:ea typeface="Apple SD Gothic Neo"/>
                <a:cs typeface="Apple SD Gothic Neo"/>
              </a:rPr>
              <a:t>Attitude · Mental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474AC-E4BE-40D9-90C3-7E977E88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멘탈을 지켜줬는가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138A3-1889-43A6-9392-E6497CD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불안·두려움 제거 / 방해되는 마음 케어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필드에 온전히 집중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62487-FDE2-4FC2-8FF3-543AD555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신입의 콜백싯이 신입을 키우듯, 트레이너의 콜백싯이 트레이너를 키운다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FDC44-310A-4E5B-8496-872E627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9728383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BEE17-6DE3-477C-B5B7-53359FC7EA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9a5389cba4b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FA214-EDB8-40F0-89D5-71322487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05 자립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E0B46-6544-41E9-9AB4-9BE047EE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자립을 위한 6주 전략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689E5-0502-4270-8CAE-26079E42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신입의 성장 속도에 맞춰, 단계별로 모니터링한다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ACD77-8E9A-45D4-8EBE-7668CA19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1–2주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5CEAE-7355-4B64-9892-EB26471D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리더힛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B4B3E-4604-49B2-AFA6-5D2693B2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2주 이내 달성이 이상적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스케줄과 필드 시간 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20D81-59CA-49F1-A321-EEC26984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482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3–5주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D3B48-8F4B-4966-952F-F0A0BB1A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105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로드트립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17FAF-F661-4820-AEE5-D7CEDDD7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5626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적극 활용하며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성장 과정을 모니터링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5CA05-7EA4-48BB-9645-5C3E6F02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약 6주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D6782-429E-4897-BB23-3CAD029B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05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필드 적응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BCD1E-24E1-40B6-910F-D7FF97E6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Self 시점 사전 안내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심리적 준비와 실전 역량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6C689-BDA9-4ABD-9F52-23D87249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6주는 원본의 트레이닝 운영 기준이며, 개인별 적응 속도를 고려한다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4FBEB-097E-4CF6-BC58-B89FB20B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1067417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A0118-F212-4344-B417-192BA43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06 리더의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A1E51-1589-49EE-922E-86E95D33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트레이너의 세 가지 핵심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05F3E-AFED-47D2-A594-816AB2E8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신입이 자발적으로 성장할 수 있는 환경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AA277-A595-4A2B-BC91-06D987928F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22244165c4924"/>
          <a:stretch xmlns:a="http://schemas.openxmlformats.org/drawingml/2006/main"/>
        </p:blipFill>
        <p:spPr>
          <a:xfrm xmlns:a="http://schemas.openxmlformats.org/drawingml/2006/main">
            <a:off x="81915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01CC4-1580-48C2-A2AD-7E841B2D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269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성취감 제공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F516C-7708-42D3-B17E-D074F8D9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336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내가 직접 해냈다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439E3-9DF0-4CF2-878A-F24A1EA9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36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두려워하면 돕고, 아니면 혼자 하게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두려움의 수준을 먼저 파악한다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C962E-69F8-44E0-9653-3832B9A374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14c01d6a04a15"/>
          <a:stretch xmlns:a="http://schemas.openxmlformats.org/drawingml/2006/main"/>
        </p:blipFill>
        <p:spPr>
          <a:xfrm xmlns:a="http://schemas.openxmlformats.org/drawingml/2006/main">
            <a:off x="450850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B0A99-1A75-47BE-9631-7153C6B2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857500"/>
            <a:ext cx="269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두려움 제거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27416-8BC2-4480-999C-465E5086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71875"/>
            <a:ext cx="336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안전하게 도전한다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1A099-80E7-4AEE-9F70-B51B2B53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286250"/>
            <a:ext cx="336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초기에 충분한 서포트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점진적으로 독립성을 부여한다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01310-70C9-42DB-A8BB-22AE1A8B77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802abe9604d4c"/>
          <a:stretch xmlns:a="http://schemas.openxmlformats.org/drawingml/2006/main"/>
        </p:blipFill>
        <p:spPr>
          <a:xfrm xmlns:a="http://schemas.openxmlformats.org/drawingml/2006/main">
            <a:off x="819785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A1A3D-888B-456D-A477-72C0A939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350" y="2857500"/>
            <a:ext cx="269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인정과 칭찬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FDB91-9248-4B10-BF5D-34C04096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571875"/>
            <a:ext cx="336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스스로 깨닫게 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3EE7D-56CA-4A32-8258-4F2CA976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4286250"/>
            <a:ext cx="336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인정받을 때 주도적이 된다</a:t>
            </a:r>
          </a:p>
          <a:p xmlns:a="http://schemas.openxmlformats.org/drawingml/2006/main">
            <a:pPr algn="l">
              <a:def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혼냄보다 인정과 칭찬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69D11-F447-4E41-B969-995F0463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생계·수입, 안전, 소속감, 존중을 살피며 스스로 더 큰 목표에 도전하도록 돕는다.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EE5BB-02BC-4CC6-BD48-2024B893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3205863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CA0C8-2FE0-4D05-BD0F-DD97F6DC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06 리더의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0E2BE-7698-482C-B009-48D9FBDB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Stay / Qualifying, 함께 책임지는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FD21F-8A67-432A-AE4D-3C11FC45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트레이너 50%, 신입 50%. 반드시 오너와 상의한다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BB93C-A71A-4D54-8CD6-BCA6FE4F29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f9d773cc2487e"/>
          <a:stretch xmlns:a="http://schemas.openxmlformats.org/drawingml/2006/main"/>
        </p:blipFill>
        <p:spPr>
          <a:xfrm xmlns:a="http://schemas.openxmlformats.org/drawingml/2006/main">
            <a:off x="838200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7BAA4-6FD1-44A9-A045-2DFEE036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STAY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88088-305E-415F-AD0B-3F7FFB7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결과가 좋거나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기준 도달에 확신이 있을 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99A12-2B24-4802-BC66-F59224C57A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44457e5234f04"/>
          <a:stretch xmlns:a="http://schemas.openxmlformats.org/drawingml/2006/main"/>
        </p:blipFill>
        <p:spPr>
          <a:xfrm xmlns:a="http://schemas.openxmlformats.org/drawingml/2006/main">
            <a:off x="6372225" y="2886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60305-744C-42A2-A123-AB3FC058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57500"/>
            <a:ext cx="4448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QUALIFYING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2CB76-79F1-4978-9CFF-5F44A43D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05250"/>
            <a:ext cx="44481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최소 기준 도달이 어렵고</a:t>
            </a:r>
          </a:p>
          <a:p xmlns:a="http://schemas.openxmlformats.org/drawingml/2006/main">
            <a:pPr algn="l">
              <a:def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확신이 없을 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6D096-4932-4AF3-A61F-C7E79698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개별 상황을 고려한다. 캔슬은 지점에서 관리하고 IC는 그로스에 집중하도록 돕는다.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2E5B9-F1DD-49B9-9CAB-B34933E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843010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5DAF2-B83C-4C4D-B725-CCD85F8AB7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7d93ec0af43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5B183-5879-43C0-B37D-DBC39F1D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FBB73"/>
                </a:solidFill>
                <a:latin typeface="Apple SD Gothic Neo"/>
                <a:ea typeface="Apple SD Gothic Neo"/>
                <a:cs typeface="Apple SD Gothic Neo"/>
              </a:rPr>
              <a:t>PRESENCE · 임재영 AOP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93041-6B4D-4C77-A1E0-EF1A2FC9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239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딱 한 걸음 앞서</a:t>
            </a:r>
          </a:p>
          <a:p xmlns:a="http://schemas.openxmlformats.org/drawingml/2006/main">
            <a:pPr algn="l">
              <a:def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150" b="1">
                <a:solidFill>
                  <a:srgbClr val="F4F3EF"/>
                </a:solidFill>
                <a:latin typeface="Apple SD Gothic Neo"/>
                <a:ea typeface="Apple SD Gothic Neo"/>
                <a:cs typeface="Apple SD Gothic Neo"/>
              </a:rPr>
              <a:t>기다릴 줄 아는 리더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D028E-963E-4F21-B239-F8D0B0EF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먼저 배우고 싶게 만들고, 피드백 전에 관찰한다</a:t>
            </a:r>
          </a:p>
          <a:p xmlns:a="http://schemas.openxmlformats.org/drawingml/2006/main">
            <a:pPr algn="l">
              <a:def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신입이 스스로 할 수 있다고 느끼도록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4F636-D40C-421B-BDB9-5C00DC71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PRESENCE · 임재영 AOP</a:t>
            </a:r>
          </a:p>
          <a:p xmlns:a="http://schemas.openxmlformats.org/drawingml/2006/main">
            <a:pPr algn="l">
              <a:def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Presence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E3753-B2C5-493E-BB9F-9CEE7DA9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AFB6BC"/>
                </a:solidFill>
                <a:latin typeface="Apple SD Gothic Neo"/>
                <a:ea typeface="Apple SD Gothic Neo"/>
                <a:cs typeface="Apple SD Gothic Neo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2032107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2026-10-25T03:48:43.5800000Z</dcterms:created>
  <dcterms:modified xsi:type="dcterms:W3CDTF">2026-10-25T03:48:43.5800000Z</dcterms:modified>
</coreProperties>
</file>