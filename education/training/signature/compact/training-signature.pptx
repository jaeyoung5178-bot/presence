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47c9b0f889416a" /><Relationship Type="http://schemas.openxmlformats.org/officeDocument/2006/relationships/extended-properties" Target="/docProps/app.xml" Id="R76fa71a31eaa4a84" /><Relationship Type="http://schemas.openxmlformats.org/officeDocument/2006/relationships/officeDocument" Target="/ppt/presentation.xml" Id="R7c7df211bcad42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bf8fe12d264585"/>
  </p:sldMasterIdLst>
  <p:notesMasterIdLst>
    <p:notesMasterId xmlns:r="http://schemas.openxmlformats.org/officeDocument/2006/relationships" r:id="Rb47272c60c8d4f02"/>
  </p:notesMasterIdLst>
  <p:sldIdLst>
    <p:sldId xmlns:r="http://schemas.openxmlformats.org/officeDocument/2006/relationships" id="256" r:id="Rfd0dca81ea934a9a"/>
    <p:sldId xmlns:r="http://schemas.openxmlformats.org/officeDocument/2006/relationships" id="257" r:id="Re1d812f7def1481a"/>
    <p:sldId xmlns:r="http://schemas.openxmlformats.org/officeDocument/2006/relationships" id="258" r:id="Ra3608235c0de490c"/>
    <p:sldId xmlns:r="http://schemas.openxmlformats.org/officeDocument/2006/relationships" id="259" r:id="R7be8d15bd6e844d9"/>
    <p:sldId xmlns:r="http://schemas.openxmlformats.org/officeDocument/2006/relationships" id="260" r:id="Rddbc565be8e74d1a"/>
    <p:sldId xmlns:r="http://schemas.openxmlformats.org/officeDocument/2006/relationships" id="261" r:id="R29f4189859304e77"/>
    <p:sldId xmlns:r="http://schemas.openxmlformats.org/officeDocument/2006/relationships" id="262" r:id="R5aaf8801b9d34e08"/>
    <p:sldId xmlns:r="http://schemas.openxmlformats.org/officeDocument/2006/relationships" id="263" r:id="R7d547741caea4c13"/>
    <p:sldId xmlns:r="http://schemas.openxmlformats.org/officeDocument/2006/relationships" id="264" r:id="R65463995f09949cd"/>
    <p:sldId xmlns:r="http://schemas.openxmlformats.org/officeDocument/2006/relationships" id="265" r:id="R0e1102cfeb11471d"/>
    <p:sldId xmlns:r="http://schemas.openxmlformats.org/officeDocument/2006/relationships" id="266" r:id="Re9d0d56cc842460a"/>
    <p:sldId xmlns:r="http://schemas.openxmlformats.org/officeDocument/2006/relationships" id="267" r:id="R5e0717be74d64b2e"/>
    <p:sldId xmlns:r="http://schemas.openxmlformats.org/officeDocument/2006/relationships" id="268" r:id="Rf8a8f242601f4dd6"/>
    <p:sldId xmlns:r="http://schemas.openxmlformats.org/officeDocument/2006/relationships" id="269" r:id="Re1561ef1f48e4de9"/>
    <p:sldId xmlns:r="http://schemas.openxmlformats.org/officeDocument/2006/relationships" id="270" r:id="R3e44314cc7d34e1c"/>
    <p:sldId xmlns:r="http://schemas.openxmlformats.org/officeDocument/2006/relationships" id="271" r:id="R974a15974a3c497e"/>
    <p:sldId xmlns:r="http://schemas.openxmlformats.org/officeDocument/2006/relationships" id="272" r:id="Rce8c062e79ad44f1"/>
    <p:sldId xmlns:r="http://schemas.openxmlformats.org/officeDocument/2006/relationships" id="273" r:id="R217af01c5e204073"/>
    <p:sldId xmlns:r="http://schemas.openxmlformats.org/officeDocument/2006/relationships" id="274" r:id="R075119554852438b"/>
    <p:sldId xmlns:r="http://schemas.openxmlformats.org/officeDocument/2006/relationships" id="275" r:id="R586f80f9a41a408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9f1be1a98b4915" /><Relationship Type="http://schemas.openxmlformats.org/officeDocument/2006/relationships/slideMaster" Target="/ppt/slideMasters/slideMaster1.xml" Id="Re9bf8fe12d264585" /><Relationship Type="http://schemas.openxmlformats.org/officeDocument/2006/relationships/notesMaster" Target="/ppt/notesMasters/notesMaster1.xml" Id="Rb47272c60c8d4f02" /><Relationship Type="http://schemas.openxmlformats.org/officeDocument/2006/relationships/presProps" Target="/ppt/presProps.xml" Id="R36e7668f0f1c4e4d" /><Relationship Type="http://schemas.openxmlformats.org/officeDocument/2006/relationships/tableStyles" Target="/ppt/tableStyles.xml" Id="R0f9daddbae094279" /><Relationship Type="http://schemas.openxmlformats.org/officeDocument/2006/relationships/slide" Target="/ppt/slides/slide1.xml" Id="Rfd0dca81ea934a9a" /><Relationship Type="http://schemas.openxmlformats.org/officeDocument/2006/relationships/slide" Target="/ppt/slides/slide2.xml" Id="Re1d812f7def1481a" /><Relationship Type="http://schemas.openxmlformats.org/officeDocument/2006/relationships/slide" Target="/ppt/slides/slide3.xml" Id="Ra3608235c0de490c" /><Relationship Type="http://schemas.openxmlformats.org/officeDocument/2006/relationships/slide" Target="/ppt/slides/slide4.xml" Id="R7be8d15bd6e844d9" /><Relationship Type="http://schemas.openxmlformats.org/officeDocument/2006/relationships/slide" Target="/ppt/slides/slide5.xml" Id="Rddbc565be8e74d1a" /><Relationship Type="http://schemas.openxmlformats.org/officeDocument/2006/relationships/slide" Target="/ppt/slides/slide6.xml" Id="R29f4189859304e77" /><Relationship Type="http://schemas.openxmlformats.org/officeDocument/2006/relationships/slide" Target="/ppt/slides/slide7.xml" Id="R5aaf8801b9d34e08" /><Relationship Type="http://schemas.openxmlformats.org/officeDocument/2006/relationships/slide" Target="/ppt/slides/slide8.xml" Id="R7d547741caea4c13" /><Relationship Type="http://schemas.openxmlformats.org/officeDocument/2006/relationships/slide" Target="/ppt/slides/slide9.xml" Id="R65463995f09949cd" /><Relationship Type="http://schemas.openxmlformats.org/officeDocument/2006/relationships/slide" Target="/ppt/slides/slide10.xml" Id="R0e1102cfeb11471d" /><Relationship Type="http://schemas.openxmlformats.org/officeDocument/2006/relationships/slide" Target="/ppt/slides/slide11.xml" Id="Re9d0d56cc842460a" /><Relationship Type="http://schemas.openxmlformats.org/officeDocument/2006/relationships/slide" Target="/ppt/slides/slide12.xml" Id="R5e0717be74d64b2e" /><Relationship Type="http://schemas.openxmlformats.org/officeDocument/2006/relationships/slide" Target="/ppt/slides/slide13.xml" Id="Rf8a8f242601f4dd6" /><Relationship Type="http://schemas.openxmlformats.org/officeDocument/2006/relationships/slide" Target="/ppt/slides/slide14.xml" Id="Re1561ef1f48e4de9" /><Relationship Type="http://schemas.openxmlformats.org/officeDocument/2006/relationships/slide" Target="/ppt/slides/slide15.xml" Id="R3e44314cc7d34e1c" /><Relationship Type="http://schemas.openxmlformats.org/officeDocument/2006/relationships/slide" Target="/ppt/slides/slide16.xml" Id="R974a15974a3c497e" /><Relationship Type="http://schemas.openxmlformats.org/officeDocument/2006/relationships/slide" Target="/ppt/slides/slide17.xml" Id="Rce8c062e79ad44f1" /><Relationship Type="http://schemas.openxmlformats.org/officeDocument/2006/relationships/slide" Target="/ppt/slides/slide18.xml" Id="R217af01c5e204073" /><Relationship Type="http://schemas.openxmlformats.org/officeDocument/2006/relationships/slide" Target="/ppt/slides/slide19.xml" Id="R075119554852438b" /><Relationship Type="http://schemas.openxmlformats.org/officeDocument/2006/relationships/slide" Target="/ppt/slides/slide20.xml" Id="R586f80f9a41a40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e855d238c14c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29841937a54aa9" /><Relationship Type="http://schemas.openxmlformats.org/officeDocument/2006/relationships/notesMaster" Target="/ppt/notesMasters/notesMaster1.xml" Id="Rd32d76fd8fab46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5961609f75b476d" /><Relationship Type="http://schemas.openxmlformats.org/officeDocument/2006/relationships/notesMaster" Target="/ppt/notesMasters/notesMaster1.xml" Id="R5878e6ec27b349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03b861c668e408c" /><Relationship Type="http://schemas.openxmlformats.org/officeDocument/2006/relationships/notesMaster" Target="/ppt/notesMasters/notesMaster1.xml" Id="R182b298574c24a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c0b08d12994c78" /><Relationship Type="http://schemas.openxmlformats.org/officeDocument/2006/relationships/notesMaster" Target="/ppt/notesMasters/notesMaster1.xml" Id="R7c2b432c27cf450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d36391ed64e48da" /><Relationship Type="http://schemas.openxmlformats.org/officeDocument/2006/relationships/notesMaster" Target="/ppt/notesMasters/notesMaster1.xml" Id="R09138193e059496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a61cdfd2e04e8a" /><Relationship Type="http://schemas.openxmlformats.org/officeDocument/2006/relationships/notesMaster" Target="/ppt/notesMasters/notesMaster1.xml" Id="R51da182619f345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93aef0e697431f" /><Relationship Type="http://schemas.openxmlformats.org/officeDocument/2006/relationships/notesMaster" Target="/ppt/notesMasters/notesMaster1.xml" Id="R380dc63c366644c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e65eb27dd33421e" /><Relationship Type="http://schemas.openxmlformats.org/officeDocument/2006/relationships/notesMaster" Target="/ppt/notesMasters/notesMaster1.xml" Id="R4f78a245f21b4a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c0fc69288714124" /><Relationship Type="http://schemas.openxmlformats.org/officeDocument/2006/relationships/notesMaster" Target="/ppt/notesMasters/notesMaster1.xml" Id="Rcf068104a8d842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b90aecb68e54562" /><Relationship Type="http://schemas.openxmlformats.org/officeDocument/2006/relationships/notesMaster" Target="/ppt/notesMasters/notesMaster1.xml" Id="R4be342ffaccb46f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5ba14f781c2427e" /><Relationship Type="http://schemas.openxmlformats.org/officeDocument/2006/relationships/notesMaster" Target="/ppt/notesMasters/notesMaster1.xml" Id="R5fc8b9fcc9b945d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3fdf55b141e4f46" /><Relationship Type="http://schemas.openxmlformats.org/officeDocument/2006/relationships/notesMaster" Target="/ppt/notesMasters/notesMaster1.xml" Id="R65a6e119f6434d4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03e48a47e584b7b" /><Relationship Type="http://schemas.openxmlformats.org/officeDocument/2006/relationships/notesMaster" Target="/ppt/notesMasters/notesMaster1.xml" Id="R8193a1b1ec184f7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412643d2674426c" /><Relationship Type="http://schemas.openxmlformats.org/officeDocument/2006/relationships/notesMaster" Target="/ppt/notesMasters/notesMaster1.xml" Id="R0e7e9c20c97741b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5986936ef944f3f" /><Relationship Type="http://schemas.openxmlformats.org/officeDocument/2006/relationships/notesMaster" Target="/ppt/notesMasters/notesMaster1.xml" Id="Rcba6d28cb0894ea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6968ede6e244777" /><Relationship Type="http://schemas.openxmlformats.org/officeDocument/2006/relationships/notesMaster" Target="/ppt/notesMasters/notesMaster1.xml" Id="R2de2204c9b90462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f8c78b6458c4bb0" /><Relationship Type="http://schemas.openxmlformats.org/officeDocument/2006/relationships/notesMaster" Target="/ppt/notesMasters/notesMaster1.xml" Id="Re29f7ccbf20641d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16c9b9683d64083" /><Relationship Type="http://schemas.openxmlformats.org/officeDocument/2006/relationships/notesMaster" Target="/ppt/notesMasters/notesMaster1.xml" Id="R13f834a4e55445f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fc52db37edf424b" /><Relationship Type="http://schemas.openxmlformats.org/officeDocument/2006/relationships/notesMaster" Target="/ppt/notesMasters/notesMaster1.xml" Id="Rf42534570cc84a1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0b5fffbb82e4429" /><Relationship Type="http://schemas.openxmlformats.org/officeDocument/2006/relationships/notesMaster" Target="/ppt/notesMasters/notesMaster1.xml" Id="Rb73c6956258845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 LEADERS MEETING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 IC 트레이닝 가이드</a:t>
            </a:r>
          </a:p>
          <a:p xmlns:a="http://schemas.openxmlformats.org/drawingml/2006/main">
            <a:r>
              <a:t>신입을 '나가면 반드시 세일즈하는' 사람으로 키우는 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 만들라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피드백 전에 관찰하라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4</a:t>
            </a:r>
          </a:p>
          <a:p xmlns:a="http://schemas.openxmlformats.org/drawingml/2006/main">
            <a:r>
              <a:t>TRAINING PHILOSOPHY  ·  01</a:t>
            </a:r>
          </a:p>
          <a:p xmlns:a="http://schemas.openxmlformats.org/drawingml/2006/main">
            <a:r>
              <a:t>가르치기 전에, 먼저 배우고 싶게 만들라</a:t>
            </a:r>
          </a:p>
          <a:p xmlns:a="http://schemas.openxmlformats.org/drawingml/2006/main">
            <a:r>
              <a:t>"How to teach"보다 먼저 풀어야 할 것은 "Why they want to learn"이다.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동기가 먼저다</a:t>
            </a:r>
          </a:p>
          <a:p xmlns:a="http://schemas.openxmlformats.org/drawingml/2006/main">
            <a:r>
              <a:t>지식을 밀어넣기 전에 '하고 싶다'는 마음을 먼저 켠다. 동기 없는 신입에게 스킬은 흡수되지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쇼잉으로 욕망을 만든다</a:t>
            </a:r>
          </a:p>
          <a:p xmlns:a="http://schemas.openxmlformats.org/drawingml/2006/main">
            <a:r>
              <a:t>잘하는 모습을 직접 보여줘 '나도 저렇게 되고 싶다'를 끌어낸다. 첫날의 긍정 경험이 학습 엔진이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작은 성공을 빨리 준다</a:t>
            </a:r>
          </a:p>
          <a:p xmlns:a="http://schemas.openxmlformats.org/drawingml/2006/main">
            <a:r>
              <a:t>스스로 해냈다는 성취감이 다음 학습 의지를 만든다. 가르침은 그 의지 위에 얹는다.</a:t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5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01  |  『EMILE』</a:t>
            </a:r>
          </a:p>
          <a:p xmlns:a="http://schemas.openxmlformats.org/drawingml/2006/main">
            <a:r>
              <a:t>소극적 교육 — 가르치기 전에, 관찰하기</a:t>
            </a:r>
          </a:p>
          <a:p xmlns:a="http://schemas.openxmlformats.org/drawingml/2006/main">
            <a:r>
              <a:t>루소가 말한 가장 도발적인 개념. 가장 훌륭한 교육은 '아무것도 하지 않는 것처럼 보이는' 교육이다.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Negative Education</a:t>
            </a:r>
          </a:p>
          <a:p xmlns:a="http://schemas.openxmlformats.org/drawingml/2006/main">
            <a:r>
              <a:t>"가장 초기의 교육은 순전히 소극적이어야 한다. 덕이나 진리를 가르치는 데 있지 않고, 마음을 악덕으로부터, 정신을 오류로부터 지키는 데 있다."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"시간을 잃어라"</a:t>
            </a:r>
          </a:p>
          <a:p xmlns:a="http://schemas.openxmlformats.org/drawingml/2006/main">
            <a:r>
              <a:t>"가장 유용한 교육 규칙은 시간을 버는 것이 아니라, 시간을 잃는 것이다."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>트레이닝에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조급함이 가장 큰 위험</a:t>
            </a:r>
          </a:p>
          <a:p xmlns:a="http://schemas.openxmlformats.org/drawingml/2006/main">
            <a:r>
              <a:t>준비되지 않은 신입에게 억지로 주입하면, 텅빈 </a:t>
            </a:r>
          </a:p>
          <a:p xmlns:a="http://schemas.openxmlformats.org/drawingml/2006/main">
            <a:r>
              <a:t>암기에 그치고 오히려 진짜 이해를 방해한다.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먼저, 얼마나 이해했는지 관찰</a:t>
            </a:r>
          </a:p>
          <a:p xmlns:a="http://schemas.openxmlformats.org/drawingml/2006/main">
            <a:r>
              <a:t>가르치기 전에 트레이니가 무엇을, 어디까지 이해하고 있는지 관찰한다. 그 위에 필요한 것을 얹는다.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기다림이 가장 빠른 길</a:t>
            </a:r>
          </a:p>
          <a:p xmlns:a="http://schemas.openxmlformats.org/drawingml/2006/main">
            <a:r>
              <a:t>스스로 경험하고 성숙할 '시간'을 허락하는 것이, 멀리 보면 가장 빠른 성장의 길이다.</a:t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6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피드백 전에, 트레이니를 먼저 관찰하라</a:t>
            </a:r>
          </a:p>
          <a:p xmlns:a="http://schemas.openxmlformats.org/drawingml/2006/main">
            <a:r>
              <a:t>같은 피드백도 사람에 따라 독이 되고 약이 된다. 처방 전에 진단이 먼저다.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관찰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진단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맞춤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</a:t>
            </a:r>
          </a:p>
          <a:p xmlns:a="http://schemas.openxmlformats.org/drawingml/2006/main">
            <a:r>
              <a:t>2시간 뛰게 한 뒤 '할 만한가'를 본다. 결과보다 자세·의지가 먼저.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두려움의 위치</a:t>
            </a:r>
          </a:p>
          <a:p xmlns:a="http://schemas.openxmlformats.org/drawingml/2006/main">
            <a:r>
              <a:t>어디서 멈칫하는가 — 접근? 피치? 클로징? 두려움의 좌표를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속도</a:t>
            </a:r>
          </a:p>
          <a:p xmlns:a="http://schemas.openxmlformats.org/drawingml/2006/main">
            <a:r>
              <a:t>어제 준 피드백이 오늘 반영되는가. 성장 곡선을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강점과 결</a:t>
            </a:r>
          </a:p>
          <a:p xmlns:a="http://schemas.openxmlformats.org/drawingml/2006/main">
            <a:r>
              <a:t>리액션형인가, 논리형인가. 사람의 결에 맞춰 코칭 방식을 바꾼다.</a:t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7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사람이 다르면, 트레이닝도 달라야 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필드에 나가기 전에, '이 사람이 어떤 사람인가'를 먼저 파악해야 한다. 관찰은 첫 만남이 아니라 그 이전부터 시작된다.</a:t>
            </a:r>
          </a:p>
          <a:p xmlns:a="http://schemas.openxmlformats.org/drawingml/2006/main">
            <a:r>
              <a:t>필드 전, 이렇게 준비한다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이력서를 꼼꼼히 읽자</a:t>
            </a:r>
          </a:p>
          <a:p xmlns:a="http://schemas.openxmlformats.org/drawingml/2006/main">
            <a:r>
              <a:t>경력·이전 직무·성향의 단서를 미리 읽는다. 어디서 일했고 무엇을 잘했는지가 트레이닝의 출발점이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주변에 피드백을 요청하자</a:t>
            </a:r>
          </a:p>
          <a:p xmlns:a="http://schemas.openxmlformats.org/drawingml/2006/main">
            <a:r>
              <a:t>오너·클라이언트·교육자에게 '어떤 사람이었는지' 묻는다. 다양한 시선이 모이면 한 사람의 윤곽이 또렷해진다.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트레이닝을 미리 설계하자</a:t>
            </a:r>
          </a:p>
          <a:p xmlns:a="http://schemas.openxmlformats.org/drawingml/2006/main">
            <a:r>
              <a:t>필드에서 무엇을, 어떻게 가르칠지 사전에 고민한다. 준비된 관찰이 첫날의 시행착오를 줄인다.</a:t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8</a:t>
            </a:r>
          </a:p>
          <a:p xmlns:a="http://schemas.openxmlformats.org/drawingml/2006/main">
            <a:r>
              <a:t>TRAINING PHILOSOPHY  ·  03</a:t>
            </a:r>
          </a:p>
          <a:p xmlns:a="http://schemas.openxmlformats.org/drawingml/2006/main">
            <a:r>
              <a:t>신입에게 답이 있다</a:t>
            </a:r>
          </a:p>
          <a:p xmlns:a="http://schemas.openxmlformats.org/drawingml/2006/main">
            <a:r>
              <a:t>현장의 어려움은 현장에서 답을 찾는 것이 가장 좋다. 트레이닝도 마찬가지 — 신입에게 답이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1</a:t>
            </a:r>
          </a:p>
          <a:p xmlns:a="http://schemas.openxmlformats.org/drawingml/2006/main">
            <a:r>
              <a:t>어려워하는 부분 포착하기</a:t>
            </a:r>
          </a:p>
          <a:p xmlns:a="http://schemas.openxmlformats.org/drawingml/2006/main">
            <a:r>
              <a:t>신입이 이해 못 하거나 머뭇거리는 순간을 놓치지 않는다.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2</a:t>
            </a:r>
          </a:p>
          <a:p xmlns:a="http://schemas.openxmlformats.org/drawingml/2006/main">
            <a:r>
              <a:t>부드럽게 먼저 묻기</a:t>
            </a:r>
          </a:p>
          <a:p xmlns:a="http://schemas.openxmlformats.org/drawingml/2006/main">
            <a:r>
              <a:t>"왜 그 부분이 어렵고 이해가 안 되는지" 신입의 입으로 듣기 위해 질문해보자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3</a:t>
            </a:r>
          </a:p>
          <a:p xmlns:a="http://schemas.openxmlformats.org/drawingml/2006/main">
            <a:r>
              <a:t>솔직하게 피드백하기</a:t>
            </a:r>
          </a:p>
          <a:p xmlns:a="http://schemas.openxmlformats.org/drawingml/2006/main">
            <a:r>
              <a:t>들은 내용을 바탕으로 솔직하게, </a:t>
            </a:r>
          </a:p>
          <a:p xmlns:a="http://schemas.openxmlformats.org/drawingml/2006/main">
            <a:r>
              <a:t>함께 답을 찾아가는 시간을 갖는다.</a:t>
            </a:r>
          </a:p>
          <a:p xmlns:a="http://schemas.openxmlformats.org/drawingml/2006/main">
            <a:r>
              <a:t>07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26</a:t>
            </a:r>
          </a:p>
          <a:p xmlns:a="http://schemas.openxmlformats.org/drawingml/2006/main">
            <a:r>
              <a:t>INSIGHT  ·  ON HUMAN &amp; EDUCATION</a:t>
            </a:r>
          </a:p>
          <a:p xmlns:a="http://schemas.openxmlformats.org/drawingml/2006/main">
            <a:r>
              <a:t>장 자크 루소, 『에밀』에서</a:t>
            </a:r>
          </a:p>
          <a:p xmlns:a="http://schemas.openxmlformats.org/drawingml/2006/main">
            <a:r>
              <a:t>"진리를 가르치는 것보다, 알고 싶고 배우고 싶은 욕구를 일으키는</a:t>
            </a:r>
          </a:p>
          <a:p xmlns:a="http://schemas.openxmlformats.org/drawingml/2006/main">
            <a:r>
              <a:t>방법이 더 중요하다. 교육자는 결코 </a:t>
            </a:r>
          </a:p>
          <a:p xmlns:a="http://schemas.openxmlformats.org/drawingml/2006/main">
            <a:r>
              <a:t>아이보다 앞서서는 안 된다."</a:t>
            </a:r>
          </a:p>
          <a:p xmlns:a="http://schemas.openxmlformats.org/drawingml/2006/main">
            <a:r>
              <a:t>— 장 자크 루소, 『에밀』 (1762)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우리의 트레이닝과 닿아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</a:t>
            </a:r>
          </a:p>
          <a:p xmlns:a="http://schemas.openxmlformats.org/drawingml/2006/main">
            <a:r>
              <a:t>지식을 밀어넣기 전에 호기심과 욕구를 켠다 — 루소의 '욕구가 먼저'와 같은 출발점.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앞서지 말고 관찰하라</a:t>
            </a:r>
          </a:p>
          <a:p xmlns:a="http://schemas.openxmlformats.org/drawingml/2006/main">
            <a:r>
              <a:t>스스로 깨닫게 두되 꼭 필요할 때 최소한만. 관찰·경청이 피드백을 앞선다.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경험이 곧 배움</a:t>
            </a:r>
          </a:p>
          <a:p xmlns:a="http://schemas.openxmlformats.org/drawingml/2006/main">
            <a:r>
              <a:t>위험과 어려움은 위기가 아니라 기회. 필드의 경험으로 신입은 자란다.</a:t>
            </a:r>
          </a:p>
          <a:p xmlns:a="http://schemas.openxmlformats.org/drawingml/2006/main">
            <a:r>
              <a:t>결국 신입에게 답이 있다 — 트레이너는 그 답이 피어나도록 돕는 사람이다.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9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효과적인 신입 트레이닝은 트레이너의 역량과 일관된 표준에서 시작된다. </a:t>
            </a:r>
          </a:p>
          <a:p xmlns:a="http://schemas.openxmlformats.org/drawingml/2006/main">
            <a:r>
              <a:t>마치 '기초군사훈련’처럼 </a:t>
            </a:r>
          </a:p>
          <a:p xmlns:a="http://schemas.openxmlformats.org/drawingml/2006/main">
            <a:r>
              <a:t>누구에게나 동일하게 적용 가능해야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세일즈 역량</a:t>
            </a:r>
          </a:p>
          <a:p xmlns:a="http://schemas.openxmlformats.org/drawingml/2006/main">
            <a:r>
              <a:t>주 1회이상 벨-공 세일즈 증명</a:t>
            </a:r>
          </a:p>
          <a:p xmlns:a="http://schemas.openxmlformats.org/drawingml/2006/main">
            <a:r>
              <a:t>4시간 안에 세일즈 가능</a:t>
            </a:r>
          </a:p>
          <a:p xmlns:a="http://schemas.openxmlformats.org/drawingml/2006/main">
            <a:r>
              <a:t>신입에게 쇼잉할 수 있는 실전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쇼잉(Showing)의 중요성</a:t>
            </a:r>
          </a:p>
          <a:p xmlns:a="http://schemas.openxmlformats.org/drawingml/2006/main">
            <a:r>
              <a:t>가장 효과적인 교육은 '직접 보여주기'</a:t>
            </a:r>
          </a:p>
          <a:p xmlns:a="http://schemas.openxmlformats.org/drawingml/2006/main">
            <a:r>
              <a:t>신입은 실제 과정을 관찰하며 학습</a:t>
            </a:r>
          </a:p>
          <a:p xmlns:a="http://schemas.openxmlformats.org/drawingml/2006/main">
            <a:r>
              <a:t>트레이너의 실전 역량 = 교육의 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스탠다드(표준) 적용 원칙</a:t>
            </a:r>
          </a:p>
          <a:p xmlns:a="http://schemas.openxmlformats.org/drawingml/2006/main">
            <a:r>
              <a:t>일관된 표준을 모든 신입에게 동일하게</a:t>
            </a:r>
          </a:p>
          <a:p xmlns:a="http://schemas.openxmlformats.org/drawingml/2006/main">
            <a:r>
              <a:t>개인 맞춤보다 기본 패턴 통일 우선</a:t>
            </a:r>
          </a:p>
          <a:p xmlns:a="http://schemas.openxmlformats.org/drawingml/2006/main">
            <a:r>
              <a:t>나가면 반드시 세일즈 가능한 기본기</a:t>
            </a:r>
          </a:p>
          <a:p xmlns:a="http://schemas.openxmlformats.org/drawingml/2006/main">
            <a:r>
              <a:t>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둘째 날은</a:t>
            </a:r>
          </a:p>
          <a:p xmlns:a="http://schemas.openxmlformats.org/drawingml/2006/main">
            <a:r>
              <a:t>학습의 날</a:t>
            </a:r>
          </a:p>
          <a:p xmlns:a="http://schemas.openxmlformats.org/drawingml/2006/main">
            <a:r>
              <a:t>첫날이 경험이었다면, 둘째 날은 학습이다. 신입이 반드시 세일즈 1개 이상을 달성하게 하는 가장 중요한 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세일즈 달성 (매우 중요)</a:t>
            </a:r>
          </a:p>
          <a:p xmlns:a="http://schemas.openxmlformats.org/drawingml/2006/main">
            <a:r>
              <a:t>반드시 1개 이상을 함께 만들어낸다. 신입이 직접 성공을 체감하게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학습 능력과 성장 가능성을 평가하고, 첫날 대비 개선점을 짚어 피드백한다.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트레이너와 신입의 균형</a:t>
            </a:r>
          </a:p>
          <a:p xmlns:a="http://schemas.openxmlformats.org/drawingml/2006/main">
            <a:r>
              <a:t>신입의 세일즈가 우선이지만 트레이너도 성과가 필요. 함께 내는 것이 이상적.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둘째 날의 의미</a:t>
            </a:r>
          </a:p>
          <a:p xmlns:a="http://schemas.openxmlformats.org/drawingml/2006/main">
            <a:r>
              <a:t>경험에서 '결과에 대한 학습'으로. 신입의 실질 역량을 가늠하는 시점.</a:t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11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12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 3 · 판단의 날</a:t>
            </a:r>
          </a:p>
          <a:p xmlns:a="http://schemas.openxmlformats.org/drawingml/2006/main">
            <a:r>
              <a:t>셋째 날, Stay인가 Qualifying인가 (반드시 오너와 상의)</a:t>
            </a:r>
          </a:p>
          <a:p xmlns:a="http://schemas.openxmlformats.org/drawingml/2006/main">
            <a:r>
              <a:t>전략적 사이트 선택과 시간 확보로 '제로(0)'를 막고, 3일간의 성과 패턴으로 향후 가능성을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신입이 벨을 칠 수 있는 사이트를 전략적으로 고르고 스케줄을 미리 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제로(0) 방지 전략</a:t>
            </a:r>
          </a:p>
          <a:p xmlns:a="http://schemas.openxmlformats.org/drawingml/2006/main">
            <a:r>
              <a:t>제로는 절대 금물. 시간 확보는 필수, 성공 가능성 높은 필드를 찾는다.</a:t>
            </a:r>
          </a:p>
          <a:p xmlns:a="http://schemas.openxmlformats.org/drawingml/2006/main">
            <a:r>
              <a:t>3일간 성과 → 판단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1 – 2</a:t>
            </a:r>
          </a:p>
          <a:p xmlns:a="http://schemas.openxmlformats.org/drawingml/2006/main">
            <a:r>
              <a:t>가장 이상적 · 리더로 육성 가능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2개</a:t>
            </a:r>
          </a:p>
          <a:p xmlns:a="http://schemas.openxmlformats.org/drawingml/2006/main">
            <a:r>
              <a:t>로드트립 제안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3개</a:t>
            </a:r>
          </a:p>
          <a:p xmlns:a="http://schemas.openxmlformats.org/drawingml/2006/main">
            <a:r>
              <a:t>의지와 센스 모두 보유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0 – 0</a:t>
            </a:r>
          </a:p>
          <a:p xmlns:a="http://schemas.openxmlformats.org/drawingml/2006/main">
            <a:r>
              <a:t>의지·센스 부족 → 빠른 Qualifying</a:t>
            </a:r>
          </a:p>
          <a:p xmlns:a="http://schemas.openxmlformats.org/drawingml/2006/main">
            <a:r>
              <a:t>단, 모든 판단은 Case by Case — 기준 위에서 유연하게.</a:t>
            </a:r>
          </a:p>
          <a:p xmlns:a="http://schemas.openxmlformats.org/drawingml/2006/main">
            <a:r>
              <a:t>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13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13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15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WHAT</a:t>
            </a:r>
          </a:p>
          <a:p xmlns:a="http://schemas.openxmlformats.org/drawingml/2006/main">
            <a:r>
              <a:t>필드 전, 무엇을 준비하는가</a:t>
            </a:r>
          </a:p>
          <a:p xmlns:a="http://schemas.openxmlformats.org/drawingml/2006/main">
            <a:r>
              <a:t>필드에 나가기 전, 신입과 함께 점검하고 설계하는 것들.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피치 점검</a:t>
            </a:r>
          </a:p>
          <a:p xmlns:a="http://schemas.openxmlformats.org/drawingml/2006/main">
            <a:r>
              <a:t>피치 숙지·클로즈·약정서</a:t>
            </a:r>
          </a:p>
          <a:p xmlns:a="http://schemas.openxmlformats.org/drawingml/2006/main">
            <a:r>
              <a:t>핸들링 정도를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니즈 파악</a:t>
            </a:r>
          </a:p>
          <a:p xmlns:a="http://schemas.openxmlformats.org/drawingml/2006/main">
            <a:r>
              <a:t>내일 필드를 통해</a:t>
            </a:r>
          </a:p>
          <a:p xmlns:a="http://schemas.openxmlformats.org/drawingml/2006/main">
            <a:r>
              <a:t>무엇을 배우고 싶은지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목표 설정</a:t>
            </a:r>
          </a:p>
          <a:p xmlns:a="http://schemas.openxmlformats.org/drawingml/2006/main">
            <a:r>
              <a:t>필드시간·리해쉬·클로즈.</a:t>
            </a:r>
          </a:p>
          <a:p xmlns:a="http://schemas.openxmlformats.org/drawingml/2006/main">
            <a:r>
              <a:t>개인+섹터목표(AVG)까지 나누면 BEST.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사이트 전략 공유</a:t>
            </a:r>
          </a:p>
          <a:p xmlns:a="http://schemas.openxmlformats.org/drawingml/2006/main">
            <a:r>
              <a:t>사이트를 익숙하게 만들고 전략대로,</a:t>
            </a:r>
          </a:p>
          <a:p xmlns:a="http://schemas.openxmlformats.org/drawingml/2006/main">
            <a:r>
              <a:t>'나도 할 수 있다'는 기대를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사전 안내 (프리엠티브)</a:t>
            </a:r>
          </a:p>
          <a:p xmlns:a="http://schemas.openxmlformats.org/drawingml/2006/main">
            <a:r>
              <a:t>타 에이전시·우천 등 갑자기 닥치면</a:t>
            </a:r>
          </a:p>
          <a:p xmlns:a="http://schemas.openxmlformats.org/drawingml/2006/main">
            <a:r>
              <a:t>네거티브해지는 요소를 미리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필드 물품·복장 점검</a:t>
            </a:r>
          </a:p>
          <a:p xmlns:a="http://schemas.openxmlformats.org/drawingml/2006/main">
            <a:r>
              <a:t>콜백싯·조끼·아이디카드·</a:t>
            </a:r>
          </a:p>
          <a:p xmlns:a="http://schemas.openxmlformats.org/drawingml/2006/main">
            <a:r>
              <a:t>태블릿·부스 등을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16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HOW</a:t>
            </a:r>
          </a:p>
          <a:p xmlns:a="http://schemas.openxmlformats.org/drawingml/2006/main">
            <a:r>
              <a:t>필드 중, 어떻게 끌어가는가</a:t>
            </a:r>
          </a:p>
          <a:p xmlns:a="http://schemas.openxmlformats.org/drawingml/2006/main">
            <a:r>
              <a:t>필드 안에서 실시간으로 관찰하고, 보여주고, 케어한다.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트레이닝 대상 파악</a:t>
            </a:r>
          </a:p>
          <a:p xmlns:a="http://schemas.openxmlformats.org/drawingml/2006/main">
            <a:r>
              <a:t>어떤 유형인지,</a:t>
            </a:r>
          </a:p>
          <a:p xmlns:a="http://schemas.openxmlformats.org/drawingml/2006/main">
            <a:r>
              <a:t>어느 정도의 이해도인지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집중·계속 시도</a:t>
            </a:r>
          </a:p>
          <a:p xmlns:a="http://schemas.openxmlformats.org/drawingml/2006/main">
            <a:r>
              <a:t>계속되는 시도를 통해</a:t>
            </a:r>
          </a:p>
          <a:p xmlns:a="http://schemas.openxmlformats.org/drawingml/2006/main">
            <a:r>
              <a:t>객관적 데이터를 쌓게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상황에 맞는 피드백·점검</a:t>
            </a:r>
          </a:p>
          <a:p xmlns:a="http://schemas.openxmlformats.org/drawingml/2006/main">
            <a:r>
              <a:t>칭찬과 즉시 CS·넘버 피드백.</a:t>
            </a:r>
          </a:p>
          <a:p xmlns:a="http://schemas.openxmlformats.org/drawingml/2006/main">
            <a:r>
              <a:t>2시간마다 콜백싯을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보여주기 (Showing)</a:t>
            </a:r>
          </a:p>
          <a:p xmlns:a="http://schemas.openxmlformats.org/drawingml/2006/main">
            <a:r>
              <a:t>Showing Is The Best.</a:t>
            </a:r>
          </a:p>
          <a:p xmlns:a="http://schemas.openxmlformats.org/drawingml/2006/main">
            <a:r>
              <a:t>쉽고 빠른 벨로 직접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네거티브 파악</a:t>
            </a:r>
          </a:p>
          <a:p xmlns:a="http://schemas.openxmlformats.org/drawingml/2006/main">
            <a:r>
              <a:t>빠른 네거티브 파악과 해결,</a:t>
            </a:r>
          </a:p>
          <a:p xmlns:a="http://schemas.openxmlformats.org/drawingml/2006/main">
            <a:r>
              <a:t>그리고 멘탈 케어.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좋은 소식 공유</a:t>
            </a:r>
          </a:p>
          <a:p xmlns:a="http://schemas.openxmlformats.org/drawingml/2006/main">
            <a:r>
              <a:t>시민의 응원의 말,</a:t>
            </a:r>
          </a:p>
          <a:p xmlns:a="http://schemas.openxmlformats.org/drawingml/2006/main">
            <a:r>
              <a:t>후원자가 남긴 후원 사유를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17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WHY</a:t>
            </a:r>
          </a:p>
          <a:p xmlns:a="http://schemas.openxmlformats.org/drawingml/2006/main">
            <a:r>
              <a:t>필드 후, 무엇을 남기는가</a:t>
            </a:r>
          </a:p>
          <a:p xmlns:a="http://schemas.openxmlformats.org/drawingml/2006/main">
            <a:r>
              <a:t>하루를 돌아보고, 콜백싯 기준으로 피드백하고, 다음을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필드 소감 파악</a:t>
            </a:r>
          </a:p>
          <a:p xmlns:a="http://schemas.openxmlformats.org/drawingml/2006/main">
            <a:r>
              <a:t>오늘 하루 어땠는지 묻는다.</a:t>
            </a:r>
          </a:p>
          <a:p xmlns:a="http://schemas.openxmlformats.org/drawingml/2006/main">
            <a:r>
              <a:t>무엇을 배웠고, 좋았던 점과</a:t>
            </a:r>
          </a:p>
          <a:p xmlns:a="http://schemas.openxmlformats.org/drawingml/2006/main">
            <a:r>
              <a:t>아쉬운 점은 무엇이었는지.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콜백싯 기준 피드백</a:t>
            </a:r>
          </a:p>
          <a:p xmlns:a="http://schemas.openxmlformats.org/drawingml/2006/main">
            <a:r>
              <a:t>같이 필드한 사람들과 넘버를</a:t>
            </a:r>
          </a:p>
          <a:p xmlns:a="http://schemas.openxmlformats.org/drawingml/2006/main">
            <a:r>
              <a:t>비교하며, 넘버·스킬·태도의</a:t>
            </a:r>
          </a:p>
          <a:p xmlns:a="http://schemas.openxmlformats.org/drawingml/2006/main">
            <a:r>
              <a:t>보완점을 함께 이야기한다.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다음 교육 일정 안내 · 기본 5일</a:t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콜백싯 교육 기본 작성법</a:t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콜백싯 교육 분석 · Contact to Stop &amp; 부스 컨트롤</a:t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5 Steps</a:t>
            </a:r>
          </a:p>
          <a:p xmlns:a="http://schemas.openxmlformats.org/drawingml/2006/main">
            <a:r>
              <a:t>DAY 4</a:t>
            </a:r>
          </a:p>
          <a:p xmlns:a="http://schemas.openxmlformats.org/drawingml/2006/main">
            <a:r>
              <a:t>Closing</a:t>
            </a:r>
          </a:p>
          <a:p xmlns:a="http://schemas.openxmlformats.org/drawingml/2006/main">
            <a:r>
              <a:t>DAY 5</a:t>
            </a:r>
          </a:p>
          <a:p xmlns:a="http://schemas.openxmlformats.org/drawingml/2006/main">
            <a:r>
              <a:t>약정서 &amp; 리해쉬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개인별 맞춤 피드백</a:t>
            </a:r>
          </a:p>
          <a:p xmlns:a="http://schemas.openxmlformats.org/drawingml/2006/main">
            <a:r>
              <a:t>관찰로 약점을 진단한 뒤, 그 사람에게 맞는 처방을 내린다. — 관찰이 먼저, 피드백은 그 다음.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리액션이 약하다</a:t>
            </a:r>
          </a:p>
          <a:p xmlns:a="http://schemas.openxmlformats.org/drawingml/2006/main">
            <a:r>
              <a:t>리액션 강화</a:t>
            </a:r>
          </a:p>
          <a:p xmlns:a="http://schemas.openxmlformats.org/drawingml/2006/main">
            <a:r>
              <a:t>표정·제스처 훈련</a:t>
            </a:r>
          </a:p>
          <a:p xmlns:a="http://schemas.openxmlformats.org/drawingml/2006/main">
            <a:r>
              <a:t>고객 반응에 즉각 대응</a:t>
            </a:r>
          </a:p>
          <a:p xmlns:a="http://schemas.openxmlformats.org/drawingml/2006/main">
            <a:r>
              <a:t>임펄스·바디랭귀지</a:t>
            </a:r>
          </a:p>
          <a:p xmlns:a="http://schemas.openxmlformats.org/drawingml/2006/main">
            <a:r>
              <a:t>롤플레이 반복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부스 연결이 약하다</a:t>
            </a:r>
          </a:p>
          <a:p xmlns:a="http://schemas.openxmlformats.org/drawingml/2006/main">
            <a:r>
              <a:t>스트릿 스킬</a:t>
            </a:r>
          </a:p>
          <a:p xmlns:a="http://schemas.openxmlformats.org/drawingml/2006/main">
            <a:r>
              <a:t>접근 방법 다양화</a:t>
            </a:r>
          </a:p>
          <a:p xmlns:a="http://schemas.openxmlformats.org/drawingml/2006/main">
            <a:r>
              <a:t>첫인상 개선 훈련</a:t>
            </a:r>
          </a:p>
          <a:p xmlns:a="http://schemas.openxmlformats.org/drawingml/2006/main">
            <a:r>
              <a:t>거절 극복 기술</a:t>
            </a:r>
          </a:p>
          <a:p xmlns:a="http://schemas.openxmlformats.org/drawingml/2006/main">
            <a:r>
              <a:t>고객 유형별 접근법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클로징이 약하다</a:t>
            </a:r>
          </a:p>
          <a:p xmlns:a="http://schemas.openxmlformats.org/drawingml/2006/main">
            <a:r>
              <a:t>클로징 강화</a:t>
            </a:r>
          </a:p>
          <a:p xmlns:a="http://schemas.openxmlformats.org/drawingml/2006/main">
            <a:r>
              <a:t>TAAIS 집중 훈련</a:t>
            </a:r>
          </a:p>
          <a:p xmlns:a="http://schemas.openxmlformats.org/drawingml/2006/main">
            <a:r>
              <a:t>Buying sign 포착</a:t>
            </a:r>
          </a:p>
          <a:p xmlns:a="http://schemas.openxmlformats.org/drawingml/2006/main">
            <a:r>
              <a:t>침묵·대안 제시 기술</a:t>
            </a:r>
          </a:p>
          <a:p xmlns:a="http://schemas.openxmlformats.org/drawingml/2006/main">
            <a:r>
              <a:t>클로징 타이밍 습득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이미 잘한다</a:t>
            </a:r>
          </a:p>
          <a:p xmlns:a="http://schemas.openxmlformats.org/drawingml/2006/main">
            <a:r>
              <a:t>목표 상향</a:t>
            </a:r>
          </a:p>
          <a:p xmlns:a="http://schemas.openxmlformats.org/drawingml/2006/main">
            <a:r>
              <a:t>더 높은 목표 제시</a:t>
            </a:r>
          </a:p>
          <a:p xmlns:a="http://schemas.openxmlformats.org/drawingml/2006/main">
            <a:r>
              <a:t>자기주도 성장 유도</a:t>
            </a:r>
          </a:p>
          <a:p xmlns:a="http://schemas.openxmlformats.org/drawingml/2006/main">
            <a:r>
              <a:t>리더십·멘토링 기회</a:t>
            </a:r>
          </a:p>
          <a:p xmlns:a="http://schemas.openxmlformats.org/drawingml/2006/main">
            <a:r>
              <a:t>장기 커리어 설계</a:t>
            </a:r>
          </a:p>
          <a:p xmlns:a="http://schemas.openxmlformats.org/drawingml/2006/main">
            <a:r>
              <a:t>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14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CAUTION</a:t>
            </a:r>
          </a:p>
          <a:p xmlns:a="http://schemas.openxmlformats.org/drawingml/2006/main">
            <a:r>
              <a:t>피드백할 때 주의사항</a:t>
            </a:r>
          </a:p>
          <a:p xmlns:a="http://schemas.openxmlformats.org/drawingml/2006/main">
            <a:r>
              <a:t>좋은 의도라도 방식이 틀리면 독이 된다. 다섯 가지를 기억한다.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감정·느낌이 아닌 기준으로</a:t>
            </a:r>
          </a:p>
          <a:p xmlns:a="http://schemas.openxmlformats.org/drawingml/2006/main">
            <a:r>
              <a:t>넘버·스킬·태도 모두 콜백싯 기준으로 피드백한다.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내 말이 아닌, 상대에게 필요한 말인가 (매우 중요)</a:t>
            </a:r>
          </a:p>
          <a:p xmlns:a="http://schemas.openxmlformats.org/drawingml/2006/main">
            <a:r>
              <a:t>하고 싶은 말보다 상대에게 정말 필요한 말인지 먼저 고민한다.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KISS — 간단·명료·눈높이</a:t>
            </a:r>
          </a:p>
          <a:p xmlns:a="http://schemas.openxmlformats.org/drawingml/2006/main">
            <a:r>
              <a:t>상대가 공감하기 좋은 예시로 쉽게 이해되도록 트레이닝한다.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COD 공부하기</a:t>
            </a:r>
          </a:p>
          <a:p xmlns:a="http://schemas.openxmlformats.org/drawingml/2006/main">
            <a:r>
              <a:t>올바른 정보인지 확인하고 피드백. 긴가민가한 이야기는 하지 않는다.</a:t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타이밍을 정해두기</a:t>
            </a:r>
          </a:p>
          <a:p xmlns:a="http://schemas.openxmlformats.org/drawingml/2006/main">
            <a:r>
              <a:t>꼭 필요한 상황 외엔 2시간에 1번. 그 사이엔 개인 목표 달성에 집중한다.</a:t>
            </a:r>
          </a:p>
          <a:p xmlns:a="http://schemas.openxmlformats.org/drawingml/2006/main">
            <a:r>
              <a:t>TIP   피드백 수용이 빠른 신입, 주거테리·유동이 적은 B패턴에는 전략적으로 피드백을 활용하면 좋다.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18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트레이너도 콜백싯을 쓴다</a:t>
            </a:r>
          </a:p>
          <a:p xmlns:a="http://schemas.openxmlformats.org/drawingml/2006/main">
            <a:r>
              <a:t>신입이 필드 콜백싯으로 하루를 점검하듯, 트레이너는 같은 3축으로 '내가 신입을 위해 무엇을 챙겼는가'를 매일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Number</a:t>
            </a:r>
          </a:p>
          <a:p xmlns:a="http://schemas.openxmlformats.org/drawingml/2006/main">
            <a:r>
              <a:t>넘버를 쌓게 했는가</a:t>
            </a:r>
          </a:p>
          <a:p xmlns:a="http://schemas.openxmlformats.org/drawingml/2006/main">
            <a:r>
              <a:t>넘버를 쌓을 수 있는 사이트를 준비했는가</a:t>
            </a:r>
          </a:p>
          <a:p xmlns:a="http://schemas.openxmlformats.org/drawingml/2006/main">
            <a:r>
              <a:t>시도하도록 만드는 피드백을 했는가</a:t>
            </a:r>
          </a:p>
          <a:p xmlns:a="http://schemas.openxmlformats.org/drawingml/2006/main">
            <a:r>
              <a:t>거절 없는 시도 횟수를 끌어냈는가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Pitch · Skill</a:t>
            </a:r>
          </a:p>
          <a:p xmlns:a="http://schemas.openxmlformats.org/drawingml/2006/main">
            <a:r>
              <a:t>스킬을 보강했는가</a:t>
            </a:r>
          </a:p>
          <a:p xmlns:a="http://schemas.openxmlformats.org/drawingml/2006/main">
            <a:r>
              <a:t>약한 부분을 필드에서 바로 교육했는가</a:t>
            </a:r>
          </a:p>
          <a:p xmlns:a="http://schemas.openxmlformats.org/drawingml/2006/main">
            <a:r>
              <a:t>어떤 스킬이든 보강하도록 도왔는가</a:t>
            </a:r>
          </a:p>
          <a:p xmlns:a="http://schemas.openxmlformats.org/drawingml/2006/main">
            <a:r>
              <a:t>내일 바로 쓸 수 있게 알려줬는가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Attitude · Mental</a:t>
            </a:r>
          </a:p>
          <a:p xmlns:a="http://schemas.openxmlformats.org/drawingml/2006/main">
            <a:r>
              <a:t>멘탈을 지켜줬는가</a:t>
            </a:r>
          </a:p>
          <a:p xmlns:a="http://schemas.openxmlformats.org/drawingml/2006/main">
            <a:r>
              <a:t>불안·두려움 요소를 제거했는가</a:t>
            </a:r>
          </a:p>
          <a:p xmlns:a="http://schemas.openxmlformats.org/drawingml/2006/main">
            <a:r>
              <a:t>필드에 방해되는 마음을 케어했는가</a:t>
            </a:r>
          </a:p>
          <a:p xmlns:a="http://schemas.openxmlformats.org/drawingml/2006/main">
            <a:r>
              <a:t>필드에 온전히 집중하게 해줬는가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반복</a:t>
            </a:r>
          </a:p>
          <a:p xmlns:a="http://schemas.openxmlformats.org/drawingml/2006/main">
            <a:r>
              <a:t>이 세 가지를 매일 점검하면, 트레이닝이 성장한다.  신입의 콜백싯이 신입을 키우듯, 트레이너의 콜백싯이 트레이너를 키운다.</a:t>
            </a:r>
          </a:p>
          <a:p xmlns:a="http://schemas.openxmlformats.org/drawingml/2006/main">
            <a:r>
              <a:t>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신입이 필드에 완전히 적응하기까지 약 6주. 이 기간 동안 전략적인 스케줄 관리와 필드 시간 확보가 자립의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리더힛, 2주 이내</a:t>
            </a:r>
          </a:p>
          <a:p xmlns:a="http://schemas.openxmlformats.org/drawingml/2006/main">
            <a:r>
              <a:t>리더힛은 2주 이내 달성이 이상적. 전략적으로 스케줄과 필드 시간을 확보하고, 신입의 성장 속도에 맞춰 목표를 설정한다.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6주 필드 적응</a:t>
            </a:r>
          </a:p>
          <a:p xmlns:a="http://schemas.openxmlformats.org/drawingml/2006/main">
            <a:r>
              <a:t>필드 적응에는 약 6주가 소요. 3–5주차에 로드트립을 적극 활용하며 단계별 성장 과정을 모니터링한다.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Self 세일즈 준비</a:t>
            </a:r>
          </a:p>
          <a:p xmlns:a="http://schemas.openxmlformats.org/drawingml/2006/main">
            <a:r>
              <a:t>혼자 세일즈해야 하는 시점을 미리 안내하고 프리엠티브한다. 심리적 준비와 실전 역량을 동시에 강화한다.</a:t>
            </a:r>
          </a:p>
          <a:p xmlns:a="http://schemas.openxmlformats.org/drawingml/2006/main">
            <a:r>
              <a:t>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21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22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트레이너의 3가지 핵심 역할</a:t>
            </a:r>
          </a:p>
          <a:p xmlns:a="http://schemas.openxmlformats.org/drawingml/2006/main">
            <a:r>
              <a:t>신입이 '자발적으로' 성장하는 환경을 만드는 세 개의 레버.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성취감 제공</a:t>
            </a:r>
          </a:p>
          <a:p xmlns:a="http://schemas.openxmlformats.org/drawingml/2006/main">
            <a:r>
              <a:t>'내가 직접 해냈다'를 느끼게 한다.</a:t>
            </a:r>
          </a:p>
          <a:p xmlns:a="http://schemas.openxmlformats.org/drawingml/2006/main">
            <a:r>
              <a:t>두려워하면 돕고, 아니면 혼자 하게.</a:t>
            </a:r>
          </a:p>
          <a:p xmlns:a="http://schemas.openxmlformats.org/drawingml/2006/main">
            <a:r>
              <a:t>두려움 수준 파악이 판단 기준.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두려움 제거</a:t>
            </a:r>
          </a:p>
          <a:p xmlns:a="http://schemas.openxmlformats.org/drawingml/2006/main">
            <a:r>
              <a:t>초기엔 충분한 서포트를 제공.</a:t>
            </a:r>
          </a:p>
          <a:p xmlns:a="http://schemas.openxmlformats.org/drawingml/2006/main">
            <a:r>
              <a:t>점진적으로 독립성을 부여.</a:t>
            </a:r>
          </a:p>
          <a:p xmlns:a="http://schemas.openxmlformats.org/drawingml/2006/main">
            <a:r>
              <a:t>안전한 환경에서 도전하게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인정과 칭찬</a:t>
            </a:r>
          </a:p>
          <a:p xmlns:a="http://schemas.openxmlformats.org/drawingml/2006/main">
            <a:r>
              <a:t>인정·칭찬을 아끼지 않는다.</a:t>
            </a:r>
          </a:p>
          <a:p xmlns:a="http://schemas.openxmlformats.org/drawingml/2006/main">
            <a:r>
              <a:t>사람은 인정받을 때 주도적이 된다.</a:t>
            </a:r>
          </a:p>
          <a:p xmlns:a="http://schemas.openxmlformats.org/drawingml/2006/main">
            <a:r>
              <a:t>혼냄은 효과 없음 — 스스로 깨닫게.</a:t>
            </a:r>
          </a:p>
          <a:p xmlns:a="http://schemas.openxmlformats.org/drawingml/2006/main">
            <a:r>
              <a:t>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24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매슬로우 5단계 욕구</a:t>
            </a:r>
          </a:p>
          <a:p xmlns:a="http://schemas.openxmlformats.org/drawingml/2006/main">
            <a:r>
              <a:t>사람은 아래 욕구가 채워지면 더 높은 욕구를 향한다. 트레이너는 신입을 단계마다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자아실현  Self-Actualization</a:t>
            </a:r>
          </a:p>
          <a:p xmlns:a="http://schemas.openxmlformats.org/drawingml/2006/main">
            <a:r>
              <a:t>더 큰 목표·성장. 스스로 리더로 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존중  Esteem</a:t>
            </a:r>
          </a:p>
          <a:p xmlns:a="http://schemas.openxmlformats.org/drawingml/2006/main">
            <a:r>
              <a:t>인정과 칭찬. 성취를 알아준다.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소속·애정  Love &amp; Belonging</a:t>
            </a:r>
          </a:p>
          <a:p xmlns:a="http://schemas.openxmlformats.org/drawingml/2006/main">
            <a:r>
              <a:t>팀의 일원이라는 소속감을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안전  Safety</a:t>
            </a:r>
          </a:p>
          <a:p xmlns:a="http://schemas.openxmlformats.org/drawingml/2006/main">
            <a:r>
              <a:t>두려움 제거. 안전한 환경에서 도전.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생리적 욕구  Physiological</a:t>
            </a:r>
          </a:p>
          <a:p xmlns:a="http://schemas.openxmlformats.org/drawingml/2006/main">
            <a:r>
              <a:t>기본 생계·수입. 가장 먼저 채워질 토대.</a:t>
            </a:r>
          </a:p>
          <a:p xmlns:a="http://schemas.openxmlformats.org/drawingml/2006/main">
            <a:r>
              <a:t>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23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캔슬 관리 &amp; 그로스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캔슬은 '그로스(Gross)'에만 집중하는 것이 옳은 방향. 캔슬에 대한 두려움은 오히려 세일즈에 대한 확신을 떨어뜨린다.</a:t>
            </a:r>
          </a:p>
          <a:p xmlns:a="http://schemas.openxmlformats.org/drawingml/2006/main">
            <a:r>
              <a:t>다만 리젝은 자연스러운 것 + 수치(20-30%)만큼 발생할 수 있다는 심리적 준비가 되도록 건강한 매니징 필요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매니지먼트 영역</a:t>
            </a:r>
          </a:p>
          <a:p xmlns:a="http://schemas.openxmlformats.org/drawingml/2006/main">
            <a:r>
              <a:t>캔슬은 지점 차원에서 관리. IC 개인이 과도하게 신경 쓸 부분이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BEP 대비 타겟 조정</a:t>
            </a:r>
          </a:p>
          <a:p xmlns:a="http://schemas.openxmlformats.org/drawingml/2006/main">
            <a:r>
              <a:t>손익분기점(BEP) 대비 세일즈 타겟을 분명히. 최종 + 수익이 얼마인가가 중요.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그로스(Gross) 집중</a:t>
            </a:r>
          </a:p>
          <a:p xmlns:a="http://schemas.openxmlformats.org/drawingml/2006/main">
            <a:r>
              <a:t>캔슬을 두려워하면 세일즈 Drop으로 이어진다. 총매출에만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하이롤러 리젝 대응</a:t>
            </a:r>
          </a:p>
          <a:p xmlns:a="http://schemas.openxmlformats.org/drawingml/2006/main">
            <a:r>
              <a:t>하이롤러는 1일 1건 리젝 리스크. 사전 프리엠티브가 핵심 </a:t>
            </a:r>
          </a:p>
          <a:p xmlns:a="http://schemas.openxmlformats.org/drawingml/2006/main">
            <a:r>
              <a:t>(주 10세일즈+).</a:t>
            </a:r>
          </a:p>
          <a:p xmlns:a="http://schemas.openxmlformats.org/drawingml/2006/main">
            <a:r>
              <a:t>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25</a:t>
            </a:r>
          </a:p>
          <a:p xmlns:a="http://schemas.openxmlformats.org/drawingml/2006/main">
            <a:r>
              <a:t>WRAP-UP</a:t>
            </a:r>
          </a:p>
          <a:p xmlns:a="http://schemas.openxmlformats.org/drawingml/2006/main">
            <a:r>
              <a:t>결과 판단 &amp;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트레이너의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신입의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STAY</a:t>
            </a:r>
          </a:p>
          <a:p xmlns:a="http://schemas.openxmlformats.org/drawingml/2006/main">
            <a:r>
              <a:t>결과가 좋거나 기준 도달 확신이 있으면 — 머무르게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QUALIFYING</a:t>
            </a:r>
          </a:p>
          <a:p xmlns:a="http://schemas.openxmlformats.org/drawingml/2006/main">
            <a:r>
              <a:t>최소 기준 도달이 어렵고 확신이 없으면 — 과감하게 결정한다.</a:t>
            </a:r>
          </a:p>
          <a:p xmlns:a="http://schemas.openxmlformats.org/drawingml/2006/main">
            <a:r>
              <a:t>실제 트레이닝은 Case by Case. 명확한 기준과 일관된 원칙을 유지하되, 개별 상황의 특수성을 고려해 최선의 결정을 내린다.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27</a:t>
            </a:r>
          </a:p>
          <a:p xmlns:a="http://schemas.openxmlformats.org/drawingml/2006/main">
            <a:r>
              <a:t>WHY I WANTED TO LEAD · 리더가 되고 싶었던 이유</a:t>
            </a:r>
          </a:p>
          <a:p xmlns:a="http://schemas.openxmlformats.org/drawingml/2006/main">
            <a:r>
              <a:t>내가 리더가 되고 싶었던 10가지 이유</a:t>
            </a:r>
          </a:p>
          <a:p xmlns:a="http://schemas.openxmlformats.org/drawingml/2006/main">
            <a:r>
              <a:t>루소가 말한 '아이보다 앞서지 않는' 교육처럼 — 딱 한 걸음 앞서 기다리는 리더가 되고 싶었다.</a:t>
            </a:r>
          </a:p>
          <a:p xmlns:a="http://schemas.openxmlformats.org/drawingml/2006/main">
            <a:r>
              <a:t>01   세일즈웍스의 첫 번째 목표여서</a:t>
            </a:r>
          </a:p>
          <a:p xmlns:a="http://schemas.openxmlformats.org/drawingml/2006/main">
            <a:r>
              <a:t>02   내 가치관이 담긴 팀을 만들 수 있어서</a:t>
            </a:r>
          </a:p>
          <a:p xmlns:a="http://schemas.openxmlformats.org/drawingml/2006/main">
            <a:r>
              <a:t>03   누군가의 리더가 된다는 것이 기뻐서</a:t>
            </a:r>
          </a:p>
          <a:p xmlns:a="http://schemas.openxmlformats.org/drawingml/2006/main">
            <a:r>
              <a:t>04   'OO리'라 불리는 친근함이 좋아서</a:t>
            </a:r>
          </a:p>
          <a:p xmlns:a="http://schemas.openxmlformats.org/drawingml/2006/main">
            <a:r>
              <a:t>05   조끼·피치카드·사물함을 쓸 수 있어서</a:t>
            </a:r>
          </a:p>
          <a:p xmlns:a="http://schemas.openxmlformats.org/drawingml/2006/main">
            <a:r>
              <a:t>06   리더라는 위치가 동기부여가 되어서</a:t>
            </a:r>
          </a:p>
          <a:p xmlns:a="http://schemas.openxmlformats.org/drawingml/2006/main">
            <a:r>
              <a:t>07   상위 프로모션에 도전할 수 있어서</a:t>
            </a:r>
          </a:p>
          <a:p xmlns:a="http://schemas.openxmlformats.org/drawingml/2006/main">
            <a:r>
              <a:t>08   리더힛 부담이 아닌 더 큰 비전으로</a:t>
            </a:r>
          </a:p>
          <a:p xmlns:a="http://schemas.openxmlformats.org/drawingml/2006/main">
            <a:r>
              <a:t>09   섬기고 돕는 자리에서만 배울 수 있어서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>이런 리더가 되고 싶어서</a:t>
            </a:r>
          </a:p>
          <a:p xmlns:a="http://schemas.openxmlformats.org/drawingml/2006/main">
            <a:r>
              <a:t>아주 먼 곳까지 내다보되, 앞서 달음박질하지 않고</a:t>
            </a:r>
          </a:p>
          <a:p xmlns:a="http://schemas.openxmlformats.org/drawingml/2006/main">
            <a:r>
              <a:t>언제든 따라올 수 있도록 딱 한 걸음 앞서 기다릴 줄 아는 리더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ONE-PAGE GUIDE</a:t>
            </a:r>
          </a:p>
          <a:p xmlns:a="http://schemas.openxmlformats.org/drawingml/2006/main">
            <a:r>
              <a:t>신입 트레이닝 1–3일, 한 장 요약</a:t>
            </a:r>
          </a:p>
          <a:p xmlns:a="http://schemas.openxmlformats.org/drawingml/2006/main">
            <a:r>
              <a:t>나가면 반드시 세일즈하는 신입으로</a:t>
            </a:r>
          </a:p>
          <a:p xmlns:a="http://schemas.openxmlformats.org/drawingml/2006/main">
            <a:r>
              <a:t>DAY별 필수 액션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경험</a:t>
            </a:r>
          </a:p>
          <a:p xmlns:a="http://schemas.openxmlformats.org/drawingml/2006/main">
            <a:r>
              <a:t>2시간 뛰게 한 뒤 반응·태도 관찰</a:t>
            </a:r>
          </a:p>
          <a:p xmlns:a="http://schemas.openxmlformats.org/drawingml/2006/main">
            <a:r>
              <a:t>트레이너가 직접 쇼잉</a:t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제로 방지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학습</a:t>
            </a:r>
          </a:p>
          <a:p xmlns:a="http://schemas.openxmlformats.org/drawingml/2006/main">
            <a:r>
              <a:t>첫 세일즈 1개 함께 달성(필수)</a:t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첫날 대비 개선점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판단</a:t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3일 성과 패턴으로 판단</a:t>
            </a:r>
          </a:p>
          <a:p xmlns:a="http://schemas.openxmlformats.org/drawingml/2006/main">
            <a:r>
              <a:t>Stay / Qualifying 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가져야 할 태도</a:t>
            </a:r>
          </a:p>
          <a:p xmlns:a="http://schemas.openxmlformats.org/drawingml/2006/main">
            <a:r>
              <a:t>성취감 제공 · 인정과 칭찬</a:t>
            </a:r>
          </a:p>
          <a:p xmlns:a="http://schemas.openxmlformats.org/drawingml/2006/main">
            <a:r>
              <a:t>혼냄보다 스스로 깨닫게 (앞서지 않기)</a:t>
            </a:r>
          </a:p>
          <a:p xmlns:a="http://schemas.openxmlformats.org/drawingml/2006/main">
            <a:r>
              <a:t>불안·두려움을 케어해 필드에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갖춰야 할 스킬</a:t>
            </a:r>
          </a:p>
          <a:p xmlns:a="http://schemas.openxmlformats.org/drawingml/2006/main">
            <a:r>
              <a:t>5 Step : Intro·Short Story·Presentation·Closing·Rehash</a:t>
            </a:r>
          </a:p>
          <a:p xmlns:a="http://schemas.openxmlformats.org/drawingml/2006/main">
            <a:r>
              <a:t>TAAIS 클로징 · 쿠션 멘트</a:t>
            </a:r>
          </a:p>
          <a:p xmlns:a="http://schemas.openxmlformats.org/drawingml/2006/main">
            <a:r>
              <a:t>약점별 보강 : 리액션·스트릿·클로징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점검 체크리스트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사이트를 준비해 넘버를 쌓게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약한 스킬을 필드에서 바로 보강했는가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두려움을 제거해 집중하게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신입의 콜백싯을 함께 점검했는가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Presence Team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Thank you</a:t>
            </a:r>
          </a:p>
          <a:p xmlns:a="http://schemas.openxmlformats.org/drawingml/2006/main">
            <a:r>
              <a:t>후원의 기쁨과 가치를 전할 수 있는 곳이라면 어디든 가는 사람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>☎  Tel : 010-5178-1713        ✉  e-mail : jaeyoung5178@naver.com</a:t>
            </a:r>
          </a:p>
          <a:p xmlns:a="http://schemas.openxmlformats.org/drawingml/2006/main">
            <a:r>
              <a:t>기타 궁금하거나 질문이 있으시면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b4759047dc473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61cc7cae7a482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ed8843d7434b7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5e3e7307d24c6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e0aec95d9a464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f40adaf22d4f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E4AF481-5207-447C-9F53-43EC8FEB78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3D33AB9-513A-4C68-980E-1E6B4C0B064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3CDF189-DD60-4D79-96C4-53FD64B051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F28394F-B513-4190-92DB-A7D09170BF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A9C413C-06C2-4983-BA43-DB961EB8F8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B7F09E9-334D-43CD-A787-0A22BE2A8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0BBCD70-41BD-4261-BDE9-F187258310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53FECDA-F086-4225-B272-DEF190E2BCE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8294E7-4E7F-455C-8163-FC198A67D5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47F92F0-A998-449F-95DE-9799B8E3AF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f0c0167a8d4d31" /><Relationship Type="http://schemas.openxmlformats.org/officeDocument/2006/relationships/slideLayout" Target="/ppt/slideLayouts/slideLayout1.xml" Id="Raf0fc40e6b46411a" /><Relationship Type="http://schemas.openxmlformats.org/officeDocument/2006/relationships/slideLayout" Target="/ppt/slideLayouts/slideLayout2.xml" Id="Rce182f4186284973" /><Relationship Type="http://schemas.openxmlformats.org/officeDocument/2006/relationships/slideLayout" Target="/ppt/slideLayouts/slideLayout3.xml" Id="R8adf38a58aa64c4d" /><Relationship Type="http://schemas.openxmlformats.org/officeDocument/2006/relationships/slideLayout" Target="/ppt/slideLayouts/slideLayout4.xml" Id="R3c28790464054ffc" /><Relationship Type="http://schemas.openxmlformats.org/officeDocument/2006/relationships/slideLayout" Target="/ppt/slideLayouts/slideLayout5.xml" Id="R92d3e35a65b14793" /><Relationship Type="http://schemas.openxmlformats.org/officeDocument/2006/relationships/slideLayout" Target="/ppt/slideLayouts/slideLayout6.xml" Id="Rb5e75739c66c47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0fc40e6b46411a"/>
    <p:sldLayoutId xmlns:r="http://schemas.openxmlformats.org/officeDocument/2006/relationships" id="2147483650" r:id="Rce182f4186284973"/>
    <p:sldLayoutId xmlns:r="http://schemas.openxmlformats.org/officeDocument/2006/relationships" id="2147483651" r:id="R8adf38a58aa64c4d"/>
    <p:sldLayoutId xmlns:r="http://schemas.openxmlformats.org/officeDocument/2006/relationships" id="2147483652" r:id="R3c28790464054ffc"/>
    <p:sldLayoutId xmlns:r="http://schemas.openxmlformats.org/officeDocument/2006/relationships" id="2147483653" r:id="R92d3e35a65b14793"/>
    <p:sldLayoutId xmlns:r="http://schemas.openxmlformats.org/officeDocument/2006/relationships" id="2147483654" r:id="Rb5e75739c66c47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30ed2d3d3f4d26" /><Relationship Type="http://schemas.openxmlformats.org/officeDocument/2006/relationships/image" Target="/ppt/media/image.jpeg" Id="R1388a1f0a97d44c9" /><Relationship Type="http://schemas.openxmlformats.org/officeDocument/2006/relationships/notesSlide" Target="/ppt/notesSlides/notesSlide1.xml" Id="R7cdccd65e3dc45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6e056a557c4a33" /><Relationship Type="http://schemas.openxmlformats.org/officeDocument/2006/relationships/image" Target="/ppt/media/image2.jpeg" Id="R6eb54e08a49c4e2f" /><Relationship Type="http://schemas.openxmlformats.org/officeDocument/2006/relationships/image" Target="/ppt/media/image.png" Id="R318a89bbbfaf4b65" /><Relationship Type="http://schemas.openxmlformats.org/officeDocument/2006/relationships/image" Target="/ppt/media/image2.png" Id="R4abcd01a1dec47d0" /><Relationship Type="http://schemas.openxmlformats.org/officeDocument/2006/relationships/notesSlide" Target="/ppt/notesSlides/notesSlide2.xml" Id="Re1240d26846648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3a1e93dc4d4eab" /><Relationship Type="http://schemas.openxmlformats.org/officeDocument/2006/relationships/image" Target="/ppt/media/image3.jpeg" Id="R2dc74ec734404f5c" /><Relationship Type="http://schemas.openxmlformats.org/officeDocument/2006/relationships/image" Target="/ppt/media/image3.png" Id="R0c757944360c46bf" /><Relationship Type="http://schemas.openxmlformats.org/officeDocument/2006/relationships/image" Target="/ppt/media/image4.png" Id="Rd58e541687a74ea3" /><Relationship Type="http://schemas.openxmlformats.org/officeDocument/2006/relationships/notesSlide" Target="/ppt/notesSlides/notesSlide3.xml" Id="Rb13a0af9d9894ee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eb1f141303412a" /><Relationship Type="http://schemas.openxmlformats.org/officeDocument/2006/relationships/image" Target="/ppt/media/image4.jpeg" Id="R4acac3ee43ba43c0" /><Relationship Type="http://schemas.openxmlformats.org/officeDocument/2006/relationships/notesSlide" Target="/ppt/notesSlides/notesSlide4.xml" Id="R7b8493f908d543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71f62100d44338" /><Relationship Type="http://schemas.openxmlformats.org/officeDocument/2006/relationships/image" Target="/ppt/media/image5.png" Id="Rd2dcb14dbb724d7a" /><Relationship Type="http://schemas.openxmlformats.org/officeDocument/2006/relationships/image" Target="/ppt/media/image6.png" Id="R1cdcc8494c7847d7" /><Relationship Type="http://schemas.openxmlformats.org/officeDocument/2006/relationships/image" Target="/ppt/media/image7.png" Id="R50068eed61c14a4b" /><Relationship Type="http://schemas.openxmlformats.org/officeDocument/2006/relationships/image" Target="/ppt/media/image8.png" Id="R6b935bf193d54af9" /><Relationship Type="http://schemas.openxmlformats.org/officeDocument/2006/relationships/notesSlide" Target="/ppt/notesSlides/notesSlide5.xml" Id="R2190514986f447f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3963b1e95e4a1b" /><Relationship Type="http://schemas.openxmlformats.org/officeDocument/2006/relationships/image" Target="/ppt/media/image9.png" Id="R34e8a1e032fe4663" /><Relationship Type="http://schemas.openxmlformats.org/officeDocument/2006/relationships/image" Target="/ppt/media/image10.png" Id="R6edc8366f0b746bb" /><Relationship Type="http://schemas.openxmlformats.org/officeDocument/2006/relationships/image" Target="/ppt/media/image11.png" Id="R7302377ec0944d88" /><Relationship Type="http://schemas.openxmlformats.org/officeDocument/2006/relationships/notesSlide" Target="/ppt/notesSlides/notesSlide6.xml" Id="Rab9c583448b446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8a5422502a4056" /><Relationship Type="http://schemas.openxmlformats.org/officeDocument/2006/relationships/image" Target="/ppt/media/image5.jpeg" Id="R8fabb2c1e035478d" /><Relationship Type="http://schemas.openxmlformats.org/officeDocument/2006/relationships/notesSlide" Target="/ppt/notesSlides/notesSlide7.xml" Id="Rd7d39b12f9014a6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5c3f62fa6d4be8" /><Relationship Type="http://schemas.openxmlformats.org/officeDocument/2006/relationships/notesSlide" Target="/ppt/notesSlides/notesSlide8.xml" Id="R137ac99e0e9c42d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28f18bfead4a4e" /><Relationship Type="http://schemas.openxmlformats.org/officeDocument/2006/relationships/notesSlide" Target="/ppt/notesSlides/notesSlide9.xml" Id="Ra47710730f3a42e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35d6135ca240c4" /><Relationship Type="http://schemas.openxmlformats.org/officeDocument/2006/relationships/notesSlide" Target="/ppt/notesSlides/notesSlide10.xml" Id="Ra0c6e999b91047d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ace23102c446b1" /><Relationship Type="http://schemas.openxmlformats.org/officeDocument/2006/relationships/image" Target="/ppt/media/image12.png" Id="R9bfa09573763478f" /><Relationship Type="http://schemas.openxmlformats.org/officeDocument/2006/relationships/image" Target="/ppt/media/image13.png" Id="Rbe6e1dfdc22f42e5" /><Relationship Type="http://schemas.openxmlformats.org/officeDocument/2006/relationships/image" Target="/ppt/media/image14.png" Id="Rbc0cb16641db4289" /><Relationship Type="http://schemas.openxmlformats.org/officeDocument/2006/relationships/image" Target="/ppt/media/image15.png" Id="R4a6ecef3813e4d10" /><Relationship Type="http://schemas.openxmlformats.org/officeDocument/2006/relationships/notesSlide" Target="/ppt/notesSlides/notesSlide11.xml" Id="R0b08ee3672e343c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4490ff4ed3468b" /><Relationship Type="http://schemas.openxmlformats.org/officeDocument/2006/relationships/image" Target="/ppt/media/image16.png" Id="R654f193db92b4459" /><Relationship Type="http://schemas.openxmlformats.org/officeDocument/2006/relationships/image" Target="/ppt/media/image17.png" Id="R333f06c572c74635" /><Relationship Type="http://schemas.openxmlformats.org/officeDocument/2006/relationships/image" Target="/ppt/media/image18.png" Id="R759d92b384234887" /><Relationship Type="http://schemas.openxmlformats.org/officeDocument/2006/relationships/image" Target="/ppt/media/image19.png" Id="Rd150e41a29864ff0" /><Relationship Type="http://schemas.openxmlformats.org/officeDocument/2006/relationships/image" Target="/ppt/media/image20.png" Id="Recaf54eece3c4b6d" /><Relationship Type="http://schemas.openxmlformats.org/officeDocument/2006/relationships/notesSlide" Target="/ppt/notesSlides/notesSlide12.xml" Id="R6068fbfb63d9421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f6c1b4ac31455b" /><Relationship Type="http://schemas.openxmlformats.org/officeDocument/2006/relationships/image" Target="/ppt/media/image21.png" Id="R86c6fbf92bb14831" /><Relationship Type="http://schemas.openxmlformats.org/officeDocument/2006/relationships/image" Target="/ppt/media/image22.png" Id="Re3937ad941d044e7" /><Relationship Type="http://schemas.openxmlformats.org/officeDocument/2006/relationships/image" Target="/ppt/media/image23.png" Id="R042f3bf2afcb4419" /><Relationship Type="http://schemas.openxmlformats.org/officeDocument/2006/relationships/notesSlide" Target="/ppt/notesSlides/notesSlide13.xml" Id="Re650827d4dbe498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7579ef3b25447b" /><Relationship Type="http://schemas.openxmlformats.org/officeDocument/2006/relationships/notesSlide" Target="/ppt/notesSlides/notesSlide14.xml" Id="R9a74e85b33f24ab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b65c84eaec4786" /><Relationship Type="http://schemas.openxmlformats.org/officeDocument/2006/relationships/notesSlide" Target="/ppt/notesSlides/notesSlide15.xml" Id="Re6bd37fd4c7b4f7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296ade25444c2a" /><Relationship Type="http://schemas.openxmlformats.org/officeDocument/2006/relationships/notesSlide" Target="/ppt/notesSlides/notesSlide16.xml" Id="R876451c81fdf4a3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28d6e74c374879" /><Relationship Type="http://schemas.openxmlformats.org/officeDocument/2006/relationships/image" Target="/ppt/media/image6.jpeg" Id="R7bb01c174d6d43f8" /><Relationship Type="http://schemas.openxmlformats.org/officeDocument/2006/relationships/notesSlide" Target="/ppt/notesSlides/notesSlide17.xml" Id="Rde68a6c18a01451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2f9891b49f4caf" /><Relationship Type="http://schemas.openxmlformats.org/officeDocument/2006/relationships/image" Target="/ppt/media/image24.png" Id="R8f89bbcd0474421f" /><Relationship Type="http://schemas.openxmlformats.org/officeDocument/2006/relationships/image" Target="/ppt/media/image25.png" Id="Rf345c1320a7a46a8" /><Relationship Type="http://schemas.openxmlformats.org/officeDocument/2006/relationships/image" Target="/ppt/media/image26.png" Id="R9133deda26cc4c4d" /><Relationship Type="http://schemas.openxmlformats.org/officeDocument/2006/relationships/notesSlide" Target="/ppt/notesSlides/notesSlide18.xml" Id="R5ebc24149b9442d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11c6ad034a4590" /><Relationship Type="http://schemas.openxmlformats.org/officeDocument/2006/relationships/image" Target="/ppt/media/image27.png" Id="Re326f45cd92b4be9" /><Relationship Type="http://schemas.openxmlformats.org/officeDocument/2006/relationships/image" Target="/ppt/media/image28.png" Id="R0907274362fe48a4" /><Relationship Type="http://schemas.openxmlformats.org/officeDocument/2006/relationships/notesSlide" Target="/ppt/notesSlides/notesSlide19.xml" Id="R98a49041e76c41b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ef090239194012" /><Relationship Type="http://schemas.openxmlformats.org/officeDocument/2006/relationships/image" Target="/ppt/media/image7.jpeg" Id="R2e3553209ce6453a" /><Relationship Type="http://schemas.openxmlformats.org/officeDocument/2006/relationships/notesSlide" Target="/ppt/notesSlides/notesSlide20.xml" Id="Re2b40de9c1d4404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176EF7-CE4E-4E59-BE35-98DE330D73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88a1f0a97d44c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EF417F-C987-455C-95D2-DA0ACFE0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임재영 AOP · PRESENCE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FF96C9-F1BF-4C9E-810A-90FC42D68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92392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C959A9-53BB-491F-ACE1-C446B0B6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38475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 IC 트레이닝 · 핵심 강의 20장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E9B38D-8221-4536-ADD7-214ED98C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05250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먼저 배우고 싶게 만들라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전에 관찰하라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621708-439F-4EBD-B606-AA80C69B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8167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임재영 AOP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46E4EF-2C7B-4C66-A0A7-BC5F7DA7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01 / 20</a:t>
            </a:r>
          </a:p>
        </p:txBody>
      </p:sp>
    </p:spTree>
    <p:extLst>
      <p:ext uri="{BB962C8B-B14F-4D97-AF65-F5344CB8AC3E}">
        <p14:creationId xmlns:p14="http://schemas.microsoft.com/office/powerpoint/2010/main" val="13338035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D0AA6B-A80F-4BBA-8539-369C37B589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b54e08a49c4e2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2477BB-3474-4ACC-A065-40903646A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BF6632-897C-4DDB-80EA-F2F2FBBB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 배우고 싶게, 피드백 전에 관찰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154A0-804F-472E-A08A-DE1F0969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가르치기 전에 신입의 마음과 상태를 먼저 살핀다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52641F-F493-429A-A117-91C9EC17BC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8a89bbbfaf4b65"/>
          <a:stretch xmlns:a="http://schemas.openxmlformats.org/drawingml/2006/main"/>
        </p:blipFill>
        <p:spPr>
          <a:xfrm xmlns:a="http://schemas.openxmlformats.org/drawingml/2006/main">
            <a:off x="723900" y="26765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1062D9-3031-4638-87D7-460406FB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4795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배우고 싶은 마음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75908C-5893-478D-A8D2-4C0F3402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00400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쇼잉으로 나도 할 수 있다는 기대를 만든다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작은 성공으로 다음 학습 의지를 만든다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6F8503-4254-472A-A3BA-A06AD8768B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bcd01a1dec47d0"/>
          <a:stretch xmlns:a="http://schemas.openxmlformats.org/drawingml/2006/main"/>
        </p:blipFill>
        <p:spPr>
          <a:xfrm xmlns:a="http://schemas.openxmlformats.org/drawingml/2006/main">
            <a:off x="723900" y="41529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4D9AF1-164A-4A4C-8205-7FA8B029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2432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관찰 후 피드백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88B193-F674-4479-8CD5-BB406D98A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76775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반응 · 두려움 · 학습 속도 · 강점을 본다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이력서와 주변 피드백으로 필드 전에 준비한다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04CC76-5664-4CEA-9FC5-1FACAD1E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02 / 20</a:t>
            </a:r>
          </a:p>
        </p:txBody>
      </p:sp>
    </p:spTree>
    <p:extLst>
      <p:ext uri="{BB962C8B-B14F-4D97-AF65-F5344CB8AC3E}">
        <p14:creationId xmlns:p14="http://schemas.microsoft.com/office/powerpoint/2010/main" val="850870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C8FDDB-D4C4-49FD-9FFA-E3C72BC8A2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c74ec734404f5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260F87-C177-492B-BD36-EF414D30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전제 조건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26E5D6-736D-44B3-8334-3B2134B0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실력과 스탠다드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E06662-7F50-4DAB-8287-6D04709B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보여줄 수 있는 실력, 누구에게나 일관된 기본기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06D6AD-E6F7-4742-B3DB-59AB182E11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757944360c46bf"/>
          <a:stretch xmlns:a="http://schemas.openxmlformats.org/drawingml/2006/main"/>
        </p:blipFill>
        <p:spPr>
          <a:xfrm xmlns:a="http://schemas.openxmlformats.org/drawingml/2006/main">
            <a:off x="723900" y="26765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BD1FE8-2445-4DB9-8B9C-2B0460A6A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4795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직접 보여주는 실력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C92B0F-C5AA-4B6C-85F8-F52911EA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00400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 1회 이상 벨-공 세일즈 증명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4시간 안에 세일즈할 수 있는 실전 능력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64A6D4-C4BE-4EA7-B0F3-92A7DF3387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8e541687a74ea3"/>
          <a:stretch xmlns:a="http://schemas.openxmlformats.org/drawingml/2006/main"/>
        </p:blipFill>
        <p:spPr>
          <a:xfrm xmlns:a="http://schemas.openxmlformats.org/drawingml/2006/main">
            <a:off x="723900" y="41529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71E6DB-0C8E-4461-9890-E9CB645C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2432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일관된 기본 패턴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150969-C4D8-4B4F-A8C6-6F72F946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76775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보여주고 실제 과정을 관찰하게 한다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모든 신입에게 같은 기본 스탠다드를 적용한다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3FDD48-6B68-4A12-BFC4-BCB9BAC6D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03 / 20</a:t>
            </a:r>
          </a:p>
        </p:txBody>
      </p:sp>
    </p:spTree>
    <p:extLst>
      <p:ext uri="{BB962C8B-B14F-4D97-AF65-F5344CB8AC3E}">
        <p14:creationId xmlns:p14="http://schemas.microsoft.com/office/powerpoint/2010/main" val="17697559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2BF283-0C2B-4B7C-B32E-25636C3003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cac3ee43ba43c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503071-565E-41E0-903A-698F5FFB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9E089B-F9DE-4A34-A38B-001674AE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3일의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F8C76D-94E8-4160-A7EA-D4896D83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각 단계에서 이렇게 느끼도록 돕는다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DB85CD-EA56-4EA2-9179-EF8FCD7A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5D40D3-9360-42A6-81EA-D0BDDDAA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경험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4851FC-6AEA-4D1C-BA06-DEEB004C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필드가 할 만하다고 느끼게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3982D4-6239-415F-B6BD-D9C195CA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2A6580-CC95-43BE-AF23-6777CC05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13F8A3-7B78-4A87-9FEE-DDE8CA67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잘 배우고 성장하면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할 수 있다고 느끼게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02256F-84CD-41CF-8000-4785F5B6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A889C7-93C8-4D3B-A449-CCB3B6784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E721D3-CB45-4C95-95F0-7E90E6F7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가능성이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있다고 느끼게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8D6C63-B230-4C23-8E1E-5CC77D97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04 / 20</a:t>
            </a:r>
          </a:p>
        </p:txBody>
      </p:sp>
    </p:spTree>
    <p:extLst>
      <p:ext uri="{BB962C8B-B14F-4D97-AF65-F5344CB8AC3E}">
        <p14:creationId xmlns:p14="http://schemas.microsoft.com/office/powerpoint/2010/main" val="21230817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0BAA4B-48E9-4B2B-8BAE-AC5FC479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B57DED-FFCE-4606-B9F1-2F1317B14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 · 긍정적인 첫 경험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0CF41B-980E-410C-BCB3-2CCA4850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성과보다 적응과 관찰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E57D26-69D5-4482-849F-3F9CC07DB6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dcb14dbb724d7a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6EB4F5-2165-4AA5-AB64-6BB4CAF7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반응과 태도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754091-F7B5-45AF-9DBE-5579049F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2시간쯤 뛰게 한 뒤 할 만한지 확인하고 기본 자세와 의지를 파악한다.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DEC583-0FE2-4C00-B18C-EED052A027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dcc8494c7847d7"/>
          <a:stretch xmlns:a="http://schemas.openxmlformats.org/drawingml/2006/main"/>
        </p:blipFill>
        <p:spPr>
          <a:xfrm xmlns:a="http://schemas.openxmlformats.org/drawingml/2006/main">
            <a:off x="828675" y="3576638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D228C0-B69C-42FF-B1AF-93A774DA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48063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쇼잉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FC4666-8C4E-4518-BC38-E29BF7C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57638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자신의 세일즈에 집중해 실제 과정을 직접 보여준다.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4F2E35-53BC-4318-9D74-1AD068E037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068eed61c14a4b"/>
          <a:stretch xmlns:a="http://schemas.openxmlformats.org/drawingml/2006/main"/>
        </p:blipFill>
        <p:spPr>
          <a:xfrm xmlns:a="http://schemas.openxmlformats.org/drawingml/2006/main">
            <a:off x="828675" y="4410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991F8C-E002-45D0-AA8B-0E8F34BF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81500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BEDC5D-07EC-47F7-A692-D77C334C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791075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프리엠티브를 충분히 제공한다. 재미있고 해볼 만하다고 느끼게 한다.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ADFB2D-851B-4904-9637-BA47E03119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935bf193d54af9"/>
          <a:stretch xmlns:a="http://schemas.openxmlformats.org/drawingml/2006/main"/>
        </p:blipFill>
        <p:spPr>
          <a:xfrm xmlns:a="http://schemas.openxmlformats.org/drawingml/2006/main">
            <a:off x="828675" y="5243513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81D838-B90A-46A2-A453-527AA715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214938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다음 날의 준비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FAB8F2-576C-4ABF-900F-C0EB292D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624513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 압박 대신 환경 적응을 돕고 심리적 준비를 만든다.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C83D73-8EC1-48D7-ABCF-5CF38ACE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05 / 20</a:t>
            </a:r>
          </a:p>
        </p:txBody>
      </p:sp>
    </p:spTree>
    <p:extLst>
      <p:ext uri="{BB962C8B-B14F-4D97-AF65-F5344CB8AC3E}">
        <p14:creationId xmlns:p14="http://schemas.microsoft.com/office/powerpoint/2010/main" val="4529692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BB739F-1C09-4B3D-AD24-E364E4B4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AD0B70-A143-4800-AF8E-F11AE5BA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 · 결과로 배우는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191810-4A67-4568-B7C9-1295D2AD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실질 역량을 가늠하는 시점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8CC834-4165-40EB-93D9-FB8F17ECB7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e8a1e032fe4663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DD3F6C-2F23-4B6F-927E-95EA97E4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세일즈 1개 이상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14F468-AF6B-4D1F-BBBE-24FB2C55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반드시 함께 만들어낸다. 신입이 직접 성공을 체감하게 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B2E137-2F5E-4B7A-8F9C-544D080C61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dc8366f0b746bb"/>
          <a:stretch xmlns:a="http://schemas.openxmlformats.org/drawingml/2006/main"/>
        </p:blipFill>
        <p:spPr>
          <a:xfrm xmlns:a="http://schemas.openxmlformats.org/drawingml/2006/main">
            <a:off x="828675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91E009-BFAB-4BC9-9AB1-21247FA8D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학습력과 성장성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D58446-EC82-4E45-AFC7-3DD29D46E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첫날 대비 개선점을 짚고 학습 능력과 성장 가능성을 본다.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EA2CF7-9E59-4A3D-A3E5-C7E37B05DA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02377ec0944d88"/>
          <a:stretch xmlns:a="http://schemas.openxmlformats.org/drawingml/2006/main"/>
        </p:blipFill>
        <p:spPr>
          <a:xfrm xmlns:a="http://schemas.openxmlformats.org/drawingml/2006/main">
            <a:off x="828675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31F2E0-838E-4593-BE80-058E366D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트레이너와 신입의 균형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2FA7B5-2620-4849-A9A7-CFD8EBA2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세일즈가 우선이며, 트레이너도 함께 성과를 낸다.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303321-09C0-4895-BE3A-EA826588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06 / 20</a:t>
            </a:r>
          </a:p>
        </p:txBody>
      </p:sp>
    </p:spTree>
    <p:extLst>
      <p:ext uri="{BB962C8B-B14F-4D97-AF65-F5344CB8AC3E}">
        <p14:creationId xmlns:p14="http://schemas.microsoft.com/office/powerpoint/2010/main" val="13306788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D7B00E-0869-4E7E-A62A-7CBC83580D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abb2c1e035478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23A1A4-9AD2-40A7-B560-A8D00FA1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CDFC08-A79A-4606-AF73-0FF5B96AD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 · 성과의 패턴 읽기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AE2FF8-B024-495A-989A-06E2C7F9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Stay / Qualifying은 반드시 오너와 상의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DA1560-C6BB-4863-B2E6-1F778680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1 ·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33ACE7-2F5D-4F4D-9594-064FDB95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이상적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리더로 육성 가능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EAEC33-8FDD-45D7-962F-EAB9C514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2개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BCD391-5174-49BC-9511-789CD222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로드트립 제안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FF5B9B-2BED-45B0-9BA8-73EDD936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3개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61DA2E-3D8F-448A-83E4-E405345A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의지와 센스 모두 보유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49C9AF-54ED-4EBB-8D3C-11834EBF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0 · 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7DB482-4C8A-40D1-BEE5-C675B761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빠른 Qualifying 검토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98A8B9-AD84-46F4-8CFF-BCCDAD11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사이트와 시간을 전략적으로 확보해 제로를 막는다. 판단은 반드시 오너와 상의한다.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0E70E7-2AF5-4DDD-955C-3847F79D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07 / 20</a:t>
            </a:r>
          </a:p>
        </p:txBody>
      </p:sp>
    </p:spTree>
    <p:extLst>
      <p:ext uri="{BB962C8B-B14F-4D97-AF65-F5344CB8AC3E}">
        <p14:creationId xmlns:p14="http://schemas.microsoft.com/office/powerpoint/2010/main" val="9331729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04A4C7-F2D4-4348-955D-3894B40B8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151C45-1157-4D3E-91E1-456F981D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 Step 트레이닝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F81F6A-22F5-438B-B070-A14805AF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 · 짧은 피치 · 해결책 · 클로징 · 거래정보 재확인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D742B6-0C19-4764-9F54-03F215D3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D9A41B-1EA8-4229-A149-F1C83326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ABCD74-34BF-448B-A74F-26FC395EB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13E3C6-B185-4AAB-A627-03EC925D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FD8C6B-B5F7-47C2-B519-5048593E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10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356AE5-51E6-4EA8-A61A-5746B9721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69638-D63B-4758-943C-90F2FAFA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3BABF3-9E22-42B6-86EB-7D8651AA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Short 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7FD247-F12B-4026-BE91-42042C16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짧은 피치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3B8774-BD09-4625-B71D-9768CC4A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866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B28165-18D6-4DDE-B490-A7E1E098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D11358-085A-45D9-A575-E42FF595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EA82EF-41BD-4F26-B9A8-F28BCAE9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Presentation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25958E-DDF1-4325-8B88-69D7879C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27DAC5-812D-4E33-98D1-050A1B3D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1304BC-F30A-48B9-BF74-CB89ED49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B1BCDB-D63A-4704-B45A-3F849099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9DC6F1-FFB8-47DD-878F-0FDB0B809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C2F5EA-FDA2-4087-A50A-F2984171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874855-22E4-40E0-8AC7-1CA56D75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E12814-C0B1-4E66-9E22-6435694F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00D40E-4E0C-4125-8096-BB03439F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94D228-B9F9-4797-935D-E96280B9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Rehash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3369EA-B2A8-40D1-87FB-1DE9D95F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재확인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B8B3B8-5D87-4F0D-B2D6-58273D13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08 / 20</a:t>
            </a:r>
          </a:p>
        </p:txBody>
      </p:sp>
    </p:spTree>
    <p:extLst>
      <p:ext uri="{BB962C8B-B14F-4D97-AF65-F5344CB8AC3E}">
        <p14:creationId xmlns:p14="http://schemas.microsoft.com/office/powerpoint/2010/main" val="17379400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DDB032-3E43-42A2-8A78-F4D98171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C210E1-738B-427F-9806-2F56B936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 · TAAIS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9D66C7-71B4-470B-AF5A-1FA1886E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구매를 전제로 대화하고, 선택권과 침묵을 활용한다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1139B8-F5C4-401F-BF55-EFCE66621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09187D-B1BE-4731-A260-7711225B0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Trial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01C628-24E1-4064-9386-C288C643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항상 시도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77AABC-0C81-463D-9758-5C5EE28C5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754E0C-4F56-4F7D-AAF1-426468E9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Assumptive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AA48DB-13F0-42ED-A370-0115BDE1B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 전제 대화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EC01CF-2333-4A6A-88E0-B18D7AC1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4CAD7E-C534-4559-BA80-8B5A87BE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Alternative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858523-E257-4B3E-BB5B-50976118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대안 제시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AE94B9-90D0-4B3B-92CE-338FB2CA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A03035-97C9-412F-B447-C845FA25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Indifference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692BEF-EE42-4156-AD15-5695B81B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선택권 부여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8DE998-2E54-429C-8AE9-EBEB516E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D29685-4184-433D-81B9-7FA905D8F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Silence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D76572-2B11-4A79-A69E-CBA65112B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 활용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9A583B-6FFF-4C41-842D-0C951179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쿠션 멘트: “바쁘시니까”, “이미 좋은 일 많이 하시겠지만”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371AE2-8AA2-46BF-90F3-88F2B9BF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09 / 20</a:t>
            </a:r>
          </a:p>
        </p:txBody>
      </p:sp>
    </p:spTree>
    <p:extLst>
      <p:ext uri="{BB962C8B-B14F-4D97-AF65-F5344CB8AC3E}">
        <p14:creationId xmlns:p14="http://schemas.microsoft.com/office/powerpoint/2010/main" val="15709739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BE2D4E-6AEB-4202-A11E-0FF6134C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AD3C7C-1E2B-4345-AD48-7BF7BBD7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전·중·후, 트레이너가 챙길 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17F0B4-736A-486B-A859-AB58B4E3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준비부터 복기까지 이어지는 하루의 트레이닝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80A195-7C23-47F5-9C62-6769E61EA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필드 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A70D45-5C2C-4C8C-B333-8DCC250E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9925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함께 준비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E2BCE4-230E-442B-A0BD-6F7D8632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3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피치와 니즈 점검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개인·섹터 목표 설정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 전략·프리엠티브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물품과 복장 확인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A5BF76-562F-4D9E-95A4-3BB199C6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714625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필드 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055A6B-2CAD-43BF-82F2-5AF585BD4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209925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관찰하고 보여주기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6F95B4-AACC-424F-893C-C85B45BF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905250"/>
            <a:ext cx="333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유형과 이해도 파악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계속 시도하며 데이터 쌓기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2시간마다 콜백싯 점검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쇼잉·멘탈 케어·좋은 소식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7D9A8D-B18C-4B70-9461-557E75C4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14625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필드 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A9506C-8A67-4A4B-9FD4-A5101F3B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09925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돌아보고 다음을 준비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5D2E50-7DD5-4251-A88C-58F990ADC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05250"/>
            <a:ext cx="333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오늘의 소감·배움 확인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콜백싯으로 넘버 비교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스킬·태도 보완점 피드백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다음 교육 일정 안내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0A2212-DABF-4C28-8D33-09F8368B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10 / 20</a:t>
            </a:r>
          </a:p>
        </p:txBody>
      </p:sp>
    </p:spTree>
    <p:extLst>
      <p:ext uri="{BB962C8B-B14F-4D97-AF65-F5344CB8AC3E}">
        <p14:creationId xmlns:p14="http://schemas.microsoft.com/office/powerpoint/2010/main" val="7689231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00AD82-8537-48D5-9E25-4BFC5A76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F2D0B8-3D11-4D5B-B56C-87E9CC18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관찰에 맞춘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380BDE-B4B6-4EF0-963E-5AF4DA19F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사람의 약점에 따라 처방을 달리한다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E0E996-CF4E-40EF-845B-F76F142CCE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a09573763478f"/>
          <a:stretch xmlns:a="http://schemas.openxmlformats.org/drawingml/2006/main"/>
        </p:blipFill>
        <p:spPr>
          <a:xfrm xmlns:a="http://schemas.openxmlformats.org/drawingml/2006/main">
            <a:off x="80962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E57DF7-9900-46C8-8EF2-5BA2548A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146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리액션이 약하다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8FCF2C-24E6-465E-B1BC-E8F2C6A9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765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리액션 강화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662199-4EBD-48A4-BB51-580DE2AE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433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표정·제스처 / 즉각 대응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임펄스·바디랭귀지 / 롤플레이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AD0D56-B8B9-4705-9C7C-0A7BC0C3C6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6e1dfdc22f42e5"/>
          <a:stretch xmlns:a="http://schemas.openxmlformats.org/drawingml/2006/main"/>
        </p:blipFill>
        <p:spPr>
          <a:xfrm xmlns:a="http://schemas.openxmlformats.org/drawingml/2006/main">
            <a:off x="6419850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DB72B1-B060-45FF-9983-63504111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146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부스 연결이 약하다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4C367C-981F-4273-A584-E8B749F1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765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스트릿 스킬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282943-7BEA-4F16-86FD-C770D1B2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5433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접근 방법 / 첫인상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극복 / 고객 유형별 접근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DA4848-254B-408E-8A97-993926D779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0cb16641db4289"/>
          <a:stretch xmlns:a="http://schemas.openxmlformats.org/drawingml/2006/main"/>
        </p:blipFill>
        <p:spPr>
          <a:xfrm xmlns:a="http://schemas.openxmlformats.org/drawingml/2006/main">
            <a:off x="809625" y="44577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FBA777-0531-47EE-8AA0-88DDAD22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291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클로징이 약하다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D12D43-B82B-4BCC-A997-7354419B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910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클로징 강화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E3DEE3-60D5-4CD3-A397-AC1692D7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578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 / Buying sign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침묵·대안 / 클로징 타이밍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DAF5B5-C895-4659-A230-2E0A7BCE5A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6ecef3813e4d10"/>
          <a:stretch xmlns:a="http://schemas.openxmlformats.org/drawingml/2006/main"/>
        </p:blipFill>
        <p:spPr>
          <a:xfrm xmlns:a="http://schemas.openxmlformats.org/drawingml/2006/main">
            <a:off x="6419850" y="44577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A23159-8BCA-4D0B-A37C-56DA1E6A4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4291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이미 잘한다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8FAB01-E4D2-4A29-A680-58E8B7B2F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7910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목표 상향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61D43E-D2CD-4434-9649-4FC9A10C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2578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높은 목표 / 자기주도 성장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리더십·멘토링 / 커리어 설계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D83120-F402-4F37-B173-7008E36E2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11 / 20</a:t>
            </a:r>
          </a:p>
        </p:txBody>
      </p:sp>
    </p:spTree>
    <p:extLst>
      <p:ext uri="{BB962C8B-B14F-4D97-AF65-F5344CB8AC3E}">
        <p14:creationId xmlns:p14="http://schemas.microsoft.com/office/powerpoint/2010/main" val="18322250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C857B0-FC5B-4871-8665-E884BF5A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2EE344-C981-4EEE-8C2C-FC4252ED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피드백의 다섯 가지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DFD872-D0CA-4E6F-8C4B-558399AE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좋은 의도만으로는 충분하지 않다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3CB8E9-3D5E-46A5-8ED5-A8523CEC77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4f193db92b4459"/>
          <a:stretch xmlns:a="http://schemas.openxmlformats.org/drawingml/2006/main"/>
        </p:blipFill>
        <p:spPr>
          <a:xfrm xmlns:a="http://schemas.openxmlformats.org/drawingml/2006/main">
            <a:off x="762000" y="27146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2AB35C-5BA9-462C-A4E6-EA439A8B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146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콜백싯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A8F26B-4F9F-4225-8877-1A7F9CCD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14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감정·느낌 대신 넘버 · 스킬 · 태도를 기준으로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38FA2A-10B3-428E-928F-A0D6075578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3f06c572c74635"/>
          <a:stretch xmlns:a="http://schemas.openxmlformats.org/drawingml/2006/main"/>
        </p:blipFill>
        <p:spPr>
          <a:xfrm xmlns:a="http://schemas.openxmlformats.org/drawingml/2006/main">
            <a:off x="762000" y="33813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CDA7F3-5A8F-4190-98A3-655F5F60F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8137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상대에게 필요한 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F4452E-8D5F-45E6-9897-AA4CA2AC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813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하고 싶은 말인지 먼저 점검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1BCFB3-3C8E-449A-A9A3-ABB17A007F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9d92b384234887"/>
          <a:stretch xmlns:a="http://schemas.openxmlformats.org/drawingml/2006/main"/>
        </p:blipFill>
        <p:spPr>
          <a:xfrm xmlns:a="http://schemas.openxmlformats.org/drawingml/2006/main">
            <a:off x="762000" y="40481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2D71AB-5020-4EFB-9FAF-5ECB5DF4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481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KISS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E33A59-6854-4846-9B66-41A91109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0481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간단 · 명료 · 눈높이, 공감할 수 있는 예시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8A3ECE-B298-4279-8B81-B55B81A842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50e41a29864ff0"/>
          <a:stretch xmlns:a="http://schemas.openxmlformats.org/drawingml/2006/main"/>
        </p:blipFill>
        <p:spPr>
          <a:xfrm xmlns:a="http://schemas.openxmlformats.org/drawingml/2006/main">
            <a:off x="762000" y="47148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78143F-A411-491C-A96B-2B580020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1487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COD 공부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336A41-6B77-4E88-994B-B4AD37639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148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올바른 정보인지 확인, 긴가민가한 말은 하지 않기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A83A47-097B-4510-AEEA-61F933970C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af54eece3c4b6d"/>
          <a:stretch xmlns:a="http://schemas.openxmlformats.org/drawingml/2006/main"/>
        </p:blipFill>
        <p:spPr>
          <a:xfrm xmlns:a="http://schemas.openxmlformats.org/drawingml/2006/main">
            <a:off x="762000" y="53816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60B4E0-CE19-4F7D-81EE-57DF3EDD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816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타이밍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6BF525-C9B3-47B2-A2CF-97621BC9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381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필수 상황 외에는 2시간에 1번, 그 사이는 개인 목표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81E0D6-B80D-4852-9A02-54125B35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수용이 빠른 신입, 주거테리·유동이 적은 B패턴에는 전략적으로 활용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8B3FAD-0F33-4842-BFE3-45CB1979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12 / 20</a:t>
            </a:r>
          </a:p>
        </p:txBody>
      </p:sp>
    </p:spTree>
    <p:extLst>
      <p:ext uri="{BB962C8B-B14F-4D97-AF65-F5344CB8AC3E}">
        <p14:creationId xmlns:p14="http://schemas.microsoft.com/office/powerpoint/2010/main" val="63822279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034B6C-7098-4D3A-AC43-B77134AB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AA4C81-3C7F-42DD-957D-C478685E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샌드위치 기법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A1CF96-1D1C-4E1B-AD15-F4F57CA1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긍정으로 시작하고, 개선점을 전하고, 다시 긍정으로 마무리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2FE0FC-532F-4341-8D98-587B134973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6fbf92bb14831"/>
          <a:stretch xmlns:a="http://schemas.openxmlformats.org/drawingml/2006/main"/>
        </p:blipFill>
        <p:spPr>
          <a:xfrm xmlns:a="http://schemas.openxmlformats.org/drawingml/2006/main">
            <a:off x="7239635" y="2476500"/>
            <a:ext cx="4094480" cy="11811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71F1D0-935D-4319-9914-90C831E5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48000"/>
            <a:ext cx="723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6A32A1-2C92-471C-9D42-CB7C341ABF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937ad941d044e7"/>
          <a:stretch xmlns:a="http://schemas.openxmlformats.org/drawingml/2006/main"/>
        </p:blipFill>
        <p:spPr>
          <a:xfrm xmlns:a="http://schemas.openxmlformats.org/drawingml/2006/main">
            <a:off x="7239635" y="3543300"/>
            <a:ext cx="4094480" cy="1181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D28431-2438-426A-92F7-0F700CDF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14800"/>
            <a:ext cx="723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75ECA-7693-4F58-BD7E-11A4B999EC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2f3bf2afcb4419"/>
          <a:stretch xmlns:a="http://schemas.openxmlformats.org/drawingml/2006/main"/>
        </p:blipFill>
        <p:spPr>
          <a:xfrm xmlns:a="http://schemas.openxmlformats.org/drawingml/2006/main">
            <a:off x="7239635" y="4610100"/>
            <a:ext cx="4094480" cy="11811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0F9942-99D6-491C-86AB-F11540DE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81600"/>
            <a:ext cx="723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EAF5E6-E989-4096-9CBA-2FDFC918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406D84-5D19-4C16-B8FF-B06B90CF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좋았던 행동을 구체적으로 인정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0BF263-B65B-4BD1-A55B-A3AC9987A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개선점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57583C-6149-419E-95AC-B6DC6AE16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바꿔볼 한 가지를 제안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34F7FA-1AB2-43F9-9E22-BA4CF0697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B4F59-E527-4069-8377-36C9E4E76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01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잘할 수 있다는 믿음으로 마무리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B8EE94-F676-4E62-B500-8708A797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“이것도 저것도 좋았는데, 이 부분만 이렇게 바꿔보면 어떨까요?”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30607F-E7B7-46A7-86DF-7D33A88A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13 / 20</a:t>
            </a:r>
          </a:p>
        </p:txBody>
      </p:sp>
    </p:spTree>
    <p:extLst>
      <p:ext uri="{BB962C8B-B14F-4D97-AF65-F5344CB8AC3E}">
        <p14:creationId xmlns:p14="http://schemas.microsoft.com/office/powerpoint/2010/main" val="15707891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206E2C-4A50-4FE5-967B-47A7BF444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3699D5-050B-4961-8458-605367A67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SBI 모델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648854-7289-46BE-814C-C38397B5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상황 · 행동 · 영향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AA4DC-2F8E-496D-9241-C6F0D231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5F3801-0685-42FF-97C1-4336D5B1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Situation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7E1F57-3FEF-4DB9-98D7-6E88F3BEA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4527F0-9216-4246-B0E8-7DC98F36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이럴 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B135BE-D826-46DF-9347-3014B0CF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C28E79-129F-4587-90FB-8F930314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Behavior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D5764E-885C-426C-9F95-D4FE2396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행동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327EA2-FF27-4B14-919F-7817B67C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이렇게 하면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F4BDE5-E2A0-4668-8B98-C3851A317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C558E3-F6D9-49E8-B058-9B2F04B9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Impact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0E6650-2CA3-436C-AAF6-29A57E8E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영향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871831-DA3A-4476-94C7-DA4F420C7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이런 장점이 있어요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CCFBE3-93CE-4241-8F48-13EB8F3F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“이럴 땐 이렇게 하면 이런 장점이 있어요!”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9E4302-A463-42B9-AAE5-7EA16000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14 / 20</a:t>
            </a:r>
          </a:p>
        </p:txBody>
      </p:sp>
    </p:spTree>
    <p:extLst>
      <p:ext uri="{BB962C8B-B14F-4D97-AF65-F5344CB8AC3E}">
        <p14:creationId xmlns:p14="http://schemas.microsoft.com/office/powerpoint/2010/main" val="54537603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3F5B70-B20A-41B5-B6EC-9B655C4F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71696D-6E38-4137-B706-37ADB716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5R 코칭법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5384B6-505B-47A6-A2C2-A8616EA69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디테일한 발전을 위한 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4D20C6-BB6D-4A74-B5AA-A370D3AB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rPr>
              <a:t>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2CC03-63E0-4C1B-B997-310B9A04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188976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Relation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25B044-CE25-4B22-BB0F-D44749A8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62450"/>
            <a:ext cx="188976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관계형성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6965BB-75C4-4FCC-89D0-182564A03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667000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rPr>
              <a:t>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EB21D3-9AE1-4AEC-BCFB-ADB2BE9A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3724275"/>
            <a:ext cx="188976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Refocus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FD648A-2101-46EB-8DC3-0C4B6E87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362450"/>
            <a:ext cx="188976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3108A1-00F6-4B08-871C-B15E2E6C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667000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rPr>
              <a:t>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284263-522A-4AC2-8064-91D99CCA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3724275"/>
            <a:ext cx="188976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Reality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AAB270-8ACC-4765-AEC9-6848F99C1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362450"/>
            <a:ext cx="188976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현실 장애물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0BDE44-C143-426E-9F61-DD0A942B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667000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rPr>
              <a:t>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88F02B-5827-4BA2-8E17-A7080AF1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724275"/>
            <a:ext cx="188976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Resources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9F8433-FD42-4676-8A7D-ACCFB8FB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362450"/>
            <a:ext cx="188976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해결자원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3679A-DF29-4BC4-A047-CEF8B66B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667000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rPr>
              <a:t>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BFCC04-CEB2-41AB-B18D-4EB0508B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724275"/>
            <a:ext cx="188976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Responsibility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FFEB45-12BC-49C4-9F1C-16AE7586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362450"/>
            <a:ext cx="188976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책임지기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53A8ED-38A0-48F3-9CC7-825819A79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9592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목표는? 장애물은? 그럼에도 해결할 방법은? 언제까지 무엇을 할지 약속하고 지킨다.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AF369E-67D5-427B-B68E-5DD5E9D94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15 / 20</a:t>
            </a:r>
          </a:p>
        </p:txBody>
      </p:sp>
    </p:spTree>
    <p:extLst>
      <p:ext uri="{BB962C8B-B14F-4D97-AF65-F5344CB8AC3E}">
        <p14:creationId xmlns:p14="http://schemas.microsoft.com/office/powerpoint/2010/main" val="138520114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E0F4B9-62F5-4563-AE8E-27C3DE53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460611-89D4-4E3B-9242-3D549E40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트레이너도 콜백싯을 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85F148-CA03-4E19-A6D0-BCE2C743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신입을 위해 무엇을 챙겼는가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87CA01-46FA-4197-9B19-0C8A1991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F804B6-5988-4BBE-8079-5037E145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Number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E3C9BC-A18A-45C2-BD81-7282CE7DE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넘버를 쌓게 했는가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06325C-2F18-402B-8D3A-DFAC07B0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 준비 / 시도하게 하는 피드백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없는 시도 횟수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C4EE7-970F-406A-A815-09D6A72B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B39543-204A-499F-B118-C3696CA9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Pitch · Skill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DB35B7-A8DA-41C1-87FF-85858D4E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스킬을 보강했는가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B13AFA-5C29-45E1-BDE7-C17470A9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약한 부분 즉시 교육 / 어떤 스킬이든 보강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내일 바로 쓸 수 있게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F2360A-4980-4124-9D92-194BC43A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6D2900-0CD8-47A7-9E2E-271EC195A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Attitude · Mental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7FBD57-C476-4E49-8A64-4B2BDC39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멘탈을 지켜줬는가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6D918F-41CC-466F-BC69-7AE05159F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불안·두려움 제거 / 방해되는 마음 케어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필드에 온전히 집중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A56B74-4CB1-4D8C-9CB7-FDBFBE4C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콜백싯이 신입을 키우듯, 트레이너의 콜백싯이 트레이너를 키운다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55BB19-F194-4DCF-88BF-137AE7B5A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16 / 20</a:t>
            </a:r>
          </a:p>
        </p:txBody>
      </p:sp>
    </p:spTree>
    <p:extLst>
      <p:ext uri="{BB962C8B-B14F-4D97-AF65-F5344CB8AC3E}">
        <p14:creationId xmlns:p14="http://schemas.microsoft.com/office/powerpoint/2010/main" val="103428981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6B345A-E9A4-4EE3-832E-11982C2ABF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b01c174d6d43f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3D264A-26E5-46C7-8D8C-CAD9C6859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자립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D8FB2D-4100-4225-9CA5-E30768A4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자립을 위한 6주 전략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272FB6-7CED-4B31-B6C1-1878EEE6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성장 속도에 맞춰, 단계별로 모니터링한다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EB4074-2E1A-4DCC-B820-2857759C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1–2주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C0A006-58BC-4A04-82CC-7FC20EE9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A62F12-C2C2-44C7-BC41-ABE6955C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2주 이내 달성이 이상적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스케줄과 필드 시간 확보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1C70AF-BF83-48CA-941C-F7C074DA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3–5주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D6544A-03D2-4543-B359-E464FB9DE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로드트립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8A039-6921-4E5D-AC2F-045860DA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적극 활용하며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성장 과정을 모니터링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A895A3-9C6E-4339-BCE6-7EC340E7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약 6주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CF5BB1-A670-4CCB-93F1-8B5ADB51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적응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469602-1C3E-4C5C-8CD2-07DB2693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Self 시점 사전 안내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심리적 준비와 실전 역량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49E337-E36D-4D47-A0DD-F0851D9F0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6주는 원본의 트레이닝 운영 기준이며, 개인별 적응 속도를 고려한다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7BC5AF-19B7-4215-84AB-A32B9E09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17 / 20</a:t>
            </a:r>
          </a:p>
        </p:txBody>
      </p:sp>
    </p:spTree>
    <p:extLst>
      <p:ext uri="{BB962C8B-B14F-4D97-AF65-F5344CB8AC3E}">
        <p14:creationId xmlns:p14="http://schemas.microsoft.com/office/powerpoint/2010/main" val="61337976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5DB647-1B57-4D08-80DD-40E455C7E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0851D2-CEEB-4A3F-B799-DAE8301B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세 가지 핵심 역할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F51346-E636-497F-8379-494244BC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자발적으로 성장할 수 있는 환경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AFDD8B-6BA2-447E-B511-B99EE60E68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89bbcd0474421f"/>
          <a:stretch xmlns:a="http://schemas.openxmlformats.org/drawingml/2006/main"/>
        </p:blipFill>
        <p:spPr>
          <a:xfrm xmlns:a="http://schemas.openxmlformats.org/drawingml/2006/main">
            <a:off x="81915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5327CC-F110-4325-AF67-FF89CF8C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성취감 제공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1C1EEE-1BB7-4CCC-A574-DFF5DF7D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내가 직접 해냈다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0E3489-4326-48CF-AA67-3D1BD14B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두려워하면 돕고, 아니면 혼자 하게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두려움의 수준을 먼저 파악한다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C5A00B-5E9F-403D-A894-9FD5EDA2BB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45c1320a7a46a8"/>
          <a:stretch xmlns:a="http://schemas.openxmlformats.org/drawingml/2006/main"/>
        </p:blipFill>
        <p:spPr>
          <a:xfrm xmlns:a="http://schemas.openxmlformats.org/drawingml/2006/main">
            <a:off x="45085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359EB9-CD43-4870-9571-B3FED44D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5AAA39-2388-4C5E-8B5D-5FB7B7D40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안전하게 도전한다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BDA9E5-BCD1-4093-8C96-643AA8AE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초기에 충분한 서포트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점진적으로 독립성을 부여한다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35FF18-9BCF-4D11-BEAC-9EBE6FBA04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33deda26cc4c4d"/>
          <a:stretch xmlns:a="http://schemas.openxmlformats.org/drawingml/2006/main"/>
        </p:blipFill>
        <p:spPr>
          <a:xfrm xmlns:a="http://schemas.openxmlformats.org/drawingml/2006/main">
            <a:off x="819785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8AB554-3D23-49C9-AE13-4B381204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35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인정과 칭찬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8EE205-EB1D-410C-9A61-02A4CDBF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스스로 깨닫게 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48FA60-0E2A-4871-9DBD-705E1ADC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인정받을 때 주도적이 된다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혼냄보다 인정과 칭찬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0C7747-1231-4DD8-97A9-C6370BD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생계·수입, 안전, 소속감, 존중을 살피며 스스로 더 큰 목표에 도전하도록 돕는다.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782195-333F-42AA-968D-87E955BE6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18 / 20</a:t>
            </a:r>
          </a:p>
        </p:txBody>
      </p:sp>
    </p:spTree>
    <p:extLst>
      <p:ext uri="{BB962C8B-B14F-4D97-AF65-F5344CB8AC3E}">
        <p14:creationId xmlns:p14="http://schemas.microsoft.com/office/powerpoint/2010/main" val="49184948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822DC-D3AA-40FF-95F8-B86F64D4D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62B136-B994-4759-89F3-F229A3B5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Stay / Qualifying, 함께 책임지는 판단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CD8252-0868-4F53-9007-198ADFEC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트레이너 50%, 신입 50%. 반드시 오너와 상의한다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2B59BF-2807-4EFF-AAF3-3052C04E32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6f45cd92b4be9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EB4196-1F5E-46DE-95D8-DC88A0FB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STAY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FEEB5E-80D1-454D-BA71-DB5F506DE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결과가 좋거나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기준 도달에 확신이 있을 때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2A3A38-A1E7-4254-831F-35339B4AE1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07274362fe48a4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17B95A-5D3B-4AEF-A662-5E4EE09C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QUALIFYING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19766F-6B57-486E-A210-AA0601C9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최소 기준 도달이 어렵고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확신이 없을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DC580-786C-451C-97DB-614070AE1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개별 상황을 고려한다. 캔슬은 지점에서 관리하고 IC는 그로스에 집중하도록 돕는다.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8C7A6A-938B-4B3E-93FC-7802D858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19 / 20</a:t>
            </a:r>
          </a:p>
        </p:txBody>
      </p:sp>
    </p:spTree>
    <p:extLst>
      <p:ext uri="{BB962C8B-B14F-4D97-AF65-F5344CB8AC3E}">
        <p14:creationId xmlns:p14="http://schemas.microsoft.com/office/powerpoint/2010/main" val="82455323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14285B-B32F-47A7-8D1A-7EBA5CD3B7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3553209ce6453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3A093E-C072-4791-8512-BC03E462A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PRESENCE · 임재영 AOP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941518-9558-4703-AC40-D976BC61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기다릴 줄 아는 리더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994E36-CF85-479A-92AA-726BD7ECE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먼저 배우고 싶게 만들고, 피드백 전에 관찰한다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스스로 할 수 있다고 느끼도록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A7F6E5-AC95-48E2-A83C-A4653DCB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72125"/>
            <a:ext cx="904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PRESENCE · 임재영 AOP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Presence Team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8C6107-7216-4E36-B392-BCE8EE57F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20 / 20</a:t>
            </a:r>
          </a:p>
        </p:txBody>
      </p:sp>
    </p:spTree>
    <p:extLst>
      <p:ext uri="{BB962C8B-B14F-4D97-AF65-F5344CB8AC3E}">
        <p14:creationId xmlns:p14="http://schemas.microsoft.com/office/powerpoint/2010/main" val="14706518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2026-10-25T04:20:26.1260000Z</dcterms:created>
  <dcterms:modified xsi:type="dcterms:W3CDTF">2026-10-25T04:20:26.1260000Z</dcterms:modified>
</coreProperties>
</file>