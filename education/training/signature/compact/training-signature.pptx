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8ac09774f44a28" /><Relationship Type="http://schemas.openxmlformats.org/officeDocument/2006/relationships/extended-properties" Target="/docProps/app.xml" Id="R969e6f12043d498e" /><Relationship Type="http://schemas.openxmlformats.org/officeDocument/2006/relationships/officeDocument" Target="/ppt/presentation.xml" Id="Rb1c7e68406c94a3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27beba174f4bfc"/>
  </p:sldMasterIdLst>
  <p:notesMasterIdLst>
    <p:notesMasterId xmlns:r="http://schemas.openxmlformats.org/officeDocument/2006/relationships" r:id="R2d7da28092e74f58"/>
  </p:notesMasterIdLst>
  <p:sldIdLst>
    <p:sldId xmlns:r="http://schemas.openxmlformats.org/officeDocument/2006/relationships" id="256" r:id="Rd8a53714765047a5"/>
    <p:sldId xmlns:r="http://schemas.openxmlformats.org/officeDocument/2006/relationships" id="257" r:id="Rac7bbc6c44a54b6d"/>
    <p:sldId xmlns:r="http://schemas.openxmlformats.org/officeDocument/2006/relationships" id="258" r:id="R51f2ac37a3ef46a9"/>
    <p:sldId xmlns:r="http://schemas.openxmlformats.org/officeDocument/2006/relationships" id="259" r:id="Ra1f5dc3a103b4bf4"/>
    <p:sldId xmlns:r="http://schemas.openxmlformats.org/officeDocument/2006/relationships" id="260" r:id="R9850d103f9ac4db2"/>
    <p:sldId xmlns:r="http://schemas.openxmlformats.org/officeDocument/2006/relationships" id="261" r:id="Re90d3e626f154eed"/>
    <p:sldId xmlns:r="http://schemas.openxmlformats.org/officeDocument/2006/relationships" id="262" r:id="R91f1fecd6903492d"/>
    <p:sldId xmlns:r="http://schemas.openxmlformats.org/officeDocument/2006/relationships" id="263" r:id="R4303353282b84524"/>
    <p:sldId xmlns:r="http://schemas.openxmlformats.org/officeDocument/2006/relationships" id="264" r:id="R8aea72bb42554107"/>
    <p:sldId xmlns:r="http://schemas.openxmlformats.org/officeDocument/2006/relationships" id="265" r:id="R769e377e14d744bb"/>
    <p:sldId xmlns:r="http://schemas.openxmlformats.org/officeDocument/2006/relationships" id="266" r:id="R6003d2f9071a4f2b"/>
    <p:sldId xmlns:r="http://schemas.openxmlformats.org/officeDocument/2006/relationships" id="267" r:id="R449541bd82ae4fe0"/>
    <p:sldId xmlns:r="http://schemas.openxmlformats.org/officeDocument/2006/relationships" id="268" r:id="R52d7b15e692c4427"/>
    <p:sldId xmlns:r="http://schemas.openxmlformats.org/officeDocument/2006/relationships" id="269" r:id="R0926e805e6e24a4e"/>
    <p:sldId xmlns:r="http://schemas.openxmlformats.org/officeDocument/2006/relationships" id="270" r:id="R6cd609d4fb32404b"/>
    <p:sldId xmlns:r="http://schemas.openxmlformats.org/officeDocument/2006/relationships" id="271" r:id="R1b89ee2221624280"/>
    <p:sldId xmlns:r="http://schemas.openxmlformats.org/officeDocument/2006/relationships" id="272" r:id="R8111e598a4d343b1"/>
    <p:sldId xmlns:r="http://schemas.openxmlformats.org/officeDocument/2006/relationships" id="273" r:id="Rce66f3a774c54bbf"/>
    <p:sldId xmlns:r="http://schemas.openxmlformats.org/officeDocument/2006/relationships" id="274" r:id="R6b595bc52e464145"/>
    <p:sldId xmlns:r="http://schemas.openxmlformats.org/officeDocument/2006/relationships" id="275" r:id="Re43e08451f854de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59b16084b124d4c" /><Relationship Type="http://schemas.openxmlformats.org/officeDocument/2006/relationships/slideMaster" Target="/ppt/slideMasters/slideMaster1.xml" Id="Rf927beba174f4bfc" /><Relationship Type="http://schemas.openxmlformats.org/officeDocument/2006/relationships/notesMaster" Target="/ppt/notesMasters/notesMaster1.xml" Id="R2d7da28092e74f58" /><Relationship Type="http://schemas.openxmlformats.org/officeDocument/2006/relationships/presProps" Target="/ppt/presProps.xml" Id="R3593946db6a6414c" /><Relationship Type="http://schemas.openxmlformats.org/officeDocument/2006/relationships/tableStyles" Target="/ppt/tableStyles.xml" Id="R9bffa9a2cc714366" /><Relationship Type="http://schemas.openxmlformats.org/officeDocument/2006/relationships/slide" Target="/ppt/slides/slide1.xml" Id="Rd8a53714765047a5" /><Relationship Type="http://schemas.openxmlformats.org/officeDocument/2006/relationships/slide" Target="/ppt/slides/slide2.xml" Id="Rac7bbc6c44a54b6d" /><Relationship Type="http://schemas.openxmlformats.org/officeDocument/2006/relationships/slide" Target="/ppt/slides/slide3.xml" Id="R51f2ac37a3ef46a9" /><Relationship Type="http://schemas.openxmlformats.org/officeDocument/2006/relationships/slide" Target="/ppt/slides/slide4.xml" Id="Ra1f5dc3a103b4bf4" /><Relationship Type="http://schemas.openxmlformats.org/officeDocument/2006/relationships/slide" Target="/ppt/slides/slide5.xml" Id="R9850d103f9ac4db2" /><Relationship Type="http://schemas.openxmlformats.org/officeDocument/2006/relationships/slide" Target="/ppt/slides/slide6.xml" Id="Re90d3e626f154eed" /><Relationship Type="http://schemas.openxmlformats.org/officeDocument/2006/relationships/slide" Target="/ppt/slides/slide7.xml" Id="R91f1fecd6903492d" /><Relationship Type="http://schemas.openxmlformats.org/officeDocument/2006/relationships/slide" Target="/ppt/slides/slide8.xml" Id="R4303353282b84524" /><Relationship Type="http://schemas.openxmlformats.org/officeDocument/2006/relationships/slide" Target="/ppt/slides/slide9.xml" Id="R8aea72bb42554107" /><Relationship Type="http://schemas.openxmlformats.org/officeDocument/2006/relationships/slide" Target="/ppt/slides/slide10.xml" Id="R769e377e14d744bb" /><Relationship Type="http://schemas.openxmlformats.org/officeDocument/2006/relationships/slide" Target="/ppt/slides/slide11.xml" Id="R6003d2f9071a4f2b" /><Relationship Type="http://schemas.openxmlformats.org/officeDocument/2006/relationships/slide" Target="/ppt/slides/slide12.xml" Id="R449541bd82ae4fe0" /><Relationship Type="http://schemas.openxmlformats.org/officeDocument/2006/relationships/slide" Target="/ppt/slides/slide13.xml" Id="R52d7b15e692c4427" /><Relationship Type="http://schemas.openxmlformats.org/officeDocument/2006/relationships/slide" Target="/ppt/slides/slide14.xml" Id="R0926e805e6e24a4e" /><Relationship Type="http://schemas.openxmlformats.org/officeDocument/2006/relationships/slide" Target="/ppt/slides/slide15.xml" Id="R6cd609d4fb32404b" /><Relationship Type="http://schemas.openxmlformats.org/officeDocument/2006/relationships/slide" Target="/ppt/slides/slide16.xml" Id="R1b89ee2221624280" /><Relationship Type="http://schemas.openxmlformats.org/officeDocument/2006/relationships/slide" Target="/ppt/slides/slide17.xml" Id="R8111e598a4d343b1" /><Relationship Type="http://schemas.openxmlformats.org/officeDocument/2006/relationships/slide" Target="/ppt/slides/slide18.xml" Id="Rce66f3a774c54bbf" /><Relationship Type="http://schemas.openxmlformats.org/officeDocument/2006/relationships/slide" Target="/ppt/slides/slide19.xml" Id="R6b595bc52e464145" /><Relationship Type="http://schemas.openxmlformats.org/officeDocument/2006/relationships/slide" Target="/ppt/slides/slide20.xml" Id="Re43e08451f854de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cfb8184c02e4ad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a1f11a2d9f4e7b" /><Relationship Type="http://schemas.openxmlformats.org/officeDocument/2006/relationships/notesMaster" Target="/ppt/notesMasters/notesMaster1.xml" Id="R70d5a5acac06487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6d46d56db954004" /><Relationship Type="http://schemas.openxmlformats.org/officeDocument/2006/relationships/notesMaster" Target="/ppt/notesMasters/notesMaster1.xml" Id="R1465364ba3e040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e1a4a9be39948e8" /><Relationship Type="http://schemas.openxmlformats.org/officeDocument/2006/relationships/notesMaster" Target="/ppt/notesMasters/notesMaster1.xml" Id="R92642693ce4f45f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3a918644a34b3d" /><Relationship Type="http://schemas.openxmlformats.org/officeDocument/2006/relationships/notesMaster" Target="/ppt/notesMasters/notesMaster1.xml" Id="Re4fb356761a4422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cdc6fbca10a4293" /><Relationship Type="http://schemas.openxmlformats.org/officeDocument/2006/relationships/notesMaster" Target="/ppt/notesMasters/notesMaster1.xml" Id="R7dc00b32f1bc4ee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f8253e301944283" /><Relationship Type="http://schemas.openxmlformats.org/officeDocument/2006/relationships/notesMaster" Target="/ppt/notesMasters/notesMaster1.xml" Id="R5c2617a239bc4e3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ad5256b1a644098" /><Relationship Type="http://schemas.openxmlformats.org/officeDocument/2006/relationships/notesMaster" Target="/ppt/notesMasters/notesMaster1.xml" Id="R0d0e835d80534f1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da923cc844543c5" /><Relationship Type="http://schemas.openxmlformats.org/officeDocument/2006/relationships/notesMaster" Target="/ppt/notesMasters/notesMaster1.xml" Id="R59f5422e83ee462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095afeb51d4c9a" /><Relationship Type="http://schemas.openxmlformats.org/officeDocument/2006/relationships/notesMaster" Target="/ppt/notesMasters/notesMaster1.xml" Id="R63374453928e44c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e9ad6d8a99a4061" /><Relationship Type="http://schemas.openxmlformats.org/officeDocument/2006/relationships/notesMaster" Target="/ppt/notesMasters/notesMaster1.xml" Id="R4de173c0cdb8451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c20d02e2dc549ec" /><Relationship Type="http://schemas.openxmlformats.org/officeDocument/2006/relationships/notesMaster" Target="/ppt/notesMasters/notesMaster1.xml" Id="R2a98000bca9c41e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6b4d4c1b70644e3" /><Relationship Type="http://schemas.openxmlformats.org/officeDocument/2006/relationships/notesMaster" Target="/ppt/notesMasters/notesMaster1.xml" Id="R61e3881736c646d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254cca6e70d47c8" /><Relationship Type="http://schemas.openxmlformats.org/officeDocument/2006/relationships/notesMaster" Target="/ppt/notesMasters/notesMaster1.xml" Id="R38ab245d5d394df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1708ec8456345ed" /><Relationship Type="http://schemas.openxmlformats.org/officeDocument/2006/relationships/notesMaster" Target="/ppt/notesMasters/notesMaster1.xml" Id="Ra6129d8f5e87401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e035c1817d249d7" /><Relationship Type="http://schemas.openxmlformats.org/officeDocument/2006/relationships/notesMaster" Target="/ppt/notesMasters/notesMaster1.xml" Id="Rcf6830a3ae43415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88f1dec030d4484" /><Relationship Type="http://schemas.openxmlformats.org/officeDocument/2006/relationships/notesMaster" Target="/ppt/notesMasters/notesMaster1.xml" Id="Re17371a1db4048d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de2237d591a4696" /><Relationship Type="http://schemas.openxmlformats.org/officeDocument/2006/relationships/notesMaster" Target="/ppt/notesMasters/notesMaster1.xml" Id="Rb4a3afbef40444c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546fc84ceeb479e" /><Relationship Type="http://schemas.openxmlformats.org/officeDocument/2006/relationships/notesMaster" Target="/ppt/notesMasters/notesMaster1.xml" Id="R028f673e2376438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653e0017d9c480b" /><Relationship Type="http://schemas.openxmlformats.org/officeDocument/2006/relationships/notesMaster" Target="/ppt/notesMasters/notesMaster1.xml" Id="R485b3ddd2a54421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884b15c814845ac" /><Relationship Type="http://schemas.openxmlformats.org/officeDocument/2006/relationships/notesMaster" Target="/ppt/notesMasters/notesMaster1.xml" Id="R040e3e121f7d43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FUTURE LEADERS MEETING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신입 IC 트레이닝 가이드</a:t>
            </a:r>
          </a:p>
          <a:p xmlns:a="http://schemas.openxmlformats.org/drawingml/2006/main">
            <a:r>
              <a:t>신입을 '나가면 반드시 세일즈하는' 사람으로 키우는 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 만들라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피드백 전에 관찰하라</a:t>
            </a:r>
          </a:p>
          <a:p xmlns:a="http://schemas.openxmlformats.org/drawingml/2006/main">
            <a:r>
              <a:t>임재영 AOP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4</a:t>
            </a:r>
          </a:p>
          <a:p xmlns:a="http://schemas.openxmlformats.org/drawingml/2006/main">
            <a:r>
              <a:t>TRAINING PHILOSOPHY  ·  01</a:t>
            </a:r>
          </a:p>
          <a:p xmlns:a="http://schemas.openxmlformats.org/drawingml/2006/main">
            <a:r>
              <a:t>가르치기 전에, 먼저 배우고 싶게 만들라</a:t>
            </a:r>
          </a:p>
          <a:p xmlns:a="http://schemas.openxmlformats.org/drawingml/2006/main">
            <a:r>
              <a:t>"How to teach"보다 먼저 풀어야 할 것은 "Why they want to learn"이다.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동기가 먼저다</a:t>
            </a:r>
          </a:p>
          <a:p xmlns:a="http://schemas.openxmlformats.org/drawingml/2006/main">
            <a:r>
              <a:t>지식을 밀어넣기 전에 '하고 싶다'는 마음을 먼저 켠다. 동기 없는 신입에게 스킬은 흡수되지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쇼잉으로 욕망을 만든다</a:t>
            </a:r>
          </a:p>
          <a:p xmlns:a="http://schemas.openxmlformats.org/drawingml/2006/main">
            <a:r>
              <a:t>잘하는 모습을 직접 보여줘 '나도 저렇게 되고 싶다'를 끌어낸다. 첫날의 긍정 경험이 학습 엔진이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작은 성공을 빨리 준다</a:t>
            </a:r>
          </a:p>
          <a:p xmlns:a="http://schemas.openxmlformats.org/drawingml/2006/main">
            <a:r>
              <a:t>스스로 해냈다는 성취감이 다음 학습 의지를 만든다. 가르침은 그 의지 위에 얹는다.</a:t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5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01  |  『EMILE』</a:t>
            </a:r>
          </a:p>
          <a:p xmlns:a="http://schemas.openxmlformats.org/drawingml/2006/main">
            <a:r>
              <a:t>소극적 교육 — 가르치기 전에, 관찰하기</a:t>
            </a:r>
          </a:p>
          <a:p xmlns:a="http://schemas.openxmlformats.org/drawingml/2006/main">
            <a:r>
              <a:t>루소가 말한 가장 도발적인 개념. 가장 훌륭한 교육은 '아무것도 하지 않는 것처럼 보이는' 교육이다.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Negative Education</a:t>
            </a:r>
          </a:p>
          <a:p xmlns:a="http://schemas.openxmlformats.org/drawingml/2006/main">
            <a:r>
              <a:t>"가장 초기의 교육은 순전히 소극적이어야 한다. 덕이나 진리를 가르치는 데 있지 않고, 마음을 악덕으로부터, 정신을 오류로부터 지키는 데 있다."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"시간을 잃어라"</a:t>
            </a:r>
          </a:p>
          <a:p xmlns:a="http://schemas.openxmlformats.org/drawingml/2006/main">
            <a:r>
              <a:t>"가장 유용한 교육 규칙은 시간을 버는 것이 아니라, 시간을 잃는 것이다."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>트레이닝에 적용하면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조급함이 가장 큰 위험</a:t>
            </a:r>
          </a:p>
          <a:p xmlns:a="http://schemas.openxmlformats.org/drawingml/2006/main">
            <a:r>
              <a:t>준비되지 않은 신입에게 억지로 주입하면, 텅빈 </a:t>
            </a:r>
          </a:p>
          <a:p xmlns:a="http://schemas.openxmlformats.org/drawingml/2006/main">
            <a:r>
              <a:t>암기에 그치고 오히려 진짜 이해를 방해한다.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먼저, 얼마나 이해했는지 관찰</a:t>
            </a:r>
          </a:p>
          <a:p xmlns:a="http://schemas.openxmlformats.org/drawingml/2006/main">
            <a:r>
              <a:t>가르치기 전에 트레이니가 무엇을, 어디까지 이해하고 있는지 관찰한다. 그 위에 필요한 것을 얹는다.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기다림이 가장 빠른 길</a:t>
            </a:r>
          </a:p>
          <a:p xmlns:a="http://schemas.openxmlformats.org/drawingml/2006/main">
            <a:r>
              <a:t>스스로 경험하고 성숙할 '시간'을 허락하는 것이, 멀리 보면 가장 빠른 성장의 길이다.</a:t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6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피드백 전에, 트레이니를 먼저 관찰하라</a:t>
            </a:r>
          </a:p>
          <a:p xmlns:a="http://schemas.openxmlformats.org/drawingml/2006/main">
            <a:r>
              <a:t>같은 피드백도 사람에 따라 독이 되고 약이 된다. 처방 전에 진단이 먼저다.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관찰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진단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맞춤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</a:t>
            </a:r>
          </a:p>
          <a:p xmlns:a="http://schemas.openxmlformats.org/drawingml/2006/main">
            <a:r>
              <a:t>2시간 뛰게 한 뒤 '할 만한가'를 본다. 결과보다 자세·의지가 먼저.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두려움의 위치</a:t>
            </a:r>
          </a:p>
          <a:p xmlns:a="http://schemas.openxmlformats.org/drawingml/2006/main">
            <a:r>
              <a:t>어디서 멈칫하는가 — 접근? 피치? 클로징? 두려움의 좌표를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속도</a:t>
            </a:r>
          </a:p>
          <a:p xmlns:a="http://schemas.openxmlformats.org/drawingml/2006/main">
            <a:r>
              <a:t>어제 준 피드백이 오늘 반영되는가. 성장 곡선을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강점과 결</a:t>
            </a:r>
          </a:p>
          <a:p xmlns:a="http://schemas.openxmlformats.org/drawingml/2006/main">
            <a:r>
              <a:t>리액션형인가, 논리형인가. 사람의 결에 맞춰 코칭 방식을 바꾼다.</a:t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7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사람이 다르면, 트레이닝도 달라야 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필드에 나가기 전에, '이 사람이 어떤 사람인가'를 먼저 파악해야 한다. 관찰은 첫 만남이 아니라 그 이전부터 시작된다.</a:t>
            </a:r>
          </a:p>
          <a:p xmlns:a="http://schemas.openxmlformats.org/drawingml/2006/main">
            <a:r>
              <a:t>필드 전, 이렇게 준비한다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이력서를 꼼꼼히 읽자</a:t>
            </a:r>
          </a:p>
          <a:p xmlns:a="http://schemas.openxmlformats.org/drawingml/2006/main">
            <a:r>
              <a:t>경력·이전 직무·성향의 단서를 미리 읽는다. 어디서 일했고 무엇을 잘했는지가 트레이닝의 출발점이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주변에 피드백을 요청하자</a:t>
            </a:r>
          </a:p>
          <a:p xmlns:a="http://schemas.openxmlformats.org/drawingml/2006/main">
            <a:r>
              <a:t>오너·클라이언트·교육자에게 '어떤 사람이었는지' 묻는다. 다양한 시선이 모이면 한 사람의 윤곽이 또렷해진다.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트레이닝을 미리 설계하자</a:t>
            </a:r>
          </a:p>
          <a:p xmlns:a="http://schemas.openxmlformats.org/drawingml/2006/main">
            <a:r>
              <a:t>필드에서 무엇을, 어떻게 가르칠지 사전에 고민한다. 준비된 관찰이 첫날의 시행착오를 줄인다.</a:t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8</a:t>
            </a:r>
          </a:p>
          <a:p xmlns:a="http://schemas.openxmlformats.org/drawingml/2006/main">
            <a:r>
              <a:t>TRAINING PHILOSOPHY  ·  03</a:t>
            </a:r>
          </a:p>
          <a:p xmlns:a="http://schemas.openxmlformats.org/drawingml/2006/main">
            <a:r>
              <a:t>신입에게 답이 있다</a:t>
            </a:r>
          </a:p>
          <a:p xmlns:a="http://schemas.openxmlformats.org/drawingml/2006/main">
            <a:r>
              <a:t>현장의 어려움은 현장에서 답을 찾는 것이 가장 좋다. 트레이닝도 마찬가지 — 신입에게 답이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1</a:t>
            </a:r>
          </a:p>
          <a:p xmlns:a="http://schemas.openxmlformats.org/drawingml/2006/main">
            <a:r>
              <a:t>어려워하는 부분 포착하기</a:t>
            </a:r>
          </a:p>
          <a:p xmlns:a="http://schemas.openxmlformats.org/drawingml/2006/main">
            <a:r>
              <a:t>신입이 이해 못 하거나 머뭇거리는 순간을 놓치지 않는다.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2</a:t>
            </a:r>
          </a:p>
          <a:p xmlns:a="http://schemas.openxmlformats.org/drawingml/2006/main">
            <a:r>
              <a:t>부드럽게 먼저 묻기</a:t>
            </a:r>
          </a:p>
          <a:p xmlns:a="http://schemas.openxmlformats.org/drawingml/2006/main">
            <a:r>
              <a:t>"왜 그 부분이 어렵고 이해가 안 되는지" 신입의 입으로 듣기 위해 질문해보자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3</a:t>
            </a:r>
          </a:p>
          <a:p xmlns:a="http://schemas.openxmlformats.org/drawingml/2006/main">
            <a:r>
              <a:t>솔직하게 피드백하기</a:t>
            </a:r>
          </a:p>
          <a:p xmlns:a="http://schemas.openxmlformats.org/drawingml/2006/main">
            <a:r>
              <a:t>들은 내용을 바탕으로 솔직하게, </a:t>
            </a:r>
          </a:p>
          <a:p xmlns:a="http://schemas.openxmlformats.org/drawingml/2006/main">
            <a:r>
              <a:t>함께 답을 찾아가는 시간을 갖는다.</a:t>
            </a:r>
          </a:p>
          <a:p xmlns:a="http://schemas.openxmlformats.org/drawingml/2006/main">
            <a:r>
              <a:t>07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26</a:t>
            </a:r>
          </a:p>
          <a:p xmlns:a="http://schemas.openxmlformats.org/drawingml/2006/main">
            <a:r>
              <a:t>INSIGHT  ·  ON HUMAN &amp; EDUCATION</a:t>
            </a:r>
          </a:p>
          <a:p xmlns:a="http://schemas.openxmlformats.org/drawingml/2006/main">
            <a:r>
              <a:t>장 자크 루소, 『에밀』에서</a:t>
            </a:r>
          </a:p>
          <a:p xmlns:a="http://schemas.openxmlformats.org/drawingml/2006/main">
            <a:r>
              <a:t>"진리를 가르치는 것보다, 알고 싶고 배우고 싶은 욕구를 일으키는</a:t>
            </a:r>
          </a:p>
          <a:p xmlns:a="http://schemas.openxmlformats.org/drawingml/2006/main">
            <a:r>
              <a:t>방법이 더 중요하다. 교육자는 결코 </a:t>
            </a:r>
          </a:p>
          <a:p xmlns:a="http://schemas.openxmlformats.org/drawingml/2006/main">
            <a:r>
              <a:t>아이보다 앞서서는 안 된다."</a:t>
            </a:r>
          </a:p>
          <a:p xmlns:a="http://schemas.openxmlformats.org/drawingml/2006/main">
            <a:r>
              <a:t>— 장 자크 루소, 『에밀』 (1762)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우리의 트레이닝과 닿아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</a:t>
            </a:r>
          </a:p>
          <a:p xmlns:a="http://schemas.openxmlformats.org/drawingml/2006/main">
            <a:r>
              <a:t>지식을 밀어넣기 전에 호기심과 욕구를 켠다 — 루소의 '욕구가 먼저'와 같은 출발점.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앞서지 말고 관찰하라</a:t>
            </a:r>
          </a:p>
          <a:p xmlns:a="http://schemas.openxmlformats.org/drawingml/2006/main">
            <a:r>
              <a:t>스스로 깨닫게 두되 꼭 필요할 때 최소한만. 관찰·경청이 피드백을 앞선다.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경험이 곧 배움</a:t>
            </a:r>
          </a:p>
          <a:p xmlns:a="http://schemas.openxmlformats.org/drawingml/2006/main">
            <a:r>
              <a:t>위험과 어려움은 위기가 아니라 기회. 필드의 경험으로 신입은 자란다.</a:t>
            </a:r>
          </a:p>
          <a:p xmlns:a="http://schemas.openxmlformats.org/drawingml/2006/main">
            <a:r>
              <a:t>결국 신입에게 답이 있다 — 트레이너는 그 답이 피어나도록 돕는 사람이다.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9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트레이너의 전제 조건</a:t>
            </a:r>
          </a:p>
          <a:p xmlns:a="http://schemas.openxmlformats.org/drawingml/2006/main">
            <a:r>
              <a:t>효과적인 신입 트레이닝은 트레이너의 역량과 일관된 표준에서 시작된다. </a:t>
            </a:r>
          </a:p>
          <a:p xmlns:a="http://schemas.openxmlformats.org/drawingml/2006/main">
            <a:r>
              <a:t>마치 '기초군사훈련’처럼 </a:t>
            </a:r>
          </a:p>
          <a:p xmlns:a="http://schemas.openxmlformats.org/drawingml/2006/main">
            <a:r>
              <a:t>누구에게나 동일하게 적용 가능해야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세일즈 역량</a:t>
            </a:r>
          </a:p>
          <a:p xmlns:a="http://schemas.openxmlformats.org/drawingml/2006/main">
            <a:r>
              <a:t>주 1회이상 벨-공 세일즈 증명</a:t>
            </a:r>
          </a:p>
          <a:p xmlns:a="http://schemas.openxmlformats.org/drawingml/2006/main">
            <a:r>
              <a:t>4시간 안에 세일즈 가능</a:t>
            </a:r>
          </a:p>
          <a:p xmlns:a="http://schemas.openxmlformats.org/drawingml/2006/main">
            <a:r>
              <a:t>신입에게 쇼잉할 수 있는 실전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쇼잉(Showing)의 중요성</a:t>
            </a:r>
          </a:p>
          <a:p xmlns:a="http://schemas.openxmlformats.org/drawingml/2006/main">
            <a:r>
              <a:t>가장 효과적인 교육은 '직접 보여주기'</a:t>
            </a:r>
          </a:p>
          <a:p xmlns:a="http://schemas.openxmlformats.org/drawingml/2006/main">
            <a:r>
              <a:t>신입은 실제 과정을 관찰하며 학습</a:t>
            </a:r>
          </a:p>
          <a:p xmlns:a="http://schemas.openxmlformats.org/drawingml/2006/main">
            <a:r>
              <a:t>트레이너의 실전 역량 = 교육의 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스탠다드(표준) 적용 원칙</a:t>
            </a:r>
          </a:p>
          <a:p xmlns:a="http://schemas.openxmlformats.org/drawingml/2006/main">
            <a:r>
              <a:t>일관된 표준을 모든 신입에게 동일하게</a:t>
            </a:r>
          </a:p>
          <a:p xmlns:a="http://schemas.openxmlformats.org/drawingml/2006/main">
            <a:r>
              <a:t>개인 맞춤보다 기본 패턴 통일 우선</a:t>
            </a:r>
          </a:p>
          <a:p xmlns:a="http://schemas.openxmlformats.org/drawingml/2006/main">
            <a:r>
              <a:t>나가면 반드시 세일즈 가능한 기본기</a:t>
            </a:r>
          </a:p>
          <a:p xmlns:a="http://schemas.openxmlformats.org/drawingml/2006/main">
            <a:r>
              <a:t>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둘째 날은</a:t>
            </a:r>
          </a:p>
          <a:p xmlns:a="http://schemas.openxmlformats.org/drawingml/2006/main">
            <a:r>
              <a:t>학습의 날</a:t>
            </a:r>
          </a:p>
          <a:p xmlns:a="http://schemas.openxmlformats.org/drawingml/2006/main">
            <a:r>
              <a:t>첫날이 경험이었다면, 둘째 날은 학습이다. 신입이 반드시 세일즈 1개 이상을 달성하게 하는 가장 중요한 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첫 세일즈 달성 (매우 중요)</a:t>
            </a:r>
          </a:p>
          <a:p xmlns:a="http://schemas.openxmlformats.org/drawingml/2006/main">
            <a:r>
              <a:t>반드시 1개 이상을 함께 만들어낸다. 신입이 직접 성공을 체감하게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학습 능력과 성장 가능성을 평가하고, 첫날 대비 개선점을 짚어 피드백한다.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트레이너와 신입의 균형</a:t>
            </a:r>
          </a:p>
          <a:p xmlns:a="http://schemas.openxmlformats.org/drawingml/2006/main">
            <a:r>
              <a:t>신입의 세일즈가 우선이지만 트레이너도 성과가 필요. 함께 내는 것이 이상적.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둘째 날의 의미</a:t>
            </a:r>
          </a:p>
          <a:p xmlns:a="http://schemas.openxmlformats.org/drawingml/2006/main">
            <a:r>
              <a:t>경험에서 '결과에 대한 학습'으로. 신입의 실질 역량을 가늠하는 시점.</a:t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11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12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 3 · 판단의 날</a:t>
            </a:r>
          </a:p>
          <a:p xmlns:a="http://schemas.openxmlformats.org/drawingml/2006/main">
            <a:r>
              <a:t>셋째 날, Stay인가 Qualifying인가 (반드시 오너와 상의)</a:t>
            </a:r>
          </a:p>
          <a:p xmlns:a="http://schemas.openxmlformats.org/drawingml/2006/main">
            <a:r>
              <a:t>전략적 사이트 선택과 시간 확보로 '제로(0)'를 막고, 3일간의 성과 패턴으로 향후 가능성을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신입이 벨을 칠 수 있는 사이트를 전략적으로 고르고 스케줄을 미리 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제로(0) 방지 전략</a:t>
            </a:r>
          </a:p>
          <a:p xmlns:a="http://schemas.openxmlformats.org/drawingml/2006/main">
            <a:r>
              <a:t>제로는 절대 금물. 시간 확보는 필수, 성공 가능성 높은 필드를 찾는다.</a:t>
            </a:r>
          </a:p>
          <a:p xmlns:a="http://schemas.openxmlformats.org/drawingml/2006/main">
            <a:r>
              <a:t>3일간 성과 → 판단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1 – 2</a:t>
            </a:r>
          </a:p>
          <a:p xmlns:a="http://schemas.openxmlformats.org/drawingml/2006/main">
            <a:r>
              <a:t>가장 이상적 · 리더로 육성 가능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2개</a:t>
            </a:r>
          </a:p>
          <a:p xmlns:a="http://schemas.openxmlformats.org/drawingml/2006/main">
            <a:r>
              <a:t>로드트립 제안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3개</a:t>
            </a:r>
          </a:p>
          <a:p xmlns:a="http://schemas.openxmlformats.org/drawingml/2006/main">
            <a:r>
              <a:t>의지와 센스 모두 보유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0 – 0</a:t>
            </a:r>
          </a:p>
          <a:p xmlns:a="http://schemas.openxmlformats.org/drawingml/2006/main">
            <a:r>
              <a:t>의지·센스 부족 → 빠른 Qualifying</a:t>
            </a:r>
          </a:p>
          <a:p xmlns:a="http://schemas.openxmlformats.org/drawingml/2006/main">
            <a:r>
              <a:t>단, 모든 판단은 Case by Case — 기준 위에서 유연하게.</a:t>
            </a:r>
          </a:p>
          <a:p xmlns:a="http://schemas.openxmlformats.org/drawingml/2006/main">
            <a:r>
              <a:t>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13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13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15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WHAT</a:t>
            </a:r>
          </a:p>
          <a:p xmlns:a="http://schemas.openxmlformats.org/drawingml/2006/main">
            <a:r>
              <a:t>필드 전, 무엇을 준비하는가</a:t>
            </a:r>
          </a:p>
          <a:p xmlns:a="http://schemas.openxmlformats.org/drawingml/2006/main">
            <a:r>
              <a:t>필드에 나가기 전, 신입과 함께 점검하고 설계하는 것들.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피치 점검</a:t>
            </a:r>
          </a:p>
          <a:p xmlns:a="http://schemas.openxmlformats.org/drawingml/2006/main">
            <a:r>
              <a:t>피치 숙지·클로즈·약정서</a:t>
            </a:r>
          </a:p>
          <a:p xmlns:a="http://schemas.openxmlformats.org/drawingml/2006/main">
            <a:r>
              <a:t>핸들링 정도를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니즈 파악</a:t>
            </a:r>
          </a:p>
          <a:p xmlns:a="http://schemas.openxmlformats.org/drawingml/2006/main">
            <a:r>
              <a:t>내일 필드를 통해</a:t>
            </a:r>
          </a:p>
          <a:p xmlns:a="http://schemas.openxmlformats.org/drawingml/2006/main">
            <a:r>
              <a:t>무엇을 배우고 싶은지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목표 설정</a:t>
            </a:r>
          </a:p>
          <a:p xmlns:a="http://schemas.openxmlformats.org/drawingml/2006/main">
            <a:r>
              <a:t>필드시간·리해쉬·클로즈.</a:t>
            </a:r>
          </a:p>
          <a:p xmlns:a="http://schemas.openxmlformats.org/drawingml/2006/main">
            <a:r>
              <a:t>개인+섹터목표(AVG)까지 나누면 BEST.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사이트 전략 공유</a:t>
            </a:r>
          </a:p>
          <a:p xmlns:a="http://schemas.openxmlformats.org/drawingml/2006/main">
            <a:r>
              <a:t>사이트를 익숙하게 만들고 전략대로,</a:t>
            </a:r>
          </a:p>
          <a:p xmlns:a="http://schemas.openxmlformats.org/drawingml/2006/main">
            <a:r>
              <a:t>'나도 할 수 있다'는 기대를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사전 안내 (프리엠티브)</a:t>
            </a:r>
          </a:p>
          <a:p xmlns:a="http://schemas.openxmlformats.org/drawingml/2006/main">
            <a:r>
              <a:t>타 에이전시·우천 등 갑자기 닥치면</a:t>
            </a:r>
          </a:p>
          <a:p xmlns:a="http://schemas.openxmlformats.org/drawingml/2006/main">
            <a:r>
              <a:t>네거티브해지는 요소를 미리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필드 물품·복장 점검</a:t>
            </a:r>
          </a:p>
          <a:p xmlns:a="http://schemas.openxmlformats.org/drawingml/2006/main">
            <a:r>
              <a:t>콜백싯·조끼·아이디카드·</a:t>
            </a:r>
          </a:p>
          <a:p xmlns:a="http://schemas.openxmlformats.org/drawingml/2006/main">
            <a:r>
              <a:t>태블릿·부스 등을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16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HOW</a:t>
            </a:r>
          </a:p>
          <a:p xmlns:a="http://schemas.openxmlformats.org/drawingml/2006/main">
            <a:r>
              <a:t>필드 중, 어떻게 끌어가는가</a:t>
            </a:r>
          </a:p>
          <a:p xmlns:a="http://schemas.openxmlformats.org/drawingml/2006/main">
            <a:r>
              <a:t>필드 안에서 실시간으로 관찰하고, 보여주고, 케어한다.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트레이닝 대상 파악</a:t>
            </a:r>
          </a:p>
          <a:p xmlns:a="http://schemas.openxmlformats.org/drawingml/2006/main">
            <a:r>
              <a:t>어떤 유형인지,</a:t>
            </a:r>
          </a:p>
          <a:p xmlns:a="http://schemas.openxmlformats.org/drawingml/2006/main">
            <a:r>
              <a:t>어느 정도의 이해도인지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집중·계속 시도</a:t>
            </a:r>
          </a:p>
          <a:p xmlns:a="http://schemas.openxmlformats.org/drawingml/2006/main">
            <a:r>
              <a:t>계속되는 시도를 통해</a:t>
            </a:r>
          </a:p>
          <a:p xmlns:a="http://schemas.openxmlformats.org/drawingml/2006/main">
            <a:r>
              <a:t>객관적 데이터를 쌓게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상황에 맞는 피드백·점검</a:t>
            </a:r>
          </a:p>
          <a:p xmlns:a="http://schemas.openxmlformats.org/drawingml/2006/main">
            <a:r>
              <a:t>칭찬과 즉시 CS·넘버 피드백.</a:t>
            </a:r>
          </a:p>
          <a:p xmlns:a="http://schemas.openxmlformats.org/drawingml/2006/main">
            <a:r>
              <a:t>2시간마다 콜백싯을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보여주기 (Showing)</a:t>
            </a:r>
          </a:p>
          <a:p xmlns:a="http://schemas.openxmlformats.org/drawingml/2006/main">
            <a:r>
              <a:t>Showing Is The Best.</a:t>
            </a:r>
          </a:p>
          <a:p xmlns:a="http://schemas.openxmlformats.org/drawingml/2006/main">
            <a:r>
              <a:t>쉽고 빠른 벨로 직접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네거티브 파악</a:t>
            </a:r>
          </a:p>
          <a:p xmlns:a="http://schemas.openxmlformats.org/drawingml/2006/main">
            <a:r>
              <a:t>빠른 네거티브 파악과 해결,</a:t>
            </a:r>
          </a:p>
          <a:p xmlns:a="http://schemas.openxmlformats.org/drawingml/2006/main">
            <a:r>
              <a:t>그리고 멘탈 케어.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좋은 소식 공유</a:t>
            </a:r>
          </a:p>
          <a:p xmlns:a="http://schemas.openxmlformats.org/drawingml/2006/main">
            <a:r>
              <a:t>시민의 응원의 말,</a:t>
            </a:r>
          </a:p>
          <a:p xmlns:a="http://schemas.openxmlformats.org/drawingml/2006/main">
            <a:r>
              <a:t>후원자가 남긴 후원 사유를 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17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WHY</a:t>
            </a:r>
          </a:p>
          <a:p xmlns:a="http://schemas.openxmlformats.org/drawingml/2006/main">
            <a:r>
              <a:t>필드 후, 무엇을 남기는가</a:t>
            </a:r>
          </a:p>
          <a:p xmlns:a="http://schemas.openxmlformats.org/drawingml/2006/main">
            <a:r>
              <a:t>하루를 돌아보고, 콜백싯 기준으로 피드백하고, 다음을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필드 소감 파악</a:t>
            </a:r>
          </a:p>
          <a:p xmlns:a="http://schemas.openxmlformats.org/drawingml/2006/main">
            <a:r>
              <a:t>오늘 하루 어땠는지 묻는다.</a:t>
            </a:r>
          </a:p>
          <a:p xmlns:a="http://schemas.openxmlformats.org/drawingml/2006/main">
            <a:r>
              <a:t>무엇을 배웠고, 좋았던 점과</a:t>
            </a:r>
          </a:p>
          <a:p xmlns:a="http://schemas.openxmlformats.org/drawingml/2006/main">
            <a:r>
              <a:t>아쉬운 점은 무엇이었는지.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콜백싯 기준 피드백</a:t>
            </a:r>
          </a:p>
          <a:p xmlns:a="http://schemas.openxmlformats.org/drawingml/2006/main">
            <a:r>
              <a:t>같이 필드한 사람들과 넘버를</a:t>
            </a:r>
          </a:p>
          <a:p xmlns:a="http://schemas.openxmlformats.org/drawingml/2006/main">
            <a:r>
              <a:t>비교하며, 넘버·스킬·태도의</a:t>
            </a:r>
          </a:p>
          <a:p xmlns:a="http://schemas.openxmlformats.org/drawingml/2006/main">
            <a:r>
              <a:t>보완점을 함께 이야기한다.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다음 교육 일정 안내 · 기본 5일</a:t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콜백싯 교육 기본 작성법</a:t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콜백싯 교육 분석 · Contact to Stop &amp; 부스 컨트롤</a:t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5 Steps</a:t>
            </a:r>
          </a:p>
          <a:p xmlns:a="http://schemas.openxmlformats.org/drawingml/2006/main">
            <a:r>
              <a:t>DAY 4</a:t>
            </a:r>
          </a:p>
          <a:p xmlns:a="http://schemas.openxmlformats.org/drawingml/2006/main">
            <a:r>
              <a:t>Closing</a:t>
            </a:r>
          </a:p>
          <a:p xmlns:a="http://schemas.openxmlformats.org/drawingml/2006/main">
            <a:r>
              <a:t>DAY 5</a:t>
            </a:r>
          </a:p>
          <a:p xmlns:a="http://schemas.openxmlformats.org/drawingml/2006/main">
            <a:r>
              <a:t>약정서 &amp; 리해쉬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개인별 맞춤 피드백</a:t>
            </a:r>
          </a:p>
          <a:p xmlns:a="http://schemas.openxmlformats.org/drawingml/2006/main">
            <a:r>
              <a:t>관찰로 약점을 진단한 뒤, 그 사람에게 맞는 처방을 내린다. — 관찰이 먼저, 피드백은 그 다음.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리액션이 약하다</a:t>
            </a:r>
          </a:p>
          <a:p xmlns:a="http://schemas.openxmlformats.org/drawingml/2006/main">
            <a:r>
              <a:t>리액션 강화</a:t>
            </a:r>
          </a:p>
          <a:p xmlns:a="http://schemas.openxmlformats.org/drawingml/2006/main">
            <a:r>
              <a:t>표정·제스처 훈련</a:t>
            </a:r>
          </a:p>
          <a:p xmlns:a="http://schemas.openxmlformats.org/drawingml/2006/main">
            <a:r>
              <a:t>고객 반응에 즉각 대응</a:t>
            </a:r>
          </a:p>
          <a:p xmlns:a="http://schemas.openxmlformats.org/drawingml/2006/main">
            <a:r>
              <a:t>임펄스·바디랭귀지</a:t>
            </a:r>
          </a:p>
          <a:p xmlns:a="http://schemas.openxmlformats.org/drawingml/2006/main">
            <a:r>
              <a:t>롤플레이 반복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부스 연결이 약하다</a:t>
            </a:r>
          </a:p>
          <a:p xmlns:a="http://schemas.openxmlformats.org/drawingml/2006/main">
            <a:r>
              <a:t>스트릿 스킬</a:t>
            </a:r>
          </a:p>
          <a:p xmlns:a="http://schemas.openxmlformats.org/drawingml/2006/main">
            <a:r>
              <a:t>접근 방법 다양화</a:t>
            </a:r>
          </a:p>
          <a:p xmlns:a="http://schemas.openxmlformats.org/drawingml/2006/main">
            <a:r>
              <a:t>첫인상 개선 훈련</a:t>
            </a:r>
          </a:p>
          <a:p xmlns:a="http://schemas.openxmlformats.org/drawingml/2006/main">
            <a:r>
              <a:t>거절 극복 기술</a:t>
            </a:r>
          </a:p>
          <a:p xmlns:a="http://schemas.openxmlformats.org/drawingml/2006/main">
            <a:r>
              <a:t>고객 유형별 접근법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클로징이 약하다</a:t>
            </a:r>
          </a:p>
          <a:p xmlns:a="http://schemas.openxmlformats.org/drawingml/2006/main">
            <a:r>
              <a:t>클로징 강화</a:t>
            </a:r>
          </a:p>
          <a:p xmlns:a="http://schemas.openxmlformats.org/drawingml/2006/main">
            <a:r>
              <a:t>TAAIS 집중 훈련</a:t>
            </a:r>
          </a:p>
          <a:p xmlns:a="http://schemas.openxmlformats.org/drawingml/2006/main">
            <a:r>
              <a:t>Buying sign 포착</a:t>
            </a:r>
          </a:p>
          <a:p xmlns:a="http://schemas.openxmlformats.org/drawingml/2006/main">
            <a:r>
              <a:t>침묵·대안 제시 기술</a:t>
            </a:r>
          </a:p>
          <a:p xmlns:a="http://schemas.openxmlformats.org/drawingml/2006/main">
            <a:r>
              <a:t>클로징 타이밍 습득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이미 잘한다</a:t>
            </a:r>
          </a:p>
          <a:p xmlns:a="http://schemas.openxmlformats.org/drawingml/2006/main">
            <a:r>
              <a:t>목표 상향</a:t>
            </a:r>
          </a:p>
          <a:p xmlns:a="http://schemas.openxmlformats.org/drawingml/2006/main">
            <a:r>
              <a:t>더 높은 목표 제시</a:t>
            </a:r>
          </a:p>
          <a:p xmlns:a="http://schemas.openxmlformats.org/drawingml/2006/main">
            <a:r>
              <a:t>자기주도 성장 유도</a:t>
            </a:r>
          </a:p>
          <a:p xmlns:a="http://schemas.openxmlformats.org/drawingml/2006/main">
            <a:r>
              <a:t>리더십·멘토링 기회</a:t>
            </a:r>
          </a:p>
          <a:p xmlns:a="http://schemas.openxmlformats.org/drawingml/2006/main">
            <a:r>
              <a:t>장기 커리어 설계</a:t>
            </a:r>
          </a:p>
          <a:p xmlns:a="http://schemas.openxmlformats.org/drawingml/2006/main">
            <a:r>
              <a:t>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14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CAUTION</a:t>
            </a:r>
          </a:p>
          <a:p xmlns:a="http://schemas.openxmlformats.org/drawingml/2006/main">
            <a:r>
              <a:t>피드백할 때 주의사항</a:t>
            </a:r>
          </a:p>
          <a:p xmlns:a="http://schemas.openxmlformats.org/drawingml/2006/main">
            <a:r>
              <a:t>좋은 의도라도 방식이 틀리면 독이 된다. 다섯 가지를 기억한다.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감정·느낌이 아닌 기준으로</a:t>
            </a:r>
          </a:p>
          <a:p xmlns:a="http://schemas.openxmlformats.org/drawingml/2006/main">
            <a:r>
              <a:t>넘버·스킬·태도 모두 콜백싯 기준으로 피드백한다.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내 말이 아닌, 상대에게 필요한 말인가 (매우 중요)</a:t>
            </a:r>
          </a:p>
          <a:p xmlns:a="http://schemas.openxmlformats.org/drawingml/2006/main">
            <a:r>
              <a:t>하고 싶은 말보다 상대에게 정말 필요한 말인지 먼저 고민한다.</a:t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KISS — 간단·명료·눈높이</a:t>
            </a:r>
          </a:p>
          <a:p xmlns:a="http://schemas.openxmlformats.org/drawingml/2006/main">
            <a:r>
              <a:t>상대가 공감하기 좋은 예시로 쉽게 이해되도록 트레이닝한다.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COD 공부하기</a:t>
            </a:r>
          </a:p>
          <a:p xmlns:a="http://schemas.openxmlformats.org/drawingml/2006/main">
            <a:r>
              <a:t>올바른 정보인지 확인하고 피드백. 긴가민가한 이야기는 하지 않는다.</a:t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타이밍을 정해두기</a:t>
            </a:r>
          </a:p>
          <a:p xmlns:a="http://schemas.openxmlformats.org/drawingml/2006/main">
            <a:r>
              <a:t>꼭 필요한 상황 외엔 2시간에 1번. 그 사이엔 개인 목표 달성에 집중한다.</a:t>
            </a:r>
          </a:p>
          <a:p xmlns:a="http://schemas.openxmlformats.org/drawingml/2006/main">
            <a:r>
              <a:t>TIP   피드백 수용이 빠른 신입, 주거테리·유동이 적은 B패턴에는 전략적으로 피드백을 활용하면 좋다.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18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트레이너도 콜백싯을 쓴다</a:t>
            </a:r>
          </a:p>
          <a:p xmlns:a="http://schemas.openxmlformats.org/drawingml/2006/main">
            <a:r>
              <a:t>신입이 필드 콜백싯으로 하루를 점검하듯, 트레이너는 같은 3축으로 '내가 신입을 위해 무엇을 챙겼는가'를 매일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Number</a:t>
            </a:r>
          </a:p>
          <a:p xmlns:a="http://schemas.openxmlformats.org/drawingml/2006/main">
            <a:r>
              <a:t>넘버를 쌓게 했는가</a:t>
            </a:r>
          </a:p>
          <a:p xmlns:a="http://schemas.openxmlformats.org/drawingml/2006/main">
            <a:r>
              <a:t>넘버를 쌓을 수 있는 사이트를 준비했는가</a:t>
            </a:r>
          </a:p>
          <a:p xmlns:a="http://schemas.openxmlformats.org/drawingml/2006/main">
            <a:r>
              <a:t>시도하도록 만드는 피드백을 했는가</a:t>
            </a:r>
          </a:p>
          <a:p xmlns:a="http://schemas.openxmlformats.org/drawingml/2006/main">
            <a:r>
              <a:t>거절 없는 시도 횟수를 끌어냈는가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Pitch · Skill</a:t>
            </a:r>
          </a:p>
          <a:p xmlns:a="http://schemas.openxmlformats.org/drawingml/2006/main">
            <a:r>
              <a:t>스킬을 보강했는가</a:t>
            </a:r>
          </a:p>
          <a:p xmlns:a="http://schemas.openxmlformats.org/drawingml/2006/main">
            <a:r>
              <a:t>약한 부분을 필드에서 바로 교육했는가</a:t>
            </a:r>
          </a:p>
          <a:p xmlns:a="http://schemas.openxmlformats.org/drawingml/2006/main">
            <a:r>
              <a:t>어떤 스킬이든 보강하도록 도왔는가</a:t>
            </a:r>
          </a:p>
          <a:p xmlns:a="http://schemas.openxmlformats.org/drawingml/2006/main">
            <a:r>
              <a:t>내일 바로 쓸 수 있게 알려줬는가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Attitude · Mental</a:t>
            </a:r>
          </a:p>
          <a:p xmlns:a="http://schemas.openxmlformats.org/drawingml/2006/main">
            <a:r>
              <a:t>멘탈을 지켜줬는가</a:t>
            </a:r>
          </a:p>
          <a:p xmlns:a="http://schemas.openxmlformats.org/drawingml/2006/main">
            <a:r>
              <a:t>불안·두려움 요소를 제거했는가</a:t>
            </a:r>
          </a:p>
          <a:p xmlns:a="http://schemas.openxmlformats.org/drawingml/2006/main">
            <a:r>
              <a:t>필드에 방해되는 마음을 케어했는가</a:t>
            </a:r>
          </a:p>
          <a:p xmlns:a="http://schemas.openxmlformats.org/drawingml/2006/main">
            <a:r>
              <a:t>필드에 온전히 집중하게 해줬는가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매일 반복</a:t>
            </a:r>
          </a:p>
          <a:p xmlns:a="http://schemas.openxmlformats.org/drawingml/2006/main">
            <a:r>
              <a:t>이 세 가지를 매일 점검하면, 트레이닝이 성장한다.  신입의 콜백싯이 신입을 키우듯, 트레이너의 콜백싯이 트레이너를 키운다.</a:t>
            </a:r>
          </a:p>
          <a:p xmlns:a="http://schemas.openxmlformats.org/drawingml/2006/main">
            <a:r>
              <a:t>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자립을 위한 6주 전략</a:t>
            </a:r>
          </a:p>
          <a:p xmlns:a="http://schemas.openxmlformats.org/drawingml/2006/main">
            <a:r>
              <a:t>신입이 필드에 완전히 적응하기까지 약 6주. 이 기간 동안 전략적인 스케줄 관리와 필드 시간 확보가 자립의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리더힛, 2주 이내</a:t>
            </a:r>
          </a:p>
          <a:p xmlns:a="http://schemas.openxmlformats.org/drawingml/2006/main">
            <a:r>
              <a:t>리더힛은 2주 이내 달성이 이상적. 전략적으로 스케줄과 필드 시간을 확보하고, 신입의 성장 속도에 맞춰 목표를 설정한다.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6주 필드 적응</a:t>
            </a:r>
          </a:p>
          <a:p xmlns:a="http://schemas.openxmlformats.org/drawingml/2006/main">
            <a:r>
              <a:t>필드 적응에는 약 6주가 소요. 3–5주차에 로드트립을 적극 활용하며 단계별 성장 과정을 모니터링한다.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Self 세일즈 준비</a:t>
            </a:r>
          </a:p>
          <a:p xmlns:a="http://schemas.openxmlformats.org/drawingml/2006/main">
            <a:r>
              <a:t>혼자 세일즈해야 하는 시점을 미리 안내하고 프리엠티브한다. 심리적 준비와 실전 역량을 동시에 강화한다.</a:t>
            </a:r>
          </a:p>
          <a:p xmlns:a="http://schemas.openxmlformats.org/drawingml/2006/main">
            <a:r>
              <a:t>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21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22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트레이너의 3가지 핵심 역할</a:t>
            </a:r>
          </a:p>
          <a:p xmlns:a="http://schemas.openxmlformats.org/drawingml/2006/main">
            <a:r>
              <a:t>신입이 '자발적으로' 성장하는 환경을 만드는 세 개의 레버.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성취감 제공</a:t>
            </a:r>
          </a:p>
          <a:p xmlns:a="http://schemas.openxmlformats.org/drawingml/2006/main">
            <a:r>
              <a:t>'내가 직접 해냈다'를 느끼게 한다.</a:t>
            </a:r>
          </a:p>
          <a:p xmlns:a="http://schemas.openxmlformats.org/drawingml/2006/main">
            <a:r>
              <a:t>두려워하면 돕고, 아니면 혼자 하게.</a:t>
            </a:r>
          </a:p>
          <a:p xmlns:a="http://schemas.openxmlformats.org/drawingml/2006/main">
            <a:r>
              <a:t>두려움 수준 파악이 판단 기준.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두려움 제거</a:t>
            </a:r>
          </a:p>
          <a:p xmlns:a="http://schemas.openxmlformats.org/drawingml/2006/main">
            <a:r>
              <a:t>초기엔 충분한 서포트를 제공.</a:t>
            </a:r>
          </a:p>
          <a:p xmlns:a="http://schemas.openxmlformats.org/drawingml/2006/main">
            <a:r>
              <a:t>점진적으로 독립성을 부여.</a:t>
            </a:r>
          </a:p>
          <a:p xmlns:a="http://schemas.openxmlformats.org/drawingml/2006/main">
            <a:r>
              <a:t>안전한 환경에서 도전하게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인정과 칭찬</a:t>
            </a:r>
          </a:p>
          <a:p xmlns:a="http://schemas.openxmlformats.org/drawingml/2006/main">
            <a:r>
              <a:t>인정·칭찬을 아끼지 않는다.</a:t>
            </a:r>
          </a:p>
          <a:p xmlns:a="http://schemas.openxmlformats.org/drawingml/2006/main">
            <a:r>
              <a:t>사람은 인정받을 때 주도적이 된다.</a:t>
            </a:r>
          </a:p>
          <a:p xmlns:a="http://schemas.openxmlformats.org/drawingml/2006/main">
            <a:r>
              <a:t>혼냄은 효과 없음 — 스스로 깨닫게.</a:t>
            </a:r>
          </a:p>
          <a:p xmlns:a="http://schemas.openxmlformats.org/drawingml/2006/main">
            <a:r>
              <a:t>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24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매슬로우 5단계 욕구</a:t>
            </a:r>
          </a:p>
          <a:p xmlns:a="http://schemas.openxmlformats.org/drawingml/2006/main">
            <a:r>
              <a:t>사람은 아래 욕구가 채워지면 더 높은 욕구를 향한다. 트레이너는 신입을 단계마다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자아실현  Self-Actualization</a:t>
            </a:r>
          </a:p>
          <a:p xmlns:a="http://schemas.openxmlformats.org/drawingml/2006/main">
            <a:r>
              <a:t>더 큰 목표·성장. 스스로 리더로 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존중  Esteem</a:t>
            </a:r>
          </a:p>
          <a:p xmlns:a="http://schemas.openxmlformats.org/drawingml/2006/main">
            <a:r>
              <a:t>인정과 칭찬. 성취를 알아준다.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소속·애정  Love &amp; Belonging</a:t>
            </a:r>
          </a:p>
          <a:p xmlns:a="http://schemas.openxmlformats.org/drawingml/2006/main">
            <a:r>
              <a:t>팀의 일원이라는 소속감을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안전  Safety</a:t>
            </a:r>
          </a:p>
          <a:p xmlns:a="http://schemas.openxmlformats.org/drawingml/2006/main">
            <a:r>
              <a:t>두려움 제거. 안전한 환경에서 도전.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생리적 욕구  Physiological</a:t>
            </a:r>
          </a:p>
          <a:p xmlns:a="http://schemas.openxmlformats.org/drawingml/2006/main">
            <a:r>
              <a:t>기본 생계·수입. 가장 먼저 채워질 토대.</a:t>
            </a:r>
          </a:p>
          <a:p xmlns:a="http://schemas.openxmlformats.org/drawingml/2006/main">
            <a:r>
              <a:t>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23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캔슬 관리 &amp; 그로스 집중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캔슬은 '그로스(Gross)'에만 집중하는 것이 옳은 방향. 캔슬에 대한 두려움은 오히려 세일즈에 대한 확신을 떨어뜨린다.</a:t>
            </a:r>
          </a:p>
          <a:p xmlns:a="http://schemas.openxmlformats.org/drawingml/2006/main">
            <a:r>
              <a:t>다만 리젝은 자연스러운 것 + 수치(20-30%)만큼 발생할 수 있다는 심리적 준비가 되도록 건강한 매니징 필요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매니지먼트 영역</a:t>
            </a:r>
          </a:p>
          <a:p xmlns:a="http://schemas.openxmlformats.org/drawingml/2006/main">
            <a:r>
              <a:t>캔슬은 지점 차원에서 관리. IC 개인이 과도하게 신경 쓸 부분이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BEP 대비 타겟 조정</a:t>
            </a:r>
          </a:p>
          <a:p xmlns:a="http://schemas.openxmlformats.org/drawingml/2006/main">
            <a:r>
              <a:t>손익분기점(BEP) 대비 세일즈 타겟을 분명히. 최종 + 수익이 얼마인가가 중요.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그로스(Gross) 집중</a:t>
            </a:r>
          </a:p>
          <a:p xmlns:a="http://schemas.openxmlformats.org/drawingml/2006/main">
            <a:r>
              <a:t>캔슬을 두려워하면 세일즈 Drop으로 이어진다. 총매출에만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하이롤러 리젝 대응</a:t>
            </a:r>
          </a:p>
          <a:p xmlns:a="http://schemas.openxmlformats.org/drawingml/2006/main">
            <a:r>
              <a:t>하이롤러는 1일 1건 리젝 리스크. 사전 프리엠티브가 핵심 </a:t>
            </a:r>
          </a:p>
          <a:p xmlns:a="http://schemas.openxmlformats.org/drawingml/2006/main">
            <a:r>
              <a:t>(주 10세일즈+).</a:t>
            </a:r>
          </a:p>
          <a:p xmlns:a="http://schemas.openxmlformats.org/drawingml/2006/main">
            <a:r>
              <a:t>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25</a:t>
            </a:r>
          </a:p>
          <a:p xmlns:a="http://schemas.openxmlformats.org/drawingml/2006/main">
            <a:r>
              <a:t>WRAP-UP</a:t>
            </a:r>
          </a:p>
          <a:p xmlns:a="http://schemas.openxmlformats.org/drawingml/2006/main">
            <a:r>
              <a:t>결과 판단 &amp;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트레이너의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신입의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STAY</a:t>
            </a:r>
          </a:p>
          <a:p xmlns:a="http://schemas.openxmlformats.org/drawingml/2006/main">
            <a:r>
              <a:t>결과가 좋거나 기준 도달 확신이 있으면 — 머무르게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QUALIFYING</a:t>
            </a:r>
          </a:p>
          <a:p xmlns:a="http://schemas.openxmlformats.org/drawingml/2006/main">
            <a:r>
              <a:t>최소 기준 도달이 어렵고 확신이 없으면 — 과감하게 결정한다.</a:t>
            </a:r>
          </a:p>
          <a:p xmlns:a="http://schemas.openxmlformats.org/drawingml/2006/main">
            <a:r>
              <a:t>실제 트레이닝은 Case by Case. 명확한 기준과 일관된 원칙을 유지하되, 개별 상황의 특수성을 고려해 최선의 결정을 내린다.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27</a:t>
            </a:r>
          </a:p>
          <a:p xmlns:a="http://schemas.openxmlformats.org/drawingml/2006/main">
            <a:r>
              <a:t>WHY I WANTED TO LEAD · 리더가 되고 싶었던 이유</a:t>
            </a:r>
          </a:p>
          <a:p xmlns:a="http://schemas.openxmlformats.org/drawingml/2006/main">
            <a:r>
              <a:t>내가 리더가 되고 싶었던 10가지 이유</a:t>
            </a:r>
          </a:p>
          <a:p xmlns:a="http://schemas.openxmlformats.org/drawingml/2006/main">
            <a:r>
              <a:t>루소가 말한 '아이보다 앞서지 않는' 교육처럼 — 딱 한 걸음 앞서 기다리는 리더가 되고 싶었다.</a:t>
            </a:r>
          </a:p>
          <a:p xmlns:a="http://schemas.openxmlformats.org/drawingml/2006/main">
            <a:r>
              <a:t>01   세일즈웍스의 첫 번째 목표여서</a:t>
            </a:r>
          </a:p>
          <a:p xmlns:a="http://schemas.openxmlformats.org/drawingml/2006/main">
            <a:r>
              <a:t>02   내 가치관이 담긴 팀을 만들 수 있어서</a:t>
            </a:r>
          </a:p>
          <a:p xmlns:a="http://schemas.openxmlformats.org/drawingml/2006/main">
            <a:r>
              <a:t>03   누군가의 리더가 된다는 것이 기뻐서</a:t>
            </a:r>
          </a:p>
          <a:p xmlns:a="http://schemas.openxmlformats.org/drawingml/2006/main">
            <a:r>
              <a:t>04   'OO리'라 불리는 친근함이 좋아서</a:t>
            </a:r>
          </a:p>
          <a:p xmlns:a="http://schemas.openxmlformats.org/drawingml/2006/main">
            <a:r>
              <a:t>05   조끼·피치카드·사물함을 쓸 수 있어서</a:t>
            </a:r>
          </a:p>
          <a:p xmlns:a="http://schemas.openxmlformats.org/drawingml/2006/main">
            <a:r>
              <a:t>06   리더라는 위치가 동기부여가 되어서</a:t>
            </a:r>
          </a:p>
          <a:p xmlns:a="http://schemas.openxmlformats.org/drawingml/2006/main">
            <a:r>
              <a:t>07   상위 프로모션에 도전할 수 있어서</a:t>
            </a:r>
          </a:p>
          <a:p xmlns:a="http://schemas.openxmlformats.org/drawingml/2006/main">
            <a:r>
              <a:t>08   리더힛 부담이 아닌 더 큰 비전으로</a:t>
            </a:r>
          </a:p>
          <a:p xmlns:a="http://schemas.openxmlformats.org/drawingml/2006/main">
            <a:r>
              <a:t>09   섬기고 돕는 자리에서만 배울 수 있어서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>이런 리더가 되고 싶어서</a:t>
            </a:r>
          </a:p>
          <a:p xmlns:a="http://schemas.openxmlformats.org/drawingml/2006/main">
            <a:r>
              <a:t>아주 먼 곳까지 내다보되, 앞서 달음박질하지 않고</a:t>
            </a:r>
          </a:p>
          <a:p xmlns:a="http://schemas.openxmlformats.org/drawingml/2006/main">
            <a:r>
              <a:t>언제든 따라올 수 있도록 딱 한 걸음 앞서 기다릴 줄 아는 리더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ONE-PAGE GUIDE</a:t>
            </a:r>
          </a:p>
          <a:p xmlns:a="http://schemas.openxmlformats.org/drawingml/2006/main">
            <a:r>
              <a:t>신입 트레이닝 1–3일, 한 장 요약</a:t>
            </a:r>
          </a:p>
          <a:p xmlns:a="http://schemas.openxmlformats.org/drawingml/2006/main">
            <a:r>
              <a:t>나가면 반드시 세일즈하는 신입으로</a:t>
            </a:r>
          </a:p>
          <a:p xmlns:a="http://schemas.openxmlformats.org/drawingml/2006/main">
            <a:r>
              <a:t>DAY별 필수 액션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경험</a:t>
            </a:r>
          </a:p>
          <a:p xmlns:a="http://schemas.openxmlformats.org/drawingml/2006/main">
            <a:r>
              <a:t>2시간 뛰게 한 뒤 반응·태도 관찰</a:t>
            </a:r>
          </a:p>
          <a:p xmlns:a="http://schemas.openxmlformats.org/drawingml/2006/main">
            <a:r>
              <a:t>트레이너가 직접 쇼잉</a:t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제로 방지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학습</a:t>
            </a:r>
          </a:p>
          <a:p xmlns:a="http://schemas.openxmlformats.org/drawingml/2006/main">
            <a:r>
              <a:t>첫 세일즈 1개 함께 달성(필수)</a:t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첫날 대비 개선점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판단</a:t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3일 성과 패턴으로 판단</a:t>
            </a:r>
          </a:p>
          <a:p xmlns:a="http://schemas.openxmlformats.org/drawingml/2006/main">
            <a:r>
              <a:t>Stay / Qualifying 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가져야 할 태도</a:t>
            </a:r>
          </a:p>
          <a:p xmlns:a="http://schemas.openxmlformats.org/drawingml/2006/main">
            <a:r>
              <a:t>성취감 제공 · 인정과 칭찬</a:t>
            </a:r>
          </a:p>
          <a:p xmlns:a="http://schemas.openxmlformats.org/drawingml/2006/main">
            <a:r>
              <a:t>혼냄보다 스스로 깨닫게 (앞서지 않기)</a:t>
            </a:r>
          </a:p>
          <a:p xmlns:a="http://schemas.openxmlformats.org/drawingml/2006/main">
            <a:r>
              <a:t>불안·두려움을 케어해 필드에 집중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갖춰야 할 스킬</a:t>
            </a:r>
          </a:p>
          <a:p xmlns:a="http://schemas.openxmlformats.org/drawingml/2006/main">
            <a:r>
              <a:t>5 Step : Intro·Short Story·Presentation·Closing·Rehash</a:t>
            </a:r>
          </a:p>
          <a:p xmlns:a="http://schemas.openxmlformats.org/drawingml/2006/main">
            <a:r>
              <a:t>TAAIS 클로징 · 쿠션 멘트</a:t>
            </a:r>
          </a:p>
          <a:p xmlns:a="http://schemas.openxmlformats.org/drawingml/2006/main">
            <a:r>
              <a:t>약점별 보강 : 리액션·스트릿·클로징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매일 점검 체크리스트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사이트를 준비해 넘버를 쌓게 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약한 스킬을 필드에서 바로 보강했는가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두려움을 제거해 집중하게 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신입의 콜백싯을 함께 점검했는가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Presence Team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Thank you</a:t>
            </a:r>
          </a:p>
          <a:p xmlns:a="http://schemas.openxmlformats.org/drawingml/2006/main">
            <a:r>
              <a:t>후원의 기쁨과 가치를 전할 수 있는 곳이라면 어디든 가는 사람</a:t>
            </a:r>
          </a:p>
          <a:p xmlns:a="http://schemas.openxmlformats.org/drawingml/2006/main">
            <a:r>
              <a:t>임재영 AOP</a:t>
            </a:r>
          </a:p>
          <a:p xmlns:a="http://schemas.openxmlformats.org/drawingml/2006/main">
            <a:r>
              <a:t>☎  Tel : 010-5178-1713        ✉  e-mail : jaeyoung5178@naver.com</a:t>
            </a:r>
          </a:p>
          <a:p xmlns:a="http://schemas.openxmlformats.org/drawingml/2006/main">
            <a:r>
              <a:t>기타 궁금하거나 질문이 있으시면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cabb834be54c2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baf748b39b47c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21eb0199124a5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36d423b2d1478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3f403cd7854db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5c66a33ba444e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E86EE58-BE56-4972-B51F-96852039EB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C850D06-48A9-4DA1-B355-3C1954F8E1D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FC26A28-9DA3-4BA6-A063-2E0F18221E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8D9F790-9BFD-45E8-9F0D-CFC00131D6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CD4AF74-A140-439A-B384-160D0686D2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351FBBE-E4B5-4DEB-83DF-9A96D4F7B6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B44D258-ECDA-453C-87B8-0B930E1560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E5193E4-75B2-443E-BA31-9FD80586C4A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77FD6E2-A716-4519-BBBF-DDEFA20204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0F7CFB8-A6A3-41F6-A044-6CC13788D94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9473247650a48c9" /><Relationship Type="http://schemas.openxmlformats.org/officeDocument/2006/relationships/slideLayout" Target="/ppt/slideLayouts/slideLayout1.xml" Id="R634a898b5af949cd" /><Relationship Type="http://schemas.openxmlformats.org/officeDocument/2006/relationships/slideLayout" Target="/ppt/slideLayouts/slideLayout2.xml" Id="Ra88b8bbd469a48e3" /><Relationship Type="http://schemas.openxmlformats.org/officeDocument/2006/relationships/slideLayout" Target="/ppt/slideLayouts/slideLayout3.xml" Id="R226b5a00969642b1" /><Relationship Type="http://schemas.openxmlformats.org/officeDocument/2006/relationships/slideLayout" Target="/ppt/slideLayouts/slideLayout4.xml" Id="R4b22df2f425740b0" /><Relationship Type="http://schemas.openxmlformats.org/officeDocument/2006/relationships/slideLayout" Target="/ppt/slideLayouts/slideLayout5.xml" Id="R7527a437afae4d24" /><Relationship Type="http://schemas.openxmlformats.org/officeDocument/2006/relationships/slideLayout" Target="/ppt/slideLayouts/slideLayout6.xml" Id="R59ec53ddc02a48a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34a898b5af949cd"/>
    <p:sldLayoutId xmlns:r="http://schemas.openxmlformats.org/officeDocument/2006/relationships" id="2147483650" r:id="Ra88b8bbd469a48e3"/>
    <p:sldLayoutId xmlns:r="http://schemas.openxmlformats.org/officeDocument/2006/relationships" id="2147483651" r:id="R226b5a00969642b1"/>
    <p:sldLayoutId xmlns:r="http://schemas.openxmlformats.org/officeDocument/2006/relationships" id="2147483652" r:id="R4b22df2f425740b0"/>
    <p:sldLayoutId xmlns:r="http://schemas.openxmlformats.org/officeDocument/2006/relationships" id="2147483653" r:id="R7527a437afae4d24"/>
    <p:sldLayoutId xmlns:r="http://schemas.openxmlformats.org/officeDocument/2006/relationships" id="2147483654" r:id="R59ec53ddc02a48a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d1441b1bc14d00" /><Relationship Type="http://schemas.openxmlformats.org/officeDocument/2006/relationships/image" Target="/ppt/media/image.jpeg" Id="R41fe7fe6423240bb" /><Relationship Type="http://schemas.openxmlformats.org/officeDocument/2006/relationships/notesSlide" Target="/ppt/notesSlides/notesSlide1.xml" Id="R1f82482c12cf48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714a27238e44e3" /><Relationship Type="http://schemas.openxmlformats.org/officeDocument/2006/relationships/image" Target="/ppt/media/image2.jpeg" Id="Rfc0338cfcfa544d1" /><Relationship Type="http://schemas.openxmlformats.org/officeDocument/2006/relationships/image" Target="/ppt/media/image.png" Id="R553b703cd09642a7" /><Relationship Type="http://schemas.openxmlformats.org/officeDocument/2006/relationships/image" Target="/ppt/media/image2.png" Id="Rd42f4270d88b45b7" /><Relationship Type="http://schemas.openxmlformats.org/officeDocument/2006/relationships/notesSlide" Target="/ppt/notesSlides/notesSlide2.xml" Id="R4cce188437a843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cd8eaaad854add" /><Relationship Type="http://schemas.openxmlformats.org/officeDocument/2006/relationships/image" Target="/ppt/media/image3.jpeg" Id="Rcb7cf4ec89fd4ef6" /><Relationship Type="http://schemas.openxmlformats.org/officeDocument/2006/relationships/image" Target="/ppt/media/image3.png" Id="Ra4183f5ecb4447a9" /><Relationship Type="http://schemas.openxmlformats.org/officeDocument/2006/relationships/image" Target="/ppt/media/image4.png" Id="R4cef69fefb3c4269" /><Relationship Type="http://schemas.openxmlformats.org/officeDocument/2006/relationships/notesSlide" Target="/ppt/notesSlides/notesSlide3.xml" Id="R8ebdf6c22b344b6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5814d2660a4c86" /><Relationship Type="http://schemas.openxmlformats.org/officeDocument/2006/relationships/image" Target="/ppt/media/image4.jpeg" Id="R5a49fc969b4d4480" /><Relationship Type="http://schemas.openxmlformats.org/officeDocument/2006/relationships/notesSlide" Target="/ppt/notesSlides/notesSlide4.xml" Id="Rcba7aa7947364b0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b99ebbec3545a0" /><Relationship Type="http://schemas.openxmlformats.org/officeDocument/2006/relationships/image" Target="/ppt/media/image5.png" Id="R729f814bdffb489b" /><Relationship Type="http://schemas.openxmlformats.org/officeDocument/2006/relationships/image" Target="/ppt/media/image6.png" Id="Re106740960c3433f" /><Relationship Type="http://schemas.openxmlformats.org/officeDocument/2006/relationships/image" Target="/ppt/media/image7.png" Id="Rc9c92f3b1e7b4a6f" /><Relationship Type="http://schemas.openxmlformats.org/officeDocument/2006/relationships/image" Target="/ppt/media/image8.png" Id="R4489682925ac43a1" /><Relationship Type="http://schemas.openxmlformats.org/officeDocument/2006/relationships/notesSlide" Target="/ppt/notesSlides/notesSlide5.xml" Id="R891852a3c55f47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b8aed52edb4c82" /><Relationship Type="http://schemas.openxmlformats.org/officeDocument/2006/relationships/image" Target="/ppt/media/image9.png" Id="R9ca5c9513e9b4f69" /><Relationship Type="http://schemas.openxmlformats.org/officeDocument/2006/relationships/image" Target="/ppt/media/image10.png" Id="R91322aa7274d4ebe" /><Relationship Type="http://schemas.openxmlformats.org/officeDocument/2006/relationships/image" Target="/ppt/media/image11.png" Id="R713a667db5aa4ce7" /><Relationship Type="http://schemas.openxmlformats.org/officeDocument/2006/relationships/notesSlide" Target="/ppt/notesSlides/notesSlide6.xml" Id="R8d31058e4c6b49f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c160a787354eeb" /><Relationship Type="http://schemas.openxmlformats.org/officeDocument/2006/relationships/image" Target="/ppt/media/image5.jpeg" Id="R802ce46b19554188" /><Relationship Type="http://schemas.openxmlformats.org/officeDocument/2006/relationships/notesSlide" Target="/ppt/notesSlides/notesSlide7.xml" Id="R7609c806818746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5bf4174dd14cff" /><Relationship Type="http://schemas.openxmlformats.org/officeDocument/2006/relationships/notesSlide" Target="/ppt/notesSlides/notesSlide8.xml" Id="Rc065f95a28714a7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3d008070c74a3c" /><Relationship Type="http://schemas.openxmlformats.org/officeDocument/2006/relationships/notesSlide" Target="/ppt/notesSlides/notesSlide9.xml" Id="Rd825bdad0e1d4cb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66dd35a8094cb2" /><Relationship Type="http://schemas.openxmlformats.org/officeDocument/2006/relationships/notesSlide" Target="/ppt/notesSlides/notesSlide10.xml" Id="Rfd7eb5ad49c84bd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3512f425694cc0" /><Relationship Type="http://schemas.openxmlformats.org/officeDocument/2006/relationships/image" Target="/ppt/media/image12.png" Id="R9b9f8c97128442e9" /><Relationship Type="http://schemas.openxmlformats.org/officeDocument/2006/relationships/image" Target="/ppt/media/image13.png" Id="R32cfc9425f41479f" /><Relationship Type="http://schemas.openxmlformats.org/officeDocument/2006/relationships/image" Target="/ppt/media/image14.png" Id="R7707b30d7f6a4f1b" /><Relationship Type="http://schemas.openxmlformats.org/officeDocument/2006/relationships/image" Target="/ppt/media/image15.png" Id="R25cc9bec5efc4444" /><Relationship Type="http://schemas.openxmlformats.org/officeDocument/2006/relationships/notesSlide" Target="/ppt/notesSlides/notesSlide11.xml" Id="Rd819036f793b43f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fe2adf77b9482f" /><Relationship Type="http://schemas.openxmlformats.org/officeDocument/2006/relationships/image" Target="/ppt/media/image16.png" Id="Rc99fe3c36bc94306" /><Relationship Type="http://schemas.openxmlformats.org/officeDocument/2006/relationships/image" Target="/ppt/media/image17.png" Id="R47056818ce0c4a82" /><Relationship Type="http://schemas.openxmlformats.org/officeDocument/2006/relationships/image" Target="/ppt/media/image18.png" Id="Rf22896fa58f74a55" /><Relationship Type="http://schemas.openxmlformats.org/officeDocument/2006/relationships/image" Target="/ppt/media/image19.png" Id="Rb4b0023e6dc64a99" /><Relationship Type="http://schemas.openxmlformats.org/officeDocument/2006/relationships/image" Target="/ppt/media/image20.png" Id="Rb2e3aedcae7f4546" /><Relationship Type="http://schemas.openxmlformats.org/officeDocument/2006/relationships/notesSlide" Target="/ppt/notesSlides/notesSlide12.xml" Id="R104528005b4f404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5765987f214052" /><Relationship Type="http://schemas.openxmlformats.org/officeDocument/2006/relationships/image" Target="/ppt/media/image21.png" Id="Rbb6b058458824365" /><Relationship Type="http://schemas.openxmlformats.org/officeDocument/2006/relationships/notesSlide" Target="/ppt/notesSlides/notesSlide13.xml" Id="R609f447fdec049a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bec08b176048ee" /><Relationship Type="http://schemas.openxmlformats.org/officeDocument/2006/relationships/notesSlide" Target="/ppt/notesSlides/notesSlide14.xml" Id="R6b3caf00d1fd48d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7379683403471a" /><Relationship Type="http://schemas.openxmlformats.org/officeDocument/2006/relationships/notesSlide" Target="/ppt/notesSlides/notesSlide15.xml" Id="R7760e777fc13497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f9b965739d434a" /><Relationship Type="http://schemas.openxmlformats.org/officeDocument/2006/relationships/notesSlide" Target="/ppt/notesSlides/notesSlide16.xml" Id="R2cc85d80c4744dc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30095a60aa4af2" /><Relationship Type="http://schemas.openxmlformats.org/officeDocument/2006/relationships/image" Target="/ppt/media/image6.jpeg" Id="R291ca23784da4ef8" /><Relationship Type="http://schemas.openxmlformats.org/officeDocument/2006/relationships/notesSlide" Target="/ppt/notesSlides/notesSlide17.xml" Id="R24836157363447c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008773e08048e6" /><Relationship Type="http://schemas.openxmlformats.org/officeDocument/2006/relationships/image" Target="/ppt/media/image22.png" Id="R7a2ae0d6763e4831" /><Relationship Type="http://schemas.openxmlformats.org/officeDocument/2006/relationships/image" Target="/ppt/media/image23.png" Id="R7c832616e7f94090" /><Relationship Type="http://schemas.openxmlformats.org/officeDocument/2006/relationships/image" Target="/ppt/media/image24.png" Id="Rc7de65c0327d4d46" /><Relationship Type="http://schemas.openxmlformats.org/officeDocument/2006/relationships/notesSlide" Target="/ppt/notesSlides/notesSlide18.xml" Id="R3118ca142d2a4da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80f04db6c54764" /><Relationship Type="http://schemas.openxmlformats.org/officeDocument/2006/relationships/image" Target="/ppt/media/image25.png" Id="R5869c6a96f064883" /><Relationship Type="http://schemas.openxmlformats.org/officeDocument/2006/relationships/image" Target="/ppt/media/image26.png" Id="R37a59d0231a24c7a" /><Relationship Type="http://schemas.openxmlformats.org/officeDocument/2006/relationships/notesSlide" Target="/ppt/notesSlides/notesSlide19.xml" Id="R44726d379a184ec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cfe34ea4254d19" /><Relationship Type="http://schemas.openxmlformats.org/officeDocument/2006/relationships/image" Target="/ppt/media/image7.jpeg" Id="R8205dde5cb4d4c62" /><Relationship Type="http://schemas.openxmlformats.org/officeDocument/2006/relationships/notesSlide" Target="/ppt/notesSlides/notesSlide20.xml" Id="R2978e195a7d744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6C9FCE-BAFF-40B4-9005-BDCFBE6C70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fe7fe6423240b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4AC9B4-2116-4A09-ADE2-9FC513E48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임재영 AOP · PRESENCE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2DC784-0D41-4308-B27A-EEE0ED0E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92392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딱 한 걸음 앞서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C43468-10CD-4275-9BBE-3FFFFE68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38475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 IC 트레이닝 · 핵심 강의 20장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F6BAD2-343D-4928-A50D-168733051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905250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먼저 배우고 싶게 만들라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피드백 전에 관찰하라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0C8E84-97BE-4371-8540-56F43175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8167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임재영 AOP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28C8C8-FD22-43A7-8DE7-19954772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01 / 20</a:t>
            </a:r>
          </a:p>
        </p:txBody>
      </p:sp>
    </p:spTree>
    <p:extLst>
      <p:ext uri="{BB962C8B-B14F-4D97-AF65-F5344CB8AC3E}">
        <p14:creationId xmlns:p14="http://schemas.microsoft.com/office/powerpoint/2010/main" val="881451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B69004-AC47-498F-8545-792FF9B22F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0338cfcfa544d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264D18-BCE7-4E7A-B05D-066DE1FD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919407-6294-4551-B4C8-FE0889479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먼저 배우고 싶게, 피드백 전에 관찰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D52B08-D919-4750-870C-3793C3398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가르치기 전에 신입의 마음과 상태를 먼저 살핀다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3DEFAD-3C2D-437B-A09F-FDF4081F06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3b703cd09642a7"/>
          <a:stretch xmlns:a="http://schemas.openxmlformats.org/drawingml/2006/main"/>
        </p:blipFill>
        <p:spPr>
          <a:xfrm xmlns:a="http://schemas.openxmlformats.org/drawingml/2006/main">
            <a:off x="723900" y="26765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8C15E5-BEA6-468D-8401-98C5A4DB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47950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배우고 싶은 마음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A7AE29-AEB8-4DDE-B339-437BC24A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00400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쇼잉으로 나도 할 수 있다는 기대를 만든다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작은 성공으로 다음 학습 의지를 만든다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930C62-3173-4002-9641-B30B29BB4D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2f4270d88b45b7"/>
          <a:stretch xmlns:a="http://schemas.openxmlformats.org/drawingml/2006/main"/>
        </p:blipFill>
        <p:spPr>
          <a:xfrm xmlns:a="http://schemas.openxmlformats.org/drawingml/2006/main">
            <a:off x="723900" y="41529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4A52E3-0E2A-44A8-A442-E5E5516BC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2432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관찰 후 피드백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E92B19-31D5-4A4F-8FA8-0F3737C4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76775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반응 · 두려움 · 학습 속도 · 강점을 본다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이력서와 주변 피드백으로 필드 전에 준비한다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860D82-58AF-43E7-A998-CD4D3EC3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02 / 20</a:t>
            </a:r>
          </a:p>
        </p:txBody>
      </p:sp>
    </p:spTree>
    <p:extLst>
      <p:ext uri="{BB962C8B-B14F-4D97-AF65-F5344CB8AC3E}">
        <p14:creationId xmlns:p14="http://schemas.microsoft.com/office/powerpoint/2010/main" val="12223674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31FB4C-99E6-41A8-AEF9-2C27E07F00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7cf4ec89fd4ef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812AF0-AA7C-471C-876A-221243675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 전제 조건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029873-6297-44EC-8F83-7A1D3CEE0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실력과 스탠다드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8105F4-499E-463C-9C9D-7928BD0B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직접 보여줄 수 있는 실력, 누구에게나 일관된 기본기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B4FA1A-3C33-4FCF-887F-C7935AF877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83f5ecb4447a9"/>
          <a:stretch xmlns:a="http://schemas.openxmlformats.org/drawingml/2006/main"/>
        </p:blipFill>
        <p:spPr>
          <a:xfrm xmlns:a="http://schemas.openxmlformats.org/drawingml/2006/main">
            <a:off x="723900" y="26765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8871FC-9C4D-428E-9967-6A3250C93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47950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직접 보여주는 실력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35773C-8614-4CE7-9B97-F8D5A74CA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00400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 1회 이상 벨-공 세일즈 증명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4시간 안에 세일즈할 수 있는 실전 능력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1886EA-1ACF-4783-B2EC-68D88ECEE9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ef69fefb3c4269"/>
          <a:stretch xmlns:a="http://schemas.openxmlformats.org/drawingml/2006/main"/>
        </p:blipFill>
        <p:spPr>
          <a:xfrm xmlns:a="http://schemas.openxmlformats.org/drawingml/2006/main">
            <a:off x="723900" y="41529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304EFB-1345-4411-ADA1-2AA6F8F4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2432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일관된 기본 패턴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BDA55D-2215-4236-A46A-96046516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76775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직접 보여주고 실제 과정을 관찰하게 한다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모든 신입에게 같은 기본 스탠다드를 적용한다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E6E97E-8140-4C53-8078-7F73BA15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03 / 20</a:t>
            </a:r>
          </a:p>
        </p:txBody>
      </p:sp>
    </p:spTree>
    <p:extLst>
      <p:ext uri="{BB962C8B-B14F-4D97-AF65-F5344CB8AC3E}">
        <p14:creationId xmlns:p14="http://schemas.microsoft.com/office/powerpoint/2010/main" val="11555786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F1C045-B182-402D-A1C8-30050B9EEF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49fc969b4d448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018A5B-FE3D-487E-B63B-20CE99E7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0E9A7D-6EB8-4509-BAF9-44ACCD97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3일의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74EFBD-F793-4ACE-A681-B3CC50BB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각 단계에서 이렇게 느끼도록 돕는다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581F3E-F0F5-4E27-A9B0-55ACFF89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53FD54-4882-473F-8AB0-EB0A77A3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경험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9A6F26-9B33-46CB-AAB8-BF4F57EF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필드가 할 만하다고 느끼게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6477CE-F4FF-4FF2-AB48-5435F590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624D52-1681-43E7-9270-CB3BE7E9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72591C-C5A9-4FF6-931F-79F64BA3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잘 배우고 성장하면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할 수 있다고 느끼게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9DA7D9-0D7B-485A-8A86-E9B5D837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92F592-DCEA-4CDA-8DC4-7261F55F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판단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2FAE38-6414-4162-8B45-375ED964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가능성이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있다고 느끼게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F1E431-A7A8-4378-A2BB-F6103336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04 / 20</a:t>
            </a:r>
          </a:p>
        </p:txBody>
      </p:sp>
    </p:spTree>
    <p:extLst>
      <p:ext uri="{BB962C8B-B14F-4D97-AF65-F5344CB8AC3E}">
        <p14:creationId xmlns:p14="http://schemas.microsoft.com/office/powerpoint/2010/main" val="1728819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5C8CE7-52F5-480F-AB87-3160C01AA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A37078-2B9B-4132-ABFB-F845185B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1 · 긍정적인 첫 경험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D9F75F-D207-4742-B292-957C787C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성과보다 적응과 관찰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59B69F-F8C6-4E0A-B4EB-AA331F22D8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9f814bdffb489b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D26322-D2EC-44E2-B3EC-AF8376A98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반응과 태도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E9BF9F-530D-4048-A37B-834A015C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2시간쯤 뛰게 한 뒤 할 만한지 확인하고 기본 자세와 의지를 파악한다.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E8BB2B-ADCC-42D0-A651-E764CEB873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06740960c3433f"/>
          <a:stretch xmlns:a="http://schemas.openxmlformats.org/drawingml/2006/main"/>
        </p:blipFill>
        <p:spPr>
          <a:xfrm xmlns:a="http://schemas.openxmlformats.org/drawingml/2006/main">
            <a:off x="828675" y="3576638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FED82A-9828-4DAC-9E76-37A3B843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548063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쇼잉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FAFF21-1B97-44BB-BAF7-CBD6E5E4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57638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자신의 세일즈에 집중해 실제 과정을 직접 보여준다.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DEAF28-1786-4381-A3F8-6F561276B0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c92f3b1e7b4a6f"/>
          <a:stretch xmlns:a="http://schemas.openxmlformats.org/drawingml/2006/main"/>
        </p:blipFill>
        <p:spPr>
          <a:xfrm xmlns:a="http://schemas.openxmlformats.org/drawingml/2006/main">
            <a:off x="828675" y="4410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C8460D-9676-4C24-8358-6E96DD3EF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81500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두려움 제거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5A3FFA-3369-4F95-8940-70EDA8E3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791075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프리엠티브를 충분히 제공한다. 재미있고 해볼 만하다고 느끼게 한다.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65634C-2A17-4C91-9834-B1D929E408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89682925ac43a1"/>
          <a:stretch xmlns:a="http://schemas.openxmlformats.org/drawingml/2006/main"/>
        </p:blipFill>
        <p:spPr>
          <a:xfrm xmlns:a="http://schemas.openxmlformats.org/drawingml/2006/main">
            <a:off x="828675" y="5243513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C60758-FF51-4803-8302-31155B4F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214938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다음 날의 준비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7CB2FA-9FF1-4916-85CC-FFC8446E8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624513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결과 압박 대신 환경 적응을 돕고 심리적 준비를 만든다.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1D847D-DE84-4EF7-9A0C-5EDBB641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05 / 20</a:t>
            </a:r>
          </a:p>
        </p:txBody>
      </p:sp>
    </p:spTree>
    <p:extLst>
      <p:ext uri="{BB962C8B-B14F-4D97-AF65-F5344CB8AC3E}">
        <p14:creationId xmlns:p14="http://schemas.microsoft.com/office/powerpoint/2010/main" val="11288033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E57A86-8BD6-4194-8803-F3FBFCDC0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286450-80C0-4A5D-A76A-FDD194C5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2 · 결과로 배우는 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33604C-2068-46BD-847B-7C130B26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실질 역량을 가늠하는 시점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3F9296-7EFF-4DCC-95D3-2C831BDB47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a5c9513e9b4f69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F5F66D-5274-495D-958B-11BCED150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세일즈 1개 이상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2CCA63-E57D-4BB9-9E23-9E6D0BBC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반드시 함께 만들어낸다. 신입이 직접 성공을 체감하게 한다.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6BE442-C954-4576-B291-556E8B9899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322aa7274d4ebe"/>
          <a:stretch xmlns:a="http://schemas.openxmlformats.org/drawingml/2006/main"/>
        </p:blipFill>
        <p:spPr>
          <a:xfrm xmlns:a="http://schemas.openxmlformats.org/drawingml/2006/main">
            <a:off x="828675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9CCCFA-38A1-47F1-AB65-8EF847D6E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195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학습력과 성장성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563C68-6372-44E1-BD1C-F00F9AEF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291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첫날 대비 개선점을 짚고 학습 능력과 성장 가능성을 본다.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367485-D228-4F9B-BF7E-719D4D857B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3a667db5aa4ce7"/>
          <a:stretch xmlns:a="http://schemas.openxmlformats.org/drawingml/2006/main"/>
        </p:blipFill>
        <p:spPr>
          <a:xfrm xmlns:a="http://schemas.openxmlformats.org/drawingml/2006/main">
            <a:off x="828675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852752-8DF6-4EF3-89F6-AB0AF6EE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244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트레이너와 신입의 균형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6E46DD-5780-4C1A-BCFD-0E39D00E5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세일즈가 우선이며, 트레이너도 함께 성과를 낸다.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51F78D-F0B5-4A45-9CE4-05E5B4149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06 / 20</a:t>
            </a:r>
          </a:p>
        </p:txBody>
      </p:sp>
    </p:spTree>
    <p:extLst>
      <p:ext uri="{BB962C8B-B14F-4D97-AF65-F5344CB8AC3E}">
        <p14:creationId xmlns:p14="http://schemas.microsoft.com/office/powerpoint/2010/main" val="6180295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81C4FC-92BE-443D-822B-DE1CA3325F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2ce46b1955418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1F2AF7-A924-4702-9170-C01AB9E9A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F8A76-0A52-4D2B-88B8-94440BFB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3 · 성과의 패턴 읽기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027D94-75D4-418A-BD71-27088C4DB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Stay / Qualifying은 반드시 오너와 상의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646311-5539-4712-A0A9-90DFA8A9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 · 1 ·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F5AAC8-942B-49FB-90A9-20E513D4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가장 이상적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리더로 육성 가능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8F0C56-2387-42F7-B771-5BA9C5B6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14625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3일간 2개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16817C-DA68-4698-8850-6EDFCB43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86150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로드트립 제안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C4AD18-F7C5-4DE1-AF79-FAAE85C8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3일간 3개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804C59-9889-4336-9D3E-B14A9FF5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53025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의지와 센스 모두 보유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752D49-EE09-44CA-9C88-26D8EAEC8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81500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 · 0 · 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B71F88-26B2-4E39-BDAF-094EF7CD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153025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빠른 Qualifying 검토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179D69-4F69-4D0C-A267-90C1A8EC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사이트와 시간을 전략적으로 확보해 제로를 막는다. 판단은 반드시 오너와 상의한다.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666894-2CE0-4A42-8C68-55EAFA6EB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07 / 20</a:t>
            </a:r>
          </a:p>
        </p:txBody>
      </p:sp>
    </p:spTree>
    <p:extLst>
      <p:ext uri="{BB962C8B-B14F-4D97-AF65-F5344CB8AC3E}">
        <p14:creationId xmlns:p14="http://schemas.microsoft.com/office/powerpoint/2010/main" val="84508945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B753F3-AA9A-4F8A-BFF0-B8CBCCFF1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229AB8-6D45-4170-B61C-DED51DC77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 Step 트레이닝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C1E96F-FB64-429F-ABB2-38A780411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주목 · 짧은 피치 · 해결책 · 클로징 · 거래정보 재확인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46296B-B0C2-4F58-AF91-DD03B7AFA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B138D-BAE9-43F8-B1DE-6A0CEB14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C8460F-2C92-4E8C-836E-A5352F6C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Intro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4EF44D-D595-4DA7-9940-5E6C22EF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FFDD5C-9B02-403A-8102-ACBA28BE3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10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7F4A25-56A2-42BE-B622-A6E62EFD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572DBE-BC2E-4D9A-B9AA-8E1254D1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07307A-E592-407E-ABDA-8008091F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Short Story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6E7B36-FB84-446C-8D17-3C9FC0895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짧은 피치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3ECBF4-276A-4813-96FA-F9995371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866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14CB9F-EF1C-4864-872C-36CBE9A5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A3D0C3-1E38-433C-90A0-B8CB5999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526D50-D9E1-41E2-8953-4C0FBFA9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Presentation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D8CB7D-CFF3-418B-93C7-71D8DBAA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52B38B-7AAB-4C59-8550-436DEAF35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6CE391-BEDE-4E00-8E79-D05A5110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47A6A9-1F8B-48C8-970D-38D5259D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AF3712-EFC5-4C61-97FF-BF2AF6A5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C8A3A3-CEC0-406C-8811-FB428BE4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TAAIS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67523B-6BD7-41A1-B269-FB3D6B7D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880F69-7924-480E-9932-54740829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18703A-FE12-4F53-AACB-10AD52DBE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588B16-7D80-47CE-8B8B-C935F50B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Rehash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8C45A9-6022-4448-B63F-CC00B5143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재확인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5AA3DD-4B39-4804-B78D-10A50FB85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08 / 20</a:t>
            </a:r>
          </a:p>
        </p:txBody>
      </p:sp>
    </p:spTree>
    <p:extLst>
      <p:ext uri="{BB962C8B-B14F-4D97-AF65-F5344CB8AC3E}">
        <p14:creationId xmlns:p14="http://schemas.microsoft.com/office/powerpoint/2010/main" val="15071586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4E41D0-4029-4912-A0AD-95037834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0740A8-ACD2-4638-B2D4-79F877896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 · TAAIS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EB0B8F-9080-4827-876A-EEBADF9D4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구매를 전제로 대화하고, 선택권과 침묵을 활용한다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C44FE4-020B-460E-BEE2-6F65C7D7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790C07-8E77-452C-ACA3-01521FA6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Trial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2340B8-183F-4B0C-8404-40D13108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항상 시도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E57EC1-EAD5-47A5-B293-BFCFA042C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731359-4648-46C0-A8F3-15EC05B2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Assumptive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1E1CB7-EFA4-42AB-BB3F-E219C8C8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 전제 대화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094C57-EB24-4991-9850-C1E6939C3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1F0A8F-8CD9-414B-8910-CC472B88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Alternative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19039A-10BE-452B-B61D-F1466039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대안 제시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9580EE-05EC-49D9-A129-388F99286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390DA9-E46F-4AC8-AC38-4388B4781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Indifference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4B5FB1-8951-480F-872E-2D43216F5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선택권 부여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B82D70-B177-40A7-A5DA-9E4E0DC7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AB47A7-9BBE-470C-86A8-12A3F90D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Silence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4E538C-F664-4C38-87E6-7DF336B20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침묵 활용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F7DCEC-D520-43B3-9AC4-0B59C2DF1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쿠션 멘트: “바쁘시니까”, “이미 좋은 일 많이 하시겠지만”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D4349F-B385-497F-851A-EA4FC8BC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09 / 20</a:t>
            </a:r>
          </a:p>
        </p:txBody>
      </p:sp>
    </p:spTree>
    <p:extLst>
      <p:ext uri="{BB962C8B-B14F-4D97-AF65-F5344CB8AC3E}">
        <p14:creationId xmlns:p14="http://schemas.microsoft.com/office/powerpoint/2010/main" val="20189181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7E0ED1-5956-4CA7-84A2-A8B68EF1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D9A868-164E-40A7-9023-70EB1C0A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전·중·후, 트레이너가 챙길 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597B51-E812-4A53-9641-201843C42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준비부터 복기까지 이어지는 하루의 트레이닝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26C59C-9044-4C2B-9DFF-273FDF6C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필드 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398EEA-36E9-4569-A0C0-E375FC8A2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09925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함께 준비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80C6C7-7729-40E7-83A9-DD07B59E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33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피치와 니즈 점검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개인·섹터 목표 설정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 전략·프리엠티브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물품과 복장 확인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FE4D42-C73E-4B50-A733-368F7A04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714625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필드 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C4BADA-D815-48D3-A240-46609C194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209925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관찰하고 보여주기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FCB66F-352E-43A8-B265-2BD048A7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905250"/>
            <a:ext cx="3333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유형과 이해도 파악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계속 시도하며 데이터 쌓기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2시간마다 콜백싯 점검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쇼잉·멘탈 케어·좋은 소식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F69E30-334E-4CD1-B159-D3AED4096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14625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필드 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532560-4934-4B0C-A3F3-85A8A645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09925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돌아보고 다음을 준비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E348C7-C5B8-4D21-9378-326F36EB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05250"/>
            <a:ext cx="3333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오늘의 소감·배움 확인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콜백싯으로 넘버 비교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스킬·태도 보완점 피드백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다음 교육 일정 안내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A4A9FA-2B17-410E-BA7A-127553895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10 / 20</a:t>
            </a:r>
          </a:p>
        </p:txBody>
      </p:sp>
    </p:spTree>
    <p:extLst>
      <p:ext uri="{BB962C8B-B14F-4D97-AF65-F5344CB8AC3E}">
        <p14:creationId xmlns:p14="http://schemas.microsoft.com/office/powerpoint/2010/main" val="995807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49655F-A916-4DB9-B203-8B67A39F2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4CADC5-EE1F-478E-8C9F-38E72831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관찰에 맞춘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C8E721-8829-4594-A60D-3CAC99CC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사람의 약점에 따라 처방을 달리한다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8C2A8A-DDA3-4E6A-86A9-3818EE56C3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9f8c97128442e9"/>
          <a:stretch xmlns:a="http://schemas.openxmlformats.org/drawingml/2006/main"/>
        </p:blipFill>
        <p:spPr>
          <a:xfrm xmlns:a="http://schemas.openxmlformats.org/drawingml/2006/main">
            <a:off x="80962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FA8646-C5A6-4BF9-9635-EEF167BA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146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리액션이 약하다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8EBE8B-A44E-444A-8C5B-AC85A375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765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리액션 강화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344009-8C4E-4C01-B28E-D5AB0A95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433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표정·제스처 / 즉각 대응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임펄스·바디랭귀지 / 롤플레이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82D73D-AD40-4141-A374-BAA2256664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cfc9425f41479f"/>
          <a:stretch xmlns:a="http://schemas.openxmlformats.org/drawingml/2006/main"/>
        </p:blipFill>
        <p:spPr>
          <a:xfrm xmlns:a="http://schemas.openxmlformats.org/drawingml/2006/main">
            <a:off x="6419850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0C25AD-B86F-4F34-811C-51230488A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146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부스 연결이 약하다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D04948-01EA-4B79-A1E2-A584D9883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765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스트릿 스킬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D776C3-7348-4446-9CF7-4761478A7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5433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접근 방법 / 첫인상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거절 극복 / 고객 유형별 접근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5D4931-5FCC-4555-9FE1-E199DE4391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07b30d7f6a4f1b"/>
          <a:stretch xmlns:a="http://schemas.openxmlformats.org/drawingml/2006/main"/>
        </p:blipFill>
        <p:spPr>
          <a:xfrm xmlns:a="http://schemas.openxmlformats.org/drawingml/2006/main">
            <a:off x="809625" y="44577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78DA8D-88FD-4DF7-8CA9-9A849C584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291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클로징이 약하다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DE4A6C-7ABD-4DD5-963B-A5B67F64D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910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클로징 강화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91B12A-9D55-4A66-894C-603E41F4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578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TAAIS / Buying sign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침묵·대안 / 클로징 타이밍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F65906-223F-468F-8DF5-6206837FB8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cc9bec5efc4444"/>
          <a:stretch xmlns:a="http://schemas.openxmlformats.org/drawingml/2006/main"/>
        </p:blipFill>
        <p:spPr>
          <a:xfrm xmlns:a="http://schemas.openxmlformats.org/drawingml/2006/main">
            <a:off x="6419850" y="44577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260152-3308-4DD3-81BD-AE41ACCC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4291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이미 잘한다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DC4217-73F6-4638-BAAA-2CF2266A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7910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목표 상향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A0C886-56FF-443F-82FE-136799599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2578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높은 목표 / 자기주도 성장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리더십·멘토링 / 커리어 설계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52E650-E8AE-43D4-87E9-592F2F355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11 / 20</a:t>
            </a:r>
          </a:p>
        </p:txBody>
      </p:sp>
    </p:spTree>
    <p:extLst>
      <p:ext uri="{BB962C8B-B14F-4D97-AF65-F5344CB8AC3E}">
        <p14:creationId xmlns:p14="http://schemas.microsoft.com/office/powerpoint/2010/main" val="8637106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8F1F9A-10F8-4723-9089-A4EEF65A0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7B3616-C651-446D-B239-C8532A86C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피드백의 다섯 가지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5D6CE5-E481-40C9-B114-DF8EC6DE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좋은 의도만으로는 충분하지 않다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525FB1-0499-44DF-B4C4-13D5B113F1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9fe3c36bc94306"/>
          <a:stretch xmlns:a="http://schemas.openxmlformats.org/drawingml/2006/main"/>
        </p:blipFill>
        <p:spPr>
          <a:xfrm xmlns:a="http://schemas.openxmlformats.org/drawingml/2006/main">
            <a:off x="762000" y="27146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0AAD04-1E56-401E-8764-4F398258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146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콜백싯 기준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5E4142-DF3D-44F6-8F1C-CE7A165E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146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감정·느낌 대신 넘버 · 스킬 · 태도를 기준으로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652C0D-505B-4E14-BCFE-5728902A55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56818ce0c4a82"/>
          <a:stretch xmlns:a="http://schemas.openxmlformats.org/drawingml/2006/main"/>
        </p:blipFill>
        <p:spPr>
          <a:xfrm xmlns:a="http://schemas.openxmlformats.org/drawingml/2006/main">
            <a:off x="762000" y="33813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15F809-7172-4A25-9223-85F474CE0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8137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상대에게 필요한 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EB0FE3-F5C1-48FC-BF6B-3CFEDFFC7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8137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내가 하고 싶은 말인지 먼저 점검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008E8A-5F65-49B8-8CA5-D3213E6FD8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2896fa58f74a55"/>
          <a:stretch xmlns:a="http://schemas.openxmlformats.org/drawingml/2006/main"/>
        </p:blipFill>
        <p:spPr>
          <a:xfrm xmlns:a="http://schemas.openxmlformats.org/drawingml/2006/main">
            <a:off x="762000" y="40481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D37F72-0F4A-40BF-8257-44C93D947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481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KISS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0808D6-AFB7-4EA3-99EF-D20F4C43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0481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간단 · 명료 · 눈높이, 공감할 수 있는 예시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1467A6-249D-4567-88F6-F7044FE8E0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b0023e6dc64a99"/>
          <a:stretch xmlns:a="http://schemas.openxmlformats.org/drawingml/2006/main"/>
        </p:blipFill>
        <p:spPr>
          <a:xfrm xmlns:a="http://schemas.openxmlformats.org/drawingml/2006/main">
            <a:off x="762000" y="47148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121298-21BD-4624-B5D3-CDF24C0E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1487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COD 공부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332A69-E804-4A08-A75A-C0743A22B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1487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올바른 정보인지 확인, 긴가민가한 말은 하지 않기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7520E1-14E8-4BCB-A541-DD25C11D8E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e3aedcae7f4546"/>
          <a:stretch xmlns:a="http://schemas.openxmlformats.org/drawingml/2006/main"/>
        </p:blipFill>
        <p:spPr>
          <a:xfrm xmlns:a="http://schemas.openxmlformats.org/drawingml/2006/main">
            <a:off x="762000" y="53816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E19013-0130-4B43-B09A-F9FDA3F6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816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타이밍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D06DD6-A394-499E-A137-8ECF0EC4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3816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필수 상황 외에는 2시간에 1번, 그 사이는 개인 목표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3285A1-A2F7-40A7-AF7B-DB7484DF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피드백 수용이 빠른 신입, 주거테리·유동이 적은 B패턴에는 전략적으로 활용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3FFF12-B5D9-4812-BF1A-F73EFE90B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12 / 20</a:t>
            </a:r>
          </a:p>
        </p:txBody>
      </p:sp>
    </p:spTree>
    <p:extLst>
      <p:ext uri="{BB962C8B-B14F-4D97-AF65-F5344CB8AC3E}">
        <p14:creationId xmlns:p14="http://schemas.microsoft.com/office/powerpoint/2010/main" val="13864073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C4DFE3-3ADB-4A8D-8162-2A9FD466F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37CA92-8C5C-4E97-818E-436F51FA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샌드위치 기법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519459-83B8-4FAE-9083-8BB24E4B1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긍정으로 시작하고, 개선점을 전하고, 다시 긍정으로 마무리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4512C2-C329-4197-A5C8-EA75D60630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6b058458824365"/>
          <a:stretch xmlns:a="http://schemas.openxmlformats.org/drawingml/2006/main"/>
        </p:blipFill>
        <p:spPr>
          <a:xfrm xmlns:a="http://schemas.openxmlformats.org/drawingml/2006/main">
            <a:off x="7715250" y="2905125"/>
            <a:ext cx="2857500" cy="2857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A07E8B-34E1-4BD2-AC6E-1684493D3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긍정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B9ADD4-7C27-4677-B915-8C57AC4C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765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좋았던 행동을 구체적으로 인정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93255D-DECE-4E0B-AFAD-DE6FD30F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개선점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35C199-2D68-4795-AE38-0D9CB79E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바꿔볼 한 가지를 제안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32B7D1-1BAF-4657-9741-4ECC532C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긍정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C44DD9-3669-4798-A3DA-364CB829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01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잘할 수 있다는 믿음으로 마무리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76D744-87EF-467E-86A9-86C02B31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293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“이것도 저것도 좋았는데, 이 부분만 이렇게 바꿔보면 어떨까요?”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107CAC-D330-493E-A47E-7109A04E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13 / 20</a:t>
            </a:r>
          </a:p>
        </p:txBody>
      </p:sp>
    </p:spTree>
    <p:extLst>
      <p:ext uri="{BB962C8B-B14F-4D97-AF65-F5344CB8AC3E}">
        <p14:creationId xmlns:p14="http://schemas.microsoft.com/office/powerpoint/2010/main" val="171691623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31C409-F33A-497D-A889-9C4823DA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A068BA-1AF3-4617-BDF9-A4A73E18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SBI 모델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07A14C-B54D-4A11-B31C-F8AF4525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상황 · 행동 · 영향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98A420-187F-4DD6-93FE-8EB8293FD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3048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7D0C30-3961-4143-B6E0-341770D3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Situation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F38C45-0807-4AA1-AC5B-418E6F42D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FE3ABB-0CCD-4C5D-8A2A-BA446F92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292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이럴 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FF3C69-6253-4CFF-867E-E97FEA73F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62250"/>
            <a:ext cx="3048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50C42A-0B53-4491-9BFD-C15FE2DD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095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Behavior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0F33C8-F61F-4506-A297-421D095F5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1485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행동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54A935-8970-43D8-9264-02CAFCD9E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2292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이렇게 하면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35208C-F03C-4A9D-8E4E-A701A7D59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62250"/>
            <a:ext cx="3048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0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0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0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F7AB69-CBFB-48C9-B99B-025E3273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95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Impact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A65078-6835-41B4-A3DF-0A5AE3F9C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51485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영향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328DB0-5A73-4CD0-BEBF-8F0242B05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2292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이런 장점이 있어요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109A18-ECC0-4098-A4B0-F713522E4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293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“이럴 땐 이렇게 하면 이런 장점이 있어요!”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4E4EFE-781F-4EAC-AB92-323A1177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14 / 20</a:t>
            </a:r>
          </a:p>
        </p:txBody>
      </p:sp>
    </p:spTree>
    <p:extLst>
      <p:ext uri="{BB962C8B-B14F-4D97-AF65-F5344CB8AC3E}">
        <p14:creationId xmlns:p14="http://schemas.microsoft.com/office/powerpoint/2010/main" val="14903820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A98535-559C-4820-B0CA-8EE515A7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755690-305A-48F0-8AC2-FE27D7ADB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5R 코칭법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A5F9EB-166F-49AD-AC06-613AD54A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디테일한 발전을 위한 대화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13BC7A-4E2A-4981-81AC-06FE9AAB0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Relation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7A11E-BFF7-4CF2-A69C-1A3EF9D3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관계형성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20C020-C109-4959-9F4D-4EC91F57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Refocus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FE5801-705C-4716-B683-1984E6C6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목표설정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15DCE2-23C6-4A32-8D68-A6C55B4A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415AAA-E979-4872-81DD-DDEAC0DA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현실 장애물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B4830D-EB63-41AB-9085-5DF85C70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Resources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43B7CF-F5F9-4C90-AE77-BA928242B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해결자원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FFE7B0-ED95-471D-B0EC-07AAC494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Responsibility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C1BD15-BFB1-4290-B8DE-C5EDDEC5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책임지기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794AAD-AD0D-4E31-AC53-84047AA2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9592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목표는? 장애물은? 그럼에도 해결할 방법은? 언제까지 무엇을 할지 약속하고 지킨다.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5E6979-BFBA-4210-81F4-D7CDDC88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15 / 20</a:t>
            </a:r>
          </a:p>
        </p:txBody>
      </p:sp>
    </p:spTree>
    <p:extLst>
      <p:ext uri="{BB962C8B-B14F-4D97-AF65-F5344CB8AC3E}">
        <p14:creationId xmlns:p14="http://schemas.microsoft.com/office/powerpoint/2010/main" val="162474780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2F03D8-1C2B-4599-B967-533490CCC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61D442-7FD1-488E-9B1C-17D3037E3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트레이너도 콜백싯을 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7E592F-FE02-4119-90FB-2B79EFEC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내가 신입을 위해 무엇을 챙겼는가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E7AA50-A6ED-47C8-8B23-04010C90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190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33DC8B-95C7-4FF9-AD71-DBDD5927F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71825"/>
            <a:ext cx="3190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Number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F66A60-2317-4DBE-A756-95021A152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319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넘버를 쌓게 했는가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41523D-0943-458E-8D0E-212D77E0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3190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 준비 / 시도하게 하는 피드백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거절 없는 시도 횟수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4EAA17-BFEE-4C24-B726-A2AE9F5D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57500"/>
            <a:ext cx="3190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A3DC45-C073-468B-8FB8-AA32F75C9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71825"/>
            <a:ext cx="3190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Pitch · Skill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F583E9-E608-41C4-96E2-AA503528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714750"/>
            <a:ext cx="319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스킬을 보강했는가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96CAE3-F572-42C7-9898-FEBE30DE1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572000"/>
            <a:ext cx="3190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약한 부분 즉시 교육 / 어떤 스킬이든 보강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내일 바로 쓸 수 있게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8FDFA6-4B86-43D7-8FDB-65C999AE7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57500"/>
            <a:ext cx="3190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7A0FAF-F018-43AC-A889-504A7FBB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71825"/>
            <a:ext cx="3190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Attitude · Mental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6F7861-903C-4FDD-B5DE-BA80EE51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14750"/>
            <a:ext cx="319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멘탈을 지켜줬는가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CA38D6-D8E4-4E35-8975-129EA252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72000"/>
            <a:ext cx="3190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불안·두려움 제거 / 방해되는 마음 케어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필드에 온전히 집중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7408A5-0E7F-4353-B9D2-141E511E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콜백싯이 신입을 키우듯, 트레이너의 콜백싯이 트레이너를 키운다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40C667-291C-4D33-BA65-65ED562E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16 / 20</a:t>
            </a:r>
          </a:p>
        </p:txBody>
      </p:sp>
    </p:spTree>
    <p:extLst>
      <p:ext uri="{BB962C8B-B14F-4D97-AF65-F5344CB8AC3E}">
        <p14:creationId xmlns:p14="http://schemas.microsoft.com/office/powerpoint/2010/main" val="60481965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2CABAA-731F-4338-AF89-D70113E05D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1ca23784da4ef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95757B-F68E-4350-BE5D-AC9B270A3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 자립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0A283A-F75F-436E-B226-18596EAB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자립을 위한 6주 전략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5B5DC1-9B49-4B2A-97FE-7FF56F8C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성장 속도에 맞춰, 단계별로 모니터링한다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656F5E-7667-4B7C-B78B-7DE08DA88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1–2주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5A73CC-558E-4D60-9CF0-B8910EB5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895904-DF8E-469A-9D44-2F6B10AA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2주 이내 달성이 이상적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스케줄과 필드 시간 확보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5DC3CB-50DA-43EB-941B-E5F26FE8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3–5주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A3E8A2-C940-4458-8F80-80F86A6B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로드트립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9F0BF8-8713-42F1-8C16-4F313AD0A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적극 활용하며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성장 과정을 모니터링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4F171E-6F5D-44DD-B295-4C2B55FB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약 6주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4AC0B4-44CF-47C0-BB51-9E4EBF74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적응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6CAEF1-CFC2-46FA-9D22-794953E27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Self 시점 사전 안내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심리적 준비와 실전 역량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B997B9-C39F-47F3-A12A-35A195163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6주는 원본의 트레이닝 운영 기준이며, 개인별 적응 속도를 고려한다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EE66B7-E532-4C47-BF5C-B44F8CC1A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17 / 20</a:t>
            </a:r>
          </a:p>
        </p:txBody>
      </p:sp>
    </p:spTree>
    <p:extLst>
      <p:ext uri="{BB962C8B-B14F-4D97-AF65-F5344CB8AC3E}">
        <p14:creationId xmlns:p14="http://schemas.microsoft.com/office/powerpoint/2010/main" val="113095461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B3948C-AEBC-426B-B3D0-495B36E01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67819B-EF94-47D8-B137-3DB70D08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세 가지 핵심 역할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37AB61-0274-48DE-B786-0645D352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자발적으로 성장할 수 있는 환경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B3BD8D-2CC6-41EA-AD3F-E41B51D639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2ae0d6763e4831"/>
          <a:stretch xmlns:a="http://schemas.openxmlformats.org/drawingml/2006/main"/>
        </p:blipFill>
        <p:spPr>
          <a:xfrm xmlns:a="http://schemas.openxmlformats.org/drawingml/2006/main">
            <a:off x="81915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CCC8C3-EC5D-4A74-BFC0-42B31F7F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성취감 제공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6DED1A-476C-44F4-BB9E-B2D0EDD7F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내가 직접 해냈다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6F69ED-5B7C-4A91-B305-6A37BEB9D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두려워하면 돕고, 아니면 혼자 하게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두려움의 수준을 먼저 파악한다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6E7F79-8234-47DD-846C-67D5B63518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832616e7f94090"/>
          <a:stretch xmlns:a="http://schemas.openxmlformats.org/drawingml/2006/main"/>
        </p:blipFill>
        <p:spPr>
          <a:xfrm xmlns:a="http://schemas.openxmlformats.org/drawingml/2006/main">
            <a:off x="45085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A4CD4B-DE30-47E6-8DBA-18F9185F5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두려움 제거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907005-C379-4C3D-9249-D5345E40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안전하게 도전한다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2AD18C-6C8D-4B31-9493-2AFFA12D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초기에 충분한 서포트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점진적으로 독립성을 부여한다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49BBD7-A647-49FF-8169-65749350CD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de65c0327d4d46"/>
          <a:stretch xmlns:a="http://schemas.openxmlformats.org/drawingml/2006/main"/>
        </p:blipFill>
        <p:spPr>
          <a:xfrm xmlns:a="http://schemas.openxmlformats.org/drawingml/2006/main">
            <a:off x="819785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BB6F8E-93A0-4714-AE74-A07EB3AE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935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인정과 칭찬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CF1F63-75A1-4AAD-B819-DD827737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스스로 깨닫게 한다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E1D33A-5599-43B8-9A81-7AEEF3A0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인정받을 때 주도적이 된다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혼냄보다 인정과 칭찬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B15358-49D7-4249-9CE2-DB270A40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생계·수입, 안전, 소속감, 존중을 살피며 스스로 더 큰 목표에 도전하도록 돕는다.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461185-5E9E-4575-93B1-8EBD4F907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18 / 20</a:t>
            </a:r>
          </a:p>
        </p:txBody>
      </p:sp>
    </p:spTree>
    <p:extLst>
      <p:ext uri="{BB962C8B-B14F-4D97-AF65-F5344CB8AC3E}">
        <p14:creationId xmlns:p14="http://schemas.microsoft.com/office/powerpoint/2010/main" val="211965035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800C63-C0EA-437E-ABFF-61CC6281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9086BA-BB9E-437B-98F0-C2A8BACA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Stay / Qualifying, 함께 책임지는 판단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19AC12-7E52-4ED3-A60D-D761FD555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트레이너 50%, 신입 50%. 반드시 오너와 상의한다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3D983F-F36B-4D04-B27F-D135C6EECD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69c6a96f064883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5A7322-490D-4159-B1EE-D5B172E5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STAY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A92864-1090-4F5A-95F9-A0EEA368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결과가 좋거나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기준 도달에 확신이 있을 때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C35389-D6C5-4E4B-995C-F9BA474184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a59d0231a24c7a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471F72-91B4-4753-9075-A91DE52A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QUALIFYING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8A85AE-DEE7-4EA1-914F-568C493DA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최소 기준 도달이 어렵고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확신이 없을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2AE13C-57AB-4383-9844-429F9D4AE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개별 상황을 고려한다. 캔슬은 지점에서 관리하고 IC는 그로스에 집중하도록 돕는다.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32BB00-DC77-4363-B739-AD6D8B66B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19 / 20</a:t>
            </a:r>
          </a:p>
        </p:txBody>
      </p:sp>
    </p:spTree>
    <p:extLst>
      <p:ext uri="{BB962C8B-B14F-4D97-AF65-F5344CB8AC3E}">
        <p14:creationId xmlns:p14="http://schemas.microsoft.com/office/powerpoint/2010/main" val="65003602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0AFCDA-5350-4946-B5F8-3054962333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05dde5cb4d4c6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D35983-DA17-4633-987D-90D517E1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PRESENCE · 임재영 AOP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2CBE94-CB68-4FC0-95A6-B67AF56C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딱 한 걸음 앞서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기다릴 줄 아는 리더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A4CB5-D94D-49E2-A74F-453843637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먼저 배우고 싶게 만들고, 피드백 전에 관찰한다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스스로 할 수 있다고 느끼도록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4C83DE-E357-433D-84B3-8CE12DD2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72125"/>
            <a:ext cx="904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PRESENCE · 임재영 AOP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Presence Team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A1DF56-F35E-4B17-9B1C-0E6268B8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20 / 20</a:t>
            </a:r>
          </a:p>
        </p:txBody>
      </p:sp>
    </p:spTree>
    <p:extLst>
      <p:ext uri="{BB962C8B-B14F-4D97-AF65-F5344CB8AC3E}">
        <p14:creationId xmlns:p14="http://schemas.microsoft.com/office/powerpoint/2010/main" val="9806960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2026-10-25T03:46:48.7370000Z</dcterms:created>
  <dcterms:modified xsi:type="dcterms:W3CDTF">2026-10-25T03:46:48.7370000Z</dcterms:modified>
</coreProperties>
</file>