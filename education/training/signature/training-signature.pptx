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2f28b9938e4eb0" /><Relationship Type="http://schemas.openxmlformats.org/officeDocument/2006/relationships/extended-properties" Target="/docProps/app.xml" Id="R545c09ff7f334729" /><Relationship Type="http://schemas.openxmlformats.org/officeDocument/2006/relationships/officeDocument" Target="/ppt/presentation.xml" Id="Ra583cc4835db4d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2ada25e2204495"/>
  </p:sldMasterIdLst>
  <p:notesMasterIdLst>
    <p:notesMasterId xmlns:r="http://schemas.openxmlformats.org/officeDocument/2006/relationships" r:id="R3f6de210b5be4e31"/>
  </p:notesMasterIdLst>
  <p:sldIdLst>
    <p:sldId xmlns:r="http://schemas.openxmlformats.org/officeDocument/2006/relationships" id="256" r:id="R3bf79b7cb8c74ad3"/>
    <p:sldId xmlns:r="http://schemas.openxmlformats.org/officeDocument/2006/relationships" id="257" r:id="Rf713cfa4306f4d20"/>
    <p:sldId xmlns:r="http://schemas.openxmlformats.org/officeDocument/2006/relationships" id="258" r:id="Rbabe80c08e67484c"/>
    <p:sldId xmlns:r="http://schemas.openxmlformats.org/officeDocument/2006/relationships" id="259" r:id="R3017a9f893064b74"/>
    <p:sldId xmlns:r="http://schemas.openxmlformats.org/officeDocument/2006/relationships" id="260" r:id="R4f17df25bd6c4a9b"/>
    <p:sldId xmlns:r="http://schemas.openxmlformats.org/officeDocument/2006/relationships" id="261" r:id="Rbd4648d738bd458d"/>
    <p:sldId xmlns:r="http://schemas.openxmlformats.org/officeDocument/2006/relationships" id="262" r:id="R2794d2d5e771449f"/>
    <p:sldId xmlns:r="http://schemas.openxmlformats.org/officeDocument/2006/relationships" id="263" r:id="R406f72e26d794e48"/>
    <p:sldId xmlns:r="http://schemas.openxmlformats.org/officeDocument/2006/relationships" id="264" r:id="R7998e277b8a6404b"/>
    <p:sldId xmlns:r="http://schemas.openxmlformats.org/officeDocument/2006/relationships" id="265" r:id="Rfaea8a515e7446ac"/>
    <p:sldId xmlns:r="http://schemas.openxmlformats.org/officeDocument/2006/relationships" id="266" r:id="R29a27c5d42cd4ebe"/>
    <p:sldId xmlns:r="http://schemas.openxmlformats.org/officeDocument/2006/relationships" id="267" r:id="Rde4378153d884976"/>
    <p:sldId xmlns:r="http://schemas.openxmlformats.org/officeDocument/2006/relationships" id="268" r:id="R8f1f50a4c6174a38"/>
    <p:sldId xmlns:r="http://schemas.openxmlformats.org/officeDocument/2006/relationships" id="269" r:id="Rb193022732f74be2"/>
    <p:sldId xmlns:r="http://schemas.openxmlformats.org/officeDocument/2006/relationships" id="270" r:id="R048da8c053fb4f69"/>
    <p:sldId xmlns:r="http://schemas.openxmlformats.org/officeDocument/2006/relationships" id="271" r:id="R026d8e621a83412b"/>
    <p:sldId xmlns:r="http://schemas.openxmlformats.org/officeDocument/2006/relationships" id="272" r:id="R013698d9e03444ea"/>
    <p:sldId xmlns:r="http://schemas.openxmlformats.org/officeDocument/2006/relationships" id="273" r:id="Rad2ee9ed07414d9f"/>
    <p:sldId xmlns:r="http://schemas.openxmlformats.org/officeDocument/2006/relationships" id="274" r:id="R1ea06999ac8e4cce"/>
    <p:sldId xmlns:r="http://schemas.openxmlformats.org/officeDocument/2006/relationships" id="275" r:id="R757fdcbfaa034740"/>
    <p:sldId xmlns:r="http://schemas.openxmlformats.org/officeDocument/2006/relationships" id="276" r:id="Reb3f6d07185b4992"/>
    <p:sldId xmlns:r="http://schemas.openxmlformats.org/officeDocument/2006/relationships" id="277" r:id="R76d04b30fb264b79"/>
    <p:sldId xmlns:r="http://schemas.openxmlformats.org/officeDocument/2006/relationships" id="278" r:id="Rf0a0e5502fa748e9"/>
    <p:sldId xmlns:r="http://schemas.openxmlformats.org/officeDocument/2006/relationships" id="279" r:id="R28f5d52b9b2c4fa4"/>
    <p:sldId xmlns:r="http://schemas.openxmlformats.org/officeDocument/2006/relationships" id="280" r:id="Rf6f0e37118234769"/>
    <p:sldId xmlns:r="http://schemas.openxmlformats.org/officeDocument/2006/relationships" id="281" r:id="Rdd50005fc9bf4a56"/>
    <p:sldId xmlns:r="http://schemas.openxmlformats.org/officeDocument/2006/relationships" id="282" r:id="Rf07743d4f02e490f"/>
    <p:sldId xmlns:r="http://schemas.openxmlformats.org/officeDocument/2006/relationships" id="283" r:id="Rd9bece59834f446f"/>
    <p:sldId xmlns:r="http://schemas.openxmlformats.org/officeDocument/2006/relationships" id="284" r:id="Rc8270b582dcb4694"/>
    <p:sldId xmlns:r="http://schemas.openxmlformats.org/officeDocument/2006/relationships" id="285" r:id="Rfe97f0b37f534e3c"/>
    <p:sldId xmlns:r="http://schemas.openxmlformats.org/officeDocument/2006/relationships" id="286" r:id="R0a339a2a2853420a"/>
    <p:sldId xmlns:r="http://schemas.openxmlformats.org/officeDocument/2006/relationships" id="287" r:id="R5ba60f77845c40aa"/>
    <p:sldId xmlns:r="http://schemas.openxmlformats.org/officeDocument/2006/relationships" id="288" r:id="R637f993c9d634c2c"/>
    <p:sldId xmlns:r="http://schemas.openxmlformats.org/officeDocument/2006/relationships" id="289" r:id="R04221b3c134b4f5a"/>
    <p:sldId xmlns:r="http://schemas.openxmlformats.org/officeDocument/2006/relationships" id="290" r:id="R920f1e7f72bb425e"/>
    <p:sldId xmlns:r="http://schemas.openxmlformats.org/officeDocument/2006/relationships" id="291" r:id="R6a6de2fa8b194365"/>
    <p:sldId xmlns:r="http://schemas.openxmlformats.org/officeDocument/2006/relationships" id="292" r:id="R4d304d49b1c34662"/>
    <p:sldId xmlns:r="http://schemas.openxmlformats.org/officeDocument/2006/relationships" id="293" r:id="Ra57bd658c5384750"/>
    <p:sldId xmlns:r="http://schemas.openxmlformats.org/officeDocument/2006/relationships" id="294" r:id="R8238b6fe203e4079"/>
    <p:sldId xmlns:r="http://schemas.openxmlformats.org/officeDocument/2006/relationships" id="295" r:id="R176b29d616724763"/>
    <p:sldId xmlns:r="http://schemas.openxmlformats.org/officeDocument/2006/relationships" id="296" r:id="R5ca5252ed2b945c5"/>
    <p:sldId xmlns:r="http://schemas.openxmlformats.org/officeDocument/2006/relationships" id="297" r:id="R44b88244ce8e446b"/>
    <p:sldId xmlns:r="http://schemas.openxmlformats.org/officeDocument/2006/relationships" id="298" r:id="R2b4e5cb997a04e43"/>
    <p:sldId xmlns:r="http://schemas.openxmlformats.org/officeDocument/2006/relationships" id="299" r:id="R47a2956033844cec"/>
    <p:sldId xmlns:r="http://schemas.openxmlformats.org/officeDocument/2006/relationships" id="300" r:id="Rd1e0d3ddfad945b1"/>
    <p:sldId xmlns:r="http://schemas.openxmlformats.org/officeDocument/2006/relationships" id="301" r:id="R2dcf3718e507419a"/>
    <p:sldId xmlns:r="http://schemas.openxmlformats.org/officeDocument/2006/relationships" id="302" r:id="Ra7a0370d51ad4eb8"/>
    <p:sldId xmlns:r="http://schemas.openxmlformats.org/officeDocument/2006/relationships" id="303" r:id="R0a84324dbd184e7b"/>
    <p:sldId xmlns:r="http://schemas.openxmlformats.org/officeDocument/2006/relationships" id="304" r:id="R4e7bfaa20bc641e9"/>
    <p:sldId xmlns:r="http://schemas.openxmlformats.org/officeDocument/2006/relationships" id="305" r:id="R569b33124b004f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7b8777585b4b01" /><Relationship Type="http://schemas.openxmlformats.org/officeDocument/2006/relationships/slideMaster" Target="/ppt/slideMasters/slideMaster1.xml" Id="R2b2ada25e2204495" /><Relationship Type="http://schemas.openxmlformats.org/officeDocument/2006/relationships/notesMaster" Target="/ppt/notesMasters/notesMaster1.xml" Id="R3f6de210b5be4e31" /><Relationship Type="http://schemas.openxmlformats.org/officeDocument/2006/relationships/presProps" Target="/ppt/presProps.xml" Id="R1717f77425754863" /><Relationship Type="http://schemas.openxmlformats.org/officeDocument/2006/relationships/tableStyles" Target="/ppt/tableStyles.xml" Id="R3fcca23e42ae4c4f" /><Relationship Type="http://schemas.openxmlformats.org/officeDocument/2006/relationships/slide" Target="/ppt/slides/slide1.xml" Id="R3bf79b7cb8c74ad3" /><Relationship Type="http://schemas.openxmlformats.org/officeDocument/2006/relationships/slide" Target="/ppt/slides/slide2.xml" Id="Rf713cfa4306f4d20" /><Relationship Type="http://schemas.openxmlformats.org/officeDocument/2006/relationships/slide" Target="/ppt/slides/slide3.xml" Id="Rbabe80c08e67484c" /><Relationship Type="http://schemas.openxmlformats.org/officeDocument/2006/relationships/slide" Target="/ppt/slides/slide4.xml" Id="R3017a9f893064b74" /><Relationship Type="http://schemas.openxmlformats.org/officeDocument/2006/relationships/slide" Target="/ppt/slides/slide5.xml" Id="R4f17df25bd6c4a9b" /><Relationship Type="http://schemas.openxmlformats.org/officeDocument/2006/relationships/slide" Target="/ppt/slides/slide6.xml" Id="Rbd4648d738bd458d" /><Relationship Type="http://schemas.openxmlformats.org/officeDocument/2006/relationships/slide" Target="/ppt/slides/slide7.xml" Id="R2794d2d5e771449f" /><Relationship Type="http://schemas.openxmlformats.org/officeDocument/2006/relationships/slide" Target="/ppt/slides/slide8.xml" Id="R406f72e26d794e48" /><Relationship Type="http://schemas.openxmlformats.org/officeDocument/2006/relationships/slide" Target="/ppt/slides/slide9.xml" Id="R7998e277b8a6404b" /><Relationship Type="http://schemas.openxmlformats.org/officeDocument/2006/relationships/slide" Target="/ppt/slides/slide10.xml" Id="Rfaea8a515e7446ac" /><Relationship Type="http://schemas.openxmlformats.org/officeDocument/2006/relationships/slide" Target="/ppt/slides/slide11.xml" Id="R29a27c5d42cd4ebe" /><Relationship Type="http://schemas.openxmlformats.org/officeDocument/2006/relationships/slide" Target="/ppt/slides/slide12.xml" Id="Rde4378153d884976" /><Relationship Type="http://schemas.openxmlformats.org/officeDocument/2006/relationships/slide" Target="/ppt/slides/slide13.xml" Id="R8f1f50a4c6174a38" /><Relationship Type="http://schemas.openxmlformats.org/officeDocument/2006/relationships/slide" Target="/ppt/slides/slide14.xml" Id="Rb193022732f74be2" /><Relationship Type="http://schemas.openxmlformats.org/officeDocument/2006/relationships/slide" Target="/ppt/slides/slide15.xml" Id="R048da8c053fb4f69" /><Relationship Type="http://schemas.openxmlformats.org/officeDocument/2006/relationships/slide" Target="/ppt/slides/slide16.xml" Id="R026d8e621a83412b" /><Relationship Type="http://schemas.openxmlformats.org/officeDocument/2006/relationships/slide" Target="/ppt/slides/slide17.xml" Id="R013698d9e03444ea" /><Relationship Type="http://schemas.openxmlformats.org/officeDocument/2006/relationships/slide" Target="/ppt/slides/slide18.xml" Id="Rad2ee9ed07414d9f" /><Relationship Type="http://schemas.openxmlformats.org/officeDocument/2006/relationships/slide" Target="/ppt/slides/slide19.xml" Id="R1ea06999ac8e4cce" /><Relationship Type="http://schemas.openxmlformats.org/officeDocument/2006/relationships/slide" Target="/ppt/slides/slide20.xml" Id="R757fdcbfaa034740" /><Relationship Type="http://schemas.openxmlformats.org/officeDocument/2006/relationships/slide" Target="/ppt/slides/slide21.xml" Id="Reb3f6d07185b4992" /><Relationship Type="http://schemas.openxmlformats.org/officeDocument/2006/relationships/slide" Target="/ppt/slides/slide22.xml" Id="R76d04b30fb264b79" /><Relationship Type="http://schemas.openxmlformats.org/officeDocument/2006/relationships/slide" Target="/ppt/slides/slide23.xml" Id="Rf0a0e5502fa748e9" /><Relationship Type="http://schemas.openxmlformats.org/officeDocument/2006/relationships/slide" Target="/ppt/slides/slide24.xml" Id="R28f5d52b9b2c4fa4" /><Relationship Type="http://schemas.openxmlformats.org/officeDocument/2006/relationships/slide" Target="/ppt/slides/slide25.xml" Id="Rf6f0e37118234769" /><Relationship Type="http://schemas.openxmlformats.org/officeDocument/2006/relationships/slide" Target="/ppt/slides/slide26.xml" Id="Rdd50005fc9bf4a56" /><Relationship Type="http://schemas.openxmlformats.org/officeDocument/2006/relationships/slide" Target="/ppt/slides/slide27.xml" Id="Rf07743d4f02e490f" /><Relationship Type="http://schemas.openxmlformats.org/officeDocument/2006/relationships/slide" Target="/ppt/slides/slide28.xml" Id="Rd9bece59834f446f" /><Relationship Type="http://schemas.openxmlformats.org/officeDocument/2006/relationships/slide" Target="/ppt/slides/slide29.xml" Id="Rc8270b582dcb4694" /><Relationship Type="http://schemas.openxmlformats.org/officeDocument/2006/relationships/slide" Target="/ppt/slides/slide30.xml" Id="Rfe97f0b37f534e3c" /><Relationship Type="http://schemas.openxmlformats.org/officeDocument/2006/relationships/slide" Target="/ppt/slides/slide31.xml" Id="R0a339a2a2853420a" /><Relationship Type="http://schemas.openxmlformats.org/officeDocument/2006/relationships/slide" Target="/ppt/slides/slide32.xml" Id="R5ba60f77845c40aa" /><Relationship Type="http://schemas.openxmlformats.org/officeDocument/2006/relationships/slide" Target="/ppt/slides/slide33.xml" Id="R637f993c9d634c2c" /><Relationship Type="http://schemas.openxmlformats.org/officeDocument/2006/relationships/slide" Target="/ppt/slides/slide34.xml" Id="R04221b3c134b4f5a" /><Relationship Type="http://schemas.openxmlformats.org/officeDocument/2006/relationships/slide" Target="/ppt/slides/slide35.xml" Id="R920f1e7f72bb425e" /><Relationship Type="http://schemas.openxmlformats.org/officeDocument/2006/relationships/slide" Target="/ppt/slides/slide36.xml" Id="R6a6de2fa8b194365" /><Relationship Type="http://schemas.openxmlformats.org/officeDocument/2006/relationships/slide" Target="/ppt/slides/slide37.xml" Id="R4d304d49b1c34662" /><Relationship Type="http://schemas.openxmlformats.org/officeDocument/2006/relationships/slide" Target="/ppt/slides/slide38.xml" Id="Ra57bd658c5384750" /><Relationship Type="http://schemas.openxmlformats.org/officeDocument/2006/relationships/slide" Target="/ppt/slides/slide39.xml" Id="R8238b6fe203e4079" /><Relationship Type="http://schemas.openxmlformats.org/officeDocument/2006/relationships/slide" Target="/ppt/slides/slide40.xml" Id="R176b29d616724763" /><Relationship Type="http://schemas.openxmlformats.org/officeDocument/2006/relationships/slide" Target="/ppt/slides/slide41.xml" Id="R5ca5252ed2b945c5" /><Relationship Type="http://schemas.openxmlformats.org/officeDocument/2006/relationships/slide" Target="/ppt/slides/slide42.xml" Id="R44b88244ce8e446b" /><Relationship Type="http://schemas.openxmlformats.org/officeDocument/2006/relationships/slide" Target="/ppt/slides/slide43.xml" Id="R2b4e5cb997a04e43" /><Relationship Type="http://schemas.openxmlformats.org/officeDocument/2006/relationships/slide" Target="/ppt/slides/slide44.xml" Id="R47a2956033844cec" /><Relationship Type="http://schemas.openxmlformats.org/officeDocument/2006/relationships/slide" Target="/ppt/slides/slide45.xml" Id="Rd1e0d3ddfad945b1" /><Relationship Type="http://schemas.openxmlformats.org/officeDocument/2006/relationships/slide" Target="/ppt/slides/slide46.xml" Id="R2dcf3718e507419a" /><Relationship Type="http://schemas.openxmlformats.org/officeDocument/2006/relationships/slide" Target="/ppt/slides/slide47.xml" Id="Ra7a0370d51ad4eb8" /><Relationship Type="http://schemas.openxmlformats.org/officeDocument/2006/relationships/slide" Target="/ppt/slides/slide48.xml" Id="R0a84324dbd184e7b" /><Relationship Type="http://schemas.openxmlformats.org/officeDocument/2006/relationships/slide" Target="/ppt/slides/slide49.xml" Id="R4e7bfaa20bc641e9" /><Relationship Type="http://schemas.openxmlformats.org/officeDocument/2006/relationships/slide" Target="/ppt/slides/slide50.xml" Id="R569b33124b004f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8c657852934f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7d7ee54f7b45e1" /><Relationship Type="http://schemas.openxmlformats.org/officeDocument/2006/relationships/notesMaster" Target="/ppt/notesMasters/notesMaster1.xml" Id="R0c5e9712096741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735eff5f564edc" /><Relationship Type="http://schemas.openxmlformats.org/officeDocument/2006/relationships/notesMaster" Target="/ppt/notesMasters/notesMaster1.xml" Id="R7e58da62360c40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7b8ff59a5c4878" /><Relationship Type="http://schemas.openxmlformats.org/officeDocument/2006/relationships/notesMaster" Target="/ppt/notesMasters/notesMaster1.xml" Id="R797e1918716c49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e984f99d544625" /><Relationship Type="http://schemas.openxmlformats.org/officeDocument/2006/relationships/notesMaster" Target="/ppt/notesMasters/notesMaster1.xml" Id="R1fb1dd4645fa4e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a373333eeb47c0" /><Relationship Type="http://schemas.openxmlformats.org/officeDocument/2006/relationships/notesMaster" Target="/ppt/notesMasters/notesMaster1.xml" Id="R14b684321bca4d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3511cdf5a4401a" /><Relationship Type="http://schemas.openxmlformats.org/officeDocument/2006/relationships/notesMaster" Target="/ppt/notesMasters/notesMaster1.xml" Id="Rcff19dae6f484f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563285ed2041c3" /><Relationship Type="http://schemas.openxmlformats.org/officeDocument/2006/relationships/notesMaster" Target="/ppt/notesMasters/notesMaster1.xml" Id="Rf84add9a2d5e4f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5c0a76ca76480b" /><Relationship Type="http://schemas.openxmlformats.org/officeDocument/2006/relationships/notesMaster" Target="/ppt/notesMasters/notesMaster1.xml" Id="R2e737c4dd23042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453d6e5cc1487e" /><Relationship Type="http://schemas.openxmlformats.org/officeDocument/2006/relationships/notesMaster" Target="/ppt/notesMasters/notesMaster1.xml" Id="R7d948512733d4f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2e182ce64c4cab" /><Relationship Type="http://schemas.openxmlformats.org/officeDocument/2006/relationships/notesMaster" Target="/ppt/notesMasters/notesMaster1.xml" Id="Rc379bc78885342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507c00dcc043a6" /><Relationship Type="http://schemas.openxmlformats.org/officeDocument/2006/relationships/notesMaster" Target="/ppt/notesMasters/notesMaster1.xml" Id="Rb683ddd8d23940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70b702bf434faa" /><Relationship Type="http://schemas.openxmlformats.org/officeDocument/2006/relationships/notesMaster" Target="/ppt/notesMasters/notesMaster1.xml" Id="R5622de13f9234a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91b8bbd359474f" /><Relationship Type="http://schemas.openxmlformats.org/officeDocument/2006/relationships/notesMaster" Target="/ppt/notesMasters/notesMaster1.xml" Id="R613c497983f34b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48a3c6b14a45be" /><Relationship Type="http://schemas.openxmlformats.org/officeDocument/2006/relationships/notesMaster" Target="/ppt/notesMasters/notesMaster1.xml" Id="Rf8f96cee6a8a4a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bb0771ec2ac4e62" /><Relationship Type="http://schemas.openxmlformats.org/officeDocument/2006/relationships/notesMaster" Target="/ppt/notesMasters/notesMaster1.xml" Id="R5b527c3615514d2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1bfbae777eb4901" /><Relationship Type="http://schemas.openxmlformats.org/officeDocument/2006/relationships/notesMaster" Target="/ppt/notesMasters/notesMaster1.xml" Id="Rddc24923b20f4f2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44fe37820cc4607" /><Relationship Type="http://schemas.openxmlformats.org/officeDocument/2006/relationships/notesMaster" Target="/ppt/notesMasters/notesMaster1.xml" Id="Rf41ca8a8d45045f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94b3ddc3c1c4b32" /><Relationship Type="http://schemas.openxmlformats.org/officeDocument/2006/relationships/notesMaster" Target="/ppt/notesMasters/notesMaster1.xml" Id="R89592799f1ba42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bf94403fca44c5f" /><Relationship Type="http://schemas.openxmlformats.org/officeDocument/2006/relationships/notesMaster" Target="/ppt/notesMasters/notesMaster1.xml" Id="R7a3b41afa2e74af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4790ed6ddb94f59" /><Relationship Type="http://schemas.openxmlformats.org/officeDocument/2006/relationships/notesMaster" Target="/ppt/notesMasters/notesMaster1.xml" Id="Raabb27cb27694fd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994b8b081414667" /><Relationship Type="http://schemas.openxmlformats.org/officeDocument/2006/relationships/notesMaster" Target="/ppt/notesMasters/notesMaster1.xml" Id="R36bb70251d6a4ae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d9060cf67474818" /><Relationship Type="http://schemas.openxmlformats.org/officeDocument/2006/relationships/notesMaster" Target="/ppt/notesMasters/notesMaster1.xml" Id="R83c866ab3de242c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1d6a42da88d48a7" /><Relationship Type="http://schemas.openxmlformats.org/officeDocument/2006/relationships/notesMaster" Target="/ppt/notesMasters/notesMaster1.xml" Id="R88c77d6393a9427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099068e54df4048" /><Relationship Type="http://schemas.openxmlformats.org/officeDocument/2006/relationships/notesMaster" Target="/ppt/notesMasters/notesMaster1.xml" Id="R48c7d95c981342c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0f16e81910d418f" /><Relationship Type="http://schemas.openxmlformats.org/officeDocument/2006/relationships/notesMaster" Target="/ppt/notesMasters/notesMaster1.xml" Id="R9dd4d2c46a0c408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4ca3830db80400e" /><Relationship Type="http://schemas.openxmlformats.org/officeDocument/2006/relationships/notesMaster" Target="/ppt/notesMasters/notesMaster1.xml" Id="R6663c8b2e3994ed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c544c3500714989" /><Relationship Type="http://schemas.openxmlformats.org/officeDocument/2006/relationships/notesMaster" Target="/ppt/notesMasters/notesMaster1.xml" Id="Ra940612943ea44a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63bdad46c344857" /><Relationship Type="http://schemas.openxmlformats.org/officeDocument/2006/relationships/notesMaster" Target="/ppt/notesMasters/notesMaster1.xml" Id="R1838d6877505484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37811ec35e64a22" /><Relationship Type="http://schemas.openxmlformats.org/officeDocument/2006/relationships/notesMaster" Target="/ppt/notesMasters/notesMaster1.xml" Id="R98dd1b8145fe43d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3e91bdf07604dd2" /><Relationship Type="http://schemas.openxmlformats.org/officeDocument/2006/relationships/notesMaster" Target="/ppt/notesMasters/notesMaster1.xml" Id="R04332c14948a453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8732daf3a784d9e" /><Relationship Type="http://schemas.openxmlformats.org/officeDocument/2006/relationships/notesMaster" Target="/ppt/notesMasters/notesMaster1.xml" Id="Ra98f0296cce4482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fc6c971396d487b" /><Relationship Type="http://schemas.openxmlformats.org/officeDocument/2006/relationships/notesMaster" Target="/ppt/notesMasters/notesMaster1.xml" Id="R27b7fa3098ae455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5511d2b312b41b0" /><Relationship Type="http://schemas.openxmlformats.org/officeDocument/2006/relationships/notesMaster" Target="/ppt/notesMasters/notesMaster1.xml" Id="R3dc3267de2bc4df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60546f1acb345b7" /><Relationship Type="http://schemas.openxmlformats.org/officeDocument/2006/relationships/notesMaster" Target="/ppt/notesMasters/notesMaster1.xml" Id="R104fb2a398d4477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81610edcc7d4db4" /><Relationship Type="http://schemas.openxmlformats.org/officeDocument/2006/relationships/notesMaster" Target="/ppt/notesMasters/notesMaster1.xml" Id="R78ec662d032442d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c503f7f82cc4dc4" /><Relationship Type="http://schemas.openxmlformats.org/officeDocument/2006/relationships/notesMaster" Target="/ppt/notesMasters/notesMaster1.xml" Id="R2ddce6c740e242f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b2943fa929f4fc0" /><Relationship Type="http://schemas.openxmlformats.org/officeDocument/2006/relationships/notesMaster" Target="/ppt/notesMasters/notesMaster1.xml" Id="R07846b29265f408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026d4267b9445df" /><Relationship Type="http://schemas.openxmlformats.org/officeDocument/2006/relationships/notesMaster" Target="/ppt/notesMasters/notesMaster1.xml" Id="R63f0a404e16d45c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e0a613fdff0476c" /><Relationship Type="http://schemas.openxmlformats.org/officeDocument/2006/relationships/notesMaster" Target="/ppt/notesMasters/notesMaster1.xml" Id="R45bf49bb537c472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6b678d3579b48b3" /><Relationship Type="http://schemas.openxmlformats.org/officeDocument/2006/relationships/notesMaster" Target="/ppt/notesMasters/notesMaster1.xml" Id="Re8668f02432d418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1c3fd1570144514" /><Relationship Type="http://schemas.openxmlformats.org/officeDocument/2006/relationships/notesMaster" Target="/ppt/notesMasters/notesMaster1.xml" Id="R19244899dd7a4a9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af622d56ab24c50" /><Relationship Type="http://schemas.openxmlformats.org/officeDocument/2006/relationships/notesMaster" Target="/ppt/notesMasters/notesMaster1.xml" Id="Ref39480b01ea472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928aeab20b9452a" /><Relationship Type="http://schemas.openxmlformats.org/officeDocument/2006/relationships/notesMaster" Target="/ppt/notesMasters/notesMaster1.xml" Id="Rf4cf7fb797d749f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9ce5a2cfecb453c" /><Relationship Type="http://schemas.openxmlformats.org/officeDocument/2006/relationships/notesMaster" Target="/ppt/notesMasters/notesMaster1.xml" Id="Ra6b33390dbb7454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15a69ce66f8446c" /><Relationship Type="http://schemas.openxmlformats.org/officeDocument/2006/relationships/notesMaster" Target="/ppt/notesMasters/notesMaster1.xml" Id="Re2e2764d33dd405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4bd0a6372244ac0" /><Relationship Type="http://schemas.openxmlformats.org/officeDocument/2006/relationships/notesMaster" Target="/ppt/notesMasters/notesMaster1.xml" Id="R6de82b2eed5d44e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e59bdcb0a4940aa" /><Relationship Type="http://schemas.openxmlformats.org/officeDocument/2006/relationships/notesMaster" Target="/ppt/notesMasters/notesMaster1.xml" Id="R51e0f68af65345f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a2b951269e8456d" /><Relationship Type="http://schemas.openxmlformats.org/officeDocument/2006/relationships/notesMaster" Target="/ppt/notesMasters/notesMaster1.xml" Id="R3818b6d7611f401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14278b841a94ce6" /><Relationship Type="http://schemas.openxmlformats.org/officeDocument/2006/relationships/notesMaster" Target="/ppt/notesMasters/notesMaster1.xml" Id="Re7b3f97c2135443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c7efda66cdd4fc7" /><Relationship Type="http://schemas.openxmlformats.org/officeDocument/2006/relationships/notesMaster" Target="/ppt/notesMasters/notesMaster1.xml" Id="R174575e1a33246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LEADERS MEETING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신입 IC 트레이닝 가이드</a:t>
            </a:r>
          </a:p>
          <a:p xmlns:a="http://schemas.openxmlformats.org/drawingml/2006/main">
            <a:r>
              <a:t>신입을 '나가면 반드시 세일즈하는' 사람으로 키우는 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먼저 배우고 싶게 만들라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피드백 전에 관찰하라</a:t>
            </a:r>
          </a:p>
          <a:p xmlns:a="http://schemas.openxmlformats.org/drawingml/2006/main">
            <a:r>
              <a:t>임재영 AOP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 · 임재영 AOP. 배경: AI 생성 컨셉 이미지, 실제 팀 활동 기록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CONTENTS</a:t>
            </a:r>
          </a:p>
          <a:p xmlns:a="http://schemas.openxmlformats.org/drawingml/2006/main">
            <a:r>
              <a:t>목 차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트레이닝의 두 가지 철학</a:t>
            </a:r>
          </a:p>
          <a:p xmlns:a="http://schemas.openxmlformats.org/drawingml/2006/main">
            <a:r>
              <a:t>먼저 배우고 싶게 만들라 · 관찰 후 피드백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트레이너의 전제 조건</a:t>
            </a:r>
          </a:p>
          <a:p xmlns:a="http://schemas.openxmlformats.org/drawingml/2006/main">
            <a:r>
              <a:t>쇼잉(Showing) · 스탠다드 적용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첫 3일의 설계 (Day 1–3)</a:t>
            </a:r>
          </a:p>
          <a:p xmlns:a="http://schemas.openxmlformats.org/drawingml/2006/main">
            <a:r>
              <a:t>경험 → 학습 → 판단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스킬 트레이닝 &amp; 맞춤 피드백</a:t>
            </a:r>
          </a:p>
          <a:p xmlns:a="http://schemas.openxmlformats.org/drawingml/2006/main">
            <a:r>
              <a:t>5 Step · 피드백 타이밍 · 피드백 모델 3가지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>자립을 위한 6주 전략</a:t>
            </a:r>
          </a:p>
          <a:p xmlns:a="http://schemas.openxmlformats.org/drawingml/2006/main">
            <a:r>
              <a:t>리더힛 · 로드트립 · Self 적응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06</a:t>
            </a:r>
          </a:p>
          <a:p xmlns:a="http://schemas.openxmlformats.org/drawingml/2006/main">
            <a:r>
              <a:t>핵심 역할 &amp; 결과 판단</a:t>
            </a:r>
          </a:p>
          <a:p xmlns:a="http://schemas.openxmlformats.org/drawingml/2006/main">
            <a:r>
              <a:t>성취·인정 · Stay / Qualifying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3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TRAINING PHILOSOPHY  ·  01</a:t>
            </a:r>
          </a:p>
          <a:p xmlns:a="http://schemas.openxmlformats.org/drawingml/2006/main">
            <a:r>
              <a:t>가르치기 전에, 먼저 배우고 싶게 만들라</a:t>
            </a:r>
          </a:p>
          <a:p xmlns:a="http://schemas.openxmlformats.org/drawingml/2006/main">
            <a:r>
              <a:t>"How to teach"보다 먼저 풀어야 할 것은 "Why they want to learn"이다.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동기가 먼저다</a:t>
            </a:r>
          </a:p>
          <a:p xmlns:a="http://schemas.openxmlformats.org/drawingml/2006/main">
            <a:r>
              <a:t>지식을 밀어넣기 전에 '하고 싶다'는 마음을 먼저 켠다. 동기 없는 신입에게 스킬은 흡수되지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쇼잉으로 욕망을 만든다</a:t>
            </a:r>
          </a:p>
          <a:p xmlns:a="http://schemas.openxmlformats.org/drawingml/2006/main">
            <a:r>
              <a:t>잘하는 모습을 직접 보여줘 '나도 저렇게 되고 싶다'를 끌어낸다. 첫날의 긍정 경험이 학습 엔진이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작은 성공을 빨리 준다</a:t>
            </a:r>
          </a:p>
          <a:p xmlns:a="http://schemas.openxmlformats.org/drawingml/2006/main">
            <a:r>
              <a:t>스스로 해냈다는 성취감이 다음 학습 의지를 만든다. 가르침은 그 의지 위에 얹는다.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4 · 임재영 AOP. 배경: AI 생성 컨셉 이미지, 실제 팀 활동 기록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TRAINING PHILOSOPHY  ·  01</a:t>
            </a:r>
          </a:p>
          <a:p xmlns:a="http://schemas.openxmlformats.org/drawingml/2006/main">
            <a:r>
              <a:t>가르치기 전에, 먼저 배우고 싶게 만들라</a:t>
            </a:r>
          </a:p>
          <a:p xmlns:a="http://schemas.openxmlformats.org/drawingml/2006/main">
            <a:r>
              <a:t>"How to teach"보다 먼저 풀어야 할 것은 "Why they want to learn"이다.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동기가 먼저다</a:t>
            </a:r>
          </a:p>
          <a:p xmlns:a="http://schemas.openxmlformats.org/drawingml/2006/main">
            <a:r>
              <a:t>지식을 밀어넣기 전에 '하고 싶다'는 마음을 먼저 켠다. 동기 없는 신입에게 스킬은 흡수되지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쇼잉으로 욕망을 만든다</a:t>
            </a:r>
          </a:p>
          <a:p xmlns:a="http://schemas.openxmlformats.org/drawingml/2006/main">
            <a:r>
              <a:t>잘하는 모습을 직접 보여줘 '나도 저렇게 되고 싶다'를 끌어낸다. 첫날의 긍정 경험이 학습 엔진이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작은 성공을 빨리 준다</a:t>
            </a:r>
          </a:p>
          <a:p xmlns:a="http://schemas.openxmlformats.org/drawingml/2006/main">
            <a:r>
              <a:t>스스로 해냈다는 성취감이 다음 학습 의지를 만든다. 가르침은 그 의지 위에 얹는다.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4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TRAINING PHILOSOPHY · 01  |  『EMILE』</a:t>
            </a:r>
          </a:p>
          <a:p xmlns:a="http://schemas.openxmlformats.org/drawingml/2006/main">
            <a:r>
              <a:t>소극적 교육 — 가르치기 전에, 관찰하기</a:t>
            </a:r>
          </a:p>
          <a:p xmlns:a="http://schemas.openxmlformats.org/drawingml/2006/main">
            <a:r>
              <a:t>루소가 말한 가장 도발적인 개념. 가장 훌륭한 교육은 '아무것도 하지 않는 것처럼 보이는' 교육이다.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Negative Education</a:t>
            </a:r>
          </a:p>
          <a:p xmlns:a="http://schemas.openxmlformats.org/drawingml/2006/main">
            <a:r>
              <a:t>"가장 초기의 교육은 순전히 소극적이어야 한다. 덕이나 진리를 가르치는 데 있지 않고, 마음을 악덕으로부터, 정신을 오류로부터 지키는 데 있다."</a:t>
            </a:r>
          </a:p>
          <a:p xmlns:a="http://schemas.openxmlformats.org/drawingml/2006/main">
            <a:r>
              <a:t>— 『에밀』 제2권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"시간을 잃어라"</a:t>
            </a:r>
          </a:p>
          <a:p xmlns:a="http://schemas.openxmlformats.org/drawingml/2006/main">
            <a:r>
              <a:t>"가장 유용한 교육 규칙은 시간을 버는 것이 아니라, 시간을 잃는 것이다."</a:t>
            </a:r>
          </a:p>
          <a:p xmlns:a="http://schemas.openxmlformats.org/drawingml/2006/main">
            <a:r>
              <a:t>— 『에밀』 제2권</a:t>
            </a:r>
          </a:p>
          <a:p xmlns:a="http://schemas.openxmlformats.org/drawingml/2006/main">
            <a:r>
              <a:t>트레이닝에 적용하면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조급함이 가장 큰 위험</a:t>
            </a:r>
          </a:p>
          <a:p xmlns:a="http://schemas.openxmlformats.org/drawingml/2006/main">
            <a:r>
              <a:t>준비되지 않은 신입에게 억지로 주입하면, 텅빈 </a:t>
            </a:r>
          </a:p>
          <a:p xmlns:a="http://schemas.openxmlformats.org/drawingml/2006/main">
            <a:r>
              <a:t>암기에 그치고 오히려 진짜 이해를 방해한다.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먼저, 얼마나 이해했는지 관찰</a:t>
            </a:r>
          </a:p>
          <a:p xmlns:a="http://schemas.openxmlformats.org/drawingml/2006/main">
            <a:r>
              <a:t>가르치기 전에 트레이니가 무엇을, 어디까지 이해하고 있는지 관찰한다. 그 위에 필요한 것을 얹는다.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기다림이 가장 빠른 길</a:t>
            </a:r>
          </a:p>
          <a:p xmlns:a="http://schemas.openxmlformats.org/drawingml/2006/main">
            <a:r>
              <a:t>스스로 경험하고 성숙할 '시간'을 허락하는 것이, 멀리 보면 가장 빠른 성장의 길이다.</a:t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5 · 임재영 AOP. 배경: AI 생성 컨셉 이미지, 실제 팀 활동 기록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TRAINING PHILOSOPHY · 01  |  『EMILE』</a:t>
            </a:r>
          </a:p>
          <a:p xmlns:a="http://schemas.openxmlformats.org/drawingml/2006/main">
            <a:r>
              <a:t>소극적 교육 — 가르치기 전에, 관찰하기</a:t>
            </a:r>
          </a:p>
          <a:p xmlns:a="http://schemas.openxmlformats.org/drawingml/2006/main">
            <a:r>
              <a:t>루소가 말한 가장 도발적인 개념. 가장 훌륭한 교육은 '아무것도 하지 않는 것처럼 보이는' 교육이다.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Negative Education</a:t>
            </a:r>
          </a:p>
          <a:p xmlns:a="http://schemas.openxmlformats.org/drawingml/2006/main">
            <a:r>
              <a:t>"가장 초기의 교육은 순전히 소극적이어야 한다. 덕이나 진리를 가르치는 데 있지 않고, 마음을 악덕으로부터, 정신을 오류로부터 지키는 데 있다."</a:t>
            </a:r>
          </a:p>
          <a:p xmlns:a="http://schemas.openxmlformats.org/drawingml/2006/main">
            <a:r>
              <a:t>— 『에밀』 제2권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"시간을 잃어라"</a:t>
            </a:r>
          </a:p>
          <a:p xmlns:a="http://schemas.openxmlformats.org/drawingml/2006/main">
            <a:r>
              <a:t>"가장 유용한 교육 규칙은 시간을 버는 것이 아니라, 시간을 잃는 것이다."</a:t>
            </a:r>
          </a:p>
          <a:p xmlns:a="http://schemas.openxmlformats.org/drawingml/2006/main">
            <a:r>
              <a:t>— 『에밀』 제2권</a:t>
            </a:r>
          </a:p>
          <a:p xmlns:a="http://schemas.openxmlformats.org/drawingml/2006/main">
            <a:r>
              <a:t>트레이닝에 적용하면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조급함이 가장 큰 위험</a:t>
            </a:r>
          </a:p>
          <a:p xmlns:a="http://schemas.openxmlformats.org/drawingml/2006/main">
            <a:r>
              <a:t>준비되지 않은 신입에게 억지로 주입하면, 텅빈 </a:t>
            </a:r>
          </a:p>
          <a:p xmlns:a="http://schemas.openxmlformats.org/drawingml/2006/main">
            <a:r>
              <a:t>암기에 그치고 오히려 진짜 이해를 방해한다.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먼저, 얼마나 이해했는지 관찰</a:t>
            </a:r>
          </a:p>
          <a:p xmlns:a="http://schemas.openxmlformats.org/drawingml/2006/main">
            <a:r>
              <a:t>가르치기 전에 트레이니가 무엇을, 어디까지 이해하고 있는지 관찰한다. 그 위에 필요한 것을 얹는다.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기다림이 가장 빠른 길</a:t>
            </a:r>
          </a:p>
          <a:p xmlns:a="http://schemas.openxmlformats.org/drawingml/2006/main">
            <a:r>
              <a:t>스스로 경험하고 성숙할 '시간'을 허락하는 것이, 멀리 보면 가장 빠른 성장의 길이다.</a:t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5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TRAINING PHILOSOPHY · 02</a:t>
            </a:r>
          </a:p>
          <a:p xmlns:a="http://schemas.openxmlformats.org/drawingml/2006/main">
            <a:r>
              <a:t>피드백 전에, 트레이니를 먼저 관찰하라</a:t>
            </a:r>
          </a:p>
          <a:p xmlns:a="http://schemas.openxmlformats.org/drawingml/2006/main">
            <a:r>
              <a:t>같은 피드백도 사람에 따라 독이 되고 약이 된다. 처방 전에 진단이 먼저다.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관찰</a:t>
            </a:r>
          </a:p>
          <a:p xmlns:a="http://schemas.openxmlformats.org/drawingml/2006/main">
            <a:r>
              <a:t>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진단</a:t>
            </a:r>
          </a:p>
          <a:p xmlns:a="http://schemas.openxmlformats.org/drawingml/2006/main">
            <a:r>
              <a:t>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맞춤 피드백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반응과 태도</a:t>
            </a:r>
          </a:p>
          <a:p xmlns:a="http://schemas.openxmlformats.org/drawingml/2006/main">
            <a:r>
              <a:t>2시간 뛰게 한 뒤 '할 만한가'를 본다. 결과보다 자세·의지가 먼저.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두려움의 위치</a:t>
            </a:r>
          </a:p>
          <a:p xmlns:a="http://schemas.openxmlformats.org/drawingml/2006/main">
            <a:r>
              <a:t>어디서 멈칫하는가 — 접근? 피치? 클로징? 두려움의 좌표를 찾는다.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학습 속도</a:t>
            </a:r>
          </a:p>
          <a:p xmlns:a="http://schemas.openxmlformats.org/drawingml/2006/main">
            <a:r>
              <a:t>어제 준 피드백이 오늘 반영되는가. 성장 곡선을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강점과 결</a:t>
            </a:r>
          </a:p>
          <a:p xmlns:a="http://schemas.openxmlformats.org/drawingml/2006/main">
            <a:r>
              <a:t>리액션형인가, 논리형인가. 사람의 결에 맞춰 코칭 방식을 바꾼다.</a:t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6 · 임재영 AOP. 배경: AI 생성 컨셉 이미지, 실제 팀 활동 기록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TRAINING PHILOSOPHY · 02</a:t>
            </a:r>
          </a:p>
          <a:p xmlns:a="http://schemas.openxmlformats.org/drawingml/2006/main">
            <a:r>
              <a:t>피드백 전에, 트레이니를 먼저 관찰하라</a:t>
            </a:r>
          </a:p>
          <a:p xmlns:a="http://schemas.openxmlformats.org/drawingml/2006/main">
            <a:r>
              <a:t>같은 피드백도 사람에 따라 독이 되고 약이 된다. 처방 전에 진단이 먼저다.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관찰</a:t>
            </a:r>
          </a:p>
          <a:p xmlns:a="http://schemas.openxmlformats.org/drawingml/2006/main">
            <a:r>
              <a:t>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진단</a:t>
            </a:r>
          </a:p>
          <a:p xmlns:a="http://schemas.openxmlformats.org/drawingml/2006/main">
            <a:r>
              <a:t>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맞춤 피드백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반응과 태도</a:t>
            </a:r>
          </a:p>
          <a:p xmlns:a="http://schemas.openxmlformats.org/drawingml/2006/main">
            <a:r>
              <a:t>2시간 뛰게 한 뒤 '할 만한가'를 본다. 결과보다 자세·의지가 먼저.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두려움의 위치</a:t>
            </a:r>
          </a:p>
          <a:p xmlns:a="http://schemas.openxmlformats.org/drawingml/2006/main">
            <a:r>
              <a:t>어디서 멈칫하는가 — 접근? 피치? 클로징? 두려움의 좌표를 찾는다.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학습 속도</a:t>
            </a:r>
          </a:p>
          <a:p xmlns:a="http://schemas.openxmlformats.org/drawingml/2006/main">
            <a:r>
              <a:t>어제 준 피드백이 오늘 반영되는가. 성장 곡선을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강점과 결</a:t>
            </a:r>
          </a:p>
          <a:p xmlns:a="http://schemas.openxmlformats.org/drawingml/2006/main">
            <a:r>
              <a:t>리액션형인가, 논리형인가. 사람의 결에 맞춰 코칭 방식을 바꾼다.</a:t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6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TRAINING PHILOSOPHY · 02</a:t>
            </a:r>
          </a:p>
          <a:p xmlns:a="http://schemas.openxmlformats.org/drawingml/2006/main">
            <a:r>
              <a:t>사람이 다르면, 트레이닝도 달라야 한다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필드에 나가기 전에, '이 사람이 어떤 사람인가'를 먼저 파악해야 한다. 관찰은 첫 만남이 아니라 그 이전부터 시작된다.</a:t>
            </a:r>
          </a:p>
          <a:p xmlns:a="http://schemas.openxmlformats.org/drawingml/2006/main">
            <a:r>
              <a:t>필드 전, 이렇게 준비한다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이력서를 꼼꼼히 읽자</a:t>
            </a:r>
          </a:p>
          <a:p xmlns:a="http://schemas.openxmlformats.org/drawingml/2006/main">
            <a:r>
              <a:t>경력·이전 직무·성향의 단서를 미리 읽는다. 어디서 일했고 무엇을 잘했는지가 트레이닝의 출발점이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주변에 피드백을 요청하자</a:t>
            </a:r>
          </a:p>
          <a:p xmlns:a="http://schemas.openxmlformats.org/drawingml/2006/main">
            <a:r>
              <a:t>오너·클라이언트·교육자에게 '어떤 사람이었는지' 묻는다. 다양한 시선이 모이면 한 사람의 윤곽이 또렷해진다.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트레이닝을 미리 설계하자</a:t>
            </a:r>
          </a:p>
          <a:p xmlns:a="http://schemas.openxmlformats.org/drawingml/2006/main">
            <a:r>
              <a:t>필드에서 무엇을, 어떻게 가르칠지 사전에 고민한다. 준비된 관찰이 첫날의 시행착오를 줄인다.</a:t>
            </a:r>
          </a:p>
          <a:p xmlns:a="http://schemas.openxmlformats.org/drawingml/2006/main">
            <a:r>
              <a:t>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7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TRAINING PHILOSOPHY  ·  03</a:t>
            </a:r>
          </a:p>
          <a:p xmlns:a="http://schemas.openxmlformats.org/drawingml/2006/main">
            <a:r>
              <a:t>신입에게 답이 있다</a:t>
            </a:r>
          </a:p>
          <a:p xmlns:a="http://schemas.openxmlformats.org/drawingml/2006/main">
            <a:r>
              <a:t>현장의 어려움은 현장에서 답을 찾는 것이 가장 좋다. 트레이닝도 마찬가지 — 신입에게 답이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어려워하는 부분 포착하기</a:t>
            </a:r>
          </a:p>
          <a:p xmlns:a="http://schemas.openxmlformats.org/drawingml/2006/main">
            <a:r>
              <a:t>신입이 이해 못 하거나 머뭇거리는 순간을 놓치지 않는다.</a:t>
            </a:r>
          </a:p>
          <a:p xmlns:a="http://schemas.openxmlformats.org/drawingml/2006/main">
            <a:r>
              <a:t>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부드럽게 먼저 묻기</a:t>
            </a:r>
          </a:p>
          <a:p xmlns:a="http://schemas.openxmlformats.org/drawingml/2006/main">
            <a:r>
              <a:t>"왜 그 부분이 어렵고 이해가 안 되는지" 신입의 입으로 듣기 위해 질문해보자</a:t>
            </a:r>
          </a:p>
          <a:p xmlns:a="http://schemas.openxmlformats.org/drawingml/2006/main">
            <a:r>
              <a:t>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솔직하게 피드백하기</a:t>
            </a:r>
          </a:p>
          <a:p xmlns:a="http://schemas.openxmlformats.org/drawingml/2006/main">
            <a:r>
              <a:t>들은 내용을 바탕으로 솔직하게, </a:t>
            </a:r>
          </a:p>
          <a:p xmlns:a="http://schemas.openxmlformats.org/drawingml/2006/main">
            <a:r>
              <a:t>함께 답을 찾아가는 시간을 갖는다.</a:t>
            </a:r>
          </a:p>
          <a:p xmlns:a="http://schemas.openxmlformats.org/drawingml/2006/main">
            <a:r>
              <a:t>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8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트레이너의 전제 조건</a:t>
            </a:r>
          </a:p>
          <a:p xmlns:a="http://schemas.openxmlformats.org/drawingml/2006/main">
            <a:r>
              <a:t>효과적인 신입 트레이닝은 트레이너의 역량과 일관된 표준에서 시작된다. </a:t>
            </a:r>
          </a:p>
          <a:p xmlns:a="http://schemas.openxmlformats.org/drawingml/2006/main">
            <a:r>
              <a:t>마치 '기초군사훈련’처럼 </a:t>
            </a:r>
          </a:p>
          <a:p xmlns:a="http://schemas.openxmlformats.org/drawingml/2006/main">
            <a:r>
              <a:t>누구에게나 동일하게 적용 가능해야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트레이너의 세일즈 역량</a:t>
            </a:r>
          </a:p>
          <a:p xmlns:a="http://schemas.openxmlformats.org/drawingml/2006/main">
            <a:r>
              <a:t>주 1회이상 벨-공 세일즈 증명</a:t>
            </a:r>
          </a:p>
          <a:p xmlns:a="http://schemas.openxmlformats.org/drawingml/2006/main">
            <a:r>
              <a:t>4시간 안에 세일즈 가능</a:t>
            </a:r>
          </a:p>
          <a:p xmlns:a="http://schemas.openxmlformats.org/drawingml/2006/main">
            <a:r>
              <a:t>신입에게 쇼잉할 수 있는 실전 능력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쇼잉(Showing)의 중요성</a:t>
            </a:r>
          </a:p>
          <a:p xmlns:a="http://schemas.openxmlformats.org/drawingml/2006/main">
            <a:r>
              <a:t>가장 효과적인 교육은 '직접 보여주기'</a:t>
            </a:r>
          </a:p>
          <a:p xmlns:a="http://schemas.openxmlformats.org/drawingml/2006/main">
            <a:r>
              <a:t>신입은 실제 과정을 관찰하며 학습</a:t>
            </a:r>
          </a:p>
          <a:p xmlns:a="http://schemas.openxmlformats.org/drawingml/2006/main">
            <a:r>
              <a:t>트레이너의 실전 역량 = 교육의 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스탠다드(표준) 적용 원칙</a:t>
            </a:r>
          </a:p>
          <a:p xmlns:a="http://schemas.openxmlformats.org/drawingml/2006/main">
            <a:r>
              <a:t>일관된 표준을 모든 신입에게 동일하게</a:t>
            </a:r>
          </a:p>
          <a:p xmlns:a="http://schemas.openxmlformats.org/drawingml/2006/main">
            <a:r>
              <a:t>개인 맞춤보다 기본 패턴 통일 우선</a:t>
            </a:r>
          </a:p>
          <a:p xmlns:a="http://schemas.openxmlformats.org/drawingml/2006/main">
            <a:r>
              <a:t>나가면 반드시 세일즈 가능한 기본기</a:t>
            </a:r>
          </a:p>
          <a:p xmlns:a="http://schemas.openxmlformats.org/drawingml/2006/main">
            <a:r>
              <a:t>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9 · 임재영 AOP. 배경: AI 생성 컨셉 이미지, 실제 팀 활동 기록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트레이너의 전제 조건</a:t>
            </a:r>
          </a:p>
          <a:p xmlns:a="http://schemas.openxmlformats.org/drawingml/2006/main">
            <a:r>
              <a:t>효과적인 신입 트레이닝은 트레이너의 역량과 일관된 표준에서 시작된다. </a:t>
            </a:r>
          </a:p>
          <a:p xmlns:a="http://schemas.openxmlformats.org/drawingml/2006/main">
            <a:r>
              <a:t>마치 '기초군사훈련’처럼 </a:t>
            </a:r>
          </a:p>
          <a:p xmlns:a="http://schemas.openxmlformats.org/drawingml/2006/main">
            <a:r>
              <a:t>누구에게나 동일하게 적용 가능해야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트레이너의 세일즈 역량</a:t>
            </a:r>
          </a:p>
          <a:p xmlns:a="http://schemas.openxmlformats.org/drawingml/2006/main">
            <a:r>
              <a:t>주 1회이상 벨-공 세일즈 증명</a:t>
            </a:r>
          </a:p>
          <a:p xmlns:a="http://schemas.openxmlformats.org/drawingml/2006/main">
            <a:r>
              <a:t>4시간 안에 세일즈 가능</a:t>
            </a:r>
          </a:p>
          <a:p xmlns:a="http://schemas.openxmlformats.org/drawingml/2006/main">
            <a:r>
              <a:t>신입에게 쇼잉할 수 있는 실전 능력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쇼잉(Showing)의 중요성</a:t>
            </a:r>
          </a:p>
          <a:p xmlns:a="http://schemas.openxmlformats.org/drawingml/2006/main">
            <a:r>
              <a:t>가장 효과적인 교육은 '직접 보여주기'</a:t>
            </a:r>
          </a:p>
          <a:p xmlns:a="http://schemas.openxmlformats.org/drawingml/2006/main">
            <a:r>
              <a:t>신입은 실제 과정을 관찰하며 학습</a:t>
            </a:r>
          </a:p>
          <a:p xmlns:a="http://schemas.openxmlformats.org/drawingml/2006/main">
            <a:r>
              <a:t>트레이너의 실전 역량 = 교육의 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스탠다드(표준) 적용 원칙</a:t>
            </a:r>
          </a:p>
          <a:p xmlns:a="http://schemas.openxmlformats.org/drawingml/2006/main">
            <a:r>
              <a:t>일관된 표준을 모든 신입에게 동일하게</a:t>
            </a:r>
          </a:p>
          <a:p xmlns:a="http://schemas.openxmlformats.org/drawingml/2006/main">
            <a:r>
              <a:t>개인 맞춤보다 기본 패턴 통일 우선</a:t>
            </a:r>
          </a:p>
          <a:p xmlns:a="http://schemas.openxmlformats.org/drawingml/2006/main">
            <a:r>
              <a:t>나가면 반드시 세일즈 가능한 기본기</a:t>
            </a:r>
          </a:p>
          <a:p xmlns:a="http://schemas.openxmlformats.org/drawingml/2006/main">
            <a:r>
              <a:t>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9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THE FIRST 3 DAYS</a:t>
            </a:r>
          </a:p>
          <a:p xmlns:a="http://schemas.openxmlformats.org/drawingml/2006/main">
            <a:r>
              <a:t>DAY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첫날은</a:t>
            </a:r>
          </a:p>
          <a:p xmlns:a="http://schemas.openxmlformats.org/drawingml/2006/main">
            <a:r>
              <a:t>경험의 날</a:t>
            </a:r>
          </a:p>
          <a:p xmlns:a="http://schemas.openxmlformats.org/drawingml/2006/main">
            <a:r>
              <a:t>성과보다 적응과 관찰. 신입이 '필드는 할 만하다'를 느끼게 하는 것이 첫날의 유일한 목표, 신입이 마음껏 시도하게 해주는 ”안전벨트”같은 리더십 발휘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반응과 태도 확인</a:t>
            </a:r>
          </a:p>
          <a:p xmlns:a="http://schemas.openxmlformats.org/drawingml/2006/main">
            <a:r>
              <a:t>세일즈 결과보다 반응·태도가 중요. 2시간쯤 뛰게 한 뒤 '할 만한지' 체크하고 기본 자세와 의지를 파악한다.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트레이너의 쇼잉 집중</a:t>
            </a:r>
          </a:p>
          <a:p xmlns:a="http://schemas.openxmlformats.org/drawingml/2006/main">
            <a:r>
              <a:t>신입보다 자신의 세일즈에 집중해 실제 과정을 직접 보여준다. 첫날은 곧 '쇼잉의 날'.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두려움 제거 · 프리엠티브</a:t>
            </a:r>
          </a:p>
          <a:p xmlns:a="http://schemas.openxmlformats.org/drawingml/2006/main">
            <a:r>
              <a:t>필드 두려움을 없애고 프리엠티브를 충분히 제공한다. ‘필드가 재미있다, 해볼만 하다'를 느끼게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핵심은 긍정적 첫 경험</a:t>
            </a:r>
          </a:p>
          <a:p xmlns:a="http://schemas.openxmlformats.org/drawingml/2006/main">
            <a:r>
              <a:t>결과 압박 대신 환경 적응을 돕는다. 다음 날을 위한 심리적 준비를 만든다.</a:t>
            </a:r>
          </a:p>
          <a:p xmlns:a="http://schemas.openxmlformats.org/drawingml/2006/main">
            <a:r>
              <a:t>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10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THE FIRST 3 DAYS</a:t>
            </a:r>
          </a:p>
          <a:p xmlns:a="http://schemas.openxmlformats.org/drawingml/2006/main">
            <a:r>
              <a:t>DAY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첫날은</a:t>
            </a:r>
          </a:p>
          <a:p xmlns:a="http://schemas.openxmlformats.org/drawingml/2006/main">
            <a:r>
              <a:t>경험의 날</a:t>
            </a:r>
          </a:p>
          <a:p xmlns:a="http://schemas.openxmlformats.org/drawingml/2006/main">
            <a:r>
              <a:t>성과보다 적응과 관찰. 신입이 '필드는 할 만하다'를 느끼게 하는 것이 첫날의 유일한 목표, 신입이 마음껏 시도하게 해주는 ”안전벨트”같은 리더십 발휘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반응과 태도 확인</a:t>
            </a:r>
          </a:p>
          <a:p xmlns:a="http://schemas.openxmlformats.org/drawingml/2006/main">
            <a:r>
              <a:t>세일즈 결과보다 반응·태도가 중요. 2시간쯤 뛰게 한 뒤 '할 만한지' 체크하고 기본 자세와 의지를 파악한다.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트레이너의 쇼잉 집중</a:t>
            </a:r>
          </a:p>
          <a:p xmlns:a="http://schemas.openxmlformats.org/drawingml/2006/main">
            <a:r>
              <a:t>신입보다 자신의 세일즈에 집중해 실제 과정을 직접 보여준다. 첫날은 곧 '쇼잉의 날'.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두려움 제거 · 프리엠티브</a:t>
            </a:r>
          </a:p>
          <a:p xmlns:a="http://schemas.openxmlformats.org/drawingml/2006/main">
            <a:r>
              <a:t>필드 두려움을 없애고 프리엠티브를 충분히 제공한다. ‘필드가 재미있다, 해볼만 하다'를 느끼게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핵심은 긍정적 첫 경험</a:t>
            </a:r>
          </a:p>
          <a:p xmlns:a="http://schemas.openxmlformats.org/drawingml/2006/main">
            <a:r>
              <a:t>결과 압박 대신 환경 적응을 돕는다. 다음 날을 위한 심리적 준비를 만든다.</a:t>
            </a:r>
          </a:p>
          <a:p xmlns:a="http://schemas.openxmlformats.org/drawingml/2006/main">
            <a:r>
              <a:t>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10 · 임재영 AOP. 배경: AI 생성 컨셉 이미지, 실제 팀 활동 기록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THE FIRST 3 DAYS</a:t>
            </a:r>
          </a:p>
          <a:p xmlns:a="http://schemas.openxmlformats.org/drawingml/2006/main">
            <a:r>
              <a:t>DAY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첫날은</a:t>
            </a:r>
          </a:p>
          <a:p xmlns:a="http://schemas.openxmlformats.org/drawingml/2006/main">
            <a:r>
              <a:t>경험의 날</a:t>
            </a:r>
          </a:p>
          <a:p xmlns:a="http://schemas.openxmlformats.org/drawingml/2006/main">
            <a:r>
              <a:t>성과보다 적응과 관찰. 신입이 '필드는 할 만하다'를 느끼게 하는 것이 첫날의 유일한 목표, 신입이 마음껏 시도하게 해주는 ”안전벨트”같은 리더십 발휘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반응과 태도 확인</a:t>
            </a:r>
          </a:p>
          <a:p xmlns:a="http://schemas.openxmlformats.org/drawingml/2006/main">
            <a:r>
              <a:t>세일즈 결과보다 반응·태도가 중요. 2시간쯤 뛰게 한 뒤 '할 만한지' 체크하고 기본 자세와 의지를 파악한다.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트레이너의 쇼잉 집중</a:t>
            </a:r>
          </a:p>
          <a:p xmlns:a="http://schemas.openxmlformats.org/drawingml/2006/main">
            <a:r>
              <a:t>신입보다 자신의 세일즈에 집중해 실제 과정을 직접 보여준다. 첫날은 곧 '쇼잉의 날'.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두려움 제거 · 프리엠티브</a:t>
            </a:r>
          </a:p>
          <a:p xmlns:a="http://schemas.openxmlformats.org/drawingml/2006/main">
            <a:r>
              <a:t>필드 두려움을 없애고 프리엠티브를 충분히 제공한다. ‘필드가 재미있다, 해볼만 하다'를 느끼게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핵심은 긍정적 첫 경험</a:t>
            </a:r>
          </a:p>
          <a:p xmlns:a="http://schemas.openxmlformats.org/drawingml/2006/main">
            <a:r>
              <a:t>결과 압박 대신 환경 적응을 돕는다. 다음 날을 위한 심리적 준비를 만든다.</a:t>
            </a:r>
          </a:p>
          <a:p xmlns:a="http://schemas.openxmlformats.org/drawingml/2006/main">
            <a:r>
              <a:t>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10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THE FIRST 3 DAYS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DAY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둘째 날은</a:t>
            </a:r>
          </a:p>
          <a:p xmlns:a="http://schemas.openxmlformats.org/drawingml/2006/main">
            <a:r>
              <a:t>학습의 날</a:t>
            </a:r>
          </a:p>
          <a:p xmlns:a="http://schemas.openxmlformats.org/drawingml/2006/main">
            <a:r>
              <a:t>첫날이 경험이었다면, 둘째 날은 학습이다. 신입이 반드시 세일즈 1개 이상을 달성하게 하는 가장 중요한 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첫 세일즈 달성 (매우 중요)</a:t>
            </a:r>
          </a:p>
          <a:p xmlns:a="http://schemas.openxmlformats.org/drawingml/2006/main">
            <a:r>
              <a:t>반드시 1개 이상을 함께 만들어낸다. 신입이 직접 성공을 체감하게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학습력 · 성장성 체크</a:t>
            </a:r>
          </a:p>
          <a:p xmlns:a="http://schemas.openxmlformats.org/drawingml/2006/main">
            <a:r>
              <a:t>학습 능력과 성장 가능성을 평가하고, 첫날 대비 개선점을 짚어 피드백한다.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트레이너와 신입의 균형</a:t>
            </a:r>
          </a:p>
          <a:p xmlns:a="http://schemas.openxmlformats.org/drawingml/2006/main">
            <a:r>
              <a:t>신입의 세일즈가 우선이지만 트레이너도 성과가 필요. 함께 내는 것이 이상적.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둘째 날의 의미</a:t>
            </a:r>
          </a:p>
          <a:p xmlns:a="http://schemas.openxmlformats.org/drawingml/2006/main">
            <a:r>
              <a:t>경험에서 '결과에 대한 학습'으로. 신입의 실질 역량을 가늠하는 시점.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11 · 임재영 AOP. 배경: AI 생성 컨셉 이미지, 실제 팀 활동 기록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THE FIRST 3 DAYS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DAY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둘째 날은</a:t>
            </a:r>
          </a:p>
          <a:p xmlns:a="http://schemas.openxmlformats.org/drawingml/2006/main">
            <a:r>
              <a:t>학습의 날</a:t>
            </a:r>
          </a:p>
          <a:p xmlns:a="http://schemas.openxmlformats.org/drawingml/2006/main">
            <a:r>
              <a:t>첫날이 경험이었다면, 둘째 날은 학습이다. 신입이 반드시 세일즈 1개 이상을 달성하게 하는 가장 중요한 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첫 세일즈 달성 (매우 중요)</a:t>
            </a:r>
          </a:p>
          <a:p xmlns:a="http://schemas.openxmlformats.org/drawingml/2006/main">
            <a:r>
              <a:t>반드시 1개 이상을 함께 만들어낸다. 신입이 직접 성공을 체감하게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학습력 · 성장성 체크</a:t>
            </a:r>
          </a:p>
          <a:p xmlns:a="http://schemas.openxmlformats.org/drawingml/2006/main">
            <a:r>
              <a:t>학습 능력과 성장 가능성을 평가하고, 첫날 대비 개선점을 짚어 피드백한다.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트레이너와 신입의 균형</a:t>
            </a:r>
          </a:p>
          <a:p xmlns:a="http://schemas.openxmlformats.org/drawingml/2006/main">
            <a:r>
              <a:t>신입의 세일즈가 우선이지만 트레이너도 성과가 필요. 함께 내는 것이 이상적.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둘째 날의 의미</a:t>
            </a:r>
          </a:p>
          <a:p xmlns:a="http://schemas.openxmlformats.org/drawingml/2006/main">
            <a:r>
              <a:t>경험에서 '결과에 대한 학습'으로. 신입의 실질 역량을 가늠하는 시점.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11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THE FIRST 3 DAYS</a:t>
            </a:r>
          </a:p>
          <a:p xmlns:a="http://schemas.openxmlformats.org/drawingml/2006/main">
            <a:r>
              <a:t>DAY 3 · 판단의 날</a:t>
            </a:r>
          </a:p>
          <a:p xmlns:a="http://schemas.openxmlformats.org/drawingml/2006/main">
            <a:r>
              <a:t>셋째 날, Stay인가 Qualifying인가 (반드시 오너와 상의)</a:t>
            </a:r>
          </a:p>
          <a:p xmlns:a="http://schemas.openxmlformats.org/drawingml/2006/main">
            <a:r>
              <a:t>전략적 사이트 선택과 시간 확보로 '제로(0)'를 막고, 3일간의 성과 패턴으로 향후 가능성을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전략적 사이트 선택</a:t>
            </a:r>
          </a:p>
          <a:p xmlns:a="http://schemas.openxmlformats.org/drawingml/2006/main">
            <a:r>
              <a:t>신입이 벨을 칠 수 있는 사이트를 전략적으로 고르고 스케줄을 미리 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제로(0) 방지 전략</a:t>
            </a:r>
          </a:p>
          <a:p xmlns:a="http://schemas.openxmlformats.org/drawingml/2006/main">
            <a:r>
              <a:t>제로는 절대 금물. 시간 확보는 필수, 성공 가능성 높은 필드를 찾는다.</a:t>
            </a:r>
          </a:p>
          <a:p xmlns:a="http://schemas.openxmlformats.org/drawingml/2006/main">
            <a:r>
              <a:t>3일간 성과 → 판단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 – 1 – 2</a:t>
            </a:r>
          </a:p>
          <a:p xmlns:a="http://schemas.openxmlformats.org/drawingml/2006/main">
            <a:r>
              <a:t>가장 이상적 · 리더로 육성 가능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3일간 2개</a:t>
            </a:r>
          </a:p>
          <a:p xmlns:a="http://schemas.openxmlformats.org/drawingml/2006/main">
            <a:r>
              <a:t>로드트립 제안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3일간 3개</a:t>
            </a:r>
          </a:p>
          <a:p xmlns:a="http://schemas.openxmlformats.org/drawingml/2006/main">
            <a:r>
              <a:t>의지와 센스 모두 보유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 – 0 – 0</a:t>
            </a:r>
          </a:p>
          <a:p xmlns:a="http://schemas.openxmlformats.org/drawingml/2006/main">
            <a:r>
              <a:t>의지·센스 부족 → 빠른 Qualifying</a:t>
            </a:r>
          </a:p>
          <a:p xmlns:a="http://schemas.openxmlformats.org/drawingml/2006/main">
            <a:r>
              <a:t>단, 모든 판단은 Case by Case — 기준 위에서 유연하게.</a:t>
            </a:r>
          </a:p>
          <a:p xmlns:a="http://schemas.openxmlformats.org/drawingml/2006/main">
            <a:r>
              <a:t>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12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THE FIRST 3 DAYS</a:t>
            </a:r>
          </a:p>
          <a:p xmlns:a="http://schemas.openxmlformats.org/drawingml/2006/main">
            <a:r>
              <a:t>DAY 3 · 판단의 날</a:t>
            </a:r>
          </a:p>
          <a:p xmlns:a="http://schemas.openxmlformats.org/drawingml/2006/main">
            <a:r>
              <a:t>셋째 날, Stay인가 Qualifying인가 (반드시 오너와 상의)</a:t>
            </a:r>
          </a:p>
          <a:p xmlns:a="http://schemas.openxmlformats.org/drawingml/2006/main">
            <a:r>
              <a:t>전략적 사이트 선택과 시간 확보로 '제로(0)'를 막고, 3일간의 성과 패턴으로 향후 가능성을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전략적 사이트 선택</a:t>
            </a:r>
          </a:p>
          <a:p xmlns:a="http://schemas.openxmlformats.org/drawingml/2006/main">
            <a:r>
              <a:t>신입이 벨을 칠 수 있는 사이트를 전략적으로 고르고 스케줄을 미리 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제로(0) 방지 전략</a:t>
            </a:r>
          </a:p>
          <a:p xmlns:a="http://schemas.openxmlformats.org/drawingml/2006/main">
            <a:r>
              <a:t>제로는 절대 금물. 시간 확보는 필수, 성공 가능성 높은 필드를 찾는다.</a:t>
            </a:r>
          </a:p>
          <a:p xmlns:a="http://schemas.openxmlformats.org/drawingml/2006/main">
            <a:r>
              <a:t>3일간 성과 → 판단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 – 1 – 2</a:t>
            </a:r>
          </a:p>
          <a:p xmlns:a="http://schemas.openxmlformats.org/drawingml/2006/main">
            <a:r>
              <a:t>가장 이상적 · 리더로 육성 가능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3일간 2개</a:t>
            </a:r>
          </a:p>
          <a:p xmlns:a="http://schemas.openxmlformats.org/drawingml/2006/main">
            <a:r>
              <a:t>로드트립 제안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3일간 3개</a:t>
            </a:r>
          </a:p>
          <a:p xmlns:a="http://schemas.openxmlformats.org/drawingml/2006/main">
            <a:r>
              <a:t>의지와 센스 모두 보유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 – 0 – 0</a:t>
            </a:r>
          </a:p>
          <a:p xmlns:a="http://schemas.openxmlformats.org/drawingml/2006/main">
            <a:r>
              <a:t>의지·센스 부족 → 빠른 Qualifying</a:t>
            </a:r>
          </a:p>
          <a:p xmlns:a="http://schemas.openxmlformats.org/drawingml/2006/main">
            <a:r>
              <a:t>단, 모든 판단은 Case by Case — 기준 위에서 유연하게.</a:t>
            </a:r>
          </a:p>
          <a:p xmlns:a="http://schemas.openxmlformats.org/drawingml/2006/main">
            <a:r>
              <a:t>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12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SKILL TRAINING</a:t>
            </a:r>
          </a:p>
          <a:p xmlns:a="http://schemas.openxmlformats.org/drawingml/2006/main">
            <a:r>
              <a:t>5 Step 트레이닝</a:t>
            </a:r>
          </a:p>
          <a:p xmlns:a="http://schemas.openxmlformats.org/drawingml/2006/main">
            <a:r>
              <a:t>주목부터 재확인까지, 한 호흡으로 이어지는 표준 세일즈 흐름.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Intro</a:t>
            </a:r>
          </a:p>
          <a:p xmlns:a="http://schemas.openxmlformats.org/drawingml/2006/main">
            <a:r>
              <a:t>주목시키기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핵심은 '주목'. 시선과 발걸음을 멈춰 세운다. 적극적 리액션과 아이스브레이크로 '대화하고 싶은 분위기'를 만들고 경계심을 푼다.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Short Story</a:t>
            </a:r>
          </a:p>
          <a:p xmlns:a="http://schemas.openxmlformats.org/drawingml/2006/main">
            <a:r>
              <a:t>짧고 명확한 피치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짧은 피치 + Yes Question으로 긍정 응답률을 올린다. WOW 포인트를 활용해 흥미를 끌어올린다.</a:t>
            </a:r>
          </a:p>
          <a:p xmlns:a="http://schemas.openxmlformats.org/drawingml/2006/main">
            <a:r>
              <a:t>이때  Tone of Voice와 Body Language 를 상황에 맞게 활용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Presentation</a:t>
            </a:r>
          </a:p>
          <a:p xmlns:a="http://schemas.openxmlformats.org/drawingml/2006/main">
            <a:r>
              <a:t>해결책 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액션: 해결책으로 구호물품을 직접 보여준다. 효과: 구매 욕구를 최대치로 끌어올린다.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Closing · TAAIS</a:t>
            </a:r>
          </a:p>
          <a:p xmlns:a="http://schemas.openxmlformats.org/drawingml/2006/main">
            <a:r>
              <a:t>구매를 전제로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Trial(항상 시도) · Assumptive(구매 전제 대화) · Alternative · Indifference · Silence(선택권 부여와 침묵 활용).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Rehash</a:t>
            </a:r>
          </a:p>
          <a:p xmlns:a="http://schemas.openxmlformats.org/drawingml/2006/main">
            <a:r>
              <a:t>거래정보 재확인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거래 정보를 다시 확인해 취소율을 낮추고, 구매 만족도를 한 번 더 끌어올린다.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참고 · 5 Step 外</a:t>
            </a:r>
          </a:p>
          <a:p xmlns:a="http://schemas.openxmlformats.org/drawingml/2006/main">
            <a:r>
              <a:t>쿠션 멘트  피치 전반에 꼭 필요한 핵심 요소.  "바쁘시니까", "이미 좋은 일 많이 하시겠지만" 등으로 거절 확률을 낮춘다.</a:t>
            </a:r>
          </a:p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13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SKILL TRAINING</a:t>
            </a:r>
          </a:p>
          <a:p xmlns:a="http://schemas.openxmlformats.org/drawingml/2006/main">
            <a:r>
              <a:t>5 Step 트레이닝</a:t>
            </a:r>
          </a:p>
          <a:p xmlns:a="http://schemas.openxmlformats.org/drawingml/2006/main">
            <a:r>
              <a:t>주목부터 재확인까지, 한 호흡으로 이어지는 표준 세일즈 흐름.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Intro</a:t>
            </a:r>
          </a:p>
          <a:p xmlns:a="http://schemas.openxmlformats.org/drawingml/2006/main">
            <a:r>
              <a:t>주목시키기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핵심은 '주목'. 시선과 발걸음을 멈춰 세운다. 적극적 리액션과 아이스브레이크로 '대화하고 싶은 분위기'를 만들고 경계심을 푼다.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Short Story</a:t>
            </a:r>
          </a:p>
          <a:p xmlns:a="http://schemas.openxmlformats.org/drawingml/2006/main">
            <a:r>
              <a:t>짧고 명확한 피치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짧은 피치 + Yes Question으로 긍정 응답률을 올린다. WOW 포인트를 활용해 흥미를 끌어올린다.</a:t>
            </a:r>
          </a:p>
          <a:p xmlns:a="http://schemas.openxmlformats.org/drawingml/2006/main">
            <a:r>
              <a:t>이때  Tone of Voice와 Body Language 를 상황에 맞게 활용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Presentation</a:t>
            </a:r>
          </a:p>
          <a:p xmlns:a="http://schemas.openxmlformats.org/drawingml/2006/main">
            <a:r>
              <a:t>해결책 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액션: 해결책으로 구호물품을 직접 보여준다. 효과: 구매 욕구를 최대치로 끌어올린다.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Closing · TAAIS</a:t>
            </a:r>
          </a:p>
          <a:p xmlns:a="http://schemas.openxmlformats.org/drawingml/2006/main">
            <a:r>
              <a:t>구매를 전제로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Trial(항상 시도) · Assumptive(구매 전제 대화) · Alternative · Indifference · Silence(선택권 부여와 침묵 활용).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Rehash</a:t>
            </a:r>
          </a:p>
          <a:p xmlns:a="http://schemas.openxmlformats.org/drawingml/2006/main">
            <a:r>
              <a:t>거래정보 재확인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거래 정보를 다시 확인해 취소율을 낮추고, 구매 만족도를 한 번 더 끌어올린다.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참고 · 5 Step 外</a:t>
            </a:r>
          </a:p>
          <a:p xmlns:a="http://schemas.openxmlformats.org/drawingml/2006/main">
            <a:r>
              <a:t>쿠션 멘트  피치 전반에 꼭 필요한 핵심 요소.  "바쁘시니까", "이미 좋은 일 많이 하시겠지만" 등으로 거절 확률을 낮춘다.</a:t>
            </a:r>
          </a:p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13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SKILL TRAINING</a:t>
            </a:r>
          </a:p>
          <a:p xmlns:a="http://schemas.openxmlformats.org/drawingml/2006/main">
            <a:r>
              <a:t>5 Step 트레이닝</a:t>
            </a:r>
          </a:p>
          <a:p xmlns:a="http://schemas.openxmlformats.org/drawingml/2006/main">
            <a:r>
              <a:t>주목부터 재확인까지, 한 호흡으로 이어지는 표준 세일즈 흐름.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Intro</a:t>
            </a:r>
          </a:p>
          <a:p xmlns:a="http://schemas.openxmlformats.org/drawingml/2006/main">
            <a:r>
              <a:t>주목시키기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핵심은 '주목'. 시선과 발걸음을 멈춰 세운다. 적극적 리액션과 아이스브레이크로 '대화하고 싶은 분위기'를 만들고 경계심을 푼다.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Short Story</a:t>
            </a:r>
          </a:p>
          <a:p xmlns:a="http://schemas.openxmlformats.org/drawingml/2006/main">
            <a:r>
              <a:t>짧고 명확한 피치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짧은 피치 + Yes Question으로 긍정 응답률을 올린다. WOW 포인트를 활용해 흥미를 끌어올린다.</a:t>
            </a:r>
          </a:p>
          <a:p xmlns:a="http://schemas.openxmlformats.org/drawingml/2006/main">
            <a:r>
              <a:t>이때  Tone of Voice와 Body Language 를 상황에 맞게 활용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Presentation</a:t>
            </a:r>
          </a:p>
          <a:p xmlns:a="http://schemas.openxmlformats.org/drawingml/2006/main">
            <a:r>
              <a:t>해결책 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액션: 해결책으로 구호물품을 직접 보여준다. 효과: 구매 욕구를 최대치로 끌어올린다.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Closing · TAAIS</a:t>
            </a:r>
          </a:p>
          <a:p xmlns:a="http://schemas.openxmlformats.org/drawingml/2006/main">
            <a:r>
              <a:t>구매를 전제로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Trial(항상 시도) · Assumptive(구매 전제 대화) · Alternative · Indifference · Silence(선택권 부여와 침묵 활용).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Rehash</a:t>
            </a:r>
          </a:p>
          <a:p xmlns:a="http://schemas.openxmlformats.org/drawingml/2006/main">
            <a:r>
              <a:t>거래정보 재확인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거래 정보를 다시 확인해 취소율을 낮추고, 구매 만족도를 한 번 더 끌어올린다.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참고 · 5 Step 外</a:t>
            </a:r>
          </a:p>
          <a:p xmlns:a="http://schemas.openxmlformats.org/drawingml/2006/main">
            <a:r>
              <a:t>쿠션 멘트  피치 전반에 꼭 필요한 핵심 요소.  "바쁘시니까", "이미 좋은 일 많이 하시겠지만" 등으로 거절 확률을 낮춘다.</a:t>
            </a:r>
          </a:p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13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SKILL TRAINING</a:t>
            </a:r>
          </a:p>
          <a:p xmlns:a="http://schemas.openxmlformats.org/drawingml/2006/main">
            <a:r>
              <a:t>5 Step 트레이닝</a:t>
            </a:r>
          </a:p>
          <a:p xmlns:a="http://schemas.openxmlformats.org/drawingml/2006/main">
            <a:r>
              <a:t>주목부터 재확인까지, 한 호흡으로 이어지는 표준 세일즈 흐름.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Intro</a:t>
            </a:r>
          </a:p>
          <a:p xmlns:a="http://schemas.openxmlformats.org/drawingml/2006/main">
            <a:r>
              <a:t>주목시키기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핵심은 '주목'. 시선과 발걸음을 멈춰 세운다. 적극적 리액션과 아이스브레이크로 '대화하고 싶은 분위기'를 만들고 경계심을 푼다.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Short Story</a:t>
            </a:r>
          </a:p>
          <a:p xmlns:a="http://schemas.openxmlformats.org/drawingml/2006/main">
            <a:r>
              <a:t>짧고 명확한 피치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짧은 피치 + Yes Question으로 긍정 응답률을 올린다. WOW 포인트를 활용해 흥미를 끌어올린다.</a:t>
            </a:r>
          </a:p>
          <a:p xmlns:a="http://schemas.openxmlformats.org/drawingml/2006/main">
            <a:r>
              <a:t>이때  Tone of Voice와 Body Language 를 상황에 맞게 활용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Presentation</a:t>
            </a:r>
          </a:p>
          <a:p xmlns:a="http://schemas.openxmlformats.org/drawingml/2006/main">
            <a:r>
              <a:t>해결책 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액션: 해결책으로 구호물품을 직접 보여준다. 효과: 구매 욕구를 최대치로 끌어올린다.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Closing · TAAIS</a:t>
            </a:r>
          </a:p>
          <a:p xmlns:a="http://schemas.openxmlformats.org/drawingml/2006/main">
            <a:r>
              <a:t>구매를 전제로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Trial(항상 시도) · Assumptive(구매 전제 대화) · Alternative · Indifference · Silence(선택권 부여와 침묵 활용).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Rehash</a:t>
            </a:r>
          </a:p>
          <a:p xmlns:a="http://schemas.openxmlformats.org/drawingml/2006/main">
            <a:r>
              <a:t>거래정보 재확인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거래 정보를 다시 확인해 취소율을 낮추고, 구매 만족도를 한 번 더 끌어올린다.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참고 · 5 Step 外</a:t>
            </a:r>
          </a:p>
          <a:p xmlns:a="http://schemas.openxmlformats.org/drawingml/2006/main">
            <a:r>
              <a:t>쿠션 멘트  피치 전반에 꼭 필요한 핵심 요소.  "바쁘시니까", "이미 좋은 일 많이 하시겠지만" 등으로 거절 확률을 낮춘다.</a:t>
            </a:r>
          </a:p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13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SKILL TRAINING</a:t>
            </a:r>
          </a:p>
          <a:p xmlns:a="http://schemas.openxmlformats.org/drawingml/2006/main">
            <a:r>
              <a:t>5 Step 트레이닝</a:t>
            </a:r>
          </a:p>
          <a:p xmlns:a="http://schemas.openxmlformats.org/drawingml/2006/main">
            <a:r>
              <a:t>주목부터 재확인까지, 한 호흡으로 이어지는 표준 세일즈 흐름.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Intro</a:t>
            </a:r>
          </a:p>
          <a:p xmlns:a="http://schemas.openxmlformats.org/drawingml/2006/main">
            <a:r>
              <a:t>주목시키기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핵심은 '주목'. 시선과 발걸음을 멈춰 세운다. 적극적 리액션과 아이스브레이크로 '대화하고 싶은 분위기'를 만들고 경계심을 푼다.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Short Story</a:t>
            </a:r>
          </a:p>
          <a:p xmlns:a="http://schemas.openxmlformats.org/drawingml/2006/main">
            <a:r>
              <a:t>짧고 명확한 피치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짧은 피치 + Yes Question으로 긍정 응답률을 올린다. WOW 포인트를 활용해 흥미를 끌어올린다.</a:t>
            </a:r>
          </a:p>
          <a:p xmlns:a="http://schemas.openxmlformats.org/drawingml/2006/main">
            <a:r>
              <a:t>이때  Tone of Voice와 Body Language 를 상황에 맞게 활용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Presentation</a:t>
            </a:r>
          </a:p>
          <a:p xmlns:a="http://schemas.openxmlformats.org/drawingml/2006/main">
            <a:r>
              <a:t>해결책 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액션: 해결책으로 구호물품을 직접 보여준다. 효과: 구매 욕구를 최대치로 끌어올린다.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Closing · TAAIS</a:t>
            </a:r>
          </a:p>
          <a:p xmlns:a="http://schemas.openxmlformats.org/drawingml/2006/main">
            <a:r>
              <a:t>구매를 전제로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Trial(항상 시도) · Assumptive(구매 전제 대화) · Alternative · Indifference · Silence(선택권 부여와 침묵 활용).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Rehash</a:t>
            </a:r>
          </a:p>
          <a:p xmlns:a="http://schemas.openxmlformats.org/drawingml/2006/main">
            <a:r>
              <a:t>거래정보 재확인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거래 정보를 다시 확인해 취소율을 낮추고, 구매 만족도를 한 번 더 끌어올린다.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참고 · 5 Step 外</a:t>
            </a:r>
          </a:p>
          <a:p xmlns:a="http://schemas.openxmlformats.org/drawingml/2006/main">
            <a:r>
              <a:t>쿠션 멘트  피치 전반에 꼭 필요한 핵심 요소.  "바쁘시니까", "이미 좋은 일 많이 하시겠지만" 등으로 거절 확률을 낮춘다.</a:t>
            </a:r>
          </a:p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13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SKILL TRAINING</a:t>
            </a:r>
          </a:p>
          <a:p xmlns:a="http://schemas.openxmlformats.org/drawingml/2006/main">
            <a:r>
              <a:t>개인별 맞춤 피드백</a:t>
            </a:r>
          </a:p>
          <a:p xmlns:a="http://schemas.openxmlformats.org/drawingml/2006/main">
            <a:r>
              <a:t>관찰로 약점을 진단한 뒤, 그 사람에게 맞는 처방을 내린다. — 관찰이 먼저, 피드백은 그 다음.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리액션이 약하다</a:t>
            </a:r>
          </a:p>
          <a:p xmlns:a="http://schemas.openxmlformats.org/drawingml/2006/main">
            <a:r>
              <a:t>리액션 강화</a:t>
            </a:r>
          </a:p>
          <a:p xmlns:a="http://schemas.openxmlformats.org/drawingml/2006/main">
            <a:r>
              <a:t>표정·제스처 훈련</a:t>
            </a:r>
          </a:p>
          <a:p xmlns:a="http://schemas.openxmlformats.org/drawingml/2006/main">
            <a:r>
              <a:t>고객 반응에 즉각 대응</a:t>
            </a:r>
          </a:p>
          <a:p xmlns:a="http://schemas.openxmlformats.org/drawingml/2006/main">
            <a:r>
              <a:t>임펄스·바디랭귀지</a:t>
            </a:r>
          </a:p>
          <a:p xmlns:a="http://schemas.openxmlformats.org/drawingml/2006/main">
            <a:r>
              <a:t>롤플레이 반복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부스 연결이 약하다</a:t>
            </a:r>
          </a:p>
          <a:p xmlns:a="http://schemas.openxmlformats.org/drawingml/2006/main">
            <a:r>
              <a:t>스트릿 스킬</a:t>
            </a:r>
          </a:p>
          <a:p xmlns:a="http://schemas.openxmlformats.org/drawingml/2006/main">
            <a:r>
              <a:t>접근 방법 다양화</a:t>
            </a:r>
          </a:p>
          <a:p xmlns:a="http://schemas.openxmlformats.org/drawingml/2006/main">
            <a:r>
              <a:t>첫인상 개선 훈련</a:t>
            </a:r>
          </a:p>
          <a:p xmlns:a="http://schemas.openxmlformats.org/drawingml/2006/main">
            <a:r>
              <a:t>거절 극복 기술</a:t>
            </a:r>
          </a:p>
          <a:p xmlns:a="http://schemas.openxmlformats.org/drawingml/2006/main">
            <a:r>
              <a:t>고객 유형별 접근법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클로징이 약하다</a:t>
            </a:r>
          </a:p>
          <a:p xmlns:a="http://schemas.openxmlformats.org/drawingml/2006/main">
            <a:r>
              <a:t>클로징 강화</a:t>
            </a:r>
          </a:p>
          <a:p xmlns:a="http://schemas.openxmlformats.org/drawingml/2006/main">
            <a:r>
              <a:t>TAAIS 집중 훈련</a:t>
            </a:r>
          </a:p>
          <a:p xmlns:a="http://schemas.openxmlformats.org/drawingml/2006/main">
            <a:r>
              <a:t>Buying sign 포착</a:t>
            </a:r>
          </a:p>
          <a:p xmlns:a="http://schemas.openxmlformats.org/drawingml/2006/main">
            <a:r>
              <a:t>침묵·대안 제시 기술</a:t>
            </a:r>
          </a:p>
          <a:p xmlns:a="http://schemas.openxmlformats.org/drawingml/2006/main">
            <a:r>
              <a:t>클로징 타이밍 습득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이미 잘한다</a:t>
            </a:r>
          </a:p>
          <a:p xmlns:a="http://schemas.openxmlformats.org/drawingml/2006/main">
            <a:r>
              <a:t>목표 상향</a:t>
            </a:r>
          </a:p>
          <a:p xmlns:a="http://schemas.openxmlformats.org/drawingml/2006/main">
            <a:r>
              <a:t>더 높은 목표 제시</a:t>
            </a:r>
          </a:p>
          <a:p xmlns:a="http://schemas.openxmlformats.org/drawingml/2006/main">
            <a:r>
              <a:t>자기주도 성장 유도</a:t>
            </a:r>
          </a:p>
          <a:p xmlns:a="http://schemas.openxmlformats.org/drawingml/2006/main">
            <a:r>
              <a:t>리더십·멘토링 기회</a:t>
            </a:r>
          </a:p>
          <a:p xmlns:a="http://schemas.openxmlformats.org/drawingml/2006/main">
            <a:r>
              <a:t>장기 커리어 설계</a:t>
            </a:r>
          </a:p>
          <a:p xmlns:a="http://schemas.openxmlformats.org/drawingml/2006/main">
            <a:r>
              <a:t>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14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FEEDBACK TIMING · WHAT</a:t>
            </a:r>
          </a:p>
          <a:p xmlns:a="http://schemas.openxmlformats.org/drawingml/2006/main">
            <a:r>
              <a:t>필드 전, 무엇을 준비하는가</a:t>
            </a:r>
          </a:p>
          <a:p xmlns:a="http://schemas.openxmlformats.org/drawingml/2006/main">
            <a:r>
              <a:t>필드에 나가기 전, 신입과 함께 점검하고 설계하는 것들.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피치 점검</a:t>
            </a:r>
          </a:p>
          <a:p xmlns:a="http://schemas.openxmlformats.org/drawingml/2006/main">
            <a:r>
              <a:t>피치 숙지·클로즈·약정서</a:t>
            </a:r>
          </a:p>
          <a:p xmlns:a="http://schemas.openxmlformats.org/drawingml/2006/main">
            <a:r>
              <a:t>핸들링 정도를 함께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니즈 파악</a:t>
            </a:r>
          </a:p>
          <a:p xmlns:a="http://schemas.openxmlformats.org/drawingml/2006/main">
            <a:r>
              <a:t>내일 필드를 통해</a:t>
            </a:r>
          </a:p>
          <a:p xmlns:a="http://schemas.openxmlformats.org/drawingml/2006/main">
            <a:r>
              <a:t>무엇을 배우고 싶은지 묻는다.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목표 설정</a:t>
            </a:r>
          </a:p>
          <a:p xmlns:a="http://schemas.openxmlformats.org/drawingml/2006/main">
            <a:r>
              <a:t>필드시간·리해쉬·클로즈.</a:t>
            </a:r>
          </a:p>
          <a:p xmlns:a="http://schemas.openxmlformats.org/drawingml/2006/main">
            <a:r>
              <a:t>개인+섹터목표(AVG)까지 나누면 BEST.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사이트 전략 공유</a:t>
            </a:r>
          </a:p>
          <a:p xmlns:a="http://schemas.openxmlformats.org/drawingml/2006/main">
            <a:r>
              <a:t>사이트를 익숙하게 만들고 전략대로,</a:t>
            </a:r>
          </a:p>
          <a:p xmlns:a="http://schemas.openxmlformats.org/drawingml/2006/main">
            <a:r>
              <a:t>'나도 할 수 있다'는 기대를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>사전 안내 (프리엠티브)</a:t>
            </a:r>
          </a:p>
          <a:p xmlns:a="http://schemas.openxmlformats.org/drawingml/2006/main">
            <a:r>
              <a:t>타 에이전시·우천 등 갑자기 닥치면</a:t>
            </a:r>
          </a:p>
          <a:p xmlns:a="http://schemas.openxmlformats.org/drawingml/2006/main">
            <a:r>
              <a:t>네거티브해지는 요소를 미리 안내한다.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06</a:t>
            </a:r>
          </a:p>
          <a:p xmlns:a="http://schemas.openxmlformats.org/drawingml/2006/main">
            <a:r>
              <a:t>필드 물품·복장 점검</a:t>
            </a:r>
          </a:p>
          <a:p xmlns:a="http://schemas.openxmlformats.org/drawingml/2006/main">
            <a:r>
              <a:t>콜백싯·조끼·아이디카드·</a:t>
            </a:r>
          </a:p>
          <a:p xmlns:a="http://schemas.openxmlformats.org/drawingml/2006/main">
            <a:r>
              <a:t>태블릿·부스 등을 점검한다.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15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FEEDBACK TIMING · WHAT</a:t>
            </a:r>
          </a:p>
          <a:p xmlns:a="http://schemas.openxmlformats.org/drawingml/2006/main">
            <a:r>
              <a:t>필드 전, 무엇을 준비하는가</a:t>
            </a:r>
          </a:p>
          <a:p xmlns:a="http://schemas.openxmlformats.org/drawingml/2006/main">
            <a:r>
              <a:t>필드에 나가기 전, 신입과 함께 점검하고 설계하는 것들.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피치 점검</a:t>
            </a:r>
          </a:p>
          <a:p xmlns:a="http://schemas.openxmlformats.org/drawingml/2006/main">
            <a:r>
              <a:t>피치 숙지·클로즈·약정서</a:t>
            </a:r>
          </a:p>
          <a:p xmlns:a="http://schemas.openxmlformats.org/drawingml/2006/main">
            <a:r>
              <a:t>핸들링 정도를 함께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니즈 파악</a:t>
            </a:r>
          </a:p>
          <a:p xmlns:a="http://schemas.openxmlformats.org/drawingml/2006/main">
            <a:r>
              <a:t>내일 필드를 통해</a:t>
            </a:r>
          </a:p>
          <a:p xmlns:a="http://schemas.openxmlformats.org/drawingml/2006/main">
            <a:r>
              <a:t>무엇을 배우고 싶은지 묻는다.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목표 설정</a:t>
            </a:r>
          </a:p>
          <a:p xmlns:a="http://schemas.openxmlformats.org/drawingml/2006/main">
            <a:r>
              <a:t>필드시간·리해쉬·클로즈.</a:t>
            </a:r>
          </a:p>
          <a:p xmlns:a="http://schemas.openxmlformats.org/drawingml/2006/main">
            <a:r>
              <a:t>개인+섹터목표(AVG)까지 나누면 BEST.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사이트 전략 공유</a:t>
            </a:r>
          </a:p>
          <a:p xmlns:a="http://schemas.openxmlformats.org/drawingml/2006/main">
            <a:r>
              <a:t>사이트를 익숙하게 만들고 전략대로,</a:t>
            </a:r>
          </a:p>
          <a:p xmlns:a="http://schemas.openxmlformats.org/drawingml/2006/main">
            <a:r>
              <a:t>'나도 할 수 있다'는 기대를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>사전 안내 (프리엠티브)</a:t>
            </a:r>
          </a:p>
          <a:p xmlns:a="http://schemas.openxmlformats.org/drawingml/2006/main">
            <a:r>
              <a:t>타 에이전시·우천 등 갑자기 닥치면</a:t>
            </a:r>
          </a:p>
          <a:p xmlns:a="http://schemas.openxmlformats.org/drawingml/2006/main">
            <a:r>
              <a:t>네거티브해지는 요소를 미리 안내한다.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06</a:t>
            </a:r>
          </a:p>
          <a:p xmlns:a="http://schemas.openxmlformats.org/drawingml/2006/main">
            <a:r>
              <a:t>필드 물품·복장 점검</a:t>
            </a:r>
          </a:p>
          <a:p xmlns:a="http://schemas.openxmlformats.org/drawingml/2006/main">
            <a:r>
              <a:t>콜백싯·조끼·아이디카드·</a:t>
            </a:r>
          </a:p>
          <a:p xmlns:a="http://schemas.openxmlformats.org/drawingml/2006/main">
            <a:r>
              <a:t>태블릿·부스 등을 점검한다.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15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FEEDBACK TIMING · HOW</a:t>
            </a:r>
          </a:p>
          <a:p xmlns:a="http://schemas.openxmlformats.org/drawingml/2006/main">
            <a:r>
              <a:t>필드 중, 어떻게 끌어가는가</a:t>
            </a:r>
          </a:p>
          <a:p xmlns:a="http://schemas.openxmlformats.org/drawingml/2006/main">
            <a:r>
              <a:t>필드 안에서 실시간으로 관찰하고, 보여주고, 케어한다.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트레이닝 대상 파악</a:t>
            </a:r>
          </a:p>
          <a:p xmlns:a="http://schemas.openxmlformats.org/drawingml/2006/main">
            <a:r>
              <a:t>어떤 유형인지,</a:t>
            </a:r>
          </a:p>
          <a:p xmlns:a="http://schemas.openxmlformats.org/drawingml/2006/main">
            <a:r>
              <a:t>어느 정도의 이해도인지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집중·계속 시도</a:t>
            </a:r>
          </a:p>
          <a:p xmlns:a="http://schemas.openxmlformats.org/drawingml/2006/main">
            <a:r>
              <a:t>계속되는 시도를 통해</a:t>
            </a:r>
          </a:p>
          <a:p xmlns:a="http://schemas.openxmlformats.org/drawingml/2006/main">
            <a:r>
              <a:t>객관적 데이터를 쌓게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상황에 맞는 피드백·점검</a:t>
            </a:r>
          </a:p>
          <a:p xmlns:a="http://schemas.openxmlformats.org/drawingml/2006/main">
            <a:r>
              <a:t>칭찬과 즉시 CS·넘버 피드백.</a:t>
            </a:r>
          </a:p>
          <a:p xmlns:a="http://schemas.openxmlformats.org/drawingml/2006/main">
            <a:r>
              <a:t>2시간마다 콜백싯을 점검한다.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보여주기 (Showing)</a:t>
            </a:r>
          </a:p>
          <a:p xmlns:a="http://schemas.openxmlformats.org/drawingml/2006/main">
            <a:r>
              <a:t>Showing Is The Best.</a:t>
            </a:r>
          </a:p>
          <a:p xmlns:a="http://schemas.openxmlformats.org/drawingml/2006/main">
            <a:r>
              <a:t>쉽고 빠른 벨로 직접 보여준다.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>네거티브 파악</a:t>
            </a:r>
          </a:p>
          <a:p xmlns:a="http://schemas.openxmlformats.org/drawingml/2006/main">
            <a:r>
              <a:t>빠른 네거티브 파악과 해결,</a:t>
            </a:r>
          </a:p>
          <a:p xmlns:a="http://schemas.openxmlformats.org/drawingml/2006/main">
            <a:r>
              <a:t>그리고 멘탈 케어.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06</a:t>
            </a:r>
          </a:p>
          <a:p xmlns:a="http://schemas.openxmlformats.org/drawingml/2006/main">
            <a:r>
              <a:t>좋은 소식 공유</a:t>
            </a:r>
          </a:p>
          <a:p xmlns:a="http://schemas.openxmlformats.org/drawingml/2006/main">
            <a:r>
              <a:t>시민의 응원의 말,</a:t>
            </a:r>
          </a:p>
          <a:p xmlns:a="http://schemas.openxmlformats.org/drawingml/2006/main">
            <a:r>
              <a:t>후원자가 남긴 후원 사유를 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16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FEEDBACK TIMING · WHY</a:t>
            </a:r>
          </a:p>
          <a:p xmlns:a="http://schemas.openxmlformats.org/drawingml/2006/main">
            <a:r>
              <a:t>필드 후, 무엇을 남기는가</a:t>
            </a:r>
          </a:p>
          <a:p xmlns:a="http://schemas.openxmlformats.org/drawingml/2006/main">
            <a:r>
              <a:t>하루를 돌아보고, 콜백싯 기준으로 피드백하고, 다음을 설계한다.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필드 소감 파악</a:t>
            </a:r>
          </a:p>
          <a:p xmlns:a="http://schemas.openxmlformats.org/drawingml/2006/main">
            <a:r>
              <a:t>오늘 하루 어땠는지 묻는다.</a:t>
            </a:r>
          </a:p>
          <a:p xmlns:a="http://schemas.openxmlformats.org/drawingml/2006/main">
            <a:r>
              <a:t>무엇을 배웠고, 좋았던 점과</a:t>
            </a:r>
          </a:p>
          <a:p xmlns:a="http://schemas.openxmlformats.org/drawingml/2006/main">
            <a:r>
              <a:t>아쉬운 점은 무엇이었는지.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콜백싯 기준 피드백</a:t>
            </a:r>
          </a:p>
          <a:p xmlns:a="http://schemas.openxmlformats.org/drawingml/2006/main">
            <a:r>
              <a:t>같이 필드한 사람들과 넘버를</a:t>
            </a:r>
          </a:p>
          <a:p xmlns:a="http://schemas.openxmlformats.org/drawingml/2006/main">
            <a:r>
              <a:t>비교하며, 넘버·스킬·태도의</a:t>
            </a:r>
          </a:p>
          <a:p xmlns:a="http://schemas.openxmlformats.org/drawingml/2006/main">
            <a:r>
              <a:t>보완점을 함께 이야기한다.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다음 교육 일정 안내 · 기본 5일</a:t>
            </a:r>
          </a:p>
          <a:p xmlns:a="http://schemas.openxmlformats.org/drawingml/2006/main">
            <a:r>
              <a:t>DAY 1</a:t>
            </a:r>
          </a:p>
          <a:p xmlns:a="http://schemas.openxmlformats.org/drawingml/2006/main">
            <a:r>
              <a:t>콜백싯 교육 기본 작성법</a:t>
            </a:r>
          </a:p>
          <a:p xmlns:a="http://schemas.openxmlformats.org/drawingml/2006/main">
            <a:r>
              <a:t>DAY 2</a:t>
            </a:r>
          </a:p>
          <a:p xmlns:a="http://schemas.openxmlformats.org/drawingml/2006/main">
            <a:r>
              <a:t>콜백싯 교육 분석 · Contact to Stop &amp; 부스 컨트롤</a:t>
            </a:r>
          </a:p>
          <a:p xmlns:a="http://schemas.openxmlformats.org/drawingml/2006/main">
            <a:r>
              <a:t>DAY 3</a:t>
            </a:r>
          </a:p>
          <a:p xmlns:a="http://schemas.openxmlformats.org/drawingml/2006/main">
            <a:r>
              <a:t>5 Steps</a:t>
            </a:r>
          </a:p>
          <a:p xmlns:a="http://schemas.openxmlformats.org/drawingml/2006/main">
            <a:r>
              <a:t>DAY 4</a:t>
            </a:r>
          </a:p>
          <a:p xmlns:a="http://schemas.openxmlformats.org/drawingml/2006/main">
            <a:r>
              <a:t>Closing</a:t>
            </a:r>
          </a:p>
          <a:p xmlns:a="http://schemas.openxmlformats.org/drawingml/2006/main">
            <a:r>
              <a:t>DAY 5</a:t>
            </a:r>
          </a:p>
          <a:p xmlns:a="http://schemas.openxmlformats.org/drawingml/2006/main">
            <a:r>
              <a:t>약정서 &amp; 리해쉬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17 · 임재영 AOP. 배경: AI 생성 컨셉 이미지, 실제 팀 활동 기록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FEEDBACK TIMING · WHY</a:t>
            </a:r>
          </a:p>
          <a:p xmlns:a="http://schemas.openxmlformats.org/drawingml/2006/main">
            <a:r>
              <a:t>필드 후, 무엇을 남기는가</a:t>
            </a:r>
          </a:p>
          <a:p xmlns:a="http://schemas.openxmlformats.org/drawingml/2006/main">
            <a:r>
              <a:t>하루를 돌아보고, 콜백싯 기준으로 피드백하고, 다음을 설계한다.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필드 소감 파악</a:t>
            </a:r>
          </a:p>
          <a:p xmlns:a="http://schemas.openxmlformats.org/drawingml/2006/main">
            <a:r>
              <a:t>오늘 하루 어땠는지 묻는다.</a:t>
            </a:r>
          </a:p>
          <a:p xmlns:a="http://schemas.openxmlformats.org/drawingml/2006/main">
            <a:r>
              <a:t>무엇을 배웠고, 좋았던 점과</a:t>
            </a:r>
          </a:p>
          <a:p xmlns:a="http://schemas.openxmlformats.org/drawingml/2006/main">
            <a:r>
              <a:t>아쉬운 점은 무엇이었는지.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콜백싯 기준 피드백</a:t>
            </a:r>
          </a:p>
          <a:p xmlns:a="http://schemas.openxmlformats.org/drawingml/2006/main">
            <a:r>
              <a:t>같이 필드한 사람들과 넘버를</a:t>
            </a:r>
          </a:p>
          <a:p xmlns:a="http://schemas.openxmlformats.org/drawingml/2006/main">
            <a:r>
              <a:t>비교하며, 넘버·스킬·태도의</a:t>
            </a:r>
          </a:p>
          <a:p xmlns:a="http://schemas.openxmlformats.org/drawingml/2006/main">
            <a:r>
              <a:t>보완점을 함께 이야기한다.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다음 교육 일정 안내 · 기본 5일</a:t>
            </a:r>
          </a:p>
          <a:p xmlns:a="http://schemas.openxmlformats.org/drawingml/2006/main">
            <a:r>
              <a:t>DAY 1</a:t>
            </a:r>
          </a:p>
          <a:p xmlns:a="http://schemas.openxmlformats.org/drawingml/2006/main">
            <a:r>
              <a:t>콜백싯 교육 기본 작성법</a:t>
            </a:r>
          </a:p>
          <a:p xmlns:a="http://schemas.openxmlformats.org/drawingml/2006/main">
            <a:r>
              <a:t>DAY 2</a:t>
            </a:r>
          </a:p>
          <a:p xmlns:a="http://schemas.openxmlformats.org/drawingml/2006/main">
            <a:r>
              <a:t>콜백싯 교육 분석 · Contact to Stop &amp; 부스 컨트롤</a:t>
            </a:r>
          </a:p>
          <a:p xmlns:a="http://schemas.openxmlformats.org/drawingml/2006/main">
            <a:r>
              <a:t>DAY 3</a:t>
            </a:r>
          </a:p>
          <a:p xmlns:a="http://schemas.openxmlformats.org/drawingml/2006/main">
            <a:r>
              <a:t>5 Steps</a:t>
            </a:r>
          </a:p>
          <a:p xmlns:a="http://schemas.openxmlformats.org/drawingml/2006/main">
            <a:r>
              <a:t>DAY 4</a:t>
            </a:r>
          </a:p>
          <a:p xmlns:a="http://schemas.openxmlformats.org/drawingml/2006/main">
            <a:r>
              <a:t>Closing</a:t>
            </a:r>
          </a:p>
          <a:p xmlns:a="http://schemas.openxmlformats.org/drawingml/2006/main">
            <a:r>
              <a:t>DAY 5</a:t>
            </a:r>
          </a:p>
          <a:p xmlns:a="http://schemas.openxmlformats.org/drawingml/2006/main">
            <a:r>
              <a:t>약정서 &amp; 리해쉬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17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FEEDBACK · CAUTION</a:t>
            </a:r>
          </a:p>
          <a:p xmlns:a="http://schemas.openxmlformats.org/drawingml/2006/main">
            <a:r>
              <a:t>피드백할 때 주의사항</a:t>
            </a:r>
          </a:p>
          <a:p xmlns:a="http://schemas.openxmlformats.org/drawingml/2006/main">
            <a:r>
              <a:t>좋은 의도라도 방식이 틀리면 독이 된다. 다섯 가지를 기억한다.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감정·느낌이 아닌 기준으로</a:t>
            </a:r>
          </a:p>
          <a:p xmlns:a="http://schemas.openxmlformats.org/drawingml/2006/main">
            <a:r>
              <a:t>넘버·스킬·태도 모두 콜백싯 기준으로 피드백한다.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내 말이 아닌, 상대에게 필요한 말인가 (매우 중요)</a:t>
            </a:r>
          </a:p>
          <a:p xmlns:a="http://schemas.openxmlformats.org/drawingml/2006/main">
            <a:r>
              <a:t>하고 싶은 말보다 상대에게 정말 필요한 말인지 먼저 고민한다.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KISS — 간단·명료·눈높이</a:t>
            </a:r>
          </a:p>
          <a:p xmlns:a="http://schemas.openxmlformats.org/drawingml/2006/main">
            <a:r>
              <a:t>상대가 공감하기 좋은 예시로 쉽게 이해되도록 트레이닝한다.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COD 공부하기</a:t>
            </a:r>
          </a:p>
          <a:p xmlns:a="http://schemas.openxmlformats.org/drawingml/2006/main">
            <a:r>
              <a:t>올바른 정보인지 확인하고 피드백. 긴가민가한 이야기는 하지 않는다.</a:t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타이밍을 정해두기</a:t>
            </a:r>
          </a:p>
          <a:p xmlns:a="http://schemas.openxmlformats.org/drawingml/2006/main">
            <a:r>
              <a:t>꼭 필요한 상황 외엔 2시간에 1번. 그 사이엔 개인 목표 달성에 집중한다.</a:t>
            </a:r>
          </a:p>
          <a:p xmlns:a="http://schemas.openxmlformats.org/drawingml/2006/main">
            <a:r>
              <a:t>TIP   피드백 수용이 빠른 신입, 주거테리·유동이 적은 B패턴에는 전략적으로 피드백을 활용하면 좋다.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18 · 임재영 AOP. 배경: AI 생성 컨셉 이미지, 실제 팀 활동 기록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FEEDBACK · CAUTION</a:t>
            </a:r>
          </a:p>
          <a:p xmlns:a="http://schemas.openxmlformats.org/drawingml/2006/main">
            <a:r>
              <a:t>피드백할 때 주의사항</a:t>
            </a:r>
          </a:p>
          <a:p xmlns:a="http://schemas.openxmlformats.org/drawingml/2006/main">
            <a:r>
              <a:t>좋은 의도라도 방식이 틀리면 독이 된다. 다섯 가지를 기억한다.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감정·느낌이 아닌 기준으로</a:t>
            </a:r>
          </a:p>
          <a:p xmlns:a="http://schemas.openxmlformats.org/drawingml/2006/main">
            <a:r>
              <a:t>넘버·스킬·태도 모두 콜백싯 기준으로 피드백한다.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내 말이 아닌, 상대에게 필요한 말인가 (매우 중요)</a:t>
            </a:r>
          </a:p>
          <a:p xmlns:a="http://schemas.openxmlformats.org/drawingml/2006/main">
            <a:r>
              <a:t>하고 싶은 말보다 상대에게 정말 필요한 말인지 먼저 고민한다.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KISS — 간단·명료·눈높이</a:t>
            </a:r>
          </a:p>
          <a:p xmlns:a="http://schemas.openxmlformats.org/drawingml/2006/main">
            <a:r>
              <a:t>상대가 공감하기 좋은 예시로 쉽게 이해되도록 트레이닝한다.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COD 공부하기</a:t>
            </a:r>
          </a:p>
          <a:p xmlns:a="http://schemas.openxmlformats.org/drawingml/2006/main">
            <a:r>
              <a:t>올바른 정보인지 확인하고 피드백. 긴가민가한 이야기는 하지 않는다.</a:t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타이밍을 정해두기</a:t>
            </a:r>
          </a:p>
          <a:p xmlns:a="http://schemas.openxmlformats.org/drawingml/2006/main">
            <a:r>
              <a:t>꼭 필요한 상황 외엔 2시간에 1번. 그 사이엔 개인 목표 달성에 집중한다.</a:t>
            </a:r>
          </a:p>
          <a:p xmlns:a="http://schemas.openxmlformats.org/drawingml/2006/main">
            <a:r>
              <a:t>TIP   피드백 수용이 빠른 신입, 주거테리·유동이 적은 B패턴에는 전략적으로 피드백을 활용하면 좋다.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18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FEEDBACK · MODELS</a:t>
            </a:r>
          </a:p>
          <a:p xmlns:a="http://schemas.openxmlformats.org/drawingml/2006/main">
            <a:r>
              <a:t>사용 중인 피드백 모델</a:t>
            </a:r>
          </a:p>
          <a:p xmlns:a="http://schemas.openxmlformats.org/drawingml/2006/main">
            <a:r>
              <a:t>상황에 맞게 골라 쓰는 세 가지 피드백 프레임.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샌드위치 기법</a:t>
            </a:r>
          </a:p>
          <a:p xmlns:a="http://schemas.openxmlformats.org/drawingml/2006/main">
            <a:r>
              <a:t>“우쮸쮸..!”</a:t>
            </a:r>
          </a:p>
          <a:p xmlns:a="http://schemas.openxmlformats.org/drawingml/2006/main">
            <a:r>
              <a:t>긍정 → 개선점 → 긍정</a:t>
            </a:r>
          </a:p>
          <a:p xmlns:a="http://schemas.openxmlformats.org/drawingml/2006/main">
            <a:r>
              <a:t>긍정적인 피드백으로 시작해 개선점을 짚고, 다시 긍정으로 마무리한다.</a:t>
            </a:r>
          </a:p>
          <a:p xmlns:a="http://schemas.openxmlformats.org/drawingml/2006/main">
            <a:r>
              <a:t>“이것도 저것도 좋았는데, 이 부분만 이렇게 바꿔보면 어떨까요?”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SBI 모델</a:t>
            </a:r>
          </a:p>
          <a:p xmlns:a="http://schemas.openxmlformats.org/drawingml/2006/main">
            <a:r>
              <a:t>“직관적!”</a:t>
            </a:r>
          </a:p>
          <a:p xmlns:a="http://schemas.openxmlformats.org/drawingml/2006/main">
            <a:r>
              <a:t>상황 → 행동 → 영향</a:t>
            </a:r>
          </a:p>
          <a:p xmlns:a="http://schemas.openxmlformats.org/drawingml/2006/main">
            <a:r>
              <a:t>상황(Situation)</a:t>
            </a:r>
          </a:p>
          <a:p xmlns:a="http://schemas.openxmlformats.org/drawingml/2006/main">
            <a:r>
              <a:t>행동(Behavior)</a:t>
            </a:r>
          </a:p>
          <a:p xmlns:a="http://schemas.openxmlformats.org/drawingml/2006/main">
            <a:r>
              <a:t>영향(Impact)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“이럴 땐(상황) 이렇게(행동) 하면 이런 장점(영향)이 있어요!”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5R 코칭법</a:t>
            </a:r>
          </a:p>
          <a:p xmlns:a="http://schemas.openxmlformats.org/drawingml/2006/main">
            <a:r>
              <a:t>“디테일한 발전을 위해”</a:t>
            </a:r>
          </a:p>
          <a:p xmlns:a="http://schemas.openxmlformats.org/drawingml/2006/main">
            <a:r>
              <a:t>Relation · Refocus · Reality</a:t>
            </a:r>
          </a:p>
          <a:p xmlns:a="http://schemas.openxmlformats.org/drawingml/2006/main">
            <a:r>
              <a:t>Resources · Responsibility</a:t>
            </a:r>
          </a:p>
          <a:p xmlns:a="http://schemas.openxmlformats.org/drawingml/2006/main">
            <a:r>
              <a:t>관계형성 → 목표설정 → 현실 장애물 → 해결자원 → 책임지기.</a:t>
            </a:r>
          </a:p>
          <a:p xmlns:a="http://schemas.openxmlformats.org/drawingml/2006/main">
            <a:r>
              <a:t>목표는? 장애물은? 그럼에도 해결할 방법은? 언제까지 무엇을 할지 약속하고 지키게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19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FEEDBACK · MODELS</a:t>
            </a:r>
          </a:p>
          <a:p xmlns:a="http://schemas.openxmlformats.org/drawingml/2006/main">
            <a:r>
              <a:t>사용 중인 피드백 모델</a:t>
            </a:r>
          </a:p>
          <a:p xmlns:a="http://schemas.openxmlformats.org/drawingml/2006/main">
            <a:r>
              <a:t>상황에 맞게 골라 쓰는 세 가지 피드백 프레임.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샌드위치 기법</a:t>
            </a:r>
          </a:p>
          <a:p xmlns:a="http://schemas.openxmlformats.org/drawingml/2006/main">
            <a:r>
              <a:t>“우쮸쮸..!”</a:t>
            </a:r>
          </a:p>
          <a:p xmlns:a="http://schemas.openxmlformats.org/drawingml/2006/main">
            <a:r>
              <a:t>긍정 → 개선점 → 긍정</a:t>
            </a:r>
          </a:p>
          <a:p xmlns:a="http://schemas.openxmlformats.org/drawingml/2006/main">
            <a:r>
              <a:t>긍정적인 피드백으로 시작해 개선점을 짚고, 다시 긍정으로 마무리한다.</a:t>
            </a:r>
          </a:p>
          <a:p xmlns:a="http://schemas.openxmlformats.org/drawingml/2006/main">
            <a:r>
              <a:t>“이것도 저것도 좋았는데, 이 부분만 이렇게 바꿔보면 어떨까요?”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SBI 모델</a:t>
            </a:r>
          </a:p>
          <a:p xmlns:a="http://schemas.openxmlformats.org/drawingml/2006/main">
            <a:r>
              <a:t>“직관적!”</a:t>
            </a:r>
          </a:p>
          <a:p xmlns:a="http://schemas.openxmlformats.org/drawingml/2006/main">
            <a:r>
              <a:t>상황 → 행동 → 영향</a:t>
            </a:r>
          </a:p>
          <a:p xmlns:a="http://schemas.openxmlformats.org/drawingml/2006/main">
            <a:r>
              <a:t>상황(Situation)</a:t>
            </a:r>
          </a:p>
          <a:p xmlns:a="http://schemas.openxmlformats.org/drawingml/2006/main">
            <a:r>
              <a:t>행동(Behavior)</a:t>
            </a:r>
          </a:p>
          <a:p xmlns:a="http://schemas.openxmlformats.org/drawingml/2006/main">
            <a:r>
              <a:t>영향(Impact)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“이럴 땐(상황) 이렇게(행동) 하면 이런 장점(영향)이 있어요!”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5R 코칭법</a:t>
            </a:r>
          </a:p>
          <a:p xmlns:a="http://schemas.openxmlformats.org/drawingml/2006/main">
            <a:r>
              <a:t>“디테일한 발전을 위해”</a:t>
            </a:r>
          </a:p>
          <a:p xmlns:a="http://schemas.openxmlformats.org/drawingml/2006/main">
            <a:r>
              <a:t>Relation · Refocus · Reality</a:t>
            </a:r>
          </a:p>
          <a:p xmlns:a="http://schemas.openxmlformats.org/drawingml/2006/main">
            <a:r>
              <a:t>Resources · Responsibility</a:t>
            </a:r>
          </a:p>
          <a:p xmlns:a="http://schemas.openxmlformats.org/drawingml/2006/main">
            <a:r>
              <a:t>관계형성 → 목표설정 → 현실 장애물 → 해결자원 → 책임지기.</a:t>
            </a:r>
          </a:p>
          <a:p xmlns:a="http://schemas.openxmlformats.org/drawingml/2006/main">
            <a:r>
              <a:t>목표는? 장애물은? 그럼에도 해결할 방법은? 언제까지 무엇을 할지 약속하고 지키게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19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FEEDBACK · MODELS</a:t>
            </a:r>
          </a:p>
          <a:p xmlns:a="http://schemas.openxmlformats.org/drawingml/2006/main">
            <a:r>
              <a:t>사용 중인 피드백 모델</a:t>
            </a:r>
          </a:p>
          <a:p xmlns:a="http://schemas.openxmlformats.org/drawingml/2006/main">
            <a:r>
              <a:t>상황에 맞게 골라 쓰는 세 가지 피드백 프레임.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샌드위치 기법</a:t>
            </a:r>
          </a:p>
          <a:p xmlns:a="http://schemas.openxmlformats.org/drawingml/2006/main">
            <a:r>
              <a:t>“우쮸쮸..!”</a:t>
            </a:r>
          </a:p>
          <a:p xmlns:a="http://schemas.openxmlformats.org/drawingml/2006/main">
            <a:r>
              <a:t>긍정 → 개선점 → 긍정</a:t>
            </a:r>
          </a:p>
          <a:p xmlns:a="http://schemas.openxmlformats.org/drawingml/2006/main">
            <a:r>
              <a:t>긍정적인 피드백으로 시작해 개선점을 짚고, 다시 긍정으로 마무리한다.</a:t>
            </a:r>
          </a:p>
          <a:p xmlns:a="http://schemas.openxmlformats.org/drawingml/2006/main">
            <a:r>
              <a:t>“이것도 저것도 좋았는데, 이 부분만 이렇게 바꿔보면 어떨까요?”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SBI 모델</a:t>
            </a:r>
          </a:p>
          <a:p xmlns:a="http://schemas.openxmlformats.org/drawingml/2006/main">
            <a:r>
              <a:t>“직관적!”</a:t>
            </a:r>
          </a:p>
          <a:p xmlns:a="http://schemas.openxmlformats.org/drawingml/2006/main">
            <a:r>
              <a:t>상황 → 행동 → 영향</a:t>
            </a:r>
          </a:p>
          <a:p xmlns:a="http://schemas.openxmlformats.org/drawingml/2006/main">
            <a:r>
              <a:t>상황(Situation)</a:t>
            </a:r>
          </a:p>
          <a:p xmlns:a="http://schemas.openxmlformats.org/drawingml/2006/main">
            <a:r>
              <a:t>행동(Behavior)</a:t>
            </a:r>
          </a:p>
          <a:p xmlns:a="http://schemas.openxmlformats.org/drawingml/2006/main">
            <a:r>
              <a:t>영향(Impact)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“이럴 땐(상황) 이렇게(행동) 하면 이런 장점(영향)이 있어요!”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5R 코칭법</a:t>
            </a:r>
          </a:p>
          <a:p xmlns:a="http://schemas.openxmlformats.org/drawingml/2006/main">
            <a:r>
              <a:t>“디테일한 발전을 위해”</a:t>
            </a:r>
          </a:p>
          <a:p xmlns:a="http://schemas.openxmlformats.org/drawingml/2006/main">
            <a:r>
              <a:t>Relation · Refocus · Reality</a:t>
            </a:r>
          </a:p>
          <a:p xmlns:a="http://schemas.openxmlformats.org/drawingml/2006/main">
            <a:r>
              <a:t>Resources · Responsibility</a:t>
            </a:r>
          </a:p>
          <a:p xmlns:a="http://schemas.openxmlformats.org/drawingml/2006/main">
            <a:r>
              <a:t>관계형성 → 목표설정 → 현실 장애물 → 해결자원 → 책임지기.</a:t>
            </a:r>
          </a:p>
          <a:p xmlns:a="http://schemas.openxmlformats.org/drawingml/2006/main">
            <a:r>
              <a:t>목표는? 장애물은? 그럼에도 해결할 방법은? 언제까지 무엇을 할지 약속하고 지키게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19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SKILL TRAINING</a:t>
            </a:r>
          </a:p>
          <a:p xmlns:a="http://schemas.openxmlformats.org/drawingml/2006/main">
            <a:r>
              <a:t>트레이너도 콜백싯을 쓴다</a:t>
            </a:r>
          </a:p>
          <a:p xmlns:a="http://schemas.openxmlformats.org/drawingml/2006/main">
            <a:r>
              <a:t>신입이 필드 콜백싯으로 하루를 점검하듯, 트레이너는 같은 3축으로 '내가 신입을 위해 무엇을 챙겼는가'를 매일 점검한다.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Number</a:t>
            </a:r>
          </a:p>
          <a:p xmlns:a="http://schemas.openxmlformats.org/drawingml/2006/main">
            <a:r>
              <a:t>넘버를 쌓게 했는가</a:t>
            </a:r>
          </a:p>
          <a:p xmlns:a="http://schemas.openxmlformats.org/drawingml/2006/main">
            <a:r>
              <a:t>넘버를 쌓을 수 있는 사이트를 준비했는가</a:t>
            </a:r>
          </a:p>
          <a:p xmlns:a="http://schemas.openxmlformats.org/drawingml/2006/main">
            <a:r>
              <a:t>시도하도록 만드는 피드백을 했는가</a:t>
            </a:r>
          </a:p>
          <a:p xmlns:a="http://schemas.openxmlformats.org/drawingml/2006/main">
            <a:r>
              <a:t>거절 없는 시도 횟수를 끌어냈는가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Pitch · Skill</a:t>
            </a:r>
          </a:p>
          <a:p xmlns:a="http://schemas.openxmlformats.org/drawingml/2006/main">
            <a:r>
              <a:t>스킬을 보강했는가</a:t>
            </a:r>
          </a:p>
          <a:p xmlns:a="http://schemas.openxmlformats.org/drawingml/2006/main">
            <a:r>
              <a:t>약한 부분을 필드에서 바로 교육했는가</a:t>
            </a:r>
          </a:p>
          <a:p xmlns:a="http://schemas.openxmlformats.org/drawingml/2006/main">
            <a:r>
              <a:t>어떤 스킬이든 보강하도록 도왔는가</a:t>
            </a:r>
          </a:p>
          <a:p xmlns:a="http://schemas.openxmlformats.org/drawingml/2006/main">
            <a:r>
              <a:t>내일 바로 쓸 수 있게 알려줬는가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Attitude · Mental</a:t>
            </a:r>
          </a:p>
          <a:p xmlns:a="http://schemas.openxmlformats.org/drawingml/2006/main">
            <a:r>
              <a:t>멘탈을 지켜줬는가</a:t>
            </a:r>
          </a:p>
          <a:p xmlns:a="http://schemas.openxmlformats.org/drawingml/2006/main">
            <a:r>
              <a:t>불안·두려움 요소를 제거했는가</a:t>
            </a:r>
          </a:p>
          <a:p xmlns:a="http://schemas.openxmlformats.org/drawingml/2006/main">
            <a:r>
              <a:t>필드에 방해되는 마음을 케어했는가</a:t>
            </a:r>
          </a:p>
          <a:p xmlns:a="http://schemas.openxmlformats.org/drawingml/2006/main">
            <a:r>
              <a:t>필드에 온전히 집중하게 해줬는가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매일 반복</a:t>
            </a:r>
          </a:p>
          <a:p xmlns:a="http://schemas.openxmlformats.org/drawingml/2006/main">
            <a:r>
              <a:t>이 세 가지를 매일 점검하면, 트레이닝이 성장한다.  신입의 콜백싯이 신입을 키우듯, 트레이너의 콜백싯이 트레이너를 키운다.</a:t>
            </a:r>
          </a:p>
          <a:p xmlns:a="http://schemas.openxmlformats.org/drawingml/2006/main">
            <a:r>
              <a:t>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20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>자립을 위한 6주 전략</a:t>
            </a:r>
          </a:p>
          <a:p xmlns:a="http://schemas.openxmlformats.org/drawingml/2006/main">
            <a:r>
              <a:t>신입이 필드에 완전히 적응하기까지 약 6주. 이 기간 동안 전략적인 스케줄 관리와 필드 시간 확보가 자립의 핵심이다.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리더힛, 2주 이내</a:t>
            </a:r>
          </a:p>
          <a:p xmlns:a="http://schemas.openxmlformats.org/drawingml/2006/main">
            <a:r>
              <a:t>리더힛은 2주 이내 달성이 이상적. 전략적으로 스케줄과 필드 시간을 확보하고, 신입의 성장 속도에 맞춰 목표를 설정한다.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6주 필드 적응</a:t>
            </a:r>
          </a:p>
          <a:p xmlns:a="http://schemas.openxmlformats.org/drawingml/2006/main">
            <a:r>
              <a:t>필드 적응에는 약 6주가 소요. 3–5주차에 로드트립을 적극 활용하며 단계별 성장 과정을 모니터링한다.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Self 세일즈 준비</a:t>
            </a:r>
          </a:p>
          <a:p xmlns:a="http://schemas.openxmlformats.org/drawingml/2006/main">
            <a:r>
              <a:t>혼자 세일즈해야 하는 시점을 미리 안내하고 프리엠티브한다. 심리적 준비와 실전 역량을 동시에 강화한다.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21 · 임재영 AOP. 배경: AI 생성 컨셉 이미지, 실제 팀 활동 기록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>자립을 위한 6주 전략</a:t>
            </a:r>
          </a:p>
          <a:p xmlns:a="http://schemas.openxmlformats.org/drawingml/2006/main">
            <a:r>
              <a:t>신입이 필드에 완전히 적응하기까지 약 6주. 이 기간 동안 전략적인 스케줄 관리와 필드 시간 확보가 자립의 핵심이다.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리더힛, 2주 이내</a:t>
            </a:r>
          </a:p>
          <a:p xmlns:a="http://schemas.openxmlformats.org/drawingml/2006/main">
            <a:r>
              <a:t>리더힛은 2주 이내 달성이 이상적. 전략적으로 스케줄과 필드 시간을 확보하고, 신입의 성장 속도에 맞춰 목표를 설정한다.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6주 필드 적응</a:t>
            </a:r>
          </a:p>
          <a:p xmlns:a="http://schemas.openxmlformats.org/drawingml/2006/main">
            <a:r>
              <a:t>필드 적응에는 약 6주가 소요. 3–5주차에 로드트립을 적극 활용하며 단계별 성장 과정을 모니터링한다.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Self 세일즈 준비</a:t>
            </a:r>
          </a:p>
          <a:p xmlns:a="http://schemas.openxmlformats.org/drawingml/2006/main">
            <a:r>
              <a:t>혼자 세일즈해야 하는 시점을 미리 안내하고 프리엠티브한다. 심리적 준비와 실전 역량을 동시에 강화한다.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21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트레이너의 3가지 핵심 역할</a:t>
            </a:r>
          </a:p>
          <a:p xmlns:a="http://schemas.openxmlformats.org/drawingml/2006/main">
            <a:r>
              <a:t>신입이 '자발적으로' 성장하는 환경을 만드는 세 개의 레버.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성취감 제공</a:t>
            </a:r>
          </a:p>
          <a:p xmlns:a="http://schemas.openxmlformats.org/drawingml/2006/main">
            <a:r>
              <a:t>'내가 직접 해냈다'를 느끼게 한다.</a:t>
            </a:r>
          </a:p>
          <a:p xmlns:a="http://schemas.openxmlformats.org/drawingml/2006/main">
            <a:r>
              <a:t>두려워하면 돕고, 아니면 혼자 하게.</a:t>
            </a:r>
          </a:p>
          <a:p xmlns:a="http://schemas.openxmlformats.org/drawingml/2006/main">
            <a:r>
              <a:t>두려움 수준 파악이 판단 기준.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두려움 제거</a:t>
            </a:r>
          </a:p>
          <a:p xmlns:a="http://schemas.openxmlformats.org/drawingml/2006/main">
            <a:r>
              <a:t>초기엔 충분한 서포트를 제공.</a:t>
            </a:r>
          </a:p>
          <a:p xmlns:a="http://schemas.openxmlformats.org/drawingml/2006/main">
            <a:r>
              <a:t>점진적으로 독립성을 부여.</a:t>
            </a:r>
          </a:p>
          <a:p xmlns:a="http://schemas.openxmlformats.org/drawingml/2006/main">
            <a:r>
              <a:t>안전한 환경에서 도전하게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인정과 칭찬</a:t>
            </a:r>
          </a:p>
          <a:p xmlns:a="http://schemas.openxmlformats.org/drawingml/2006/main">
            <a:r>
              <a:t>인정·칭찬을 아끼지 않는다.</a:t>
            </a:r>
          </a:p>
          <a:p xmlns:a="http://schemas.openxmlformats.org/drawingml/2006/main">
            <a:r>
              <a:t>사람은 인정받을 때 주도적이 된다.</a:t>
            </a:r>
          </a:p>
          <a:p xmlns:a="http://schemas.openxmlformats.org/drawingml/2006/main">
            <a:r>
              <a:t>혼냄은 효과 없음 — 스스로 깨닫게.</a:t>
            </a:r>
          </a:p>
          <a:p xmlns:a="http://schemas.openxmlformats.org/drawingml/2006/main">
            <a:r>
              <a:t>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22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캔슬 관리 &amp; 그로스 집중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캔슬은 '그로스(Gross)'에만 집중하는 것이 옳은 방향. 캔슬에 대한 두려움은 오히려 세일즈에 대한 확신을 떨어뜨린다.</a:t>
            </a:r>
          </a:p>
          <a:p xmlns:a="http://schemas.openxmlformats.org/drawingml/2006/main">
            <a:r>
              <a:t>다만 리젝은 자연스러운 것 + 수치(20-30%)만큼 발생할 수 있다는 심리적 준비가 되도록 건강한 매니징 필요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매니지먼트 영역</a:t>
            </a:r>
          </a:p>
          <a:p xmlns:a="http://schemas.openxmlformats.org/drawingml/2006/main">
            <a:r>
              <a:t>캔슬은 지점 차원에서 관리. IC 개인이 과도하게 신경 쓸 부분이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BEP 대비 타겟 조정</a:t>
            </a:r>
          </a:p>
          <a:p xmlns:a="http://schemas.openxmlformats.org/drawingml/2006/main">
            <a:r>
              <a:t>손익분기점(BEP) 대비 세일즈 타겟을 분명히. 최종 + 수익이 얼마인가가 중요.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그로스(Gross) 집중</a:t>
            </a:r>
          </a:p>
          <a:p xmlns:a="http://schemas.openxmlformats.org/drawingml/2006/main">
            <a:r>
              <a:t>캔슬을 두려워하면 세일즈 Drop으로 이어진다. 총매출에만 집중한다.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하이롤러 리젝 대응</a:t>
            </a:r>
          </a:p>
          <a:p xmlns:a="http://schemas.openxmlformats.org/drawingml/2006/main">
            <a:r>
              <a:t>하이롤러는 1일 1건 리젝 리스크. 사전 프리엠티브가 핵심 </a:t>
            </a:r>
          </a:p>
          <a:p xmlns:a="http://schemas.openxmlformats.org/drawingml/2006/main">
            <a:r>
              <a:t>(주 10세일즈+).</a:t>
            </a:r>
          </a:p>
          <a:p xmlns:a="http://schemas.openxmlformats.org/drawingml/2006/main">
            <a:r>
              <a:t>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23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매슬로우 5단계 욕구</a:t>
            </a:r>
          </a:p>
          <a:p xmlns:a="http://schemas.openxmlformats.org/drawingml/2006/main">
            <a:r>
              <a:t>사람은 아래 욕구가 채워지면 더 높은 욕구를 향한다. 트레이너는 신입을 단계마다 끌어올린다.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>자아실현  Self-Actualization</a:t>
            </a:r>
          </a:p>
          <a:p xmlns:a="http://schemas.openxmlformats.org/drawingml/2006/main">
            <a:r>
              <a:t>더 큰 목표·성장. 스스로 리더로 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존중  Esteem</a:t>
            </a:r>
          </a:p>
          <a:p xmlns:a="http://schemas.openxmlformats.org/drawingml/2006/main">
            <a:r>
              <a:t>인정과 칭찬. 성취를 알아준다.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소속·애정  Love &amp; Belonging</a:t>
            </a:r>
          </a:p>
          <a:p xmlns:a="http://schemas.openxmlformats.org/drawingml/2006/main">
            <a:r>
              <a:t>팀의 일원이라는 소속감을 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안전  Safety</a:t>
            </a:r>
          </a:p>
          <a:p xmlns:a="http://schemas.openxmlformats.org/drawingml/2006/main">
            <a:r>
              <a:t>두려움 제거. 안전한 환경에서 도전.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생리적 욕구  Physiological</a:t>
            </a:r>
          </a:p>
          <a:p xmlns:a="http://schemas.openxmlformats.org/drawingml/2006/main">
            <a:r>
              <a:t>기본 생계·수입. 가장 먼저 채워질 토대.</a:t>
            </a:r>
          </a:p>
          <a:p xmlns:a="http://schemas.openxmlformats.org/drawingml/2006/main">
            <a:r>
              <a:t>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24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WRAP-UP</a:t>
            </a:r>
          </a:p>
          <a:p xmlns:a="http://schemas.openxmlformats.org/drawingml/2006/main">
            <a:r>
              <a:t>결과 판단 &amp;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50%  트레이너의 책임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50%  신입의 책임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STAY</a:t>
            </a:r>
          </a:p>
          <a:p xmlns:a="http://schemas.openxmlformats.org/drawingml/2006/main">
            <a:r>
              <a:t>결과가 좋거나 기준 도달 확신이 있으면 — 머무르게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QUALIFYING</a:t>
            </a:r>
          </a:p>
          <a:p xmlns:a="http://schemas.openxmlformats.org/drawingml/2006/main">
            <a:r>
              <a:t>최소 기준 도달이 어렵고 확신이 없으면 — 과감하게 결정한다.</a:t>
            </a:r>
          </a:p>
          <a:p xmlns:a="http://schemas.openxmlformats.org/drawingml/2006/main">
            <a:r>
              <a:t>실제 트레이닝은 Case by Case. 명확한 기준과 일관된 원칙을 유지하되, 개별 상황의 특수성을 고려해 최선의 결정을 내린다.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25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WRAP-UP</a:t>
            </a:r>
          </a:p>
          <a:p xmlns:a="http://schemas.openxmlformats.org/drawingml/2006/main">
            <a:r>
              <a:t>결과 판단 &amp;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50%  트레이너의 책임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50%  신입의 책임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STAY</a:t>
            </a:r>
          </a:p>
          <a:p xmlns:a="http://schemas.openxmlformats.org/drawingml/2006/main">
            <a:r>
              <a:t>결과가 좋거나 기준 도달 확신이 있으면 — 머무르게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QUALIFYING</a:t>
            </a:r>
          </a:p>
          <a:p xmlns:a="http://schemas.openxmlformats.org/drawingml/2006/main">
            <a:r>
              <a:t>최소 기준 도달이 어렵고 확신이 없으면 — 과감하게 결정한다.</a:t>
            </a:r>
          </a:p>
          <a:p xmlns:a="http://schemas.openxmlformats.org/drawingml/2006/main">
            <a:r>
              <a:t>실제 트레이닝은 Case by Case. 명확한 기준과 일관된 원칙을 유지하되, 개별 상황의 특수성을 고려해 최선의 결정을 내린다.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25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INSIGHT  ·  ON HUMAN &amp; EDUCATION</a:t>
            </a:r>
          </a:p>
          <a:p xmlns:a="http://schemas.openxmlformats.org/drawingml/2006/main">
            <a:r>
              <a:t>장 자크 루소, 『에밀』에서</a:t>
            </a:r>
          </a:p>
          <a:p xmlns:a="http://schemas.openxmlformats.org/drawingml/2006/main">
            <a:r>
              <a:t>"진리를 가르치는 것보다, 알고 싶고 배우고 싶은 욕구를 일으키는</a:t>
            </a:r>
          </a:p>
          <a:p xmlns:a="http://schemas.openxmlformats.org/drawingml/2006/main">
            <a:r>
              <a:t>방법이 더 중요하다. 교육자는 결코 </a:t>
            </a:r>
          </a:p>
          <a:p xmlns:a="http://schemas.openxmlformats.org/drawingml/2006/main">
            <a:r>
              <a:t>아이보다 앞서서는 안 된다."</a:t>
            </a:r>
          </a:p>
          <a:p xmlns:a="http://schemas.openxmlformats.org/drawingml/2006/main">
            <a:r>
              <a:t>— 장 자크 루소, 『에밀』 (1762)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우리의 트레이닝과 닿아 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먼저 배우고 싶게</a:t>
            </a:r>
          </a:p>
          <a:p xmlns:a="http://schemas.openxmlformats.org/drawingml/2006/main">
            <a:r>
              <a:t>지식을 밀어넣기 전에 호기심과 욕구를 켠다 — 루소의 '욕구가 먼저'와 같은 출발점.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앞서지 말고 관찰하라</a:t>
            </a:r>
          </a:p>
          <a:p xmlns:a="http://schemas.openxmlformats.org/drawingml/2006/main">
            <a:r>
              <a:t>스스로 깨닫게 두되 꼭 필요할 때 최소한만. 관찰·경청이 피드백을 앞선다.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경험이 곧 배움</a:t>
            </a:r>
          </a:p>
          <a:p xmlns:a="http://schemas.openxmlformats.org/drawingml/2006/main">
            <a:r>
              <a:t>위험과 어려움은 위기가 아니라 기회. 필드의 경험으로 신입은 자란다.</a:t>
            </a:r>
          </a:p>
          <a:p xmlns:a="http://schemas.openxmlformats.org/drawingml/2006/main">
            <a:r>
              <a:t>결국 신입에게 답이 있다 — 트레이너는 그 답이 피어나도록 돕는 사람이다.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26 · 임재영 AOP. 배경: AI 생성 컨셉 이미지, 실제 팀 활동 기록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INSIGHT  ·  ON HUMAN &amp; EDUCATION</a:t>
            </a:r>
          </a:p>
          <a:p xmlns:a="http://schemas.openxmlformats.org/drawingml/2006/main">
            <a:r>
              <a:t>장 자크 루소, 『에밀』에서</a:t>
            </a:r>
          </a:p>
          <a:p xmlns:a="http://schemas.openxmlformats.org/drawingml/2006/main">
            <a:r>
              <a:t>"진리를 가르치는 것보다, 알고 싶고 배우고 싶은 욕구를 일으키는</a:t>
            </a:r>
          </a:p>
          <a:p xmlns:a="http://schemas.openxmlformats.org/drawingml/2006/main">
            <a:r>
              <a:t>방법이 더 중요하다. 교육자는 결코 </a:t>
            </a:r>
          </a:p>
          <a:p xmlns:a="http://schemas.openxmlformats.org/drawingml/2006/main">
            <a:r>
              <a:t>아이보다 앞서서는 안 된다."</a:t>
            </a:r>
          </a:p>
          <a:p xmlns:a="http://schemas.openxmlformats.org/drawingml/2006/main">
            <a:r>
              <a:t>— 장 자크 루소, 『에밀』 (1762)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우리의 트레이닝과 닿아 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먼저 배우고 싶게</a:t>
            </a:r>
          </a:p>
          <a:p xmlns:a="http://schemas.openxmlformats.org/drawingml/2006/main">
            <a:r>
              <a:t>지식을 밀어넣기 전에 호기심과 욕구를 켠다 — 루소의 '욕구가 먼저'와 같은 출발점.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앞서지 말고 관찰하라</a:t>
            </a:r>
          </a:p>
          <a:p xmlns:a="http://schemas.openxmlformats.org/drawingml/2006/main">
            <a:r>
              <a:t>스스로 깨닫게 두되 꼭 필요할 때 최소한만. 관찰·경청이 피드백을 앞선다.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경험이 곧 배움</a:t>
            </a:r>
          </a:p>
          <a:p xmlns:a="http://schemas.openxmlformats.org/drawingml/2006/main">
            <a:r>
              <a:t>위험과 어려움은 위기가 아니라 기회. 필드의 경험으로 신입은 자란다.</a:t>
            </a:r>
          </a:p>
          <a:p xmlns:a="http://schemas.openxmlformats.org/drawingml/2006/main">
            <a:r>
              <a:t>결국 신입에게 답이 있다 — 트레이너는 그 답이 피어나도록 돕는 사람이다.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26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WHY I WANTED TO LEAD · 리더가 되고 싶었던 이유</a:t>
            </a:r>
          </a:p>
          <a:p xmlns:a="http://schemas.openxmlformats.org/drawingml/2006/main">
            <a:r>
              <a:t>내가 리더가 되고 싶었던 10가지 이유</a:t>
            </a:r>
          </a:p>
          <a:p xmlns:a="http://schemas.openxmlformats.org/drawingml/2006/main">
            <a:r>
              <a:t>루소가 말한 '아이보다 앞서지 않는' 교육처럼 — 딱 한 걸음 앞서 기다리는 리더가 되고 싶었다.</a:t>
            </a:r>
          </a:p>
          <a:p xmlns:a="http://schemas.openxmlformats.org/drawingml/2006/main">
            <a:r>
              <a:t>01   세일즈웍스의 첫 번째 목표여서</a:t>
            </a:r>
          </a:p>
          <a:p xmlns:a="http://schemas.openxmlformats.org/drawingml/2006/main">
            <a:r>
              <a:t>02   내 가치관이 담긴 팀을 만들 수 있어서</a:t>
            </a:r>
          </a:p>
          <a:p xmlns:a="http://schemas.openxmlformats.org/drawingml/2006/main">
            <a:r>
              <a:t>03   누군가의 리더가 된다는 것이 기뻐서</a:t>
            </a:r>
          </a:p>
          <a:p xmlns:a="http://schemas.openxmlformats.org/drawingml/2006/main">
            <a:r>
              <a:t>04   'OO리'라 불리는 친근함이 좋아서</a:t>
            </a:r>
          </a:p>
          <a:p xmlns:a="http://schemas.openxmlformats.org/drawingml/2006/main">
            <a:r>
              <a:t>05   조끼·피치카드·사물함을 쓸 수 있어서</a:t>
            </a:r>
          </a:p>
          <a:p xmlns:a="http://schemas.openxmlformats.org/drawingml/2006/main">
            <a:r>
              <a:t>06   리더라는 위치가 동기부여가 되어서</a:t>
            </a:r>
          </a:p>
          <a:p xmlns:a="http://schemas.openxmlformats.org/drawingml/2006/main">
            <a:r>
              <a:t>07   상위 프로모션에 도전할 수 있어서</a:t>
            </a:r>
          </a:p>
          <a:p xmlns:a="http://schemas.openxmlformats.org/drawingml/2006/main">
            <a:r>
              <a:t>08   리더힛 부담이 아닌 더 큰 비전으로</a:t>
            </a:r>
          </a:p>
          <a:p xmlns:a="http://schemas.openxmlformats.org/drawingml/2006/main">
            <a:r>
              <a:t>09   섬기고 돕는 자리에서만 배울 수 있어서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이런 리더가 되고 싶어서</a:t>
            </a:r>
          </a:p>
          <a:p xmlns:a="http://schemas.openxmlformats.org/drawingml/2006/main">
            <a:r>
              <a:t>아주 먼 곳까지 내다보되, 앞서 달음박질하지 않고</a:t>
            </a:r>
          </a:p>
          <a:p xmlns:a="http://schemas.openxmlformats.org/drawingml/2006/main">
            <a:r>
              <a:t>언제든 따라올 수 있도록 딱 한 걸음 앞서 기다릴 줄 아는 리더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27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WHY I WANTED TO LEAD · 리더가 되고 싶었던 이유</a:t>
            </a:r>
          </a:p>
          <a:p xmlns:a="http://schemas.openxmlformats.org/drawingml/2006/main">
            <a:r>
              <a:t>내가 리더가 되고 싶었던 10가지 이유</a:t>
            </a:r>
          </a:p>
          <a:p xmlns:a="http://schemas.openxmlformats.org/drawingml/2006/main">
            <a:r>
              <a:t>루소가 말한 '아이보다 앞서지 않는' 교육처럼 — 딱 한 걸음 앞서 기다리는 리더가 되고 싶었다.</a:t>
            </a:r>
          </a:p>
          <a:p xmlns:a="http://schemas.openxmlformats.org/drawingml/2006/main">
            <a:r>
              <a:t>01   세일즈웍스의 첫 번째 목표여서</a:t>
            </a:r>
          </a:p>
          <a:p xmlns:a="http://schemas.openxmlformats.org/drawingml/2006/main">
            <a:r>
              <a:t>02   내 가치관이 담긴 팀을 만들 수 있어서</a:t>
            </a:r>
          </a:p>
          <a:p xmlns:a="http://schemas.openxmlformats.org/drawingml/2006/main">
            <a:r>
              <a:t>03   누군가의 리더가 된다는 것이 기뻐서</a:t>
            </a:r>
          </a:p>
          <a:p xmlns:a="http://schemas.openxmlformats.org/drawingml/2006/main">
            <a:r>
              <a:t>04   'OO리'라 불리는 친근함이 좋아서</a:t>
            </a:r>
          </a:p>
          <a:p xmlns:a="http://schemas.openxmlformats.org/drawingml/2006/main">
            <a:r>
              <a:t>05   조끼·피치카드·사물함을 쓸 수 있어서</a:t>
            </a:r>
          </a:p>
          <a:p xmlns:a="http://schemas.openxmlformats.org/drawingml/2006/main">
            <a:r>
              <a:t>06   리더라는 위치가 동기부여가 되어서</a:t>
            </a:r>
          </a:p>
          <a:p xmlns:a="http://schemas.openxmlformats.org/drawingml/2006/main">
            <a:r>
              <a:t>07   상위 프로모션에 도전할 수 있어서</a:t>
            </a:r>
          </a:p>
          <a:p xmlns:a="http://schemas.openxmlformats.org/drawingml/2006/main">
            <a:r>
              <a:t>08   리더힛 부담이 아닌 더 큰 비전으로</a:t>
            </a:r>
          </a:p>
          <a:p xmlns:a="http://schemas.openxmlformats.org/drawingml/2006/main">
            <a:r>
              <a:t>09   섬기고 돕는 자리에서만 배울 수 있어서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이런 리더가 되고 싶어서</a:t>
            </a:r>
          </a:p>
          <a:p xmlns:a="http://schemas.openxmlformats.org/drawingml/2006/main">
            <a:r>
              <a:t>아주 먼 곳까지 내다보되, 앞서 달음박질하지 않고</a:t>
            </a:r>
          </a:p>
          <a:p xmlns:a="http://schemas.openxmlformats.org/drawingml/2006/main">
            <a:r>
              <a:t>언제든 따라올 수 있도록 딱 한 걸음 앞서 기다릴 줄 아는 리더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27 · 임재영 AOP. 배경: AI 생성 컨셉 이미지, 실제 팀 활동 기록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ONE-PAGE GUIDE</a:t>
            </a:r>
          </a:p>
          <a:p xmlns:a="http://schemas.openxmlformats.org/drawingml/2006/main">
            <a:r>
              <a:t>신입 트레이닝 1–3일, 한 장 요약</a:t>
            </a:r>
          </a:p>
          <a:p xmlns:a="http://schemas.openxmlformats.org/drawingml/2006/main">
            <a:r>
              <a:t>나가면 반드시 세일즈하는 신입으로</a:t>
            </a:r>
          </a:p>
          <a:p xmlns:a="http://schemas.openxmlformats.org/drawingml/2006/main">
            <a:r>
              <a:t>DAY별 필수 액션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DAY 1</a:t>
            </a:r>
          </a:p>
          <a:p xmlns:a="http://schemas.openxmlformats.org/drawingml/2006/main">
            <a:r>
              <a:t>경험</a:t>
            </a:r>
          </a:p>
          <a:p xmlns:a="http://schemas.openxmlformats.org/drawingml/2006/main">
            <a:r>
              <a:t>2시간 뛰게 한 뒤 반응·태도 관찰</a:t>
            </a:r>
          </a:p>
          <a:p xmlns:a="http://schemas.openxmlformats.org/drawingml/2006/main">
            <a:r>
              <a:t>트레이너가 직접 쇼잉</a:t>
            </a:r>
          </a:p>
          <a:p xmlns:a="http://schemas.openxmlformats.org/drawingml/2006/main">
            <a:r>
              <a:t>두려움 제거 · 프리엠티브</a:t>
            </a:r>
          </a:p>
          <a:p xmlns:a="http://schemas.openxmlformats.org/drawingml/2006/main">
            <a:r>
              <a:t>제로 방지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DAY 2</a:t>
            </a:r>
          </a:p>
          <a:p xmlns:a="http://schemas.openxmlformats.org/drawingml/2006/main">
            <a:r>
              <a:t>학습</a:t>
            </a:r>
          </a:p>
          <a:p xmlns:a="http://schemas.openxmlformats.org/drawingml/2006/main">
            <a:r>
              <a:t>첫 세일즈 1개 함께 달성(필수)</a:t>
            </a:r>
          </a:p>
          <a:p xmlns:a="http://schemas.openxmlformats.org/drawingml/2006/main">
            <a:r>
              <a:t>학습력 · 성장성 체크</a:t>
            </a:r>
          </a:p>
          <a:p xmlns:a="http://schemas.openxmlformats.org/drawingml/2006/main">
            <a:r>
              <a:t>첫날 대비 개선점 피드백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DAY 3</a:t>
            </a:r>
          </a:p>
          <a:p xmlns:a="http://schemas.openxmlformats.org/drawingml/2006/main">
            <a:r>
              <a:t>판단</a:t>
            </a:r>
          </a:p>
          <a:p xmlns:a="http://schemas.openxmlformats.org/drawingml/2006/main">
            <a:r>
              <a:t>전략적 사이트 선택</a:t>
            </a:r>
          </a:p>
          <a:p xmlns:a="http://schemas.openxmlformats.org/drawingml/2006/main">
            <a:r>
              <a:t>3일 성과 패턴으로 판단</a:t>
            </a:r>
          </a:p>
          <a:p xmlns:a="http://schemas.openxmlformats.org/drawingml/2006/main">
            <a:r>
              <a:t>Stay / Qualifying 결정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가져야 할 태도</a:t>
            </a:r>
          </a:p>
          <a:p xmlns:a="http://schemas.openxmlformats.org/drawingml/2006/main">
            <a:r>
              <a:t>성취감 제공 · 인정과 칭찬</a:t>
            </a:r>
          </a:p>
          <a:p xmlns:a="http://schemas.openxmlformats.org/drawingml/2006/main">
            <a:r>
              <a:t>혼냄보다 스스로 깨닫게 (앞서지 않기)</a:t>
            </a:r>
          </a:p>
          <a:p xmlns:a="http://schemas.openxmlformats.org/drawingml/2006/main">
            <a:r>
              <a:t>불안·두려움을 케어해 필드에 집중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갖춰야 할 스킬</a:t>
            </a:r>
          </a:p>
          <a:p xmlns:a="http://schemas.openxmlformats.org/drawingml/2006/main">
            <a:r>
              <a:t>5 Step : Intro·Short Story·Presentation·Closing·Rehash</a:t>
            </a:r>
          </a:p>
          <a:p xmlns:a="http://schemas.openxmlformats.org/drawingml/2006/main">
            <a:r>
              <a:t>TAAIS 클로징 · 쿠션 멘트</a:t>
            </a:r>
          </a:p>
          <a:p xmlns:a="http://schemas.openxmlformats.org/drawingml/2006/main">
            <a:r>
              <a:t>약점별 보강 : 리액션·스트릿·클로징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매일 점검 체크리스트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사이트를 준비해 넘버를 쌓게 했는가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약한 스킬을 필드에서 바로 보강했는가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두려움을 제거해 집중하게 했는가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신입의 콜백싯을 함께 점검했는가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28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Presence Team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Thank you</a:t>
            </a:r>
          </a:p>
          <a:p xmlns:a="http://schemas.openxmlformats.org/drawingml/2006/main">
            <a:r>
              <a:t>후원의 기쁨과 가치를 전할 수 있는 곳이라면 어디든 가는 사람</a:t>
            </a:r>
          </a:p>
          <a:p xmlns:a="http://schemas.openxmlformats.org/drawingml/2006/main">
            <a:r>
              <a:t>임재영 AOP</a:t>
            </a:r>
          </a:p>
          <a:p xmlns:a="http://schemas.openxmlformats.org/drawingml/2006/main">
            <a:r>
              <a:t>☎  Tel : 010-5178-1713        ✉  e-mail : jaeyoung5178@naver.com</a:t>
            </a:r>
          </a:p>
          <a:p xmlns:a="http://schemas.openxmlformats.org/drawingml/2006/main">
            <a:r>
              <a:t>기타 궁금하거나 질문이 있으시면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29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c39f43c28e4c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fb8eaf7dd246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4eb898ff647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8b4bf7b7e47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72b2a5f7de49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e68f12a8154e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41D07C-957C-492F-9CD4-501F628313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30115B-6D23-46CE-A4BD-C9B306F324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10B0F2-E944-402B-8B6F-4B15B5ACC1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5C7093-5D29-429A-896E-9F2AE87F00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029153C-3842-4D13-9458-DBA251CF6F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2C965D-10CB-4DC7-8E1E-EDA1E58D29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1BFE2E-403C-417B-BA10-082FDB8C5D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88C4C74-ED6B-4B6F-9330-0054C5FCA9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495A41-1AC4-43A5-B8A3-A4989BCBA0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F5AB5D-C984-4803-A9C1-309AA53F6C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7d39615b7b4ba7" /><Relationship Type="http://schemas.openxmlformats.org/officeDocument/2006/relationships/slideLayout" Target="/ppt/slideLayouts/slideLayout1.xml" Id="R34b8407229a04c07" /><Relationship Type="http://schemas.openxmlformats.org/officeDocument/2006/relationships/slideLayout" Target="/ppt/slideLayouts/slideLayout2.xml" Id="R0740677a615f478f" /><Relationship Type="http://schemas.openxmlformats.org/officeDocument/2006/relationships/slideLayout" Target="/ppt/slideLayouts/slideLayout3.xml" Id="R01087f8a3b064dd2" /><Relationship Type="http://schemas.openxmlformats.org/officeDocument/2006/relationships/slideLayout" Target="/ppt/slideLayouts/slideLayout4.xml" Id="Rd7690e2aed09496d" /><Relationship Type="http://schemas.openxmlformats.org/officeDocument/2006/relationships/slideLayout" Target="/ppt/slideLayouts/slideLayout5.xml" Id="R4dd397305083495e" /><Relationship Type="http://schemas.openxmlformats.org/officeDocument/2006/relationships/slideLayout" Target="/ppt/slideLayouts/slideLayout6.xml" Id="R4ee5c2d85b9544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b8407229a04c07"/>
    <p:sldLayoutId xmlns:r="http://schemas.openxmlformats.org/officeDocument/2006/relationships" id="2147483650" r:id="R0740677a615f478f"/>
    <p:sldLayoutId xmlns:r="http://schemas.openxmlformats.org/officeDocument/2006/relationships" id="2147483651" r:id="R01087f8a3b064dd2"/>
    <p:sldLayoutId xmlns:r="http://schemas.openxmlformats.org/officeDocument/2006/relationships" id="2147483652" r:id="Rd7690e2aed09496d"/>
    <p:sldLayoutId xmlns:r="http://schemas.openxmlformats.org/officeDocument/2006/relationships" id="2147483653" r:id="R4dd397305083495e"/>
    <p:sldLayoutId xmlns:r="http://schemas.openxmlformats.org/officeDocument/2006/relationships" id="2147483654" r:id="R4ee5c2d85b9544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501df13ec448a1" /><Relationship Type="http://schemas.openxmlformats.org/officeDocument/2006/relationships/image" Target="/ppt/media/image.jpeg" Id="R260c662e001c4e78" /><Relationship Type="http://schemas.openxmlformats.org/officeDocument/2006/relationships/notesSlide" Target="/ppt/notesSlides/notesSlide1.xml" Id="R968019ad276e4b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65db0145934f06" /><Relationship Type="http://schemas.openxmlformats.org/officeDocument/2006/relationships/notesSlide" Target="/ppt/notesSlides/notesSlide2.xml" Id="Rc4c87b7164964c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bd9c0ca63b4f2b" /><Relationship Type="http://schemas.openxmlformats.org/officeDocument/2006/relationships/notesSlide" Target="/ppt/notesSlides/notesSlide3.xml" Id="R2a09771ac18742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eedb2a18334909" /><Relationship Type="http://schemas.openxmlformats.org/officeDocument/2006/relationships/image" Target="/ppt/media/image2.jpeg" Id="Reeb07a38d18d4695" /><Relationship Type="http://schemas.openxmlformats.org/officeDocument/2006/relationships/notesSlide" Target="/ppt/notesSlides/notesSlide4.xml" Id="R3e27458f6d544d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c1fd3dd45a4c5e" /><Relationship Type="http://schemas.openxmlformats.org/officeDocument/2006/relationships/notesSlide" Target="/ppt/notesSlides/notesSlide5.xml" Id="R9e0f0f8212134d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17c633e12d4501" /><Relationship Type="http://schemas.openxmlformats.org/officeDocument/2006/relationships/image" Target="/ppt/media/image3.jpeg" Id="R51dd2b8b050646fd" /><Relationship Type="http://schemas.openxmlformats.org/officeDocument/2006/relationships/notesSlide" Target="/ppt/notesSlides/notesSlide6.xml" Id="Rd7e7258f582248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698d6cfa0541e8" /><Relationship Type="http://schemas.openxmlformats.org/officeDocument/2006/relationships/image" Target="/ppt/media/image.png" Id="R935bc1515e314650" /><Relationship Type="http://schemas.openxmlformats.org/officeDocument/2006/relationships/image" Target="/ppt/media/image2.png" Id="R89a733c1083e4587" /><Relationship Type="http://schemas.openxmlformats.org/officeDocument/2006/relationships/image" Target="/ppt/media/image3.png" Id="R611ac2fa270c4ed8" /><Relationship Type="http://schemas.openxmlformats.org/officeDocument/2006/relationships/notesSlide" Target="/ppt/notesSlides/notesSlide7.xml" Id="R99eb86c3bc7243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f0284446ad460f" /><Relationship Type="http://schemas.openxmlformats.org/officeDocument/2006/relationships/image" Target="/ppt/media/image4.jpeg" Id="R69cfd5c4953c4331" /><Relationship Type="http://schemas.openxmlformats.org/officeDocument/2006/relationships/notesSlide" Target="/ppt/notesSlides/notesSlide8.xml" Id="Rc5f170f7644040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dd0f87265944b5" /><Relationship Type="http://schemas.openxmlformats.org/officeDocument/2006/relationships/image" Target="/ppt/media/image4.png" Id="R1e78c462667948c3" /><Relationship Type="http://schemas.openxmlformats.org/officeDocument/2006/relationships/image" Target="/ppt/media/image5.png" Id="R2755f163d22a4d2e" /><Relationship Type="http://schemas.openxmlformats.org/officeDocument/2006/relationships/image" Target="/ppt/media/image6.png" Id="R519f1fc306f948be" /><Relationship Type="http://schemas.openxmlformats.org/officeDocument/2006/relationships/image" Target="/ppt/media/image7.png" Id="R952f026edf884afe" /><Relationship Type="http://schemas.openxmlformats.org/officeDocument/2006/relationships/notesSlide" Target="/ppt/notesSlides/notesSlide9.xml" Id="R0943525cd4d740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78c9efda114f76" /><Relationship Type="http://schemas.openxmlformats.org/officeDocument/2006/relationships/notesSlide" Target="/ppt/notesSlides/notesSlide10.xml" Id="R36dd2620337a4a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3caab19ca546d2" /><Relationship Type="http://schemas.openxmlformats.org/officeDocument/2006/relationships/notesSlide" Target="/ppt/notesSlides/notesSlide11.xml" Id="R7ec3f165a7f14f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46f7bdee514d9c" /><Relationship Type="http://schemas.openxmlformats.org/officeDocument/2006/relationships/image" Target="/ppt/media/image5.jpeg" Id="Rb59e98f9d17e4754" /><Relationship Type="http://schemas.openxmlformats.org/officeDocument/2006/relationships/notesSlide" Target="/ppt/notesSlides/notesSlide12.xml" Id="R648d2e22ceba4a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7a2cf88ab14356" /><Relationship Type="http://schemas.openxmlformats.org/officeDocument/2006/relationships/image" Target="/ppt/media/image8.png" Id="R1e4c634f40754acd" /><Relationship Type="http://schemas.openxmlformats.org/officeDocument/2006/relationships/image" Target="/ppt/media/image9.png" Id="R7a5bc5d8b38a47c3" /><Relationship Type="http://schemas.openxmlformats.org/officeDocument/2006/relationships/notesSlide" Target="/ppt/notesSlides/notesSlide13.xml" Id="R1b04450823df44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47f1c14d846d1" /><Relationship Type="http://schemas.openxmlformats.org/officeDocument/2006/relationships/image" Target="/ppt/media/image6.jpeg" Id="Ra8ccdd4533bc4ba3" /><Relationship Type="http://schemas.openxmlformats.org/officeDocument/2006/relationships/notesSlide" Target="/ppt/notesSlides/notesSlide14.xml" Id="R522eb57839d24d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da2ffb077c45da" /><Relationship Type="http://schemas.openxmlformats.org/officeDocument/2006/relationships/image" Target="/ppt/media/image7.jpeg" Id="R85f1a74827bf4190" /><Relationship Type="http://schemas.openxmlformats.org/officeDocument/2006/relationships/notesSlide" Target="/ppt/notesSlides/notesSlide15.xml" Id="R8831403f3f5e4d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59705c53434bd8" /><Relationship Type="http://schemas.openxmlformats.org/officeDocument/2006/relationships/image" Target="/ppt/media/image10.png" Id="R4770fd4b461744b0" /><Relationship Type="http://schemas.openxmlformats.org/officeDocument/2006/relationships/image" Target="/ppt/media/image11.png" Id="R6bb9ccddd8ec4474" /><Relationship Type="http://schemas.openxmlformats.org/officeDocument/2006/relationships/image" Target="/ppt/media/image12.png" Id="R9366846c7ef34e85" /><Relationship Type="http://schemas.openxmlformats.org/officeDocument/2006/relationships/image" Target="/ppt/media/image13.png" Id="R1476afc34fa144de" /><Relationship Type="http://schemas.openxmlformats.org/officeDocument/2006/relationships/notesSlide" Target="/ppt/notesSlides/notesSlide16.xml" Id="Re5925a1291a0463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bd11aae6e8437a" /><Relationship Type="http://schemas.openxmlformats.org/officeDocument/2006/relationships/image" Target="/ppt/media/image8.jpeg" Id="Ree5a6ffbd5594464" /><Relationship Type="http://schemas.openxmlformats.org/officeDocument/2006/relationships/notesSlide" Target="/ppt/notesSlides/notesSlide17.xml" Id="Raa1687a3147446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9a9dba60694019" /><Relationship Type="http://schemas.openxmlformats.org/officeDocument/2006/relationships/image" Target="/ppt/media/image14.png" Id="Re009ca76f22541f0" /><Relationship Type="http://schemas.openxmlformats.org/officeDocument/2006/relationships/image" Target="/ppt/media/image15.png" Id="Rb26bd06b5273473c" /><Relationship Type="http://schemas.openxmlformats.org/officeDocument/2006/relationships/image" Target="/ppt/media/image16.png" Id="Ra3ef6b6666204248" /><Relationship Type="http://schemas.openxmlformats.org/officeDocument/2006/relationships/notesSlide" Target="/ppt/notesSlides/notesSlide18.xml" Id="Ra29243303505468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9edbc9a1a44c11" /><Relationship Type="http://schemas.openxmlformats.org/officeDocument/2006/relationships/notesSlide" Target="/ppt/notesSlides/notesSlide19.xml" Id="R9c1ef3014fc447d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9bf02a901d4e98" /><Relationship Type="http://schemas.openxmlformats.org/officeDocument/2006/relationships/image" Target="/ppt/media/image17.png" Id="R21828f6462fe4e1a" /><Relationship Type="http://schemas.openxmlformats.org/officeDocument/2006/relationships/image" Target="/ppt/media/image18.png" Id="Ra3248384d6f44b4e" /><Relationship Type="http://schemas.openxmlformats.org/officeDocument/2006/relationships/notesSlide" Target="/ppt/notesSlides/notesSlide20.xml" Id="Rfcd31c1a3793496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88a30794e3424f" /><Relationship Type="http://schemas.openxmlformats.org/officeDocument/2006/relationships/notesSlide" Target="/ppt/notesSlides/notesSlide21.xml" Id="R1ccbfaed38af45d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75accfb1624836" /><Relationship Type="http://schemas.openxmlformats.org/officeDocument/2006/relationships/image" Target="/ppt/media/image19.png" Id="Rcb095454087c4bf7" /><Relationship Type="http://schemas.openxmlformats.org/officeDocument/2006/relationships/image" Target="/ppt/media/image20.png" Id="Rc7cbc6498de6403a" /><Relationship Type="http://schemas.openxmlformats.org/officeDocument/2006/relationships/notesSlide" Target="/ppt/notesSlides/notesSlide22.xml" Id="R721855bd49a24ff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053f570b844d95" /><Relationship Type="http://schemas.openxmlformats.org/officeDocument/2006/relationships/image" Target="/ppt/media/image21.png" Id="R915aeb57d1dd4455" /><Relationship Type="http://schemas.openxmlformats.org/officeDocument/2006/relationships/image" Target="/ppt/media/image22.png" Id="R3ec79ad279c140b0" /><Relationship Type="http://schemas.openxmlformats.org/officeDocument/2006/relationships/notesSlide" Target="/ppt/notesSlides/notesSlide23.xml" Id="Rb3bcfde54651485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36dc36e5834265" /><Relationship Type="http://schemas.openxmlformats.org/officeDocument/2006/relationships/notesSlide" Target="/ppt/notesSlides/notesSlide24.xml" Id="Rc7e36f80797d496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ffd2bef8b74a75" /><Relationship Type="http://schemas.openxmlformats.org/officeDocument/2006/relationships/notesSlide" Target="/ppt/notesSlides/notesSlide25.xml" Id="R007805adc798444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2040385f544daa" /><Relationship Type="http://schemas.openxmlformats.org/officeDocument/2006/relationships/image" Target="/ppt/media/image23.png" Id="R3192189d08604ee6" /><Relationship Type="http://schemas.openxmlformats.org/officeDocument/2006/relationships/image" Target="/ppt/media/image24.png" Id="R4d0320408722498a" /><Relationship Type="http://schemas.openxmlformats.org/officeDocument/2006/relationships/image" Target="/ppt/media/image25.png" Id="R4536edcdaf92430d" /><Relationship Type="http://schemas.openxmlformats.org/officeDocument/2006/relationships/image" Target="/ppt/media/image26.png" Id="R1d9260e609e846b3" /><Relationship Type="http://schemas.openxmlformats.org/officeDocument/2006/relationships/notesSlide" Target="/ppt/notesSlides/notesSlide26.xml" Id="R72eeb325af854d1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28ca4059f34c6d" /><Relationship Type="http://schemas.openxmlformats.org/officeDocument/2006/relationships/notesSlide" Target="/ppt/notesSlides/notesSlide27.xml" Id="Rff64be8d2bf1498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30f13ba94940fe" /><Relationship Type="http://schemas.openxmlformats.org/officeDocument/2006/relationships/image" Target="/ppt/media/image27.png" Id="Rd28d7e45e4d040e0" /><Relationship Type="http://schemas.openxmlformats.org/officeDocument/2006/relationships/image" Target="/ppt/media/image28.png" Id="Rdcd36a6e41d54447" /><Relationship Type="http://schemas.openxmlformats.org/officeDocument/2006/relationships/image" Target="/ppt/media/image29.png" Id="Rd41dd3c963964848" /><Relationship Type="http://schemas.openxmlformats.org/officeDocument/2006/relationships/image" Target="/ppt/media/image30.png" Id="R69da05e58d52451b" /><Relationship Type="http://schemas.openxmlformats.org/officeDocument/2006/relationships/image" Target="/ppt/media/image31.png" Id="R3ce045fa22734b2d" /><Relationship Type="http://schemas.openxmlformats.org/officeDocument/2006/relationships/image" Target="/ppt/media/image32.png" Id="Ra3844a5d3f354839" /><Relationship Type="http://schemas.openxmlformats.org/officeDocument/2006/relationships/notesSlide" Target="/ppt/notesSlides/notesSlide28.xml" Id="R1920d1a292fb436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97ba53bcef4791" /><Relationship Type="http://schemas.openxmlformats.org/officeDocument/2006/relationships/image" Target="/ppt/media/image33.png" Id="R88b3405091844a5c" /><Relationship Type="http://schemas.openxmlformats.org/officeDocument/2006/relationships/image" Target="/ppt/media/image34.png" Id="R6b037b1f0de14abf" /><Relationship Type="http://schemas.openxmlformats.org/officeDocument/2006/relationships/image" Target="/ppt/media/image35.png" Id="R6220c064e8c6402b" /><Relationship Type="http://schemas.openxmlformats.org/officeDocument/2006/relationships/image" Target="/ppt/media/image36.png" Id="R6cb5c340128d44a9" /><Relationship Type="http://schemas.openxmlformats.org/officeDocument/2006/relationships/image" Target="/ppt/media/image37.png" Id="R82f8855f0d454723" /><Relationship Type="http://schemas.openxmlformats.org/officeDocument/2006/relationships/image" Target="/ppt/media/image38.png" Id="R0bb6ada8f29f4b4b" /><Relationship Type="http://schemas.openxmlformats.org/officeDocument/2006/relationships/notesSlide" Target="/ppt/notesSlides/notesSlide29.xml" Id="Rf5d03c3585a14aa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7c3734b4dd42d6" /><Relationship Type="http://schemas.openxmlformats.org/officeDocument/2006/relationships/image" Target="/ppt/media/image9.jpeg" Id="R57367bcf675649b4" /><Relationship Type="http://schemas.openxmlformats.org/officeDocument/2006/relationships/image" Target="/ppt/media/image39.png" Id="Rdf8b85fc098e40ea" /><Relationship Type="http://schemas.openxmlformats.org/officeDocument/2006/relationships/image" Target="/ppt/media/image40.png" Id="Rcfac868a929d4718" /><Relationship Type="http://schemas.openxmlformats.org/officeDocument/2006/relationships/notesSlide" Target="/ppt/notesSlides/notesSlide30.xml" Id="R26d8441aab9646f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b2d8960d724639" /><Relationship Type="http://schemas.openxmlformats.org/officeDocument/2006/relationships/notesSlide" Target="/ppt/notesSlides/notesSlide31.xml" Id="Raf9032a1ce75462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afc4e47b2b4884" /><Relationship Type="http://schemas.openxmlformats.org/officeDocument/2006/relationships/image" Target="/ppt/media/image10.jpeg" Id="R2133463ee62b40ae" /><Relationship Type="http://schemas.openxmlformats.org/officeDocument/2006/relationships/notesSlide" Target="/ppt/notesSlides/notesSlide32.xml" Id="R5a5b107adf4e4c0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ce548ed21e4a4b" /><Relationship Type="http://schemas.openxmlformats.org/officeDocument/2006/relationships/image" Target="/ppt/media/image41.png" Id="R99488093b27548d2" /><Relationship Type="http://schemas.openxmlformats.org/officeDocument/2006/relationships/image" Target="/ppt/media/image42.png" Id="R2ff2e15f7153424c" /><Relationship Type="http://schemas.openxmlformats.org/officeDocument/2006/relationships/image" Target="/ppt/media/image43.png" Id="R2de81a7a969a4da2" /><Relationship Type="http://schemas.openxmlformats.org/officeDocument/2006/relationships/image" Target="/ppt/media/image44.png" Id="R05969f7ff6c94051" /><Relationship Type="http://schemas.openxmlformats.org/officeDocument/2006/relationships/image" Target="/ppt/media/image45.png" Id="Rc91c2971758f4139" /><Relationship Type="http://schemas.openxmlformats.org/officeDocument/2006/relationships/notesSlide" Target="/ppt/notesSlides/notesSlide33.xml" Id="R441268d9cca9455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b8a1d74370409d" /><Relationship Type="http://schemas.openxmlformats.org/officeDocument/2006/relationships/image" Target="/ppt/media/image46.png" Id="Rbb894eea4ffc43d4" /><Relationship Type="http://schemas.openxmlformats.org/officeDocument/2006/relationships/notesSlide" Target="/ppt/notesSlides/notesSlide34.xml" Id="R955c17f73ed847f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e7043a9b3e4df6" /><Relationship Type="http://schemas.openxmlformats.org/officeDocument/2006/relationships/notesSlide" Target="/ppt/notesSlides/notesSlide35.xml" Id="Rda58f731cdac441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5d3913ac1e4e88" /><Relationship Type="http://schemas.openxmlformats.org/officeDocument/2006/relationships/notesSlide" Target="/ppt/notesSlides/notesSlide36.xml" Id="Rb987a75be7d345a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87a0c07792494f" /><Relationship Type="http://schemas.openxmlformats.org/officeDocument/2006/relationships/notesSlide" Target="/ppt/notesSlides/notesSlide37.xml" Id="R8d32ec023daf42d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d218a0d323499d" /><Relationship Type="http://schemas.openxmlformats.org/officeDocument/2006/relationships/image" Target="/ppt/media/image11.jpeg" Id="R8a05a30a9cdc494f" /><Relationship Type="http://schemas.openxmlformats.org/officeDocument/2006/relationships/notesSlide" Target="/ppt/notesSlides/notesSlide38.xml" Id="R2b8161b00891433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10e7e655e44b75" /><Relationship Type="http://schemas.openxmlformats.org/officeDocument/2006/relationships/image" Target="/ppt/media/image12.jpeg" Id="R88f8219c0be0446f" /><Relationship Type="http://schemas.openxmlformats.org/officeDocument/2006/relationships/notesSlide" Target="/ppt/notesSlides/notesSlide39.xml" Id="R44f19d17946e409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799524d82f4ca0" /><Relationship Type="http://schemas.openxmlformats.org/officeDocument/2006/relationships/image" Target="/ppt/media/image47.png" Id="Rabe1ce3887404f84" /><Relationship Type="http://schemas.openxmlformats.org/officeDocument/2006/relationships/image" Target="/ppt/media/image48.png" Id="Rb42f6f46109245fb" /><Relationship Type="http://schemas.openxmlformats.org/officeDocument/2006/relationships/image" Target="/ppt/media/image49.png" Id="Rc3e2ec285b5749ce" /><Relationship Type="http://schemas.openxmlformats.org/officeDocument/2006/relationships/notesSlide" Target="/ppt/notesSlides/notesSlide40.xml" Id="R8d41f0574f5a48d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15f6129eaf4c17" /><Relationship Type="http://schemas.openxmlformats.org/officeDocument/2006/relationships/image" Target="/ppt/media/image50.png" Id="R15ad46590a544209" /><Relationship Type="http://schemas.openxmlformats.org/officeDocument/2006/relationships/image" Target="/ppt/media/image51.png" Id="R63472973a66d4e34" /><Relationship Type="http://schemas.openxmlformats.org/officeDocument/2006/relationships/notesSlide" Target="/ppt/notesSlides/notesSlide41.xml" Id="Rbd28db5b7517453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7de4e6f51d4e32" /><Relationship Type="http://schemas.openxmlformats.org/officeDocument/2006/relationships/notesSlide" Target="/ppt/notesSlides/notesSlide42.xml" Id="Ree4fa7c054c54a8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ceb2f0ca19470d" /><Relationship Type="http://schemas.openxmlformats.org/officeDocument/2006/relationships/notesSlide" Target="/ppt/notesSlides/notesSlide43.xml" Id="R79f77703ea0d441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e47a8b451a42a4" /><Relationship Type="http://schemas.openxmlformats.org/officeDocument/2006/relationships/image" Target="/ppt/media/image52.png" Id="Rdf223bedae8e49dc" /><Relationship Type="http://schemas.openxmlformats.org/officeDocument/2006/relationships/image" Target="/ppt/media/image53.png" Id="Rd2f76c13204c41f3" /><Relationship Type="http://schemas.openxmlformats.org/officeDocument/2006/relationships/notesSlide" Target="/ppt/notesSlides/notesSlide44.xml" Id="Raa8bfc2d2258447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34269b32e48c2" /><Relationship Type="http://schemas.openxmlformats.org/officeDocument/2006/relationships/image" Target="/ppt/media/image13.jpeg" Id="Re66591fffc334dd3" /><Relationship Type="http://schemas.openxmlformats.org/officeDocument/2006/relationships/notesSlide" Target="/ppt/notesSlides/notesSlide45.xml" Id="Rf2bf5d339c264a2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19d25669f848e8" /><Relationship Type="http://schemas.openxmlformats.org/officeDocument/2006/relationships/notesSlide" Target="/ppt/notesSlides/notesSlide46.xml" Id="R29459850434a4b4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dad14a58ed4157" /><Relationship Type="http://schemas.openxmlformats.org/officeDocument/2006/relationships/notesSlide" Target="/ppt/notesSlides/notesSlide47.xml" Id="Rff47aef237234d5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7752ce93e84d5f" /><Relationship Type="http://schemas.openxmlformats.org/officeDocument/2006/relationships/image" Target="/ppt/media/image14.jpeg" Id="Rc0b5aabf3ffb47e6" /><Relationship Type="http://schemas.openxmlformats.org/officeDocument/2006/relationships/notesSlide" Target="/ppt/notesSlides/notesSlide48.xml" Id="R2a461dcebfb14d8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6e1e0951c541fa" /><Relationship Type="http://schemas.openxmlformats.org/officeDocument/2006/relationships/notesSlide" Target="/ppt/notesSlides/notesSlide49.xml" Id="R40516acbb28b489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8967b3e57c41a8" /><Relationship Type="http://schemas.openxmlformats.org/officeDocument/2006/relationships/image" Target="/ppt/media/image15.jpeg" Id="R884aa40aade5407e" /><Relationship Type="http://schemas.openxmlformats.org/officeDocument/2006/relationships/notesSlide" Target="/ppt/notesSlides/notesSlide50.xml" Id="Rd262c2c469c444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74AE8-9F5A-4B0F-B12C-948E6B06B0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c662e001c4e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CE7D1-6261-409D-A8B0-9D2881E2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임재영 AOP · PRESENCE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7B653-D5B4-407D-A4E2-8BE0BE29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9239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2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72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2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딱 한 걸음 앞서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BE845-A8CB-4C56-BB20-3EE3DAF6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 IC 트레이닝 가이드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79045-E9EB-4356-9652-3A1519D0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052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먼저 배우고 싶게 만들라</a:t>
            </a:r>
          </a:p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피드백 전에 관찰하라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DD416-F441-40CD-A89A-228E8DAF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816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임재영 AOP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4AA7F-C8DB-44B0-86A6-F3A229FC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01 / 50</a:t>
            </a:r>
          </a:p>
        </p:txBody>
      </p:sp>
    </p:spTree>
    <p:extLst>
      <p:ext uri="{BB962C8B-B14F-4D97-AF65-F5344CB8AC3E}">
        <p14:creationId xmlns:p14="http://schemas.microsoft.com/office/powerpoint/2010/main" val="1513684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60FBB-8B50-467A-AA45-E0CAF032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INTRO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F3E2E-E685-418F-97FD-D0A48284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다음 중 관련 있는 분야는?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DCD95-8F3C-448A-9F7A-57D1BCEC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잠시, 함께 생각해 봅시다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88CA8-360F-4A70-B579-2A2C2089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793B0-DE2F-47AB-9951-572C50D8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14625"/>
            <a:ext cx="46767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자동차운전면허증(1종)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DD479-56EE-418C-A68B-D4E39203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520E4-68DF-45B6-8962-46540541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714625"/>
            <a:ext cx="46767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대형면허 자격증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766D9-E531-4A26-82EA-58332CEE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8063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DBFD4-2344-4A5F-8E04-B2139F69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8063"/>
            <a:ext cx="46767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복어조리기능사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FE46F-A6D4-4125-B89C-DEA5816E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48063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F100C-79EF-44BC-B4AF-1826E1D0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548063"/>
            <a:ext cx="46767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제빵기능사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5E2F4-A604-403E-B6FA-91056F20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93B45-4DE1-45C9-B726-C6047AEA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0"/>
            <a:ext cx="46767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지게차 운전기능사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229E8-8596-4838-B380-82A9824B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815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FC5D6-288A-408E-828A-14BA1C70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381500"/>
            <a:ext cx="46767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코칭(다문화)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E1664-BF8F-4437-97D0-345DFC7D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4938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204A43-717C-43B4-9B72-02D98113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14938"/>
            <a:ext cx="46767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용접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6E78B0-AA0B-4608-8465-39283D32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14938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0564C-65EC-4F25-865A-120EE288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214938"/>
            <a:ext cx="46767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신학 석사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719C7-D708-4F0D-B19C-AD5F3100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02 / 50</a:t>
            </a:r>
          </a:p>
        </p:txBody>
      </p:sp>
    </p:spTree>
    <p:extLst>
      <p:ext uri="{BB962C8B-B14F-4D97-AF65-F5344CB8AC3E}">
        <p14:creationId xmlns:p14="http://schemas.microsoft.com/office/powerpoint/2010/main" val="10210302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730FEC-55CB-4C9C-BFEC-712879D0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INTRO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F3BC7-5D42-44B4-A38C-D656EBCD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트레이닝의 전체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A79F6-D884-4A75-9234-3FE23D00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동기를 만들고, 관찰하고, 자립을 설계한다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0AEE9-06C0-4A3D-BB2D-23A86159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326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51F82-29F0-4193-B50E-04822D49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263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철학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1E933-484A-4BE7-8AE0-AEE19D23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32639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동기와 관찰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3A763-C1C8-4848-AC53-4577245A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714625"/>
            <a:ext cx="326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D0BA0-3C2B-4BC9-9659-FE6D43B6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3076575"/>
            <a:ext cx="3263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전제 조건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8A009-B72E-436C-8CAA-2A6D2A46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3543300"/>
            <a:ext cx="32639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쇼잉과 스탠다드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B4739-D9FA-4BE0-8680-CE909B1C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714625"/>
            <a:ext cx="326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5AC65-CD65-4F58-937C-64278924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076575"/>
            <a:ext cx="3263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첫 3일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DE47D-C0B2-4770-9E16-73286FD1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543300"/>
            <a:ext cx="32639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경험 · 학습 · 판단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174DC-2FEC-4581-9366-C2D83A8B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326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C8AE7-CAAE-4879-9647-CD5FAF83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3263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스킬과 피드백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71B43-6B9C-49D6-9F67-F42C66EA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32639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5 Step · 타이밍 · 모델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C72CB-9EE5-4A20-B53E-3579E8A4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4429125"/>
            <a:ext cx="326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1C7D6-DBE6-4922-9AEA-1720BA19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4791075"/>
            <a:ext cx="3263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6주 전략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CE58DE-1D30-40B4-BB12-9C5322BC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5257800"/>
            <a:ext cx="32639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리더힛 · 로드트립 · Self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B846C5-CDFF-4919-AD48-81482DD1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429125"/>
            <a:ext cx="326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61E76C-E265-45C5-874A-91FF5B1B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791075"/>
            <a:ext cx="3263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리더의 역할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6A301-B391-4082-96E9-414E8B9F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5257800"/>
            <a:ext cx="32639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성취 · 인정 · 결과 판단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ED377-3BD6-4349-96EA-4BF5BC1D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03 / 50</a:t>
            </a:r>
          </a:p>
        </p:txBody>
      </p:sp>
    </p:spTree>
    <p:extLst>
      <p:ext uri="{BB962C8B-B14F-4D97-AF65-F5344CB8AC3E}">
        <p14:creationId xmlns:p14="http://schemas.microsoft.com/office/powerpoint/2010/main" val="131771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C8966-D655-43AD-95D4-D23FB4C46A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07a38d18d46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49BFA-2052-469A-93B3-0F92476D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01 철학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6C048-03B7-491C-804B-FCD1E084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9239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먼저,</a:t>
            </a:r>
          </a:p>
          <a:p xmlns:a="http://schemas.openxmlformats.org/drawingml/2006/main">
            <a: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배우고 싶게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37444-0F57-4B5B-B143-B48A3827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How to teach보다 먼저, Why they want to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001A6-1371-4D53-8FB7-773E26F1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04 / 50</a:t>
            </a:r>
          </a:p>
        </p:txBody>
      </p:sp>
    </p:spTree>
    <p:extLst>
      <p:ext uri="{BB962C8B-B14F-4D97-AF65-F5344CB8AC3E}">
        <p14:creationId xmlns:p14="http://schemas.microsoft.com/office/powerpoint/2010/main" val="1039668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CE709-2CAE-4560-A359-15ED3E02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01 철학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03AA8-B2FB-4786-984F-2141EE53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배우고 싶은 마음이 생기는 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7FA7F-33C5-442D-B6D0-28C563C6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가르침은 그 의지 위에 얹는다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5CD94-5EB4-4C20-9F30-0B303DA0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36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동기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93163-B186-4BE6-9007-FE5809E4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36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지식 전에</a:t>
            </a:r>
          </a:p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하고 싶다는 마음을 켠다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1A609-9775-4A0D-A609-DD85AA4A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322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25D66-4DEF-470B-A605-D659CA94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857500"/>
            <a:ext cx="336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쇼잉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09ED6-751F-43C5-A4B1-C5A87F9C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336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직접 보여줘</a:t>
            </a:r>
          </a:p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나도 저렇게 되고 싶게 한다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CEC73-1ACA-45A5-BB90-5737855C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524125"/>
            <a:ext cx="322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54BF9-7715-40A4-A439-4D4F652C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857500"/>
            <a:ext cx="336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작은 성공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1142C-1DAE-4C69-818A-DF88D6BE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905250"/>
            <a:ext cx="336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스스로 해낸 성취감이</a:t>
            </a:r>
          </a:p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다음 학습 의지를 만든다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E5FFD-634D-4723-8260-5A3BD381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524125"/>
            <a:ext cx="322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FE742-A9BA-4FC0-AE63-B19531E9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05 / 50</a:t>
            </a:r>
          </a:p>
        </p:txBody>
      </p:sp>
    </p:spTree>
    <p:extLst>
      <p:ext uri="{BB962C8B-B14F-4D97-AF65-F5344CB8AC3E}">
        <p14:creationId xmlns:p14="http://schemas.microsoft.com/office/powerpoint/2010/main" val="6718088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C42F4-5B39-46B9-8AB4-1CA9C6A933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d2b8b050646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5F470-B35E-4083-8FE2-65E16804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장 자크 루소 · 『에밀』 제2권 · 원본 수록 번역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892BB-24CB-47F6-B9A9-D0DBCDD4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47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시간을 잃어라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CCE7C-3D95-4A53-8CFA-63480DF9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24225"/>
            <a:ext cx="704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가장 유용한 교육 규칙은 시간을 버는 것이 아니라, 시간을 잃는 것이다.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EB136-F8F3-4B2A-AB6C-C003D295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06 / 50</a:t>
            </a:r>
          </a:p>
        </p:txBody>
      </p:sp>
    </p:spTree>
    <p:extLst>
      <p:ext uri="{BB962C8B-B14F-4D97-AF65-F5344CB8AC3E}">
        <p14:creationId xmlns:p14="http://schemas.microsoft.com/office/powerpoint/2010/main" val="398443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C868C-258C-40C2-80B0-FEB02B16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01 철학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FFD44-7F81-4132-808D-8E2240E7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가르치기 전에, 관찰하기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F896C-C5A0-46B5-9D9D-30845F42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소극적 교육 · Negative Education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9EF7F-0AC4-47D2-90B0-3C8056720F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bc1515e314650"/>
          <a:stretch xmlns:a="http://schemas.openxmlformats.org/drawingml/2006/main"/>
        </p:blipFill>
        <p:spPr>
          <a:xfrm xmlns:a="http://schemas.openxmlformats.org/drawingml/2006/main">
            <a:off x="828675" y="2743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41AEA-45A4-4949-BCE1-382612B0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14625"/>
            <a:ext cx="1002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조급함이 가장 큰 위험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F6F9D-435B-4466-87C5-0426DF46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24200"/>
            <a:ext cx="10020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준비되지 않은 신입에게 주입하면 텅 빈 암기에 그치고 진짜 이해를 방해한다.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9A77B-32B4-4478-8ED6-7080601423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733c1083e4587"/>
          <a:stretch xmlns:a="http://schemas.openxmlformats.org/drawingml/2006/main"/>
        </p:blipFill>
        <p:spPr>
          <a:xfrm xmlns:a="http://schemas.openxmlformats.org/drawingml/2006/main">
            <a:off x="828675" y="38481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D9836-94D8-49BC-998E-FDC6A0E1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9525"/>
            <a:ext cx="1002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먼저, 이해한 만큼을 관찰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F1C53-B77C-4105-8BAE-886A1690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10020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무엇을 어디까지 이해하고 있는지 관찰한다. 그 위에 필요한 것을 얹는다.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7D39F-801C-4DBF-96A1-8FA3F039AB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ac2fa270c4ed8"/>
          <a:stretch xmlns:a="http://schemas.openxmlformats.org/drawingml/2006/main"/>
        </p:blipFill>
        <p:spPr>
          <a:xfrm xmlns:a="http://schemas.openxmlformats.org/drawingml/2006/main">
            <a:off x="828675" y="49530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0558B-B108-4E80-8D6A-71371E43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24425"/>
            <a:ext cx="1002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기다림이 가장 빠른 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38AA1-C796-4F9B-82F7-EC46446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34000"/>
            <a:ext cx="10020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스스로 경험하고 성숙할 시간을 허락한다.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F17A1-42AB-4A24-938A-4A1C62F3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07 / 50</a:t>
            </a:r>
          </a:p>
        </p:txBody>
      </p:sp>
    </p:spTree>
    <p:extLst>
      <p:ext uri="{BB962C8B-B14F-4D97-AF65-F5344CB8AC3E}">
        <p14:creationId xmlns:p14="http://schemas.microsoft.com/office/powerpoint/2010/main" val="17721844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BBF88-8F19-46BA-B433-2E2F9CF1D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fd5c4953c43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9EE59-8A58-4EAC-B63D-83D6924A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01 철학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E8582-2C02-460A-ACA1-E90DE048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9239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피드백 전에,</a:t>
            </a:r>
          </a:p>
          <a:p xmlns:a="http://schemas.openxmlformats.org/drawingml/2006/main">
            <a: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먼저 관찰하라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BFDB0-FB5A-432E-942E-8BBF74B0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같은 피드백도 사람에 따라 독이 되고 약이 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60913-1A88-44AD-86F1-B002FD07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08 / 50</a:t>
            </a:r>
          </a:p>
        </p:txBody>
      </p:sp>
    </p:spTree>
    <p:extLst>
      <p:ext uri="{BB962C8B-B14F-4D97-AF65-F5344CB8AC3E}">
        <p14:creationId xmlns:p14="http://schemas.microsoft.com/office/powerpoint/2010/main" val="18355387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3308D-F7C5-4A68-9362-3E0CBE70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01 철학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E24E7-D6F2-423E-9DA6-8885AB69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관찰해야 할 네 가지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FCA60-FCC2-4CDE-85A9-401D0F4E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관찰한 뒤 진단하고, 그 사람에게 맞춰 피드백한다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D0F99-8890-4993-AC3A-3B715FA1D2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8c462667948c3"/>
          <a:stretch xmlns:a="http://schemas.openxmlformats.org/drawingml/2006/main"/>
        </p:blipFill>
        <p:spPr>
          <a:xfrm xmlns:a="http://schemas.openxmlformats.org/drawingml/2006/main">
            <a:off x="819150" y="27908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1B022-12B6-4BD2-BDF6-10BF9AA1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반응과 태도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3D58A-16EE-4643-B733-2DB91CE9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2시간쯤 뛰게 한 뒤 할 만한지 확인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F8781-4D0B-4FDE-9E39-C8ED426ED4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5f163d22a4d2e"/>
          <a:stretch xmlns:a="http://schemas.openxmlformats.org/drawingml/2006/main"/>
        </p:blipFill>
        <p:spPr>
          <a:xfrm xmlns:a="http://schemas.openxmlformats.org/drawingml/2006/main">
            <a:off x="6534150" y="27908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1AE50-D7D3-4F15-A146-63F71B54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6225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두려움의 위치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B6F4A-3965-4B8F-8029-681D43CA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766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접근 · 피치 · 클로징, 어디서 멈칫하는가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0F0EB-F084-4584-9CED-04CEC9E422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f1fc306f948be"/>
          <a:stretch xmlns:a="http://schemas.openxmlformats.org/drawingml/2006/main"/>
        </p:blipFill>
        <p:spPr>
          <a:xfrm xmlns:a="http://schemas.openxmlformats.org/drawingml/2006/main">
            <a:off x="819150" y="4410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72B4A-2711-491A-8DBE-51ADF6A4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학습 속도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11138-1F40-4D5C-8576-294AD247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어제의 피드백을 오늘 반영하는가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F8245-8788-4D72-B7F1-F5007EBBF1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f026edf884afe"/>
          <a:stretch xmlns:a="http://schemas.openxmlformats.org/drawingml/2006/main"/>
        </p:blipFill>
        <p:spPr>
          <a:xfrm xmlns:a="http://schemas.openxmlformats.org/drawingml/2006/main">
            <a:off x="6534150" y="4410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C5421-DDE8-4740-8341-E7DCD19D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8150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강점과 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EB953-4A38-493E-BFF0-EC35FFA1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958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리액션형인가, 논리형인가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B2551-DC8E-4281-BD1F-8CE9690F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09 / 50</a:t>
            </a:r>
          </a:p>
        </p:txBody>
      </p:sp>
    </p:spTree>
    <p:extLst>
      <p:ext uri="{BB962C8B-B14F-4D97-AF65-F5344CB8AC3E}">
        <p14:creationId xmlns:p14="http://schemas.microsoft.com/office/powerpoint/2010/main" val="9706051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BA9DA-981F-4D3A-B69F-A987F0A1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01 철학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1F58B-6358-41EA-9520-2C69B977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필드 이전부터 시작되는 관찰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ECDBB-40A2-453F-A954-569141B6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사람이 다르면, 트레이닝도 달라야 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3DCF1-4DF8-4E23-8E94-A38D595B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36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이력서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D723E-D275-4178-A22B-F625CDC6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36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경력과 이전 직무에서</a:t>
            </a:r>
          </a:p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성향과 강점의 단서를 읽는다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74733-E9E2-4DAA-AB01-797F80AD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322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22483-1FDA-4AC1-B799-19D0EB91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857500"/>
            <a:ext cx="336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주변 피드백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D3013-7BEB-4938-B8E6-0AAB19A6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336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오너 · 클라이언트 · 교육자에게</a:t>
            </a:r>
          </a:p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어떤 사람이었는지 묻는다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78AF5-6170-4CC8-A205-480190EA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524125"/>
            <a:ext cx="322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072E0-0C0A-4B92-B1E3-1B97D7B9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857500"/>
            <a:ext cx="336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트레이닝 설계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8FE3A-249A-4347-AD5A-60137C99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905250"/>
            <a:ext cx="336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무엇을 어떻게 가르칠지</a:t>
            </a:r>
          </a:p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필드 전에 미리 고민한다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DC00F-6BFA-4EFB-8B6F-FE340241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524125"/>
            <a:ext cx="322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FB7E5-05BA-4E31-BEA4-07F093A5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10 / 50</a:t>
            </a:r>
          </a:p>
        </p:txBody>
      </p:sp>
    </p:spTree>
    <p:extLst>
      <p:ext uri="{BB962C8B-B14F-4D97-AF65-F5344CB8AC3E}">
        <p14:creationId xmlns:p14="http://schemas.microsoft.com/office/powerpoint/2010/main" val="2057417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5477A-369E-4226-9E6D-8F104704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01 철학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77F3C-E7B2-41E2-891D-AF06AB16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신입에게 답이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1D7E2-4EFD-4491-8F8B-9C13C39A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현장의 어려움은 현장에서 답을 찾는다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746DD-DF41-4501-8A9F-01BB3EC6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36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포착하기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22009-2EC0-4752-B573-3294F72A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36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이해하지 못하거나</a:t>
            </a:r>
          </a:p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머뭇거리는 순간을 찾는다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F519D-5664-44D9-AE47-C3AB83CF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322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BC10D-348D-4C32-9C29-1F635FE4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857500"/>
            <a:ext cx="336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먼저 묻기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BCABF-E17E-4168-A4BF-32732BC7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336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왜 그 부분이 어려운지</a:t>
            </a:r>
          </a:p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신입의 입으로 듣는다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7EB2F-0139-4E1D-AAA4-BCF54A5F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524125"/>
            <a:ext cx="322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DEB85-4102-4DD6-9BFC-A3CBA3D3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857500"/>
            <a:ext cx="336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함께 찾기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13B91-7EAE-45A7-BD40-1216ADAF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905250"/>
            <a:ext cx="336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들은 내용을 바탕으로</a:t>
            </a:r>
          </a:p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솔직하게 피드백한다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5881F-D6BA-465A-9676-7560A235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524125"/>
            <a:ext cx="322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F2E0E-923B-4DB9-950B-A26B0D91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11 / 50</a:t>
            </a:r>
          </a:p>
        </p:txBody>
      </p:sp>
    </p:spTree>
    <p:extLst>
      <p:ext uri="{BB962C8B-B14F-4D97-AF65-F5344CB8AC3E}">
        <p14:creationId xmlns:p14="http://schemas.microsoft.com/office/powerpoint/2010/main" val="14933262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FE111-161D-4876-BE81-DBFD19153A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e98f9d17e475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D47EF-61DA-49E9-ADF8-2B52246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02 전제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91CE8-4FD0-44B8-9442-8453D44C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트레이너가 먼저 증명하는 실력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0C1E2-0D89-4DD6-9360-E90ACE19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직접 쇼잉할 수 있는 실전 능력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59FD1-0E7A-482C-A90B-F147999E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4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주 1회 이상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AE43F-B65B-4471-AC38-8D3B006C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벨-공 세일즈 증명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7BC5F-E070-425B-BEC2-96CF1967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4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4시간 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33988-3298-4BFB-873B-D2A53DCE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세일즈 가능한 실력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B1646-D03C-4997-A5C4-167B2188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12 / 50</a:t>
            </a:r>
          </a:p>
        </p:txBody>
      </p:sp>
    </p:spTree>
    <p:extLst>
      <p:ext uri="{BB962C8B-B14F-4D97-AF65-F5344CB8AC3E}">
        <p14:creationId xmlns:p14="http://schemas.microsoft.com/office/powerpoint/2010/main" val="11054042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58C58-9BD5-4820-990D-5A5D89C4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02 전제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2CB46-8639-471A-A859-4D090784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쇼잉과 스탠다드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10944-0CE3-4E9C-87AA-9100D73B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교육의 질은 트레이너의 실전 역량에서 시작된다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AEFEE-A7C7-4A2D-85FF-7B3824BD0C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4c634f40754acd"/>
          <a:stretch xmlns:a="http://schemas.openxmlformats.org/drawingml/2006/main"/>
        </p:blipFill>
        <p:spPr>
          <a:xfrm xmlns:a="http://schemas.openxmlformats.org/drawingml/2006/main">
            <a:off x="838200" y="2886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6C3B4-74BE-4774-A98F-7012976D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57500"/>
            <a:ext cx="4448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SHOWING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C9B3D-A711-46FC-A02F-4A12FF8B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44481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가장 효과적인 교육은 직접 보여주기</a:t>
            </a:r>
          </a:p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신입은 실제 과정을 관찰하며 학습한다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4A478-E01B-45F1-B46C-C42AAA9BCA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bc5d8b38a47c3"/>
          <a:stretch xmlns:a="http://schemas.openxmlformats.org/drawingml/2006/main"/>
        </p:blipFill>
        <p:spPr>
          <a:xfrm xmlns:a="http://schemas.openxmlformats.org/drawingml/2006/main">
            <a:off x="6372225" y="2886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A10C7-4C49-4686-BEB0-9E00188A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57500"/>
            <a:ext cx="4448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STANDARD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8D5C1-E944-434B-B67F-EF627EF0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905250"/>
            <a:ext cx="44481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일관된 기본 패턴을 모든 신입에게</a:t>
            </a:r>
          </a:p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나가면 반드시 세일즈 가능한 기본기를 만든다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D49CC-5E5C-4F15-B829-C1D59C56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13 / 50</a:t>
            </a:r>
          </a:p>
        </p:txBody>
      </p:sp>
    </p:spTree>
    <p:extLst>
      <p:ext uri="{BB962C8B-B14F-4D97-AF65-F5344CB8AC3E}">
        <p14:creationId xmlns:p14="http://schemas.microsoft.com/office/powerpoint/2010/main" val="10943220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5D93F-9F12-4AC6-9CB6-8C7C3D8758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cdd4533bc4b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EC91D-8E39-49B5-97C2-55C6A4B5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03 첫 3일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04B36-6997-486C-885F-13827D8D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첫 3일의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AE7B7-8879-46F8-92FF-33DE8830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신입이 각 단계에서 이렇게 느끼도록 돕는다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621A9-EB79-4879-82E0-5CB51E95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0323F-DF90-4D18-BC64-2F7A5DA7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경험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176B9-648D-41F8-BE9F-DC85E363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필드가 할 만하다고 느끼게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59889-D96C-4166-8574-DA48E70A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7625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C3041-8266-4B2D-90D6-8A54C3FF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2197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학습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B7BA0-662C-4EFB-B8D2-17FC623B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6769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잘 배우고 성장하면</a:t>
            </a:r>
          </a:p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할 수 있다고 느끼게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7B77A-C260-4944-A7D1-A32B5282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625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65DB3-BC41-42E0-B342-1D8EA54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판단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B4242-95C4-4895-AA97-380FB356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769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스스로 가능성이</a:t>
            </a:r>
          </a:p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있다고 느끼게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95D9A-1966-4F7E-8D76-44354383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14 / 50</a:t>
            </a:r>
          </a:p>
        </p:txBody>
      </p:sp>
    </p:spTree>
    <p:extLst>
      <p:ext uri="{BB962C8B-B14F-4D97-AF65-F5344CB8AC3E}">
        <p14:creationId xmlns:p14="http://schemas.microsoft.com/office/powerpoint/2010/main" val="6577357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DDCA8-FECE-4E1E-AC94-4A7E8D16CF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1a74827bf41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1B844-9679-4EA9-B850-111EB6C0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DAY 1 · 경험의 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C1EAA-47B7-49E4-A6A0-317FCFC5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9239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첫날의 리더는</a:t>
            </a:r>
          </a:p>
          <a:p xmlns:a="http://schemas.openxmlformats.org/drawingml/2006/main">
            <a: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안전벨트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7DA80-0C55-4E9C-830B-8A47E290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신입이 마음껏 시도하게 해주는 리더십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07B82-E265-43D8-9579-CF1D83F7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15 / 50</a:t>
            </a:r>
          </a:p>
        </p:txBody>
      </p:sp>
    </p:spTree>
    <p:extLst>
      <p:ext uri="{BB962C8B-B14F-4D97-AF65-F5344CB8AC3E}">
        <p14:creationId xmlns:p14="http://schemas.microsoft.com/office/powerpoint/2010/main" val="2296191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69B6-B13E-46B0-B538-AD92C428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03 첫 3일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DC347-68EB-49FB-9672-5E5BF9F9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DAY 1 · 긍정적인 첫 경험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B3681-A924-40AF-92D2-5E35FB36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성과보다 적응과 관찰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EFC3E-E80A-497A-8485-8B525526AD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0fd4b461744b0"/>
          <a:stretch xmlns:a="http://schemas.openxmlformats.org/drawingml/2006/main"/>
        </p:blipFill>
        <p:spPr>
          <a:xfrm xmlns:a="http://schemas.openxmlformats.org/drawingml/2006/main">
            <a:off x="828675" y="2743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7DC53-AD3C-41AD-B0F5-16426C99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14625"/>
            <a:ext cx="1002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반응과 태도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99F3C-CB64-4230-A18F-DF78ADA7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24200"/>
            <a:ext cx="1002030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2시간쯤 뛰게 한 뒤 할 만한지 확인하고 기본 자세와 의지를 파악한다.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BE1EB-6E05-4EF3-8098-E5611F0F8C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9ccddd8ec4474"/>
          <a:stretch xmlns:a="http://schemas.openxmlformats.org/drawingml/2006/main"/>
        </p:blipFill>
        <p:spPr>
          <a:xfrm xmlns:a="http://schemas.openxmlformats.org/drawingml/2006/main">
            <a:off x="828675" y="3576638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B0EB2-EF41-4FF7-BD23-AF1986C5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48063"/>
            <a:ext cx="1002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트레이너의 쇼잉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2B2FD-034E-40A0-8CF9-ECDB05C2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57638"/>
            <a:ext cx="1002030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자신의 세일즈에 집중해 실제 과정을 직접 보여준다.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72290-0D8D-4C62-A9BF-B2E743276A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6846c7ef34e85"/>
          <a:stretch xmlns:a="http://schemas.openxmlformats.org/drawingml/2006/main"/>
        </p:blipFill>
        <p:spPr>
          <a:xfrm xmlns:a="http://schemas.openxmlformats.org/drawingml/2006/main">
            <a:off x="828675" y="4410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2F64F-C4AD-40A1-BFE9-4B678D6F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81500"/>
            <a:ext cx="1002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두려움 제거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CA327-A35A-4DE3-ABFA-B2BDCACE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91075"/>
            <a:ext cx="1002030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프리엠티브를 충분히 제공한다. 재미있고 해볼 만하다고 느끼게 한다.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BF2C0-3AA3-408C-A85B-FF5F64DA58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6afc34fa144de"/>
          <a:stretch xmlns:a="http://schemas.openxmlformats.org/drawingml/2006/main"/>
        </p:blipFill>
        <p:spPr>
          <a:xfrm xmlns:a="http://schemas.openxmlformats.org/drawingml/2006/main">
            <a:off x="828675" y="5243513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ABA88-1282-4E73-A9DD-B8480AD7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14938"/>
            <a:ext cx="1002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다음 날의 준비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04BB3B-56DB-4DC6-A90E-C85F7EE3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24513"/>
            <a:ext cx="1002030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결과 압박 대신 환경 적응을 돕고 심리적 준비를 만든다.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1A649-519E-4F51-8BC4-503BA2ED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16 / 50</a:t>
            </a:r>
          </a:p>
        </p:txBody>
      </p:sp>
    </p:spTree>
    <p:extLst>
      <p:ext uri="{BB962C8B-B14F-4D97-AF65-F5344CB8AC3E}">
        <p14:creationId xmlns:p14="http://schemas.microsoft.com/office/powerpoint/2010/main" val="18798916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FF08-4BC6-4A10-A9B1-94EEF94E04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a6ffbd55944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5E16C-0A80-4B09-85E4-C11DC3F9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DAY 2 · 학습의 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17578-AAA3-488C-899D-EE752AC4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9239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첫 성공은,</a:t>
            </a:r>
          </a:p>
          <a:p xmlns:a="http://schemas.openxmlformats.org/drawingml/2006/main">
            <a: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함께 만든다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26035-5D86-49C0-A53A-0E7D820D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둘째 날, 반드시 세일즈 1개 이상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ED7D1-F292-46E9-B1FD-3AC34D15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17 / 50</a:t>
            </a:r>
          </a:p>
        </p:txBody>
      </p:sp>
    </p:spTree>
    <p:extLst>
      <p:ext uri="{BB962C8B-B14F-4D97-AF65-F5344CB8AC3E}">
        <p14:creationId xmlns:p14="http://schemas.microsoft.com/office/powerpoint/2010/main" val="3048589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EE635-119B-4E29-8B0D-06676DA8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03 첫 3일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B4357-1131-4A24-ADF5-FFFF1748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DAY 2 · 결과로 배우는 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4C184-0B0A-4A3C-BCA9-2C1AF12F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신입의 실질 역량을 가늠하는 시점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A43E7-E2F5-4EA4-ACA2-DA589CD1A4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9ca76f22541f0"/>
          <a:stretch xmlns:a="http://schemas.openxmlformats.org/drawingml/2006/main"/>
        </p:blipFill>
        <p:spPr>
          <a:xfrm xmlns:a="http://schemas.openxmlformats.org/drawingml/2006/main">
            <a:off x="828675" y="2743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1A75C-3538-472D-B9B4-9059CF98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14625"/>
            <a:ext cx="1002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첫 세일즈 1개 이상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11F90-F21C-4279-A8ED-2F7895A0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24200"/>
            <a:ext cx="10020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반드시 함께 만들어낸다. 신입이 직접 성공을 체감하게 한다.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72765-2A27-48E2-9E79-3585FDC0FB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bd06b5273473c"/>
          <a:stretch xmlns:a="http://schemas.openxmlformats.org/drawingml/2006/main"/>
        </p:blipFill>
        <p:spPr>
          <a:xfrm xmlns:a="http://schemas.openxmlformats.org/drawingml/2006/main">
            <a:off x="828675" y="38481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3193D-0175-44A9-B9F5-55A05847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9525"/>
            <a:ext cx="1002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학습력과 성장성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ED1D2-1629-4598-91C8-120DEDD6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10020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첫날 대비 개선점을 짚고 학습 능력과 성장 가능성을 본다.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09F73-7605-43A2-8888-EBB4E9FBF2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f6b6666204248"/>
          <a:stretch xmlns:a="http://schemas.openxmlformats.org/drawingml/2006/main"/>
        </p:blipFill>
        <p:spPr>
          <a:xfrm xmlns:a="http://schemas.openxmlformats.org/drawingml/2006/main">
            <a:off x="828675" y="49530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6DCDE-A8B6-408D-81F0-5EA7FDD9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24425"/>
            <a:ext cx="1002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트레이너와 신입의 균형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63C8E-2F42-4E6C-9285-769D16ED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34000"/>
            <a:ext cx="10020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신입의 세일즈가 우선이며, 트레이너도 함께 성과를 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FC731-F1C3-40EF-BBC3-6423CD11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18 / 50</a:t>
            </a:r>
          </a:p>
        </p:txBody>
      </p:sp>
    </p:spTree>
    <p:extLst>
      <p:ext uri="{BB962C8B-B14F-4D97-AF65-F5344CB8AC3E}">
        <p14:creationId xmlns:p14="http://schemas.microsoft.com/office/powerpoint/2010/main" val="17107950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6CE95-51EA-4100-9470-D50D4BAD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03 첫 3일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5A04D-4C5D-4B5F-A42E-5BC0A5C3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DAY 3 · 성과의 패턴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4FE40-1947-438E-91AE-76E3E802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Stay / Qualifying은 반드시 오너와 상의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1DFE8-9966-4680-9CBB-AF459695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 · 1 ·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EBC67-6DB3-4E0B-8B07-58C719AF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5000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가장 이상적</a:t>
            </a:r>
          </a:p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리더로 육성 가능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6EE64-7B48-4E2A-93FB-4EE50AC5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14625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3일간 2개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2A905-D550-4CDE-8AD7-BC786A7A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86150"/>
            <a:ext cx="5000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로드트립 제안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EA692-F658-4520-940F-29FE682C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3일간 3개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A7336-98E9-4D20-B985-E139E6D8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53025"/>
            <a:ext cx="5000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의지와 센스 모두 보유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C38A0-5585-4FFC-B373-BE063A96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81500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 · 0 ·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795FE-779B-4CF0-BE5A-A293FEEB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53025"/>
            <a:ext cx="5000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빠른 Qualifying 검토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E3E0B-30E3-4E90-BA8E-DB963D61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모든 판단은 Case by Case. 기준 위에서 유연하게.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36569-8B97-47AE-9AF5-35B214EA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19 / 50</a:t>
            </a:r>
          </a:p>
        </p:txBody>
      </p:sp>
    </p:spTree>
    <p:extLst>
      <p:ext uri="{BB962C8B-B14F-4D97-AF65-F5344CB8AC3E}">
        <p14:creationId xmlns:p14="http://schemas.microsoft.com/office/powerpoint/2010/main" val="20112529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45326-F077-4965-AE0A-24155128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03 첫 3일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55E96-5732-4822-B537-0DED7AA7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판단 전에 확보할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04B8D-4E0E-4B3F-9F0D-49902B4A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제로 방지를 위한 전략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2B62C-9A51-4118-829F-B87AC97378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28f6462fe4e1a"/>
          <a:stretch xmlns:a="http://schemas.openxmlformats.org/drawingml/2006/main"/>
        </p:blipFill>
        <p:spPr>
          <a:xfrm xmlns:a="http://schemas.openxmlformats.org/drawingml/2006/main">
            <a:off x="838200" y="2886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69657-6770-4374-A4F5-0BEC0A9D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57500"/>
            <a:ext cx="4448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사이트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E2EE2-AC27-432D-BE18-475F61E3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44481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신입이 벨을 칠 수 있는 사이트를</a:t>
            </a:r>
          </a:p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전략적으로 고른다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ED946-76F4-48DF-90F2-4DB25419D9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48384d6f44b4e"/>
          <a:stretch xmlns:a="http://schemas.openxmlformats.org/drawingml/2006/main"/>
        </p:blipFill>
        <p:spPr>
          <a:xfrm xmlns:a="http://schemas.openxmlformats.org/drawingml/2006/main">
            <a:off x="6372225" y="2886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1370A-ED05-4E21-B20F-25402B0B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57500"/>
            <a:ext cx="4448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시간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976B0-B14D-4EED-9498-90F1E3DC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905250"/>
            <a:ext cx="44481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미리 스케줄을 짜고</a:t>
            </a:r>
          </a:p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성공 가능성 높은 필드에서 시간을 확보한다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71EB8-C43A-4247-8801-B98720D2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개별 상황을 고려해, 반드시 오너와 상의한다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9EB2C-358B-4F82-8732-20820A40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20 / 50</a:t>
            </a:r>
          </a:p>
        </p:txBody>
      </p:sp>
    </p:spTree>
    <p:extLst>
      <p:ext uri="{BB962C8B-B14F-4D97-AF65-F5344CB8AC3E}">
        <p14:creationId xmlns:p14="http://schemas.microsoft.com/office/powerpoint/2010/main" val="21348093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FFF2B5-F4B9-41BC-93B5-5B72BF73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 스킬과 피드백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BAB9F-D5DC-41F1-A3D1-AD45F78F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5 Step 트레이닝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D9A19-3D1E-4B25-BCB1-803D85EC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주목부터 거래정보 재확인까지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2F961-8698-47C1-A18B-6C3B5E4E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" y="27336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30E"/>
          </a:solidFill>
          <a:ln xmlns:a="http://schemas.openxmlformats.org/drawingml/2006/main" w="14288">
            <a:solidFill>
              <a:srgbClr val="C99A5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64898-0BFE-47DD-964B-39F84D3F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" y="2733675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D12D5-3B7A-4ED9-8498-96CB88BB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196596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Intro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9B366-05E1-4375-AACE-F7A444C3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9659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주목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C0276-E20B-4D8E-9954-15FE52A8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3257550"/>
            <a:ext cx="88011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069DA-1CF4-4FE9-BCB2-CD3F8F78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65" y="27336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30E"/>
          </a:solidFill>
          <a:ln xmlns:a="http://schemas.openxmlformats.org/drawingml/2006/main" w="14288">
            <a:solidFill>
              <a:srgbClr val="C99A5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8DB38-C608-4506-A9BD-61AEE7B0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65" y="2733675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C69C3-E807-4D69-AF48-7F31CF3A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4181475"/>
            <a:ext cx="196596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Short 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72D5D-F7AB-4E02-A7CC-99641004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4953000"/>
            <a:ext cx="19659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짧은 피치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53FF9-AC80-4D6B-90AC-BBC2D8BF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8665" y="3257550"/>
            <a:ext cx="88011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242E4-F91D-4D55-A606-9D46BA1A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336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30E"/>
          </a:solidFill>
          <a:ln xmlns:a="http://schemas.openxmlformats.org/drawingml/2006/main" w="14288">
            <a:solidFill>
              <a:srgbClr val="C99A5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A1667-A9BA-46FB-A984-4420C0FA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33675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26DF7C-F1DB-4C6C-991E-D8B5025E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181475"/>
            <a:ext cx="196596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CCE2A-5D28-4C0A-84FF-2EFB778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953000"/>
            <a:ext cx="19659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해결책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73B516-5A77-43AE-A701-39447F24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257550"/>
            <a:ext cx="88011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0AD6D0-A9D2-4FBC-BF25-F0FD59CE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685" y="27336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30E"/>
          </a:solidFill>
          <a:ln xmlns:a="http://schemas.openxmlformats.org/drawingml/2006/main" w="14288">
            <a:solidFill>
              <a:srgbClr val="C99A5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EBA775-4C41-454D-B49B-D0E57653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685" y="2733675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246BC5-E3C5-452D-8D89-0CF4E3BA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181475"/>
            <a:ext cx="196596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Closing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E0ACA6-BE5F-439A-AA60-02D5B130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953000"/>
            <a:ext cx="19659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TAAIS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003976-D7DB-4275-80FD-BC0A1168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785" y="3257550"/>
            <a:ext cx="88011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730009-88EE-49E7-B666-E8630CA2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245" y="27336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30E"/>
          </a:solidFill>
          <a:ln xmlns:a="http://schemas.openxmlformats.org/drawingml/2006/main" w="14288">
            <a:solidFill>
              <a:srgbClr val="C99A5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3D7F2E-1A1B-4DC8-894E-C4387198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245" y="2733675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6CEE91-C758-4C1F-9A1E-CC73DCC2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140" y="4181475"/>
            <a:ext cx="196596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Rehash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366759-4E6B-4E13-8886-1A0321EF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140" y="4953000"/>
            <a:ext cx="19659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재확인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40950F-0C23-4D9A-A8FC-DC5FB3F3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21 / 50</a:t>
            </a:r>
          </a:p>
        </p:txBody>
      </p:sp>
    </p:spTree>
    <p:extLst>
      <p:ext uri="{BB962C8B-B14F-4D97-AF65-F5344CB8AC3E}">
        <p14:creationId xmlns:p14="http://schemas.microsoft.com/office/powerpoint/2010/main" val="3909471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49BD7-2807-40DE-852E-5561B19A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 스킬과 피드백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7CC6E-D724-4554-825F-C7A12874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대화하고 싶은 분위기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21796-3DF1-45AA-8A6C-A37364F7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Intro와 Short Story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E9EC0-67ED-4B0A-B849-021C0B286E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95454087c4bf7"/>
          <a:stretch xmlns:a="http://schemas.openxmlformats.org/drawingml/2006/main"/>
        </p:blipFill>
        <p:spPr>
          <a:xfrm xmlns:a="http://schemas.openxmlformats.org/drawingml/2006/main">
            <a:off x="838200" y="2886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1CFAB-C519-414A-BDD8-9C3A03CE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57500"/>
            <a:ext cx="4448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01  INTRO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0F871-4F8F-44CC-AD89-5784C33D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44481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시선과 발걸음을 멈춰 세운다</a:t>
            </a:r>
          </a:p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적극적인 리액션과 아이스브레이크로</a:t>
            </a:r>
          </a:p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경계심을 푼다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8CE25-8DBC-4500-B35F-C18A47F951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bc6498de6403a"/>
          <a:stretch xmlns:a="http://schemas.openxmlformats.org/drawingml/2006/main"/>
        </p:blipFill>
        <p:spPr>
          <a:xfrm xmlns:a="http://schemas.openxmlformats.org/drawingml/2006/main">
            <a:off x="6372225" y="2886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CA274-C273-45D7-8EB0-3C0E40A2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57500"/>
            <a:ext cx="4448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02  SHORT 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55F68-969B-431D-B367-0C3D30C4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905250"/>
            <a:ext cx="44481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짧은 피치와 Yes Question으로</a:t>
            </a:r>
          </a:p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긍정 응답을 만든다</a:t>
            </a:r>
          </a:p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WOW 포인트, Tone of Voice,</a:t>
            </a:r>
          </a:p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Body Language를 활용한다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EC176-3E80-4966-9545-284BE8C7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22 / 50</a:t>
            </a:r>
          </a:p>
        </p:txBody>
      </p:sp>
    </p:spTree>
    <p:extLst>
      <p:ext uri="{BB962C8B-B14F-4D97-AF65-F5344CB8AC3E}">
        <p14:creationId xmlns:p14="http://schemas.microsoft.com/office/powerpoint/2010/main" val="33663820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F96CF-8E07-45C2-8EFF-909EFEAE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 스킬과 피드백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3D99E-C4C3-46CA-A886-C3E687B2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해결책 제시와 거래정보 재확인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26616-2130-4AE4-BD53-F78B6B22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Presentation과 Rehash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2A15C-BD6D-4718-B40B-82758420CC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aeb57d1dd4455"/>
          <a:stretch xmlns:a="http://schemas.openxmlformats.org/drawingml/2006/main"/>
        </p:blipFill>
        <p:spPr>
          <a:xfrm xmlns:a="http://schemas.openxmlformats.org/drawingml/2006/main">
            <a:off x="838200" y="2886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85C5D-4731-45B3-9D0A-B6CEC7E6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57500"/>
            <a:ext cx="4448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03 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EB3F1-DB2C-4291-AE1B-CD208F09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44481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해결책으로 구호물품을 직접 보여준다</a:t>
            </a:r>
          </a:p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구매 욕구를 최대치로 끌어올린다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74377-1562-4ECD-A1FC-70F26D8C99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79ad279c140b0"/>
          <a:stretch xmlns:a="http://schemas.openxmlformats.org/drawingml/2006/main"/>
        </p:blipFill>
        <p:spPr>
          <a:xfrm xmlns:a="http://schemas.openxmlformats.org/drawingml/2006/main">
            <a:off x="6372225" y="2886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18905-7628-4018-AB1D-4FA5250D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57500"/>
            <a:ext cx="4448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05  REHASH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8D620-872B-4425-B3CF-EC2B4BB7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905250"/>
            <a:ext cx="44481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거래 정보를 다시 확인한다</a:t>
            </a:r>
          </a:p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취소율을 낮추고 구매 만족도를 한 번 더 높인다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B8CD9-2387-4E7E-A97E-7205511F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23 / 50</a:t>
            </a:r>
          </a:p>
        </p:txBody>
      </p:sp>
    </p:spTree>
    <p:extLst>
      <p:ext uri="{BB962C8B-B14F-4D97-AF65-F5344CB8AC3E}">
        <p14:creationId xmlns:p14="http://schemas.microsoft.com/office/powerpoint/2010/main" val="163566918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A36A3-30DB-4575-BBC0-59A20CF3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 스킬과 피드백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FB530-3F21-430F-8C17-1D9699F3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Closing · TAAIS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97CF9-3E26-4B98-8A27-103987E0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구매를 전제로 대화하고, 선택권과 침묵을 활용한다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71BB6-B324-4989-84BB-A28B23FB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889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0B681-B505-40E9-A773-93ED1BD7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18897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38DD2-C2FB-4B22-9993-7ABAA1AD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188976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항상 시도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A44FB-9D62-4762-BE3C-728D0AC8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2857500"/>
            <a:ext cx="1889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C3645-830A-42A6-96D4-8D7D57C3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4143375"/>
            <a:ext cx="18897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Assumptive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1225E-68D0-4612-A7D6-0D119F16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4905375"/>
            <a:ext cx="188976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구매 전제 대화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83039-38DA-4371-9562-A7643439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2857500"/>
            <a:ext cx="1889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4D8B5-87B4-4779-8497-889F4025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4143375"/>
            <a:ext cx="18897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Alternative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0F75B-BD30-4DC4-8EC1-ED585639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4905375"/>
            <a:ext cx="188976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대안 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47C52-1EF4-435E-B3F3-B484EAB0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2857500"/>
            <a:ext cx="1889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57AFD-CCB0-4110-82E8-D16CE539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4143375"/>
            <a:ext cx="18897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Indifference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B6C99-212C-4E72-8B7B-CC6321AD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4905375"/>
            <a:ext cx="188976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선택권 부여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A6CE5-53E8-4900-BB98-725E80F0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857500"/>
            <a:ext cx="1889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5B505A-CC1F-4F92-9F91-2553866D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4143375"/>
            <a:ext cx="18897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Silence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033B2-4986-461E-879A-DDD74F5F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4905375"/>
            <a:ext cx="188976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침묵 활용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B29AD-EB67-4D70-9116-4CF17D1F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24 / 50</a:t>
            </a:r>
          </a:p>
        </p:txBody>
      </p:sp>
    </p:spTree>
    <p:extLst>
      <p:ext uri="{BB962C8B-B14F-4D97-AF65-F5344CB8AC3E}">
        <p14:creationId xmlns:p14="http://schemas.microsoft.com/office/powerpoint/2010/main" val="111148529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CAF23-B612-4216-89B6-C9C81617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5 STEP 외 · 거절 확률을 낮추는 언어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7F5E4-36CD-426E-94F3-E03C42EF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“바쁘시니까”</a:t>
            </a:r>
          </a:p>
          <a:p xmlns:a="http://schemas.openxmlformats.org/drawingml/2006/main">
            <a:pPr algn="l">
              <a:defRPr sz="57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“이미 좋은 일 많이 하시겠지만”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C935B-7E0D-416A-93EE-C869A620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704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쿠션 멘트는 피치 전반에 꼭 필요한 핵심 요소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1DD00-6431-4B34-9EE4-733973FA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25 / 50</a:t>
            </a:r>
          </a:p>
        </p:txBody>
      </p:sp>
    </p:spTree>
    <p:extLst>
      <p:ext uri="{BB962C8B-B14F-4D97-AF65-F5344CB8AC3E}">
        <p14:creationId xmlns:p14="http://schemas.microsoft.com/office/powerpoint/2010/main" val="17098354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BD091-ED70-43ED-8AE6-74ECFCF3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 스킬과 피드백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7EEF5-BCB5-4656-92E7-8B64FF59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관찰에 맞춘 피드백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89817-0A2A-44C1-B08E-87CA6327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사람의 약점에 따라 처방을 달리한다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E43EE-5273-4373-A619-E4BB756141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2189d08604ee6"/>
          <a:stretch xmlns:a="http://schemas.openxmlformats.org/drawingml/2006/main"/>
        </p:blipFill>
        <p:spPr>
          <a:xfrm xmlns:a="http://schemas.openxmlformats.org/drawingml/2006/main">
            <a:off x="809625" y="2743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012FB-5491-4440-BC46-7F8D6234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14625"/>
            <a:ext cx="4467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리액션이 약하다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57C9B-8A98-4C9B-955E-7E1D2150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76575"/>
            <a:ext cx="4467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리액션 강화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9EB82-74F4-4600-B5A3-0354A05A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43300"/>
            <a:ext cx="44672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표정·제스처 / 즉각 대응</a:t>
            </a:r>
          </a:p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임펄스·바디랭귀지 / 롤플레이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71A35-234F-462C-8F83-702DC7D890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320408722498a"/>
          <a:stretch xmlns:a="http://schemas.openxmlformats.org/drawingml/2006/main"/>
        </p:blipFill>
        <p:spPr>
          <a:xfrm xmlns:a="http://schemas.openxmlformats.org/drawingml/2006/main">
            <a:off x="6419850" y="2743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16997-2309-4760-8DD8-F20967FD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14625"/>
            <a:ext cx="4467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부스 연결이 약하다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DABEA-9467-4FB8-92EF-26EFB782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76575"/>
            <a:ext cx="4467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스트릿 스킬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7BBD7-2079-4B4C-9FF6-A78B739C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43300"/>
            <a:ext cx="44672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접근 방법 / 첫인상</a:t>
            </a:r>
          </a:p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거절 극복 / 고객 유형별 접근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3552D-2AE6-45DA-84ED-8B3EAB64E7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6edcdaf92430d"/>
          <a:stretch xmlns:a="http://schemas.openxmlformats.org/drawingml/2006/main"/>
        </p:blipFill>
        <p:spPr>
          <a:xfrm xmlns:a="http://schemas.openxmlformats.org/drawingml/2006/main">
            <a:off x="809625" y="44577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40AE3-7DE6-4A9A-9360-A29FBA0A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29125"/>
            <a:ext cx="4467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클로징이 약하다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7B508-C67D-4774-A575-552C9978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91075"/>
            <a:ext cx="4467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클로징 강화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5F354-229C-4A8D-8444-82A574B9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57800"/>
            <a:ext cx="44672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TAAIS / Buying sign</a:t>
            </a:r>
          </a:p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침묵·대안 / 클로징 타이밍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F8C62-DA1F-4FF4-92E6-DC67199DA5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260e609e846b3"/>
          <a:stretch xmlns:a="http://schemas.openxmlformats.org/drawingml/2006/main"/>
        </p:blipFill>
        <p:spPr>
          <a:xfrm xmlns:a="http://schemas.openxmlformats.org/drawingml/2006/main">
            <a:off x="6419850" y="44577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CDCCD-D66A-415B-9F34-A1A05857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29125"/>
            <a:ext cx="4467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이미 잘한다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68A963-5D0F-4548-B127-6CD8FAAB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91075"/>
            <a:ext cx="4467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목표 상향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48132F-4E64-45C7-BFAC-51434FFA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57800"/>
            <a:ext cx="44672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높은 목표 / 자기주도 성장</a:t>
            </a:r>
          </a:p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리더십·멘토링 / 커리어 설계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4C3216-0332-4105-AE1E-58B7EF86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26 / 50</a:t>
            </a:r>
          </a:p>
        </p:txBody>
      </p:sp>
    </p:spTree>
    <p:extLst>
      <p:ext uri="{BB962C8B-B14F-4D97-AF65-F5344CB8AC3E}">
        <p14:creationId xmlns:p14="http://schemas.microsoft.com/office/powerpoint/2010/main" val="155100159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D0D3AB-B14F-4AC0-B9AC-568394A0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 스킬과 피드백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0ADD8-5EE2-4D39-A80F-61F03259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피드백의 세 가지 시간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25479-D528-4EAB-9523-148AFC76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필드 전, 필드 중, 필드 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58630-652F-452C-80B4-E6215E82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36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WHAT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4F35F-D146-4569-B776-813B7D93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336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필드 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3DCA6-8F6E-4AAB-B2C9-A46CA3D9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336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점검하고 설계한다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2F63E-4E6E-4A14-AEE7-6F1C04FF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857500"/>
            <a:ext cx="336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HOW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86BED-422B-4E2D-97F8-9CEAB594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48050"/>
            <a:ext cx="336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필드 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C893D-E6DC-43ED-99F2-4BD4C3EB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48125"/>
            <a:ext cx="336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관찰하고 보여준다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91A05-6AF8-409C-ABFC-BB9E04D7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857500"/>
            <a:ext cx="336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WHY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4E266-0818-4763-ABD5-56423E83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448050"/>
            <a:ext cx="336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필드 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01E93-84CA-4ACB-BA00-689EC24D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4048125"/>
            <a:ext cx="336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돌아보고 다음을 설계한다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FBB97-B3EC-4CD2-8C34-27A59A1A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27 / 50</a:t>
            </a:r>
          </a:p>
        </p:txBody>
      </p:sp>
    </p:spTree>
    <p:extLst>
      <p:ext uri="{BB962C8B-B14F-4D97-AF65-F5344CB8AC3E}">
        <p14:creationId xmlns:p14="http://schemas.microsoft.com/office/powerpoint/2010/main" val="15927152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07AB9-2A36-40BC-8F7E-8B1BE073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 스킬과 피드백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4118D-526F-4EBC-83EF-6784825E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필드 전 · 함께 준비하는 여섯 가지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0AA51-A590-489B-9933-F547E4BA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무엇을 배울지와 어떻게 시도할지를 함께 설계한다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4EE70-FBFE-4676-BE8D-4E92E79847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d7e45e4d040e0"/>
          <a:stretch xmlns:a="http://schemas.openxmlformats.org/drawingml/2006/main"/>
        </p:blipFill>
        <p:spPr>
          <a:xfrm xmlns:a="http://schemas.openxmlformats.org/drawingml/2006/main">
            <a:off x="828675" y="2743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3B86D-DE82-4F86-A63F-98667A15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14625"/>
            <a:ext cx="4410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피치 점검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F5EAA-5C0B-4BEE-B6DE-519D32BD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24200"/>
            <a:ext cx="4410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피치 숙지 · 클로즈 · 약정서 핸들링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1C638-AFD4-49FA-930A-D36CA2A4F7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36a6e41d54447"/>
          <a:stretch xmlns:a="http://schemas.openxmlformats.org/drawingml/2006/main"/>
        </p:blipFill>
        <p:spPr>
          <a:xfrm xmlns:a="http://schemas.openxmlformats.org/drawingml/2006/main">
            <a:off x="6438900" y="2743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B13BD-8F92-4485-BD05-22DB1475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714625"/>
            <a:ext cx="4410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니즈 파악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69738-77BB-4A95-9E2A-272010DA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24200"/>
            <a:ext cx="4410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내일 필드에서 배우고 싶은 것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6AA6E-99AA-4A6C-9DD5-D161E0D3B7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dd3c963964848"/>
          <a:stretch xmlns:a="http://schemas.openxmlformats.org/drawingml/2006/main"/>
        </p:blipFill>
        <p:spPr>
          <a:xfrm xmlns:a="http://schemas.openxmlformats.org/drawingml/2006/main">
            <a:off x="828675" y="38481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BC22B-D73B-4ABE-AC58-A2AB41D2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9525"/>
            <a:ext cx="4410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목표 설정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E219E-2B04-4EF5-B4AD-E2AC6808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410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필드시간 · 리해쉬 · 클로즈 · 개인+섹터 AVG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160B8-5DB8-4235-AB68-BBF330C3BD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a05e58d52451b"/>
          <a:stretch xmlns:a="http://schemas.openxmlformats.org/drawingml/2006/main"/>
        </p:blipFill>
        <p:spPr>
          <a:xfrm xmlns:a="http://schemas.openxmlformats.org/drawingml/2006/main">
            <a:off x="6438900" y="38481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E1F56-5480-4F21-9017-1EB5965F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819525"/>
            <a:ext cx="4410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사이트 전략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7865D-52A4-4A2F-B424-55CBAA15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229100"/>
            <a:ext cx="4410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사이트를 익숙하게 하고 할 수 있다는 기대 만들기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F372F-2367-4547-AC7F-899A2CF923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045fa22734b2d"/>
          <a:stretch xmlns:a="http://schemas.openxmlformats.org/drawingml/2006/main"/>
        </p:blipFill>
        <p:spPr>
          <a:xfrm xmlns:a="http://schemas.openxmlformats.org/drawingml/2006/main">
            <a:off x="828675" y="49530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190A0-EB58-4EE1-AE4D-E8EF5992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24425"/>
            <a:ext cx="4410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프리엠티브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5C94D-51E6-4BF8-BABE-24B0815C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34000"/>
            <a:ext cx="4410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타 에이전시 · 우천 등 네거티브 요소 사전 안내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5821F-C411-4C21-9C41-5B1397E4BB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44a5d3f354839"/>
          <a:stretch xmlns:a="http://schemas.openxmlformats.org/drawingml/2006/main"/>
        </p:blipFill>
        <p:spPr>
          <a:xfrm xmlns:a="http://schemas.openxmlformats.org/drawingml/2006/main">
            <a:off x="6438900" y="49530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86D56-4DEF-44C2-924F-E9F77A8E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924425"/>
            <a:ext cx="4410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물품과 복장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15BEB5-9AB2-45BC-92E8-9D6E09C4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334000"/>
            <a:ext cx="4410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콜백싯 · 조끼 · ID카드 · 태블릿 · 부스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B8BEA4-52BE-43C9-AC15-2EAEA1D6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28 / 50</a:t>
            </a:r>
          </a:p>
        </p:txBody>
      </p:sp>
    </p:spTree>
    <p:extLst>
      <p:ext uri="{BB962C8B-B14F-4D97-AF65-F5344CB8AC3E}">
        <p14:creationId xmlns:p14="http://schemas.microsoft.com/office/powerpoint/2010/main" val="84642324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90620F-CD54-452F-B09D-3225E727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 스킬과 피드백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72012-F236-4C99-9E3B-5B145BF2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필드 중 · 실시간으로 끌어가는 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C9FF2-2AEB-4399-9584-57938808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관찰하고, 보여주고, 케어한다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FDBD2-D334-4B70-9E19-F62625DD61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3405091844a5c"/>
          <a:stretch xmlns:a="http://schemas.openxmlformats.org/drawingml/2006/main"/>
        </p:blipFill>
        <p:spPr>
          <a:xfrm xmlns:a="http://schemas.openxmlformats.org/drawingml/2006/main">
            <a:off x="828675" y="2743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879EE-96C0-41A4-A2C6-4D3628AA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14625"/>
            <a:ext cx="4410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대상 파악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59F60-3AF6-4400-A111-43DF0DBF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24200"/>
            <a:ext cx="4410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유형과 이해도를 파악한다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EB39C-6B3C-4285-9AB2-C1543C3F5C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37b1f0de14abf"/>
          <a:stretch xmlns:a="http://schemas.openxmlformats.org/drawingml/2006/main"/>
        </p:blipFill>
        <p:spPr>
          <a:xfrm xmlns:a="http://schemas.openxmlformats.org/drawingml/2006/main">
            <a:off x="6438900" y="2743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4305F-37AE-4E47-A1FC-9A4166C3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714625"/>
            <a:ext cx="4410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집중과 계속 시도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DDBA3-9DD9-4302-AC5D-3DA3001C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24200"/>
            <a:ext cx="4410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계속된 시도로 객관적 데이터를 쌓는다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474F6-7271-4ABA-AC82-9D64B88C7F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0c064e8c6402b"/>
          <a:stretch xmlns:a="http://schemas.openxmlformats.org/drawingml/2006/main"/>
        </p:blipFill>
        <p:spPr>
          <a:xfrm xmlns:a="http://schemas.openxmlformats.org/drawingml/2006/main">
            <a:off x="828675" y="38481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28AE8-9443-4D13-A037-FE12C162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9525"/>
            <a:ext cx="4410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상황에 맞는 피드백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CE343-FF16-4F7B-9C31-3ED6DD47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410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칭찬 · 즉시 CS · 넘버 피드백 / 2시간마다 콜백싯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E59A8-9112-4469-AB5F-2A6B409B01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5c340128d44a9"/>
          <a:stretch xmlns:a="http://schemas.openxmlformats.org/drawingml/2006/main"/>
        </p:blipFill>
        <p:spPr>
          <a:xfrm xmlns:a="http://schemas.openxmlformats.org/drawingml/2006/main">
            <a:off x="6438900" y="38481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83EC37-A8B3-48CB-904D-C3D1D2ED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819525"/>
            <a:ext cx="4410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Showing Is The Best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16142-B5E4-4668-B64E-812E2D49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229100"/>
            <a:ext cx="4410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쉽고 빠른 벨로 직접 보여준다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372C5-4928-4251-AB9B-9EA6B2751F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8855f0d454723"/>
          <a:stretch xmlns:a="http://schemas.openxmlformats.org/drawingml/2006/main"/>
        </p:blipFill>
        <p:spPr>
          <a:xfrm xmlns:a="http://schemas.openxmlformats.org/drawingml/2006/main">
            <a:off x="828675" y="49530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2A0F55-22F0-4778-B654-D19F1441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24425"/>
            <a:ext cx="4410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네거티브 파악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2CA8D-459D-43BF-9BF5-046B00C6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34000"/>
            <a:ext cx="4410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빠르게 해결하고 멘탈을 케어한다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C4E29D-2D85-4B77-BB35-BADC40D84B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6ada8f29f4b4b"/>
          <a:stretch xmlns:a="http://schemas.openxmlformats.org/drawingml/2006/main"/>
        </p:blipFill>
        <p:spPr>
          <a:xfrm xmlns:a="http://schemas.openxmlformats.org/drawingml/2006/main">
            <a:off x="6438900" y="49530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25DD9-5F16-483C-81EE-D1464968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924425"/>
            <a:ext cx="4410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좋은 소식 공유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5A9663-FF04-44F4-9202-15F900B2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334000"/>
            <a:ext cx="4410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시민의 응원과 후원자가 남긴 후원 사유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9B445-0BB1-4D62-AC14-E9D4581D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29 / 50</a:t>
            </a:r>
          </a:p>
        </p:txBody>
      </p:sp>
    </p:spTree>
    <p:extLst>
      <p:ext uri="{BB962C8B-B14F-4D97-AF65-F5344CB8AC3E}">
        <p14:creationId xmlns:p14="http://schemas.microsoft.com/office/powerpoint/2010/main" val="13074843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7F741-2590-4EFD-931B-46413627DF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67bcf675649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F7B7C-D4CC-4D40-8069-A0DDC0A0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 스킬과 피드백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C07B8-044F-4D4D-A90F-34F734F2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필드 후 · 하루를 남기는 대화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01A95-7A05-41E3-AFD3-49689552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오늘을 복기하고 내일을 설계한다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645CF-8404-49BB-90EA-8D242D918D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b85fc098e40ea"/>
          <a:stretch xmlns:a="http://schemas.openxmlformats.org/drawingml/2006/main"/>
        </p:blipFill>
        <p:spPr>
          <a:xfrm xmlns:a="http://schemas.openxmlformats.org/drawingml/2006/main">
            <a:off x="723900" y="26765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D0B2A-A488-4B9B-BC3A-CC22AAFC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필드 소감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A6D8F-2CF4-4AEA-B129-8711F720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004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오늘 어땠는가</a:t>
            </a:r>
          </a:p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무엇을 배웠고, 무엇이 좋고 아쉬웠는가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3999A-41F0-4984-AC79-F52A8284B9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c868a929d4718"/>
          <a:stretch xmlns:a="http://schemas.openxmlformats.org/drawingml/2006/main"/>
        </p:blipFill>
        <p:spPr>
          <a:xfrm xmlns:a="http://schemas.openxmlformats.org/drawingml/2006/main">
            <a:off x="723900" y="41529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9B2EA-4953-4DD3-893D-0C0F811F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243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콜백싯 기준 피드백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4E7C5-83F7-4F35-A590-2139CF4C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76775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함께 필드한 사람들의 넘버를 비교한다</a:t>
            </a:r>
          </a:p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넘버 · 스킬 · 태도의 보완점을 이야기한다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995C2-4EA3-41A2-9410-86566D0C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30 / 50</a:t>
            </a:r>
          </a:p>
        </p:txBody>
      </p:sp>
    </p:spTree>
    <p:extLst>
      <p:ext uri="{BB962C8B-B14F-4D97-AF65-F5344CB8AC3E}">
        <p14:creationId xmlns:p14="http://schemas.microsoft.com/office/powerpoint/2010/main" val="140089762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A45999-45ED-4CE0-8E63-152ADEE1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 스킬과 피드백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71EDA-FA22-4C64-A224-6B85E57A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기본 5일 교육 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E031D-5E96-47BF-BB62-29FD2FCD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다음 교육 일정을 미리 안내한다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18604-6AE6-4690-BEB5-6287B6AF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" y="27336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30E"/>
          </a:solidFill>
          <a:ln xmlns:a="http://schemas.openxmlformats.org/drawingml/2006/main" w="14288">
            <a:solidFill>
              <a:srgbClr val="C99A5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9B3AD-699F-4031-B396-E0A81DC9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" y="2733675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DAY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BCD27-0FA9-4ADA-96EE-94A7714F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196596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콜백싯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2FF1F-4CCC-4B75-AC28-8223C987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9659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기본 작성법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D23DA-D691-4AD9-8D52-420D131D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3257550"/>
            <a:ext cx="88011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F0612-B436-49AD-8921-8D3DFE9C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65" y="27336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30E"/>
          </a:solidFill>
          <a:ln xmlns:a="http://schemas.openxmlformats.org/drawingml/2006/main" w="14288">
            <a:solidFill>
              <a:srgbClr val="C99A5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ACDF9-B607-489D-865B-F7E76DDA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65" y="2733675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DAY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D6909-2F7A-4CB2-AF6A-6ECE50F0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4181475"/>
            <a:ext cx="196596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분석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27AEE-79B3-40BE-8179-521E49F1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4953000"/>
            <a:ext cx="19659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Contact to Stop</a:t>
            </a:r>
          </a:p>
          <a:p xmlns:a="http://schemas.openxmlformats.org/drawingml/2006/main">
            <a: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부스 컨트롤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823D6-D350-46DA-9483-7DBE70C0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8665" y="3257550"/>
            <a:ext cx="88011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ABAA3-AF20-42C8-AEC0-CCD393E0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336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30E"/>
          </a:solidFill>
          <a:ln xmlns:a="http://schemas.openxmlformats.org/drawingml/2006/main" w="14288">
            <a:solidFill>
              <a:srgbClr val="C99A5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9F5B1-B2A2-477D-8472-FA0DDE90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33675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DAY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10844-515A-4233-8324-62E5EA03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181475"/>
            <a:ext cx="196596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5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A600C-F85A-43FE-BAEB-CFB6F0D7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953000"/>
            <a:ext cx="19659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표준 흐름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5E82C-3D12-4751-98BB-02B06FA7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257550"/>
            <a:ext cx="88011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A86259-1514-48F2-869D-BF42681A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685" y="27336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30E"/>
          </a:solidFill>
          <a:ln xmlns:a="http://schemas.openxmlformats.org/drawingml/2006/main" w="14288">
            <a:solidFill>
              <a:srgbClr val="C99A5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6AD951-05D0-48DF-8F60-278445A2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685" y="2733675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DAY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B518F-5268-460F-97B4-8AF5561E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181475"/>
            <a:ext cx="196596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Closing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9C4495-84B3-4E95-85D2-B9F10052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953000"/>
            <a:ext cx="19659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클로징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740E0B-F217-4869-B26E-63A0F5C3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785" y="3257550"/>
            <a:ext cx="88011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0A0D4C-3EBE-48B9-8430-FFD210BC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245" y="27336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30E"/>
          </a:solidFill>
          <a:ln xmlns:a="http://schemas.openxmlformats.org/drawingml/2006/main" w="14288">
            <a:solidFill>
              <a:srgbClr val="C99A5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BC5D84-E741-4DD0-94C1-08EA796B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245" y="2733675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DAY 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2F1187-8E6B-43EA-B00A-6B6BC312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140" y="4181475"/>
            <a:ext cx="196596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약정서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39A06B-631C-439E-B6D0-C1D27AB9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140" y="4953000"/>
            <a:ext cx="19659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리해쉬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BAC6B5-578C-4E6B-8B42-33EA9FA1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31 / 50</a:t>
            </a:r>
          </a:p>
        </p:txBody>
      </p:sp>
    </p:spTree>
    <p:extLst>
      <p:ext uri="{BB962C8B-B14F-4D97-AF65-F5344CB8AC3E}">
        <p14:creationId xmlns:p14="http://schemas.microsoft.com/office/powerpoint/2010/main" val="78129622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0690D-BF2C-4824-9CA9-25056D25C3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3463ee62b40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00AE7-82DD-47E1-AF78-200E5380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 스킬과 피드백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EB703-7EFC-43E4-A63A-27C32743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9239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상대에게</a:t>
            </a:r>
          </a:p>
          <a:p xmlns:a="http://schemas.openxmlformats.org/drawingml/2006/main">
            <a: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필요한 말인가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FAF90-A3B9-44AF-8C8A-8F7B75D3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하고 싶은 말보다, 상대에게 정말 필요한 말인지 먼저 고민한다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BD6A6-CCDF-4734-A199-5017356D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32 / 50</a:t>
            </a:r>
          </a:p>
        </p:txBody>
      </p:sp>
    </p:spTree>
    <p:extLst>
      <p:ext uri="{BB962C8B-B14F-4D97-AF65-F5344CB8AC3E}">
        <p14:creationId xmlns:p14="http://schemas.microsoft.com/office/powerpoint/2010/main" val="206740276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CE2FA2-634E-41DA-860C-1BA0C9D2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 스킬과 피드백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521E8-8775-4C85-A057-D3492C80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피드백의 다섯 가지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A14E9-3AA7-4853-B7AF-3E8B33B9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좋은 의도만으로는 충분하지 않다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19E21-C852-4C7D-A828-62820AD23A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88093b27548d2"/>
          <a:stretch xmlns:a="http://schemas.openxmlformats.org/drawingml/2006/main"/>
        </p:blipFill>
        <p:spPr>
          <a:xfrm xmlns:a="http://schemas.openxmlformats.org/drawingml/2006/main">
            <a:off x="762000" y="27146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50E7F-34EC-4CFF-800E-7E01CE51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146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콜백싯 기준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64F3B-3F88-4914-9E05-FA0CE511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14625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감정·느낌 대신 넘버 · 스킬 · 태도를 기준으로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99B5F-E507-494D-AA9F-C21B748B72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2e15f7153424c"/>
          <a:stretch xmlns:a="http://schemas.openxmlformats.org/drawingml/2006/main"/>
        </p:blipFill>
        <p:spPr>
          <a:xfrm xmlns:a="http://schemas.openxmlformats.org/drawingml/2006/main">
            <a:off x="762000" y="33813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AFD79-2117-4F01-8371-4D9B15F3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8137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상대에게 필요한 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BC854-A262-47DE-9009-BAD1CB3C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81375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내가 하고 싶은 말인지 먼저 점검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ECED4-BE89-4995-9B06-2DD28E5A92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81a7a969a4da2"/>
          <a:stretch xmlns:a="http://schemas.openxmlformats.org/drawingml/2006/main"/>
        </p:blipFill>
        <p:spPr>
          <a:xfrm xmlns:a="http://schemas.openxmlformats.org/drawingml/2006/main">
            <a:off x="762000" y="40481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002C0-2917-43C6-9573-8975BF6F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481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KISS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A1923-FE02-43B3-9EFE-244C5D78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48125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간단 · 명료 · 눈높이, 공감할 수 있는 예시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DF411-C465-4808-B1CF-5A0BB76CBF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69f7ff6c94051"/>
          <a:stretch xmlns:a="http://schemas.openxmlformats.org/drawingml/2006/main"/>
        </p:blipFill>
        <p:spPr>
          <a:xfrm xmlns:a="http://schemas.openxmlformats.org/drawingml/2006/main">
            <a:off x="762000" y="47148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598C4-C625-4AE6-843E-765493AC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1487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COD 공부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13B72-93EB-479F-80DF-26D0D217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14875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올바른 정보인지 확인, 긴가민가한 말은 하지 않기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249A12-1247-4696-A966-0D1453F62F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c2971758f4139"/>
          <a:stretch xmlns:a="http://schemas.openxmlformats.org/drawingml/2006/main"/>
        </p:blipFill>
        <p:spPr>
          <a:xfrm xmlns:a="http://schemas.openxmlformats.org/drawingml/2006/main">
            <a:off x="762000" y="53816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C6601-F8CC-446F-B295-E979C061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816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타이밍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5790C-FFE0-4A07-BF54-AC675541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81625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필수 상황 외에는 2시간에 1번, 그 사이는 개인 목표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54C35-2A74-4AFC-84F3-3302D588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피드백 수용이 빠른 신입, 주거테리·유동이 적은 B패턴에는 전략적으로 활용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47A30-5AF9-4385-A28F-7877E024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33 / 50</a:t>
            </a:r>
          </a:p>
        </p:txBody>
      </p:sp>
    </p:spTree>
    <p:extLst>
      <p:ext uri="{BB962C8B-B14F-4D97-AF65-F5344CB8AC3E}">
        <p14:creationId xmlns:p14="http://schemas.microsoft.com/office/powerpoint/2010/main" val="194453972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49787-3746-480B-A537-168A2729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FEEDBACK MODEL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1467D-06F5-4582-8C6C-9589E4C1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샌드위치 기법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EB507-6AE3-451A-90D5-058E9C7B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긍정으로 시작하고, 개선점을 전하고, 다시 긍정으로 마무리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8A206-68BE-4733-9512-433FDB5905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94eea4ffc43d4"/>
          <a:stretch xmlns:a="http://schemas.openxmlformats.org/drawingml/2006/main"/>
        </p:blipFill>
        <p:spPr>
          <a:xfrm xmlns:a="http://schemas.openxmlformats.org/drawingml/2006/main">
            <a:off x="7715250" y="2905125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2F1C7-3257-4646-AA1F-BA177B96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5048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긍정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C2A98-259C-4A6F-B4F2-5D31A026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좋았던 행동을 구체적으로 인정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73F4B-4D64-4027-ACD2-34613818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5048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rPr>
              <a:t>개선점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5A443-A930-40EB-9CE7-3F82608A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바꿔볼 한 가지를 제안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D5625-4802-49AE-9510-84FF2754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5048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긍정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3F079-56A7-4357-8989-61F7B2C6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01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잘할 수 있다는 믿음으로 마무리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45D26-B946-4A78-B2A7-E7F5FC3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“이것도 저것도 좋았는데, 이 부분만 이렇게 바꿔보면 어떨까요?”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2625F-3E95-40A8-8A6C-6C620071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34 / 50</a:t>
            </a:r>
          </a:p>
        </p:txBody>
      </p:sp>
    </p:spTree>
    <p:extLst>
      <p:ext uri="{BB962C8B-B14F-4D97-AF65-F5344CB8AC3E}">
        <p14:creationId xmlns:p14="http://schemas.microsoft.com/office/powerpoint/2010/main" val="123650214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610A7-7515-4112-8297-58344E7E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FEEDBACK MODEL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25CDD-6350-4B0A-8B98-7F263A1A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SBI 모델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6C1C7-82A1-4783-B2B3-FAE0C07C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상황 · 행동 · 영향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A8531-4BF7-4BDF-AE71-9D2E8F9F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9FBB5-33A7-44A6-8809-69048D29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Situation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90DAE-1856-47A9-9985-1B5F952C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상황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85F7C-8897-4B3C-82B2-CB05D63A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이럴 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EDF43-A0CD-4F98-90F8-A5F7DECE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622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1EA26-335D-4E28-946E-B68F8B57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95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1628F-8479-4733-A6E8-E04FF0A0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148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행동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3A328-3652-46D3-A30D-1F040895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292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이렇게 하면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DE0EF-A1C1-40C3-9AFB-41778DEA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622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00" b="1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00" b="1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rPr>
              <a:t>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FBF5D-38D3-402B-87C6-CD4B01D2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Impact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2F828-6FA6-4AE8-ACBD-8D627EAB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영향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61458-1580-44B1-A411-FBC63FB3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292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이런 장점이 있어요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329B2-88FB-4151-BF2A-68C0E947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“이럴 땐 이렇게 하면 이런 장점이 있어요!”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2C900-3725-4032-BDCE-BEF819EB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35 / 50</a:t>
            </a:r>
          </a:p>
        </p:txBody>
      </p:sp>
    </p:spTree>
    <p:extLst>
      <p:ext uri="{BB962C8B-B14F-4D97-AF65-F5344CB8AC3E}">
        <p14:creationId xmlns:p14="http://schemas.microsoft.com/office/powerpoint/2010/main" val="130672612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EB622-C16B-4E12-A063-4703EA2B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FEEDBACK MODEL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5E4CB-5C47-4B19-AE8F-F95BA17F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5R 코칭법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25225-038D-4D15-A3D3-21A8D7A2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디테일한 발전을 위한 대화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B8BD9-F71A-47ED-8EC4-2F5591B7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88976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Relation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4AF01-C880-484F-88E7-595EAFA1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88976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관계형성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E4DA7-906B-4D53-8368-491E7FF4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2857500"/>
            <a:ext cx="188976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Refocus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FFBBC-211C-49C7-AC36-85DB082D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3905250"/>
            <a:ext cx="188976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목표설정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71903-81BA-4258-A361-D87C4E06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2857500"/>
            <a:ext cx="188976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Reality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04F31-050A-46B8-ADCA-E84CF06D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3905250"/>
            <a:ext cx="188976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현실 장애물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E3D4F-67AA-4AEC-9DC6-DC9A6F4E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2857500"/>
            <a:ext cx="188976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Resources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AB2BC-B476-4145-B1E9-402B397E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3905250"/>
            <a:ext cx="188976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해결자원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8A6CA-F931-4C2A-BF7F-812F09DA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857500"/>
            <a:ext cx="188976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Responsibility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EABF9-8260-460D-A8FD-CC9C8C6D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3905250"/>
            <a:ext cx="188976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책임지기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D09A5-E7B1-4131-B087-C7958E76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959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목표는? 장애물은? 그럼에도 해결할 방법은? 언제까지 무엇을 할지 약속하고 지킨다.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9594A-CB26-4951-AE44-77E3E9A8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36 / 50</a:t>
            </a:r>
          </a:p>
        </p:txBody>
      </p:sp>
    </p:spTree>
    <p:extLst>
      <p:ext uri="{BB962C8B-B14F-4D97-AF65-F5344CB8AC3E}">
        <p14:creationId xmlns:p14="http://schemas.microsoft.com/office/powerpoint/2010/main" val="115188364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EDCD1-C5D8-40CC-80DF-6A721899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 스킬과 피드백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484F8-90F5-4A5F-BBBE-CAD6D7BF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트레이너도 콜백싯을 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55FB6-C852-49FB-AB22-D96A0650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내가 신입을 위해 무엇을 챙겼는가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774BE-E68C-4C00-AEBA-17D433B2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190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19168-74BC-461F-B5BD-17C7C421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Number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490E2-E217-4DAD-8D0E-290546A6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넘버를 쌓게 했는가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845D2-DFB2-4A3F-83F5-1547B9B8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3190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사이트 준비 / 시도하게 하는 피드백</a:t>
            </a:r>
          </a:p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거절 없는 시도 횟수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EA4E9-3131-4E30-8B38-BC976317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57500"/>
            <a:ext cx="3190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925B2-45CB-4C99-8680-FBA98D46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7182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Pitch · Skill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5E3F0-BF54-447E-A633-DBCD4A9D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1475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스킬을 보강했는가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01000-DBEF-49EA-9F4E-AF22125D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0"/>
            <a:ext cx="3190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약한 부분 즉시 교육 / 어떤 스킬이든 보강</a:t>
            </a:r>
          </a:p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내일 바로 쓸 수 있게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495AA-7C96-4CA1-8E41-E45F0586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3190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CC9D0-45F1-44C2-A1E6-CFB220D4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7182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rPr>
              <a:t>Attitude · Mental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53996-41B1-46FD-8CDC-7B91ECB3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멘탈을 지켜줬는가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6D15A-3597-4150-8EDA-C3004A71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0"/>
            <a:ext cx="3190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불안·두려움 제거 / 방해되는 마음 케어</a:t>
            </a:r>
          </a:p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필드에 온전히 집중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728056-056B-45D8-A8D7-39CF51D0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신입의 콜백싯이 신입을 키우듯, 트레이너의 콜백싯이 트레이너를 키운다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F6DE1C-0813-4D46-BEC9-554B2C2A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37 / 50</a:t>
            </a:r>
          </a:p>
        </p:txBody>
      </p:sp>
    </p:spTree>
    <p:extLst>
      <p:ext uri="{BB962C8B-B14F-4D97-AF65-F5344CB8AC3E}">
        <p14:creationId xmlns:p14="http://schemas.microsoft.com/office/powerpoint/2010/main" val="148990224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DDE2F-B9FB-4151-BB8D-3C705E5C1A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5a30a9cdc49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2286E-1EDE-431D-A2EF-AABB6C42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05 자립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02EF5-F0FD-4064-BE1D-BFAA3E54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9239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혼자 설 수 있는</a:t>
            </a:r>
          </a:p>
          <a:p xmlns:a="http://schemas.openxmlformats.org/drawingml/2006/main">
            <a: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6주를 설계한다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13057-E54A-4F1A-A534-A51CA9AA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전략적인 스케줄과 필드 시간 확보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6EE68-9DE6-49FC-A483-2D69B125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38 / 50</a:t>
            </a:r>
          </a:p>
        </p:txBody>
      </p:sp>
    </p:spTree>
    <p:extLst>
      <p:ext uri="{BB962C8B-B14F-4D97-AF65-F5344CB8AC3E}">
        <p14:creationId xmlns:p14="http://schemas.microsoft.com/office/powerpoint/2010/main" val="52556314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1C664-E4A7-4CA5-8C0F-E49EBF0273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8219c0be044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AE34B-6E34-4ADD-B9AB-3194F271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05 자립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4BF95-0899-4899-B44A-BD8E7189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자립을 위한 6주 전략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56B21-B186-4CB8-A277-2A965585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신입의 성장 속도에 맞춰, 단계별로 모니터링한다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1DCFF-C176-416F-AFC8-A9ACB580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1–2주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FB56B-85BD-407C-BE06-EFD7022B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리더힛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1791C-1228-4426-81F1-C96C9617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2주 이내 달성이 이상적</a:t>
            </a:r>
          </a:p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스케줄과 필드 시간 확보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A0A86-091C-4D06-A219-F29A670B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6482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3–5주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D3EC2-7C41-4321-8233-28974DA2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1054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로드트립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B1B2C-E29B-410C-A854-70814282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5626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적극 활용하며</a:t>
            </a:r>
          </a:p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성장 과정을 모니터링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8A858-AFAC-4A9B-968F-C9DCBB46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482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약 6주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243D6-B1A3-419D-B992-437AC7B9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054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필드 적응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A00AB-451A-4724-B463-0F47599A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626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Self 시점 사전 안내</a:t>
            </a:r>
          </a:p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심리적 준비와 실전 역량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C946F-17C3-42DE-97BD-61AF4715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6주는 원본의 트레이닝 운영 기준이며, 개인별 적응 속도를 고려한다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263ABE-5550-4006-9779-0EE88457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39 / 50</a:t>
            </a:r>
          </a:p>
        </p:txBody>
      </p:sp>
    </p:spTree>
    <p:extLst>
      <p:ext uri="{BB962C8B-B14F-4D97-AF65-F5344CB8AC3E}">
        <p14:creationId xmlns:p14="http://schemas.microsoft.com/office/powerpoint/2010/main" val="53649630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3492F3-1227-4B6A-BE13-01E4F7BE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06 리더의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64BF4-7FF3-4E37-9735-3906C2F8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트레이너의 세 가지 핵심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FA51E-1A23-4E8B-8A6B-110B96EE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신입이 자발적으로 성장할 수 있는 환경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C999F-C3D2-4EA7-854C-F16DAB2C6E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1ce3887404f84"/>
          <a:stretch xmlns:a="http://schemas.openxmlformats.org/drawingml/2006/main"/>
        </p:blipFill>
        <p:spPr>
          <a:xfrm xmlns:a="http://schemas.openxmlformats.org/drawingml/2006/main">
            <a:off x="819150" y="2886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29536-8786-4280-A7F6-8CB6AD50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57500"/>
            <a:ext cx="269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성취감 제공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25E16-5660-447F-A4D2-9B9CE3E8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336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내가 직접 해냈다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E57D1-1BCF-4493-BC2B-52500DE4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3365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두려워하면 돕고, 아니면 혼자 하게</a:t>
            </a:r>
          </a:p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두려움의 수준을 먼저 파악한다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6484B-EBB6-429F-B5F4-B0A5315149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f6f46109245fb"/>
          <a:stretch xmlns:a="http://schemas.openxmlformats.org/drawingml/2006/main"/>
        </p:blipFill>
        <p:spPr>
          <a:xfrm xmlns:a="http://schemas.openxmlformats.org/drawingml/2006/main">
            <a:off x="4508500" y="2886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5D5CB-2DB2-4B03-B875-627EF79E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857500"/>
            <a:ext cx="269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두려움 제거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A6A40-66BF-45A5-9BF2-4672C28F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571875"/>
            <a:ext cx="336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안전하게 도전한다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CB683-85D2-46EE-AFAE-D35F3B10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286250"/>
            <a:ext cx="3365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초기에 충분한 서포트</a:t>
            </a:r>
          </a:p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점진적으로 독립성을 부여한다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719B1-8EB8-4F63-9E2B-74BC30786F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2ec285b5749ce"/>
          <a:stretch xmlns:a="http://schemas.openxmlformats.org/drawingml/2006/main"/>
        </p:blipFill>
        <p:spPr>
          <a:xfrm xmlns:a="http://schemas.openxmlformats.org/drawingml/2006/main">
            <a:off x="8197850" y="2886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584D3-1E52-49A7-B02D-6CC71367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350" y="2857500"/>
            <a:ext cx="269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인정과 칭찬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7C384-70A3-43A6-8AB6-A52442BA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571875"/>
            <a:ext cx="336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스스로 깨닫게 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E70FB-BA4F-4688-9030-D23BC324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4286250"/>
            <a:ext cx="3365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인정받을 때 주도적이 된다</a:t>
            </a:r>
          </a:p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혼냄보다 인정과 칭찬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C21C7-5005-4D76-9412-5D3D72E2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40 / 50</a:t>
            </a:r>
          </a:p>
        </p:txBody>
      </p:sp>
    </p:spTree>
    <p:extLst>
      <p:ext uri="{BB962C8B-B14F-4D97-AF65-F5344CB8AC3E}">
        <p14:creationId xmlns:p14="http://schemas.microsoft.com/office/powerpoint/2010/main" val="79539849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5F548-B0D7-486C-83CE-53E19A09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06 리더의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DB573-2453-4A19-B622-D9843CCB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캔슬 관리와 그로스 집중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726F1-CD74-4572-B4DA-1BA69852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두려움이 세일즈 확신을 떨어뜨리지 않도록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29BC1-71D8-477D-AC32-CFE5F38B6D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d46590a544209"/>
          <a:stretch xmlns:a="http://schemas.openxmlformats.org/drawingml/2006/main"/>
        </p:blipFill>
        <p:spPr>
          <a:xfrm xmlns:a="http://schemas.openxmlformats.org/drawingml/2006/main">
            <a:off x="838200" y="2886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BEC79-D2F2-480F-8A8C-D5591AF3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57500"/>
            <a:ext cx="4448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8C692-98B8-4952-9BD8-1BC36609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44481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캔슬은 지점 차원에서 관리</a:t>
            </a:r>
          </a:p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BEP 대비 세일즈 타겟과 최종 수익을 분명히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B9BF0-757D-42B0-BCDF-8D88B3190D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72973a66d4e34"/>
          <a:stretch xmlns:a="http://schemas.openxmlformats.org/drawingml/2006/main"/>
        </p:blipFill>
        <p:spPr>
          <a:xfrm xmlns:a="http://schemas.openxmlformats.org/drawingml/2006/main">
            <a:off x="6372225" y="2886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62832-CDF9-4C3B-B551-F8B5CDA1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57500"/>
            <a:ext cx="4448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C9236-0FD6-4AA1-9561-71334673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905250"/>
            <a:ext cx="44481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그로스(Gross)에 집중</a:t>
            </a:r>
          </a:p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리젝을 자연스러운 일로 받아들일 심리적 준비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56C30-968B-4A5B-A3F5-C4E9B90D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원본의 안내 기준: 리젝 20–30% 가능성 / 하이롤러 1일 1건 리젝 리스크, 주 10세일즈+ 사전 프리엠티브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965B1-18DD-46D4-B80B-F490308B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41 / 50</a:t>
            </a:r>
          </a:p>
        </p:txBody>
      </p:sp>
    </p:spTree>
    <p:extLst>
      <p:ext uri="{BB962C8B-B14F-4D97-AF65-F5344CB8AC3E}">
        <p14:creationId xmlns:p14="http://schemas.microsoft.com/office/powerpoint/2010/main" val="204961192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BFF62-A83B-46F3-9A6D-C3046FEE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06 리더의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A25EA-34B7-4D3F-A80E-B14CC7E5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매슬로우 5단계 욕구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D8863-B995-450C-AA9A-A21D15F7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신입이 다음 단계로 나아가도록 돕는다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FF66F-9A23-4363-92EE-C79F8B66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889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1D335-9FD2-4F03-A14F-8A66D1B7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8897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생리적 욕구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23AFF-6077-4162-8DBA-E762E2F3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88976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기본 생계와 수입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5C30E-64AE-414C-8690-F0338170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3886200"/>
            <a:ext cx="1889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845D1-E891-4D61-8F08-C6B3395A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4476750"/>
            <a:ext cx="18897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안전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0FDC1-76DF-4DF2-B2D2-C1F35009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5076825"/>
            <a:ext cx="188976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두려움 제거,</a:t>
            </a:r>
          </a:p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안전한 도전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CF0BC-6A38-4369-B9E7-57947B31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3486150"/>
            <a:ext cx="1889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1CE29-71FE-4BE1-A39A-B2EE1959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4076700"/>
            <a:ext cx="18897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소속·애정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F371B-5A04-43C1-9330-C9845B30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4676775"/>
            <a:ext cx="188976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팀의 일원이라는</a:t>
            </a:r>
          </a:p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소속감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D01BA-D1EA-4838-BFF3-755E3D27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3086100"/>
            <a:ext cx="1889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2C9AA-C7C7-4D3C-89CF-78A99D28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3676650"/>
            <a:ext cx="18897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존중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F73F9-F719-4303-BD32-7B667275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4276725"/>
            <a:ext cx="188976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인정과 칭찬,</a:t>
            </a:r>
          </a:p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성취를 알아주기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BC0CB-5DC9-4687-BD8F-D565D96C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686050"/>
            <a:ext cx="1889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2A748-6BF4-48F6-86C6-B9E39255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3276600"/>
            <a:ext cx="18897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자아실현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F2C7B-3940-4568-AA2C-F1191A58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3876675"/>
            <a:ext cx="188976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더 큰 목표,</a:t>
            </a:r>
          </a:p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스스로 리더로 성장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485E7B-0135-4479-B082-9014D2F9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원본에서 제시한 트레이닝 해석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AF889B-4A91-47CF-8E33-9D4E1911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42 / 50</a:t>
            </a:r>
          </a:p>
        </p:txBody>
      </p:sp>
    </p:spTree>
    <p:extLst>
      <p:ext uri="{BB962C8B-B14F-4D97-AF65-F5344CB8AC3E}">
        <p14:creationId xmlns:p14="http://schemas.microsoft.com/office/powerpoint/2010/main" val="24953464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184DE-C3BE-42B9-B806-922E262D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06 리더의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7665A-54AE-4BBB-929A-30C51218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결과를 함께 책임진다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4323A-C307-4C25-8FA0-BB663B99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명확한 기준과 일관된 원칙, 그리고 Case by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3A11A-0065-4BB8-A2DE-222AC15C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3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3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3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50%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9E938-AE90-45CB-8AE4-0F7BA7A5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7625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트레이너의 책임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F92F9-D906-4087-95B7-B362722A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350" b="1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350" b="1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350" b="1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rPr>
              <a:t>50%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D797D-ECF2-4486-BC9C-B38B5CCB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7625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신입의 책임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EEB98-85D2-4B79-B103-076D7E8B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43 / 50</a:t>
            </a:r>
          </a:p>
        </p:txBody>
      </p:sp>
    </p:spTree>
    <p:extLst>
      <p:ext uri="{BB962C8B-B14F-4D97-AF65-F5344CB8AC3E}">
        <p14:creationId xmlns:p14="http://schemas.microsoft.com/office/powerpoint/2010/main" val="113232215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DC410-E8D2-4FA3-A48C-168F0169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06 리더의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B26F2-4650-4438-9A66-5EFA4A65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Stay / Qualifying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4EB98-EAC4-4AC2-AB51-011C0AB2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반드시 오너와 상의하고 개별 상황을 고려한다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91938-502E-4C27-8A2B-D43673353F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23bedae8e49dc"/>
          <a:stretch xmlns:a="http://schemas.openxmlformats.org/drawingml/2006/main"/>
        </p:blipFill>
        <p:spPr>
          <a:xfrm xmlns:a="http://schemas.openxmlformats.org/drawingml/2006/main">
            <a:off x="838200" y="2886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5AF2B-3E60-4E5F-98E4-18C96834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57500"/>
            <a:ext cx="4448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STAY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8902C-C977-49CB-8246-59760B27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44481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결과가 좋거나</a:t>
            </a:r>
          </a:p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기준 도달에 확신이 있을 때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AEA17-0AF8-4FDA-9545-AFCD661510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76c13204c41f3"/>
          <a:stretch xmlns:a="http://schemas.openxmlformats.org/drawingml/2006/main"/>
        </p:blipFill>
        <p:spPr>
          <a:xfrm xmlns:a="http://schemas.openxmlformats.org/drawingml/2006/main">
            <a:off x="6372225" y="2886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23C5C-F7FE-4FF2-9802-3820F961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57500"/>
            <a:ext cx="4448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QUALIFYING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9EA2B-43E7-4283-8BA0-B674F85C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905250"/>
            <a:ext cx="44481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최소 기준 도달이 어렵고</a:t>
            </a:r>
          </a:p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확신이 없을 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86901-4EBE-4B19-918E-CD8E953C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명확한 기준과 일관된 원칙 위에서, 개별 상황에 맞춰 최선의 결정을 내린다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56E07-7634-4F07-A0DE-E0EB0A7B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44 / 50</a:t>
            </a:r>
          </a:p>
        </p:txBody>
      </p:sp>
    </p:spTree>
    <p:extLst>
      <p:ext uri="{BB962C8B-B14F-4D97-AF65-F5344CB8AC3E}">
        <p14:creationId xmlns:p14="http://schemas.microsoft.com/office/powerpoint/2010/main" val="141194910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FB01C-501F-425D-A598-03844407D5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591fffc334d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22205-B658-4B09-AFCF-4C1F18E7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『에밀』에 관한 원본 강의자의 해석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04682-3C62-4ABA-8EBC-35211CE2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알고 싶고,</a:t>
            </a:r>
          </a:p>
          <a:p xmlns:a="http://schemas.openxmlformats.org/drawingml/2006/main">
            <a:pPr algn="l">
              <a:defRPr sz="57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배우고 싶은 욕구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289B0-805D-4010-B609-A65228D5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704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가르침보다 먼저 마음이 움직이게 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F621D-65C7-43FC-B753-F3C3850C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45 / 50</a:t>
            </a:r>
          </a:p>
        </p:txBody>
      </p:sp>
    </p:spTree>
    <p:extLst>
      <p:ext uri="{BB962C8B-B14F-4D97-AF65-F5344CB8AC3E}">
        <p14:creationId xmlns:p14="http://schemas.microsoft.com/office/powerpoint/2010/main" val="101373499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3F727-67C5-4F0B-BC68-6641B084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EPILOGUE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C3E20-83F0-471B-B7B6-1AC56EEB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우리의 트레이닝과 닿아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AF7F9-839F-40AF-89C9-B04E0D51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결국 신입에게 답이 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DEB23-CAC9-4441-88CF-46F0DA9F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36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먼저 배우고 싶게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F3072-A842-4AFF-AB98-C5064838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36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지식보다 먼저</a:t>
            </a:r>
          </a:p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호기심과 욕구를 켠다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286E5-A649-469A-8CA7-5D9D26BC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322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77EEA-FC97-42E4-94A1-093641BE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857500"/>
            <a:ext cx="336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앞서지 말고 관찰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62C3B-854D-46B1-A648-C6FC1E7E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336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스스로 깨닫게 두고</a:t>
            </a:r>
          </a:p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필요할 때 돕는다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BEE86-8BB6-40C9-8FF4-E0929E5C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524125"/>
            <a:ext cx="322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BBCEA-AA5A-416B-B315-300AD2F7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857500"/>
            <a:ext cx="336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경험이 곧 배움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DF808-3E07-4F75-877C-12E04498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905250"/>
            <a:ext cx="336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어려움 속의 경험으로</a:t>
            </a:r>
          </a:p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신입은 자란다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9BB57-8679-4FDA-9B28-7AF96EF2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524125"/>
            <a:ext cx="322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4B122-28CF-42DC-B5AB-A4661E26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46 / 50</a:t>
            </a:r>
          </a:p>
        </p:txBody>
      </p:sp>
    </p:spTree>
    <p:extLst>
      <p:ext uri="{BB962C8B-B14F-4D97-AF65-F5344CB8AC3E}">
        <p14:creationId xmlns:p14="http://schemas.microsoft.com/office/powerpoint/2010/main" val="170659689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2695C5-8E43-408D-A715-83CD2CDB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EPILOGUE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02583-13EA-4765-ACE9-3BC042D6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내가 리더가 되고 싶었던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99EFF-04DC-4AD7-8C6C-FC3DA5BD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임재영 AOP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3C0CB-6C2A-4A8E-BEC2-55033EBF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8C5CA-365D-43A5-911B-D92DDA01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14625"/>
            <a:ext cx="4676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세일즈웍스의 첫 번째 목표여서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7A0D6-3DB4-49A5-BDF2-7A072387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010A5-00A4-4E7D-8FAE-7DAFC29D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714625"/>
            <a:ext cx="4676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내 가치관이 담긴 팀을 만들 수 있어서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1656D-F71D-47F5-8C83-1C1A9099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E6730-FEEF-4511-AC23-3DF89142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81375"/>
            <a:ext cx="4676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누군가의 리더가 된다는 것이 기뻐서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57C6E-5322-4359-9228-C21EFBCF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813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E87F9-D434-4DF6-8A0A-A621C142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381375"/>
            <a:ext cx="4676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‘OO리’라 불리는 친근함이 좋아서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B1A3A-D93E-470D-9A38-863234E4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E4461-68FA-43BA-978B-0396FE0A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48125"/>
            <a:ext cx="4676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조끼·피치카드·사물함을 쓸 수 있어서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A0BDE-F600-4FF3-85FB-42CF8CC8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481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7F7A1-D860-4496-AAE9-16934986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048125"/>
            <a:ext cx="4676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리더라는 위치가 동기부여가 되어서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F2472-3C60-4F9B-8E75-509FF400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37D4B-A41A-42E0-8569-EDA5C522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14875"/>
            <a:ext cx="4676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상위 프로모션에 도전할 수 있어서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D1F001-373E-4CE3-811C-046D03EB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148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EED651-184C-435B-85B1-9C4BD7E5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714875"/>
            <a:ext cx="4676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리더힛 부담이 아닌 더 큰 비전으로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8361B-3016-4868-8F05-4CD5F5AB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575233-A261-4D23-AC9D-F3769874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81625"/>
            <a:ext cx="4676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섬기고 돕는 자리에서만 배울 수 있어서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154D04-36B4-4238-8DFB-99721958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47 / 50</a:t>
            </a:r>
          </a:p>
        </p:txBody>
      </p:sp>
    </p:spTree>
    <p:extLst>
      <p:ext uri="{BB962C8B-B14F-4D97-AF65-F5344CB8AC3E}">
        <p14:creationId xmlns:p14="http://schemas.microsoft.com/office/powerpoint/2010/main" val="10283743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95537-8899-4DB3-B02B-B340DCFA9B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5aabf3ffb47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B7899-F9E7-486B-B655-423C14FB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내가 리더가 되고 싶었던 열 번째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974D3-06B9-4148-A741-629D3E82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9239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딱 한 걸음 앞서</a:t>
            </a:r>
          </a:p>
          <a:p xmlns:a="http://schemas.openxmlformats.org/drawingml/2006/main">
            <a: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기다릴 줄 아는 리더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0CFB8-F3C7-4F1F-834C-48B9B316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아주 먼 곳까지 내다보되, 앞서 달음박질하지 않고</a:t>
            </a:r>
          </a:p>
          <a:p xmlns:a="http://schemas.openxmlformats.org/drawingml/2006/main">
            <a: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언제든 따라올 수 있도록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B21E5-E806-4406-A905-3E17C158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48 / 50</a:t>
            </a:r>
          </a:p>
        </p:txBody>
      </p:sp>
    </p:spTree>
    <p:extLst>
      <p:ext uri="{BB962C8B-B14F-4D97-AF65-F5344CB8AC3E}">
        <p14:creationId xmlns:p14="http://schemas.microsoft.com/office/powerpoint/2010/main" val="51357669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555F9-5853-40E7-A24B-8FDFACAC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EC1BF-9FF9-4B85-BD8F-FF48274F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신입 트레이닝, 한 장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7ECAE-5DC2-407E-813B-DD22B6F8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나가면 반드시 세일즈하는 신입으로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08E4D-CFEE-46A1-88AF-9C0FB0CC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B420A-3809-438B-B7D1-A1840B56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14625"/>
            <a:ext cx="4676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DAY 1 · 경험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3FFFB-4279-4B7D-939E-31D75CB3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24200"/>
            <a:ext cx="4676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2시간 후 반응·태도 관찰</a:t>
            </a:r>
          </a:p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쇼잉 / 두려움 제거 / 프리엠티브 / 제로 방지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8B763-7421-4729-8B7C-FFA43269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A535D-DB75-41DF-BDC3-D086FE2E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714625"/>
            <a:ext cx="4676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DAY 2 · 학습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5D4B6-26CF-4525-ADBA-F76C1741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24200"/>
            <a:ext cx="4676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첫 세일즈 1개 함께 달성</a:t>
            </a:r>
          </a:p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학습력·성장성 / 개선점 피드백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8C575-A07F-42BC-AF83-32EC6DB4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B0A2A-B2FC-4A65-AA97-684CE45A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9525"/>
            <a:ext cx="4676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DAY 3 · 판단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F7190-EEEC-4DF2-A395-EF840297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29100"/>
            <a:ext cx="4676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전략적 사이트 선택</a:t>
            </a:r>
          </a:p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성과 패턴 / 오너와 Stay·Qualifying 판단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39B09-AB8E-4D51-AFF8-B8D2C0C4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195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2381E-D63D-4685-A106-EB473B2A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19525"/>
            <a:ext cx="4676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태도와 스킬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DDAA2-A4BA-4ABE-9027-D1B5857E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229100"/>
            <a:ext cx="4676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성취감 / 인정과 칭찬 / 스스로 깨닫게</a:t>
            </a:r>
          </a:p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5 Step / TAAIS / 쿠션 멘트 / 약점별 보강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61F56-1F57-4683-97D8-89078CEB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매일: 사이트와 넘버 / 약한 스킬 보강 / 두려움 제거 / 신입 콜백싯 함께 점검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F9140-D364-424D-9DE4-4AA61F9B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49 / 50</a:t>
            </a:r>
          </a:p>
        </p:txBody>
      </p:sp>
    </p:spTree>
    <p:extLst>
      <p:ext uri="{BB962C8B-B14F-4D97-AF65-F5344CB8AC3E}">
        <p14:creationId xmlns:p14="http://schemas.microsoft.com/office/powerpoint/2010/main" val="57828696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55EF0-40C7-4D91-A2EA-11ADFC6E9B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aa40aade540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DFE2C-8ACD-425D-94A8-7AA6FAEF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임재영 AOP · Presence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B8873-FFBE-456C-9030-FB8CA81A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9239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5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후원의 기쁨과</a:t>
            </a:r>
          </a:p>
          <a:p xmlns:a="http://schemas.openxmlformats.org/drawingml/2006/main">
            <a:pPr algn="l">
              <a:defRPr sz="5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가치를 전하는 사람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242E4-102D-4DA5-B123-D54A7390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그곳이 어디든 가는 사람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552F3-1918-4B72-9818-301F81EC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904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임재영 AOP · Presence Team</a:t>
            </a:r>
          </a:p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010-5178-1713 · jaeyoung5178@naver.com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A47D0-4EE1-43F0-906F-F2E2AC45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50 / 50</a:t>
            </a:r>
          </a:p>
        </p:txBody>
      </p:sp>
    </p:spTree>
    <p:extLst>
      <p:ext uri="{BB962C8B-B14F-4D97-AF65-F5344CB8AC3E}">
        <p14:creationId xmlns:p14="http://schemas.microsoft.com/office/powerpoint/2010/main" val="9723712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2026-10-25T03:48:43.9780000Z</dcterms:created>
  <dcterms:modified xsi:type="dcterms:W3CDTF">2026-10-25T03:48:43.9780000Z</dcterms:modified>
</coreProperties>
</file>