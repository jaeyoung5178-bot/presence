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5a7b7cd00c4c43" /><Relationship Type="http://schemas.openxmlformats.org/officeDocument/2006/relationships/extended-properties" Target="/docProps/app.xml" Id="R72c997c620434126" /><Relationship Type="http://schemas.openxmlformats.org/officeDocument/2006/relationships/officeDocument" Target="/ppt/presentation.xml" Id="R3ab6f5f385134ae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5f09d5786b54068"/>
  </p:sldMasterIdLst>
  <p:notesMasterIdLst>
    <p:notesMasterId xmlns:r="http://schemas.openxmlformats.org/officeDocument/2006/relationships" r:id="R04186e801ccf4ee4"/>
  </p:notesMasterIdLst>
  <p:sldIdLst>
    <p:sldId xmlns:r="http://schemas.openxmlformats.org/officeDocument/2006/relationships" id="256" r:id="Rfa3a2fc8f37b4200"/>
    <p:sldId xmlns:r="http://schemas.openxmlformats.org/officeDocument/2006/relationships" id="257" r:id="R33dded90386446da"/>
    <p:sldId xmlns:r="http://schemas.openxmlformats.org/officeDocument/2006/relationships" id="258" r:id="Rdb4ea26dd05642d7"/>
    <p:sldId xmlns:r="http://schemas.openxmlformats.org/officeDocument/2006/relationships" id="259" r:id="Re771c42bb7374e7a"/>
    <p:sldId xmlns:r="http://schemas.openxmlformats.org/officeDocument/2006/relationships" id="260" r:id="Rf618291e359e4e09"/>
    <p:sldId xmlns:r="http://schemas.openxmlformats.org/officeDocument/2006/relationships" id="261" r:id="R019f325b849844ee"/>
    <p:sldId xmlns:r="http://schemas.openxmlformats.org/officeDocument/2006/relationships" id="262" r:id="R53a28dbbb53e4b25"/>
    <p:sldId xmlns:r="http://schemas.openxmlformats.org/officeDocument/2006/relationships" id="263" r:id="Rbc7bba17315e4a09"/>
    <p:sldId xmlns:r="http://schemas.openxmlformats.org/officeDocument/2006/relationships" id="264" r:id="R1f01b4de9f6a4a25"/>
    <p:sldId xmlns:r="http://schemas.openxmlformats.org/officeDocument/2006/relationships" id="265" r:id="R73077e30ea374667"/>
    <p:sldId xmlns:r="http://schemas.openxmlformats.org/officeDocument/2006/relationships" id="266" r:id="R80c427d74a6d4362"/>
    <p:sldId xmlns:r="http://schemas.openxmlformats.org/officeDocument/2006/relationships" id="267" r:id="R41f9f5835bc44e9d"/>
    <p:sldId xmlns:r="http://schemas.openxmlformats.org/officeDocument/2006/relationships" id="268" r:id="R4c7fda0dd953449b"/>
    <p:sldId xmlns:r="http://schemas.openxmlformats.org/officeDocument/2006/relationships" id="269" r:id="Ra8ef145d4de843c6"/>
    <p:sldId xmlns:r="http://schemas.openxmlformats.org/officeDocument/2006/relationships" id="270" r:id="Re4d91a3103324c1e"/>
    <p:sldId xmlns:r="http://schemas.openxmlformats.org/officeDocument/2006/relationships" id="271" r:id="R614f2c5634444293"/>
    <p:sldId xmlns:r="http://schemas.openxmlformats.org/officeDocument/2006/relationships" id="272" r:id="R370acf8c49f24587"/>
    <p:sldId xmlns:r="http://schemas.openxmlformats.org/officeDocument/2006/relationships" id="273" r:id="Rec0000d8c2c24194"/>
    <p:sldId xmlns:r="http://schemas.openxmlformats.org/officeDocument/2006/relationships" id="274" r:id="R789217be074d4853"/>
    <p:sldId xmlns:r="http://schemas.openxmlformats.org/officeDocument/2006/relationships" id="275" r:id="R076eac656672400e"/>
    <p:sldId xmlns:r="http://schemas.openxmlformats.org/officeDocument/2006/relationships" id="276" r:id="R143ce0ec4b204707"/>
    <p:sldId xmlns:r="http://schemas.openxmlformats.org/officeDocument/2006/relationships" id="277" r:id="Rd7d7b1dd05a54a9a"/>
    <p:sldId xmlns:r="http://schemas.openxmlformats.org/officeDocument/2006/relationships" id="278" r:id="R800092c9bf9c44a4"/>
    <p:sldId xmlns:r="http://schemas.openxmlformats.org/officeDocument/2006/relationships" id="279" r:id="Re544fad924134b5e"/>
    <p:sldId xmlns:r="http://schemas.openxmlformats.org/officeDocument/2006/relationships" id="280" r:id="Re2721e286b4240aa"/>
    <p:sldId xmlns:r="http://schemas.openxmlformats.org/officeDocument/2006/relationships" id="281" r:id="R23b2f68370374a75"/>
    <p:sldId xmlns:r="http://schemas.openxmlformats.org/officeDocument/2006/relationships" id="282" r:id="R1359995113c64303"/>
    <p:sldId xmlns:r="http://schemas.openxmlformats.org/officeDocument/2006/relationships" id="283" r:id="R89beaa17ed474606"/>
    <p:sldId xmlns:r="http://schemas.openxmlformats.org/officeDocument/2006/relationships" id="284" r:id="R43b4d27084c84c26"/>
    <p:sldId xmlns:r="http://schemas.openxmlformats.org/officeDocument/2006/relationships" id="285" r:id="R124562d3828f4e5b"/>
    <p:sldId xmlns:r="http://schemas.openxmlformats.org/officeDocument/2006/relationships" id="286" r:id="R7a2f98a676454df7"/>
    <p:sldId xmlns:r="http://schemas.openxmlformats.org/officeDocument/2006/relationships" id="287" r:id="R673c847e81004ec5"/>
    <p:sldId xmlns:r="http://schemas.openxmlformats.org/officeDocument/2006/relationships" id="288" r:id="R678edb92d6634f97"/>
    <p:sldId xmlns:r="http://schemas.openxmlformats.org/officeDocument/2006/relationships" id="289" r:id="Raacd976d36aa494d"/>
    <p:sldId xmlns:r="http://schemas.openxmlformats.org/officeDocument/2006/relationships" id="290" r:id="Re7b8f2286fb4478e"/>
    <p:sldId xmlns:r="http://schemas.openxmlformats.org/officeDocument/2006/relationships" id="291" r:id="R7644bbb3f9bd4999"/>
    <p:sldId xmlns:r="http://schemas.openxmlformats.org/officeDocument/2006/relationships" id="292" r:id="R7eb927b09f33437f"/>
    <p:sldId xmlns:r="http://schemas.openxmlformats.org/officeDocument/2006/relationships" id="293" r:id="R0340d79d6b58425c"/>
    <p:sldId xmlns:r="http://schemas.openxmlformats.org/officeDocument/2006/relationships" id="294" r:id="R77c05ac14532459e"/>
    <p:sldId xmlns:r="http://schemas.openxmlformats.org/officeDocument/2006/relationships" id="295" r:id="R56e404291b024823"/>
    <p:sldId xmlns:r="http://schemas.openxmlformats.org/officeDocument/2006/relationships" id="296" r:id="Rd14faaf94f934ec2"/>
    <p:sldId xmlns:r="http://schemas.openxmlformats.org/officeDocument/2006/relationships" id="297" r:id="Rfbba73eb030149fd"/>
    <p:sldId xmlns:r="http://schemas.openxmlformats.org/officeDocument/2006/relationships" id="298" r:id="R59b1668c0c794f71"/>
    <p:sldId xmlns:r="http://schemas.openxmlformats.org/officeDocument/2006/relationships" id="299" r:id="Rf9a0a0bc638f40be"/>
    <p:sldId xmlns:r="http://schemas.openxmlformats.org/officeDocument/2006/relationships" id="300" r:id="R734d4e3fc1634bb4"/>
    <p:sldId xmlns:r="http://schemas.openxmlformats.org/officeDocument/2006/relationships" id="301" r:id="R02ed78899f0c4f6a"/>
    <p:sldId xmlns:r="http://schemas.openxmlformats.org/officeDocument/2006/relationships" id="302" r:id="R42c5b3c63c2b4122"/>
    <p:sldId xmlns:r="http://schemas.openxmlformats.org/officeDocument/2006/relationships" id="303" r:id="R3fc86f1aadfb4870"/>
    <p:sldId xmlns:r="http://schemas.openxmlformats.org/officeDocument/2006/relationships" id="304" r:id="R88ff9de33c0b4629"/>
    <p:sldId xmlns:r="http://schemas.openxmlformats.org/officeDocument/2006/relationships" id="305" r:id="Ra4017986020c497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61e5d289d94562" /><Relationship Type="http://schemas.openxmlformats.org/officeDocument/2006/relationships/slideMaster" Target="/ppt/slideMasters/slideMaster1.xml" Id="R95f09d5786b54068" /><Relationship Type="http://schemas.openxmlformats.org/officeDocument/2006/relationships/notesMaster" Target="/ppt/notesMasters/notesMaster1.xml" Id="R04186e801ccf4ee4" /><Relationship Type="http://schemas.openxmlformats.org/officeDocument/2006/relationships/presProps" Target="/ppt/presProps.xml" Id="Rc87488be49904131" /><Relationship Type="http://schemas.openxmlformats.org/officeDocument/2006/relationships/tableStyles" Target="/ppt/tableStyles.xml" Id="R2799ba776f764adf" /><Relationship Type="http://schemas.openxmlformats.org/officeDocument/2006/relationships/slide" Target="/ppt/slides/slide1.xml" Id="Rfa3a2fc8f37b4200" /><Relationship Type="http://schemas.openxmlformats.org/officeDocument/2006/relationships/slide" Target="/ppt/slides/slide2.xml" Id="R33dded90386446da" /><Relationship Type="http://schemas.openxmlformats.org/officeDocument/2006/relationships/slide" Target="/ppt/slides/slide3.xml" Id="Rdb4ea26dd05642d7" /><Relationship Type="http://schemas.openxmlformats.org/officeDocument/2006/relationships/slide" Target="/ppt/slides/slide4.xml" Id="Re771c42bb7374e7a" /><Relationship Type="http://schemas.openxmlformats.org/officeDocument/2006/relationships/slide" Target="/ppt/slides/slide5.xml" Id="Rf618291e359e4e09" /><Relationship Type="http://schemas.openxmlformats.org/officeDocument/2006/relationships/slide" Target="/ppt/slides/slide6.xml" Id="R019f325b849844ee" /><Relationship Type="http://schemas.openxmlformats.org/officeDocument/2006/relationships/slide" Target="/ppt/slides/slide7.xml" Id="R53a28dbbb53e4b25" /><Relationship Type="http://schemas.openxmlformats.org/officeDocument/2006/relationships/slide" Target="/ppt/slides/slide8.xml" Id="Rbc7bba17315e4a09" /><Relationship Type="http://schemas.openxmlformats.org/officeDocument/2006/relationships/slide" Target="/ppt/slides/slide9.xml" Id="R1f01b4de9f6a4a25" /><Relationship Type="http://schemas.openxmlformats.org/officeDocument/2006/relationships/slide" Target="/ppt/slides/slide10.xml" Id="R73077e30ea374667" /><Relationship Type="http://schemas.openxmlformats.org/officeDocument/2006/relationships/slide" Target="/ppt/slides/slide11.xml" Id="R80c427d74a6d4362" /><Relationship Type="http://schemas.openxmlformats.org/officeDocument/2006/relationships/slide" Target="/ppt/slides/slide12.xml" Id="R41f9f5835bc44e9d" /><Relationship Type="http://schemas.openxmlformats.org/officeDocument/2006/relationships/slide" Target="/ppt/slides/slide13.xml" Id="R4c7fda0dd953449b" /><Relationship Type="http://schemas.openxmlformats.org/officeDocument/2006/relationships/slide" Target="/ppt/slides/slide14.xml" Id="Ra8ef145d4de843c6" /><Relationship Type="http://schemas.openxmlformats.org/officeDocument/2006/relationships/slide" Target="/ppt/slides/slide15.xml" Id="Re4d91a3103324c1e" /><Relationship Type="http://schemas.openxmlformats.org/officeDocument/2006/relationships/slide" Target="/ppt/slides/slide16.xml" Id="R614f2c5634444293" /><Relationship Type="http://schemas.openxmlformats.org/officeDocument/2006/relationships/slide" Target="/ppt/slides/slide17.xml" Id="R370acf8c49f24587" /><Relationship Type="http://schemas.openxmlformats.org/officeDocument/2006/relationships/slide" Target="/ppt/slides/slide18.xml" Id="Rec0000d8c2c24194" /><Relationship Type="http://schemas.openxmlformats.org/officeDocument/2006/relationships/slide" Target="/ppt/slides/slide19.xml" Id="R789217be074d4853" /><Relationship Type="http://schemas.openxmlformats.org/officeDocument/2006/relationships/slide" Target="/ppt/slides/slide20.xml" Id="R076eac656672400e" /><Relationship Type="http://schemas.openxmlformats.org/officeDocument/2006/relationships/slide" Target="/ppt/slides/slide21.xml" Id="R143ce0ec4b204707" /><Relationship Type="http://schemas.openxmlformats.org/officeDocument/2006/relationships/slide" Target="/ppt/slides/slide22.xml" Id="Rd7d7b1dd05a54a9a" /><Relationship Type="http://schemas.openxmlformats.org/officeDocument/2006/relationships/slide" Target="/ppt/slides/slide23.xml" Id="R800092c9bf9c44a4" /><Relationship Type="http://schemas.openxmlformats.org/officeDocument/2006/relationships/slide" Target="/ppt/slides/slide24.xml" Id="Re544fad924134b5e" /><Relationship Type="http://schemas.openxmlformats.org/officeDocument/2006/relationships/slide" Target="/ppt/slides/slide25.xml" Id="Re2721e286b4240aa" /><Relationship Type="http://schemas.openxmlformats.org/officeDocument/2006/relationships/slide" Target="/ppt/slides/slide26.xml" Id="R23b2f68370374a75" /><Relationship Type="http://schemas.openxmlformats.org/officeDocument/2006/relationships/slide" Target="/ppt/slides/slide27.xml" Id="R1359995113c64303" /><Relationship Type="http://schemas.openxmlformats.org/officeDocument/2006/relationships/slide" Target="/ppt/slides/slide28.xml" Id="R89beaa17ed474606" /><Relationship Type="http://schemas.openxmlformats.org/officeDocument/2006/relationships/slide" Target="/ppt/slides/slide29.xml" Id="R43b4d27084c84c26" /><Relationship Type="http://schemas.openxmlformats.org/officeDocument/2006/relationships/slide" Target="/ppt/slides/slide30.xml" Id="R124562d3828f4e5b" /><Relationship Type="http://schemas.openxmlformats.org/officeDocument/2006/relationships/slide" Target="/ppt/slides/slide31.xml" Id="R7a2f98a676454df7" /><Relationship Type="http://schemas.openxmlformats.org/officeDocument/2006/relationships/slide" Target="/ppt/slides/slide32.xml" Id="R673c847e81004ec5" /><Relationship Type="http://schemas.openxmlformats.org/officeDocument/2006/relationships/slide" Target="/ppt/slides/slide33.xml" Id="R678edb92d6634f97" /><Relationship Type="http://schemas.openxmlformats.org/officeDocument/2006/relationships/slide" Target="/ppt/slides/slide34.xml" Id="Raacd976d36aa494d" /><Relationship Type="http://schemas.openxmlformats.org/officeDocument/2006/relationships/slide" Target="/ppt/slides/slide35.xml" Id="Re7b8f2286fb4478e" /><Relationship Type="http://schemas.openxmlformats.org/officeDocument/2006/relationships/slide" Target="/ppt/slides/slide36.xml" Id="R7644bbb3f9bd4999" /><Relationship Type="http://schemas.openxmlformats.org/officeDocument/2006/relationships/slide" Target="/ppt/slides/slide37.xml" Id="R7eb927b09f33437f" /><Relationship Type="http://schemas.openxmlformats.org/officeDocument/2006/relationships/slide" Target="/ppt/slides/slide38.xml" Id="R0340d79d6b58425c" /><Relationship Type="http://schemas.openxmlformats.org/officeDocument/2006/relationships/slide" Target="/ppt/slides/slide39.xml" Id="R77c05ac14532459e" /><Relationship Type="http://schemas.openxmlformats.org/officeDocument/2006/relationships/slide" Target="/ppt/slides/slide40.xml" Id="R56e404291b024823" /><Relationship Type="http://schemas.openxmlformats.org/officeDocument/2006/relationships/slide" Target="/ppt/slides/slide41.xml" Id="Rd14faaf94f934ec2" /><Relationship Type="http://schemas.openxmlformats.org/officeDocument/2006/relationships/slide" Target="/ppt/slides/slide42.xml" Id="Rfbba73eb030149fd" /><Relationship Type="http://schemas.openxmlformats.org/officeDocument/2006/relationships/slide" Target="/ppt/slides/slide43.xml" Id="R59b1668c0c794f71" /><Relationship Type="http://schemas.openxmlformats.org/officeDocument/2006/relationships/slide" Target="/ppt/slides/slide44.xml" Id="Rf9a0a0bc638f40be" /><Relationship Type="http://schemas.openxmlformats.org/officeDocument/2006/relationships/slide" Target="/ppt/slides/slide45.xml" Id="R734d4e3fc1634bb4" /><Relationship Type="http://schemas.openxmlformats.org/officeDocument/2006/relationships/slide" Target="/ppt/slides/slide46.xml" Id="R02ed78899f0c4f6a" /><Relationship Type="http://schemas.openxmlformats.org/officeDocument/2006/relationships/slide" Target="/ppt/slides/slide47.xml" Id="R42c5b3c63c2b4122" /><Relationship Type="http://schemas.openxmlformats.org/officeDocument/2006/relationships/slide" Target="/ppt/slides/slide48.xml" Id="R3fc86f1aadfb4870" /><Relationship Type="http://schemas.openxmlformats.org/officeDocument/2006/relationships/slide" Target="/ppt/slides/slide49.xml" Id="R88ff9de33c0b4629" /><Relationship Type="http://schemas.openxmlformats.org/officeDocument/2006/relationships/slide" Target="/ppt/slides/slide50.xml" Id="Ra4017986020c49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f8bb0802344e5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b299c23b6e4573" /><Relationship Type="http://schemas.openxmlformats.org/officeDocument/2006/relationships/notesMaster" Target="/ppt/notesMasters/notesMaster1.xml" Id="R3ce3313231b943f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d617ca31fad48e0" /><Relationship Type="http://schemas.openxmlformats.org/officeDocument/2006/relationships/notesMaster" Target="/ppt/notesMasters/notesMaster1.xml" Id="Rc01b8292177540f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bc459bfcbf444ed" /><Relationship Type="http://schemas.openxmlformats.org/officeDocument/2006/relationships/notesMaster" Target="/ppt/notesMasters/notesMaster1.xml" Id="R18158c3bc1374b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996d4407634d95" /><Relationship Type="http://schemas.openxmlformats.org/officeDocument/2006/relationships/notesMaster" Target="/ppt/notesMasters/notesMaster1.xml" Id="R15569894e05248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218288a83144ff" /><Relationship Type="http://schemas.openxmlformats.org/officeDocument/2006/relationships/notesMaster" Target="/ppt/notesMasters/notesMaster1.xml" Id="Rd5b0e3ca430b438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b9bb5fe51514527" /><Relationship Type="http://schemas.openxmlformats.org/officeDocument/2006/relationships/notesMaster" Target="/ppt/notesMasters/notesMaster1.xml" Id="R7ad906398dcc49e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ad95ad8f3a64822" /><Relationship Type="http://schemas.openxmlformats.org/officeDocument/2006/relationships/notesMaster" Target="/ppt/notesMasters/notesMaster1.xml" Id="R3f787174f1f642d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2eb9ae72bb43ee" /><Relationship Type="http://schemas.openxmlformats.org/officeDocument/2006/relationships/notesMaster" Target="/ppt/notesMasters/notesMaster1.xml" Id="R260a577ed4cb4fd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e145fc66cc54993" /><Relationship Type="http://schemas.openxmlformats.org/officeDocument/2006/relationships/notesMaster" Target="/ppt/notesMasters/notesMaster1.xml" Id="R28542da081134d0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b0f102c56b84672" /><Relationship Type="http://schemas.openxmlformats.org/officeDocument/2006/relationships/notesMaster" Target="/ppt/notesMasters/notesMaster1.xml" Id="R5b90cebec46c498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9e272ddc11439f" /><Relationship Type="http://schemas.openxmlformats.org/officeDocument/2006/relationships/notesMaster" Target="/ppt/notesMasters/notesMaster1.xml" Id="R23e830090b694b0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dce2e6d65a2443d" /><Relationship Type="http://schemas.openxmlformats.org/officeDocument/2006/relationships/notesMaster" Target="/ppt/notesMasters/notesMaster1.xml" Id="Rc161c2ff63ec4b6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550afba344b4242" /><Relationship Type="http://schemas.openxmlformats.org/officeDocument/2006/relationships/notesMaster" Target="/ppt/notesMasters/notesMaster1.xml" Id="R87b93a84d961492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9ccaa2def1e4e76" /><Relationship Type="http://schemas.openxmlformats.org/officeDocument/2006/relationships/notesMaster" Target="/ppt/notesMasters/notesMaster1.xml" Id="R7e204646ec7e44e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6c07bf8bdd84531" /><Relationship Type="http://schemas.openxmlformats.org/officeDocument/2006/relationships/notesMaster" Target="/ppt/notesMasters/notesMaster1.xml" Id="Reb5357fb55704ce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a2a850a7ee24122" /><Relationship Type="http://schemas.openxmlformats.org/officeDocument/2006/relationships/notesMaster" Target="/ppt/notesMasters/notesMaster1.xml" Id="R2fdf0f6d24bb46c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fc28600326347db" /><Relationship Type="http://schemas.openxmlformats.org/officeDocument/2006/relationships/notesMaster" Target="/ppt/notesMasters/notesMaster1.xml" Id="R6018db83284b44c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8d249419e2041cc" /><Relationship Type="http://schemas.openxmlformats.org/officeDocument/2006/relationships/notesMaster" Target="/ppt/notesMasters/notesMaster1.xml" Id="R020926a7191d4e8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3fdf50ba1c644e3" /><Relationship Type="http://schemas.openxmlformats.org/officeDocument/2006/relationships/notesMaster" Target="/ppt/notesMasters/notesMaster1.xml" Id="Rdebc70e912d44c3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b98561fb5bc4180" /><Relationship Type="http://schemas.openxmlformats.org/officeDocument/2006/relationships/notesMaster" Target="/ppt/notesMasters/notesMaster1.xml" Id="Rf754e5f538c34c2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489d3d904354c12" /><Relationship Type="http://schemas.openxmlformats.org/officeDocument/2006/relationships/notesMaster" Target="/ppt/notesMasters/notesMaster1.xml" Id="R2c7d09dc1f82460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abea8892e7946aa" /><Relationship Type="http://schemas.openxmlformats.org/officeDocument/2006/relationships/notesMaster" Target="/ppt/notesMasters/notesMaster1.xml" Id="R66e27b341ad641f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6df2624c0414dda" /><Relationship Type="http://schemas.openxmlformats.org/officeDocument/2006/relationships/notesMaster" Target="/ppt/notesMasters/notesMaster1.xml" Id="R675eab48fb8642f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e6d977e45db452f" /><Relationship Type="http://schemas.openxmlformats.org/officeDocument/2006/relationships/notesMaster" Target="/ppt/notesMasters/notesMaster1.xml" Id="Rf11d4392fc0f49e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a0b5864d4934fc4" /><Relationship Type="http://schemas.openxmlformats.org/officeDocument/2006/relationships/notesMaster" Target="/ppt/notesMasters/notesMaster1.xml" Id="R629538375c844e4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a6e4b51a5aa48e6" /><Relationship Type="http://schemas.openxmlformats.org/officeDocument/2006/relationships/notesMaster" Target="/ppt/notesMasters/notesMaster1.xml" Id="Rf122bf393007411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57a54062fb04c51" /><Relationship Type="http://schemas.openxmlformats.org/officeDocument/2006/relationships/notesMaster" Target="/ppt/notesMasters/notesMaster1.xml" Id="Red00ab4d8a72480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74bec474626465e" /><Relationship Type="http://schemas.openxmlformats.org/officeDocument/2006/relationships/notesMaster" Target="/ppt/notesMasters/notesMaster1.xml" Id="R4bb04b19cbdf41d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3a8426194ce4c29" /><Relationship Type="http://schemas.openxmlformats.org/officeDocument/2006/relationships/notesMaster" Target="/ppt/notesMasters/notesMaster1.xml" Id="Rd9a024a4eb17454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8102e21a8c6452c" /><Relationship Type="http://schemas.openxmlformats.org/officeDocument/2006/relationships/notesMaster" Target="/ppt/notesMasters/notesMaster1.xml" Id="R6177253ee029409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9869cce72674197" /><Relationship Type="http://schemas.openxmlformats.org/officeDocument/2006/relationships/notesMaster" Target="/ppt/notesMasters/notesMaster1.xml" Id="Rb6e4a9b585e44da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75240a642554993" /><Relationship Type="http://schemas.openxmlformats.org/officeDocument/2006/relationships/notesMaster" Target="/ppt/notesMasters/notesMaster1.xml" Id="R6f77f3c682814da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d8874e844dfc4db4" /><Relationship Type="http://schemas.openxmlformats.org/officeDocument/2006/relationships/notesMaster" Target="/ppt/notesMasters/notesMaster1.xml" Id="R514c0cc4cbc346f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7f41959f31a437c" /><Relationship Type="http://schemas.openxmlformats.org/officeDocument/2006/relationships/notesMaster" Target="/ppt/notesMasters/notesMaster1.xml" Id="R4a1c45fbd9834a4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4b4acefc5084d0b" /><Relationship Type="http://schemas.openxmlformats.org/officeDocument/2006/relationships/notesMaster" Target="/ppt/notesMasters/notesMaster1.xml" Id="Reb666b2da9dd4c9f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c0e13ab7db8e4427" /><Relationship Type="http://schemas.openxmlformats.org/officeDocument/2006/relationships/notesMaster" Target="/ppt/notesMasters/notesMaster1.xml" Id="Ra368081a53eb490f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c892308b725c465c" /><Relationship Type="http://schemas.openxmlformats.org/officeDocument/2006/relationships/notesMaster" Target="/ppt/notesMasters/notesMaster1.xml" Id="R8a45bed5e43549d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6f99bfaa6d834a4f" /><Relationship Type="http://schemas.openxmlformats.org/officeDocument/2006/relationships/notesMaster" Target="/ppt/notesMasters/notesMaster1.xml" Id="Re38f7dd2af284cf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f62e39fcdc140dc" /><Relationship Type="http://schemas.openxmlformats.org/officeDocument/2006/relationships/notesMaster" Target="/ppt/notesMasters/notesMaster1.xml" Id="R6e9bb1e001844746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4edd6361a024578" /><Relationship Type="http://schemas.openxmlformats.org/officeDocument/2006/relationships/notesMaster" Target="/ppt/notesMasters/notesMaster1.xml" Id="Rcc72a891edb643c0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376e5abb02e453f" /><Relationship Type="http://schemas.openxmlformats.org/officeDocument/2006/relationships/notesMaster" Target="/ppt/notesMasters/notesMaster1.xml" Id="R11a08f733d1d42f8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60eb154572e84f53" /><Relationship Type="http://schemas.openxmlformats.org/officeDocument/2006/relationships/notesMaster" Target="/ppt/notesMasters/notesMaster1.xml" Id="R3d0b79366c1142f6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c1159f5878ac43aa" /><Relationship Type="http://schemas.openxmlformats.org/officeDocument/2006/relationships/notesMaster" Target="/ppt/notesMasters/notesMaster1.xml" Id="Rea857fec4e95443d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43c45e3e0d28483d" /><Relationship Type="http://schemas.openxmlformats.org/officeDocument/2006/relationships/notesMaster" Target="/ppt/notesMasters/notesMaster1.xml" Id="R879465f7d7d247c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f5b192ecbc754c00" /><Relationship Type="http://schemas.openxmlformats.org/officeDocument/2006/relationships/notesMaster" Target="/ppt/notesMasters/notesMaster1.xml" Id="R0cda88e1c32544e5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bce035d5975040d6" /><Relationship Type="http://schemas.openxmlformats.org/officeDocument/2006/relationships/notesMaster" Target="/ppt/notesMasters/notesMaster1.xml" Id="R98c2b3bd997c4c22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e16e02c4909e433a" /><Relationship Type="http://schemas.openxmlformats.org/officeDocument/2006/relationships/notesMaster" Target="/ppt/notesMasters/notesMaster1.xml" Id="Rc42e14a476754508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bcd28d60bdb144de" /><Relationship Type="http://schemas.openxmlformats.org/officeDocument/2006/relationships/notesMaster" Target="/ppt/notesMasters/notesMaster1.xml" Id="R77aaebf14ee74990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6b43a56275a548f0" /><Relationship Type="http://schemas.openxmlformats.org/officeDocument/2006/relationships/notesMaster" Target="/ppt/notesMasters/notesMaster1.xml" Id="Re5a4713f4861486f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cd91a115671d4e26" /><Relationship Type="http://schemas.openxmlformats.org/officeDocument/2006/relationships/notesMaster" Target="/ppt/notesMasters/notesMaster1.xml" Id="R83f149b6f4cf46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 LEADERS MEETING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신입 IC 트레이닝 가이드</a:t>
            </a:r>
          </a:p>
          <a:p xmlns:a="http://schemas.openxmlformats.org/drawingml/2006/main">
            <a:r>
              <a:t>신입을 '나가면 반드시 세일즈하는' 사람으로 키우는 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 만들라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피드백 전에 관찰하라</a:t>
            </a:r>
          </a:p>
          <a:p xmlns:a="http://schemas.openxmlformats.org/drawingml/2006/main">
            <a:r>
              <a:t>임재영 AOP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CONTENTS</a:t>
            </a:r>
          </a:p>
          <a:p xmlns:a="http://schemas.openxmlformats.org/drawingml/2006/main">
            <a:r>
              <a:t>목 차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트레이닝의 두 가지 철학</a:t>
            </a:r>
          </a:p>
          <a:p xmlns:a="http://schemas.openxmlformats.org/drawingml/2006/main">
            <a:r>
              <a:t>먼저 배우고 싶게 만들라 · 관찰 후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트레이너의 전제 조건</a:t>
            </a:r>
          </a:p>
          <a:p xmlns:a="http://schemas.openxmlformats.org/drawingml/2006/main">
            <a:r>
              <a:t>쇼잉(Showing) · 스탠다드 적용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첫 3일의 설계 (Day 1–3)</a:t>
            </a:r>
          </a:p>
          <a:p xmlns:a="http://schemas.openxmlformats.org/drawingml/2006/main">
            <a:r>
              <a:t>경험 → 학습 → 판단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스킬 트레이닝 &amp; 맞춤 피드백</a:t>
            </a:r>
          </a:p>
          <a:p xmlns:a="http://schemas.openxmlformats.org/drawingml/2006/main">
            <a:r>
              <a:t>5 Step · 피드백 타이밍 · 피드백 모델 3가지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자립을 위한 6주 전략</a:t>
            </a:r>
          </a:p>
          <a:p xmlns:a="http://schemas.openxmlformats.org/drawingml/2006/main">
            <a:r>
              <a:t>리더힛 · 로드트립 · Self 적응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핵심 역할 &amp; 결과 판단</a:t>
            </a:r>
          </a:p>
          <a:p xmlns:a="http://schemas.openxmlformats.org/drawingml/2006/main">
            <a:r>
              <a:t>성취·인정 · Stay / Qualifying</a:t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TRAINING PHILOSOPHY  ·  01</a:t>
            </a:r>
          </a:p>
          <a:p xmlns:a="http://schemas.openxmlformats.org/drawingml/2006/main">
            <a:r>
              <a:t>가르치기 전에, 먼저 배우고 싶게 만들라</a:t>
            </a:r>
          </a:p>
          <a:p xmlns:a="http://schemas.openxmlformats.org/drawingml/2006/main">
            <a:r>
              <a:t>"How to teach"보다 먼저 풀어야 할 것은 "Why they want to learn"이다.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동기가 먼저다</a:t>
            </a:r>
          </a:p>
          <a:p xmlns:a="http://schemas.openxmlformats.org/drawingml/2006/main">
            <a:r>
              <a:t>지식을 밀어넣기 전에 '하고 싶다'는 마음을 먼저 켠다. 동기 없는 신입에게 스킬은 흡수되지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쇼잉으로 욕망을 만든다</a:t>
            </a:r>
          </a:p>
          <a:p xmlns:a="http://schemas.openxmlformats.org/drawingml/2006/main">
            <a:r>
              <a:t>잘하는 모습을 직접 보여줘 '나도 저렇게 되고 싶다'를 끌어낸다. 첫날의 긍정 경험이 학습 엔진이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작은 성공을 빨리 준다</a:t>
            </a:r>
          </a:p>
          <a:p xmlns:a="http://schemas.openxmlformats.org/drawingml/2006/main">
            <a:r>
              <a:t>스스로 해냈다는 성취감이 다음 학습 의지를 만든다. 가르침은 그 의지 위에 얹는다.</a:t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4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TRAINING PHILOSOPHY  ·  01</a:t>
            </a:r>
          </a:p>
          <a:p xmlns:a="http://schemas.openxmlformats.org/drawingml/2006/main">
            <a:r>
              <a:t>가르치기 전에, 먼저 배우고 싶게 만들라</a:t>
            </a:r>
          </a:p>
          <a:p xmlns:a="http://schemas.openxmlformats.org/drawingml/2006/main">
            <a:r>
              <a:t>"How to teach"보다 먼저 풀어야 할 것은 "Why they want to learn"이다.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동기가 먼저다</a:t>
            </a:r>
          </a:p>
          <a:p xmlns:a="http://schemas.openxmlformats.org/drawingml/2006/main">
            <a:r>
              <a:t>지식을 밀어넣기 전에 '하고 싶다'는 마음을 먼저 켠다. 동기 없는 신입에게 스킬은 흡수되지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쇼잉으로 욕망을 만든다</a:t>
            </a:r>
          </a:p>
          <a:p xmlns:a="http://schemas.openxmlformats.org/drawingml/2006/main">
            <a:r>
              <a:t>잘하는 모습을 직접 보여줘 '나도 저렇게 되고 싶다'를 끌어낸다. 첫날의 긍정 경험이 학습 엔진이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작은 성공을 빨리 준다</a:t>
            </a:r>
          </a:p>
          <a:p xmlns:a="http://schemas.openxmlformats.org/drawingml/2006/main">
            <a:r>
              <a:t>스스로 해냈다는 성취감이 다음 학습 의지를 만든다. 가르침은 그 의지 위에 얹는다.</a:t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4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01  |  『EMILE』</a:t>
            </a:r>
          </a:p>
          <a:p xmlns:a="http://schemas.openxmlformats.org/drawingml/2006/main">
            <a:r>
              <a:t>소극적 교육 — 가르치기 전에, 관찰하기</a:t>
            </a:r>
          </a:p>
          <a:p xmlns:a="http://schemas.openxmlformats.org/drawingml/2006/main">
            <a:r>
              <a:t>루소가 말한 가장 도발적인 개념. 가장 훌륭한 교육은 '아무것도 하지 않는 것처럼 보이는' 교육이다.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Negative Education</a:t>
            </a:r>
          </a:p>
          <a:p xmlns:a="http://schemas.openxmlformats.org/drawingml/2006/main">
            <a:r>
              <a:t>"가장 초기의 교육은 순전히 소극적이어야 한다. 덕이나 진리를 가르치는 데 있지 않고, 마음을 악덕으로부터, 정신을 오류로부터 지키는 데 있다."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"시간을 잃어라"</a:t>
            </a:r>
          </a:p>
          <a:p xmlns:a="http://schemas.openxmlformats.org/drawingml/2006/main">
            <a:r>
              <a:t>"가장 유용한 교육 규칙은 시간을 버는 것이 아니라, 시간을 잃는 것이다."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>트레이닝에 적용하면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조급함이 가장 큰 위험</a:t>
            </a:r>
          </a:p>
          <a:p xmlns:a="http://schemas.openxmlformats.org/drawingml/2006/main">
            <a:r>
              <a:t>준비되지 않은 신입에게 억지로 주입하면, 텅빈 </a:t>
            </a:r>
          </a:p>
          <a:p xmlns:a="http://schemas.openxmlformats.org/drawingml/2006/main">
            <a:r>
              <a:t>암기에 그치고 오히려 진짜 이해를 방해한다.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먼저, 얼마나 이해했는지 관찰</a:t>
            </a:r>
          </a:p>
          <a:p xmlns:a="http://schemas.openxmlformats.org/drawingml/2006/main">
            <a:r>
              <a:t>가르치기 전에 트레이니가 무엇을, 어디까지 이해하고 있는지 관찰한다. 그 위에 필요한 것을 얹는다.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기다림이 가장 빠른 길</a:t>
            </a:r>
          </a:p>
          <a:p xmlns:a="http://schemas.openxmlformats.org/drawingml/2006/main">
            <a:r>
              <a:t>스스로 경험하고 성숙할 '시간'을 허락하는 것이, 멀리 보면 가장 빠른 성장의 길이다.</a:t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5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01  |  『EMILE』</a:t>
            </a:r>
          </a:p>
          <a:p xmlns:a="http://schemas.openxmlformats.org/drawingml/2006/main">
            <a:r>
              <a:t>소극적 교육 — 가르치기 전에, 관찰하기</a:t>
            </a:r>
          </a:p>
          <a:p xmlns:a="http://schemas.openxmlformats.org/drawingml/2006/main">
            <a:r>
              <a:t>루소가 말한 가장 도발적인 개념. 가장 훌륭한 교육은 '아무것도 하지 않는 것처럼 보이는' 교육이다.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Negative Education</a:t>
            </a:r>
          </a:p>
          <a:p xmlns:a="http://schemas.openxmlformats.org/drawingml/2006/main">
            <a:r>
              <a:t>"가장 초기의 교육은 순전히 소극적이어야 한다. 덕이나 진리를 가르치는 데 있지 않고, 마음을 악덕으로부터, 정신을 오류로부터 지키는 데 있다."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"시간을 잃어라"</a:t>
            </a:r>
          </a:p>
          <a:p xmlns:a="http://schemas.openxmlformats.org/drawingml/2006/main">
            <a:r>
              <a:t>"가장 유용한 교육 규칙은 시간을 버는 것이 아니라, 시간을 잃는 것이다."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>트레이닝에 적용하면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조급함이 가장 큰 위험</a:t>
            </a:r>
          </a:p>
          <a:p xmlns:a="http://schemas.openxmlformats.org/drawingml/2006/main">
            <a:r>
              <a:t>준비되지 않은 신입에게 억지로 주입하면, 텅빈 </a:t>
            </a:r>
          </a:p>
          <a:p xmlns:a="http://schemas.openxmlformats.org/drawingml/2006/main">
            <a:r>
              <a:t>암기에 그치고 오히려 진짜 이해를 방해한다.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먼저, 얼마나 이해했는지 관찰</a:t>
            </a:r>
          </a:p>
          <a:p xmlns:a="http://schemas.openxmlformats.org/drawingml/2006/main">
            <a:r>
              <a:t>가르치기 전에 트레이니가 무엇을, 어디까지 이해하고 있는지 관찰한다. 그 위에 필요한 것을 얹는다.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기다림이 가장 빠른 길</a:t>
            </a:r>
          </a:p>
          <a:p xmlns:a="http://schemas.openxmlformats.org/drawingml/2006/main">
            <a:r>
              <a:t>스스로 경험하고 성숙할 '시간'을 허락하는 것이, 멀리 보면 가장 빠른 성장의 길이다.</a:t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5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피드백 전에, 트레이니를 먼저 관찰하라</a:t>
            </a:r>
          </a:p>
          <a:p xmlns:a="http://schemas.openxmlformats.org/drawingml/2006/main">
            <a:r>
              <a:t>같은 피드백도 사람에 따라 독이 되고 약이 된다. 처방 전에 진단이 먼저다.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관찰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진단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맞춤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</a:t>
            </a:r>
          </a:p>
          <a:p xmlns:a="http://schemas.openxmlformats.org/drawingml/2006/main">
            <a:r>
              <a:t>2시간 뛰게 한 뒤 '할 만한가'를 본다. 결과보다 자세·의지가 먼저.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두려움의 위치</a:t>
            </a:r>
          </a:p>
          <a:p xmlns:a="http://schemas.openxmlformats.org/drawingml/2006/main">
            <a:r>
              <a:t>어디서 멈칫하는가 — 접근? 피치? 클로징? 두려움의 좌표를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속도</a:t>
            </a:r>
          </a:p>
          <a:p xmlns:a="http://schemas.openxmlformats.org/drawingml/2006/main">
            <a:r>
              <a:t>어제 준 피드백이 오늘 반영되는가. 성장 곡선을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강점과 결</a:t>
            </a:r>
          </a:p>
          <a:p xmlns:a="http://schemas.openxmlformats.org/drawingml/2006/main">
            <a:r>
              <a:t>리액션형인가, 논리형인가. 사람의 결에 맞춰 코칭 방식을 바꾼다.</a:t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6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피드백 전에, 트레이니를 먼저 관찰하라</a:t>
            </a:r>
          </a:p>
          <a:p xmlns:a="http://schemas.openxmlformats.org/drawingml/2006/main">
            <a:r>
              <a:t>같은 피드백도 사람에 따라 독이 되고 약이 된다. 처방 전에 진단이 먼저다.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관찰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진단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맞춤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</a:t>
            </a:r>
          </a:p>
          <a:p xmlns:a="http://schemas.openxmlformats.org/drawingml/2006/main">
            <a:r>
              <a:t>2시간 뛰게 한 뒤 '할 만한가'를 본다. 결과보다 자세·의지가 먼저.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두려움의 위치</a:t>
            </a:r>
          </a:p>
          <a:p xmlns:a="http://schemas.openxmlformats.org/drawingml/2006/main">
            <a:r>
              <a:t>어디서 멈칫하는가 — 접근? 피치? 클로징? 두려움의 좌표를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속도</a:t>
            </a:r>
          </a:p>
          <a:p xmlns:a="http://schemas.openxmlformats.org/drawingml/2006/main">
            <a:r>
              <a:t>어제 준 피드백이 오늘 반영되는가. 성장 곡선을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강점과 결</a:t>
            </a:r>
          </a:p>
          <a:p xmlns:a="http://schemas.openxmlformats.org/drawingml/2006/main">
            <a:r>
              <a:t>리액션형인가, 논리형인가. 사람의 결에 맞춰 코칭 방식을 바꾼다.</a:t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6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사람이 다르면, 트레이닝도 달라야 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필드에 나가기 전에, '이 사람이 어떤 사람인가'를 먼저 파악해야 한다. 관찰은 첫 만남이 아니라 그 이전부터 시작된다.</a:t>
            </a:r>
          </a:p>
          <a:p xmlns:a="http://schemas.openxmlformats.org/drawingml/2006/main">
            <a:r>
              <a:t>필드 전, 이렇게 준비한다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이력서를 꼼꼼히 읽자</a:t>
            </a:r>
          </a:p>
          <a:p xmlns:a="http://schemas.openxmlformats.org/drawingml/2006/main">
            <a:r>
              <a:t>경력·이전 직무·성향의 단서를 미리 읽는다. 어디서 일했고 무엇을 잘했는지가 트레이닝의 출발점이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주변에 피드백을 요청하자</a:t>
            </a:r>
          </a:p>
          <a:p xmlns:a="http://schemas.openxmlformats.org/drawingml/2006/main">
            <a:r>
              <a:t>오너·클라이언트·교육자에게 '어떤 사람이었는지' 묻는다. 다양한 시선이 모이면 한 사람의 윤곽이 또렷해진다.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트레이닝을 미리 설계하자</a:t>
            </a:r>
          </a:p>
          <a:p xmlns:a="http://schemas.openxmlformats.org/drawingml/2006/main">
            <a:r>
              <a:t>필드에서 무엇을, 어떻게 가르칠지 사전에 고민한다. 준비된 관찰이 첫날의 시행착오를 줄인다.</a:t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7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TRAINING PHILOSOPHY  ·  03</a:t>
            </a:r>
          </a:p>
          <a:p xmlns:a="http://schemas.openxmlformats.org/drawingml/2006/main">
            <a:r>
              <a:t>신입에게 답이 있다</a:t>
            </a:r>
          </a:p>
          <a:p xmlns:a="http://schemas.openxmlformats.org/drawingml/2006/main">
            <a:r>
              <a:t>현장의 어려움은 현장에서 답을 찾는 것이 가장 좋다. 트레이닝도 마찬가지 — 신입에게 답이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1</a:t>
            </a:r>
          </a:p>
          <a:p xmlns:a="http://schemas.openxmlformats.org/drawingml/2006/main">
            <a:r>
              <a:t>어려워하는 부분 포착하기</a:t>
            </a:r>
          </a:p>
          <a:p xmlns:a="http://schemas.openxmlformats.org/drawingml/2006/main">
            <a:r>
              <a:t>신입이 이해 못 하거나 머뭇거리는 순간을 놓치지 않는다.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2</a:t>
            </a:r>
          </a:p>
          <a:p xmlns:a="http://schemas.openxmlformats.org/drawingml/2006/main">
            <a:r>
              <a:t>부드럽게 먼저 묻기</a:t>
            </a:r>
          </a:p>
          <a:p xmlns:a="http://schemas.openxmlformats.org/drawingml/2006/main">
            <a:r>
              <a:t>"왜 그 부분이 어렵고 이해가 안 되는지" 신입의 입으로 듣기 위해 질문해보자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3</a:t>
            </a:r>
          </a:p>
          <a:p xmlns:a="http://schemas.openxmlformats.org/drawingml/2006/main">
            <a:r>
              <a:t>솔직하게 피드백하기</a:t>
            </a:r>
          </a:p>
          <a:p xmlns:a="http://schemas.openxmlformats.org/drawingml/2006/main">
            <a:r>
              <a:t>들은 내용을 바탕으로 솔직하게, </a:t>
            </a:r>
          </a:p>
          <a:p xmlns:a="http://schemas.openxmlformats.org/drawingml/2006/main">
            <a:r>
              <a:t>함께 답을 찾아가는 시간을 갖는다.</a:t>
            </a:r>
          </a:p>
          <a:p xmlns:a="http://schemas.openxmlformats.org/drawingml/2006/main">
            <a:r>
              <a:t>07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8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트레이너의 전제 조건</a:t>
            </a:r>
          </a:p>
          <a:p xmlns:a="http://schemas.openxmlformats.org/drawingml/2006/main">
            <a:r>
              <a:t>효과적인 신입 트레이닝은 트레이너의 역량과 일관된 표준에서 시작된다. </a:t>
            </a:r>
          </a:p>
          <a:p xmlns:a="http://schemas.openxmlformats.org/drawingml/2006/main">
            <a:r>
              <a:t>마치 '기초군사훈련’처럼 </a:t>
            </a:r>
          </a:p>
          <a:p xmlns:a="http://schemas.openxmlformats.org/drawingml/2006/main">
            <a:r>
              <a:t>누구에게나 동일하게 적용 가능해야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세일즈 역량</a:t>
            </a:r>
          </a:p>
          <a:p xmlns:a="http://schemas.openxmlformats.org/drawingml/2006/main">
            <a:r>
              <a:t>주 1회이상 벨-공 세일즈 증명</a:t>
            </a:r>
          </a:p>
          <a:p xmlns:a="http://schemas.openxmlformats.org/drawingml/2006/main">
            <a:r>
              <a:t>4시간 안에 세일즈 가능</a:t>
            </a:r>
          </a:p>
          <a:p xmlns:a="http://schemas.openxmlformats.org/drawingml/2006/main">
            <a:r>
              <a:t>신입에게 쇼잉할 수 있는 실전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쇼잉(Showing)의 중요성</a:t>
            </a:r>
          </a:p>
          <a:p xmlns:a="http://schemas.openxmlformats.org/drawingml/2006/main">
            <a:r>
              <a:t>가장 효과적인 교육은 '직접 보여주기'</a:t>
            </a:r>
          </a:p>
          <a:p xmlns:a="http://schemas.openxmlformats.org/drawingml/2006/main">
            <a:r>
              <a:t>신입은 실제 과정을 관찰하며 학습</a:t>
            </a:r>
          </a:p>
          <a:p xmlns:a="http://schemas.openxmlformats.org/drawingml/2006/main">
            <a:r>
              <a:t>트레이너의 실전 역량 = 교육의 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스탠다드(표준) 적용 원칙</a:t>
            </a:r>
          </a:p>
          <a:p xmlns:a="http://schemas.openxmlformats.org/drawingml/2006/main">
            <a:r>
              <a:t>일관된 표준을 모든 신입에게 동일하게</a:t>
            </a:r>
          </a:p>
          <a:p xmlns:a="http://schemas.openxmlformats.org/drawingml/2006/main">
            <a:r>
              <a:t>개인 맞춤보다 기본 패턴 통일 우선</a:t>
            </a:r>
          </a:p>
          <a:p xmlns:a="http://schemas.openxmlformats.org/drawingml/2006/main">
            <a:r>
              <a:t>나가면 반드시 세일즈 가능한 기본기</a:t>
            </a:r>
          </a:p>
          <a:p xmlns:a="http://schemas.openxmlformats.org/drawingml/2006/main">
            <a:r>
              <a:t>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9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트레이너의 전제 조건</a:t>
            </a:r>
          </a:p>
          <a:p xmlns:a="http://schemas.openxmlformats.org/drawingml/2006/main">
            <a:r>
              <a:t>효과적인 신입 트레이닝은 트레이너의 역량과 일관된 표준에서 시작된다. </a:t>
            </a:r>
          </a:p>
          <a:p xmlns:a="http://schemas.openxmlformats.org/drawingml/2006/main">
            <a:r>
              <a:t>마치 '기초군사훈련’처럼 </a:t>
            </a:r>
          </a:p>
          <a:p xmlns:a="http://schemas.openxmlformats.org/drawingml/2006/main">
            <a:r>
              <a:t>누구에게나 동일하게 적용 가능해야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세일즈 역량</a:t>
            </a:r>
          </a:p>
          <a:p xmlns:a="http://schemas.openxmlformats.org/drawingml/2006/main">
            <a:r>
              <a:t>주 1회이상 벨-공 세일즈 증명</a:t>
            </a:r>
          </a:p>
          <a:p xmlns:a="http://schemas.openxmlformats.org/drawingml/2006/main">
            <a:r>
              <a:t>4시간 안에 세일즈 가능</a:t>
            </a:r>
          </a:p>
          <a:p xmlns:a="http://schemas.openxmlformats.org/drawingml/2006/main">
            <a:r>
              <a:t>신입에게 쇼잉할 수 있는 실전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쇼잉(Showing)의 중요성</a:t>
            </a:r>
          </a:p>
          <a:p xmlns:a="http://schemas.openxmlformats.org/drawingml/2006/main">
            <a:r>
              <a:t>가장 효과적인 교육은 '직접 보여주기'</a:t>
            </a:r>
          </a:p>
          <a:p xmlns:a="http://schemas.openxmlformats.org/drawingml/2006/main">
            <a:r>
              <a:t>신입은 실제 과정을 관찰하며 학습</a:t>
            </a:r>
          </a:p>
          <a:p xmlns:a="http://schemas.openxmlformats.org/drawingml/2006/main">
            <a:r>
              <a:t>트레이너의 실전 역량 = 교육의 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스탠다드(표준) 적용 원칙</a:t>
            </a:r>
          </a:p>
          <a:p xmlns:a="http://schemas.openxmlformats.org/drawingml/2006/main">
            <a:r>
              <a:t>일관된 표준을 모든 신입에게 동일하게</a:t>
            </a:r>
          </a:p>
          <a:p xmlns:a="http://schemas.openxmlformats.org/drawingml/2006/main">
            <a:r>
              <a:t>개인 맞춤보다 기본 패턴 통일 우선</a:t>
            </a:r>
          </a:p>
          <a:p xmlns:a="http://schemas.openxmlformats.org/drawingml/2006/main">
            <a:r>
              <a:t>나가면 반드시 세일즈 가능한 기본기</a:t>
            </a:r>
          </a:p>
          <a:p xmlns:a="http://schemas.openxmlformats.org/drawingml/2006/main">
            <a:r>
              <a:t>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둘째 날은</a:t>
            </a:r>
          </a:p>
          <a:p xmlns:a="http://schemas.openxmlformats.org/drawingml/2006/main">
            <a:r>
              <a:t>학습의 날</a:t>
            </a:r>
          </a:p>
          <a:p xmlns:a="http://schemas.openxmlformats.org/drawingml/2006/main">
            <a:r>
              <a:t>첫날이 경험이었다면, 둘째 날은 학습이다. 신입이 반드시 세일즈 1개 이상을 달성하게 하는 가장 중요한 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첫 세일즈 달성 (매우 중요)</a:t>
            </a:r>
          </a:p>
          <a:p xmlns:a="http://schemas.openxmlformats.org/drawingml/2006/main">
            <a:r>
              <a:t>반드시 1개 이상을 함께 만들어낸다. 신입이 직접 성공을 체감하게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학습 능력과 성장 가능성을 평가하고, 첫날 대비 개선점을 짚어 피드백한다.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트레이너와 신입의 균형</a:t>
            </a:r>
          </a:p>
          <a:p xmlns:a="http://schemas.openxmlformats.org/drawingml/2006/main">
            <a:r>
              <a:t>신입의 세일즈가 우선이지만 트레이너도 성과가 필요. 함께 내는 것이 이상적.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둘째 날의 의미</a:t>
            </a:r>
          </a:p>
          <a:p xmlns:a="http://schemas.openxmlformats.org/drawingml/2006/main">
            <a:r>
              <a:t>경험에서 '결과에 대한 학습'으로. 신입의 실질 역량을 가늠하는 시점.</a:t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11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둘째 날은</a:t>
            </a:r>
          </a:p>
          <a:p xmlns:a="http://schemas.openxmlformats.org/drawingml/2006/main">
            <a:r>
              <a:t>학습의 날</a:t>
            </a:r>
          </a:p>
          <a:p xmlns:a="http://schemas.openxmlformats.org/drawingml/2006/main">
            <a:r>
              <a:t>첫날이 경험이었다면, 둘째 날은 학습이다. 신입이 반드시 세일즈 1개 이상을 달성하게 하는 가장 중요한 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첫 세일즈 달성 (매우 중요)</a:t>
            </a:r>
          </a:p>
          <a:p xmlns:a="http://schemas.openxmlformats.org/drawingml/2006/main">
            <a:r>
              <a:t>반드시 1개 이상을 함께 만들어낸다. 신입이 직접 성공을 체감하게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학습 능력과 성장 가능성을 평가하고, 첫날 대비 개선점을 짚어 피드백한다.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트레이너와 신입의 균형</a:t>
            </a:r>
          </a:p>
          <a:p xmlns:a="http://schemas.openxmlformats.org/drawingml/2006/main">
            <a:r>
              <a:t>신입의 세일즈가 우선이지만 트레이너도 성과가 필요. 함께 내는 것이 이상적.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둘째 날의 의미</a:t>
            </a:r>
          </a:p>
          <a:p xmlns:a="http://schemas.openxmlformats.org/drawingml/2006/main">
            <a:r>
              <a:t>경험에서 '결과에 대한 학습'으로. 신입의 실질 역량을 가늠하는 시점.</a:t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11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 3 · 판단의 날</a:t>
            </a:r>
          </a:p>
          <a:p xmlns:a="http://schemas.openxmlformats.org/drawingml/2006/main">
            <a:r>
              <a:t>셋째 날, Stay인가 Qualifying인가 (반드시 오너와 상의)</a:t>
            </a:r>
          </a:p>
          <a:p xmlns:a="http://schemas.openxmlformats.org/drawingml/2006/main">
            <a:r>
              <a:t>전략적 사이트 선택과 시간 확보로 '제로(0)'를 막고, 3일간의 성과 패턴으로 향후 가능성을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신입이 벨을 칠 수 있는 사이트를 전략적으로 고르고 스케줄을 미리 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제로(0) 방지 전략</a:t>
            </a:r>
          </a:p>
          <a:p xmlns:a="http://schemas.openxmlformats.org/drawingml/2006/main">
            <a:r>
              <a:t>제로는 절대 금물. 시간 확보는 필수, 성공 가능성 높은 필드를 찾는다.</a:t>
            </a:r>
          </a:p>
          <a:p xmlns:a="http://schemas.openxmlformats.org/drawingml/2006/main">
            <a:r>
              <a:t>3일간 성과 → 판단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1 – 2</a:t>
            </a:r>
          </a:p>
          <a:p xmlns:a="http://schemas.openxmlformats.org/drawingml/2006/main">
            <a:r>
              <a:t>가장 이상적 · 리더로 육성 가능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2개</a:t>
            </a:r>
          </a:p>
          <a:p xmlns:a="http://schemas.openxmlformats.org/drawingml/2006/main">
            <a:r>
              <a:t>로드트립 제안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3개</a:t>
            </a:r>
          </a:p>
          <a:p xmlns:a="http://schemas.openxmlformats.org/drawingml/2006/main">
            <a:r>
              <a:t>의지와 센스 모두 보유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0 – 0</a:t>
            </a:r>
          </a:p>
          <a:p xmlns:a="http://schemas.openxmlformats.org/drawingml/2006/main">
            <a:r>
              <a:t>의지·센스 부족 → 빠른 Qualifying</a:t>
            </a:r>
          </a:p>
          <a:p xmlns:a="http://schemas.openxmlformats.org/drawingml/2006/main">
            <a:r>
              <a:t>단, 모든 판단은 Case by Case — 기준 위에서 유연하게.</a:t>
            </a:r>
          </a:p>
          <a:p xmlns:a="http://schemas.openxmlformats.org/drawingml/2006/main">
            <a:r>
              <a:t>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12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 3 · 판단의 날</a:t>
            </a:r>
          </a:p>
          <a:p xmlns:a="http://schemas.openxmlformats.org/drawingml/2006/main">
            <a:r>
              <a:t>셋째 날, Stay인가 Qualifying인가 (반드시 오너와 상의)</a:t>
            </a:r>
          </a:p>
          <a:p xmlns:a="http://schemas.openxmlformats.org/drawingml/2006/main">
            <a:r>
              <a:t>전략적 사이트 선택과 시간 확보로 '제로(0)'를 막고, 3일간의 성과 패턴으로 향후 가능성을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신입이 벨을 칠 수 있는 사이트를 전략적으로 고르고 스케줄을 미리 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제로(0) 방지 전략</a:t>
            </a:r>
          </a:p>
          <a:p xmlns:a="http://schemas.openxmlformats.org/drawingml/2006/main">
            <a:r>
              <a:t>제로는 절대 금물. 시간 확보는 필수, 성공 가능성 높은 필드를 찾는다.</a:t>
            </a:r>
          </a:p>
          <a:p xmlns:a="http://schemas.openxmlformats.org/drawingml/2006/main">
            <a:r>
              <a:t>3일간 성과 → 판단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1 – 2</a:t>
            </a:r>
          </a:p>
          <a:p xmlns:a="http://schemas.openxmlformats.org/drawingml/2006/main">
            <a:r>
              <a:t>가장 이상적 · 리더로 육성 가능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2개</a:t>
            </a:r>
          </a:p>
          <a:p xmlns:a="http://schemas.openxmlformats.org/drawingml/2006/main">
            <a:r>
              <a:t>로드트립 제안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3개</a:t>
            </a:r>
          </a:p>
          <a:p xmlns:a="http://schemas.openxmlformats.org/drawingml/2006/main">
            <a:r>
              <a:t>의지와 센스 모두 보유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0 – 0</a:t>
            </a:r>
          </a:p>
          <a:p xmlns:a="http://schemas.openxmlformats.org/drawingml/2006/main">
            <a:r>
              <a:t>의지·센스 부족 → 빠른 Qualifying</a:t>
            </a:r>
          </a:p>
          <a:p xmlns:a="http://schemas.openxmlformats.org/drawingml/2006/main">
            <a:r>
              <a:t>단, 모든 판단은 Case by Case — 기준 위에서 유연하게.</a:t>
            </a:r>
          </a:p>
          <a:p xmlns:a="http://schemas.openxmlformats.org/drawingml/2006/main">
            <a:r>
              <a:t>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12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개인별 맞춤 피드백</a:t>
            </a:r>
          </a:p>
          <a:p xmlns:a="http://schemas.openxmlformats.org/drawingml/2006/main">
            <a:r>
              <a:t>관찰로 약점을 진단한 뒤, 그 사람에게 맞는 처방을 내린다. — 관찰이 먼저, 피드백은 그 다음.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리액션이 약하다</a:t>
            </a:r>
          </a:p>
          <a:p xmlns:a="http://schemas.openxmlformats.org/drawingml/2006/main">
            <a:r>
              <a:t>리액션 강화</a:t>
            </a:r>
          </a:p>
          <a:p xmlns:a="http://schemas.openxmlformats.org/drawingml/2006/main">
            <a:r>
              <a:t>표정·제스처 훈련</a:t>
            </a:r>
          </a:p>
          <a:p xmlns:a="http://schemas.openxmlformats.org/drawingml/2006/main">
            <a:r>
              <a:t>고객 반응에 즉각 대응</a:t>
            </a:r>
          </a:p>
          <a:p xmlns:a="http://schemas.openxmlformats.org/drawingml/2006/main">
            <a:r>
              <a:t>임펄스·바디랭귀지</a:t>
            </a:r>
          </a:p>
          <a:p xmlns:a="http://schemas.openxmlformats.org/drawingml/2006/main">
            <a:r>
              <a:t>롤플레이 반복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부스 연결이 약하다</a:t>
            </a:r>
          </a:p>
          <a:p xmlns:a="http://schemas.openxmlformats.org/drawingml/2006/main">
            <a:r>
              <a:t>스트릿 스킬</a:t>
            </a:r>
          </a:p>
          <a:p xmlns:a="http://schemas.openxmlformats.org/drawingml/2006/main">
            <a:r>
              <a:t>접근 방법 다양화</a:t>
            </a:r>
          </a:p>
          <a:p xmlns:a="http://schemas.openxmlformats.org/drawingml/2006/main">
            <a:r>
              <a:t>첫인상 개선 훈련</a:t>
            </a:r>
          </a:p>
          <a:p xmlns:a="http://schemas.openxmlformats.org/drawingml/2006/main">
            <a:r>
              <a:t>거절 극복 기술</a:t>
            </a:r>
          </a:p>
          <a:p xmlns:a="http://schemas.openxmlformats.org/drawingml/2006/main">
            <a:r>
              <a:t>고객 유형별 접근법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클로징이 약하다</a:t>
            </a:r>
          </a:p>
          <a:p xmlns:a="http://schemas.openxmlformats.org/drawingml/2006/main">
            <a:r>
              <a:t>클로징 강화</a:t>
            </a:r>
          </a:p>
          <a:p xmlns:a="http://schemas.openxmlformats.org/drawingml/2006/main">
            <a:r>
              <a:t>TAAIS 집중 훈련</a:t>
            </a:r>
          </a:p>
          <a:p xmlns:a="http://schemas.openxmlformats.org/drawingml/2006/main">
            <a:r>
              <a:t>Buying sign 포착</a:t>
            </a:r>
          </a:p>
          <a:p xmlns:a="http://schemas.openxmlformats.org/drawingml/2006/main">
            <a:r>
              <a:t>침묵·대안 제시 기술</a:t>
            </a:r>
          </a:p>
          <a:p xmlns:a="http://schemas.openxmlformats.org/drawingml/2006/main">
            <a:r>
              <a:t>클로징 타이밍 습득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이미 잘한다</a:t>
            </a:r>
          </a:p>
          <a:p xmlns:a="http://schemas.openxmlformats.org/drawingml/2006/main">
            <a:r>
              <a:t>목표 상향</a:t>
            </a:r>
          </a:p>
          <a:p xmlns:a="http://schemas.openxmlformats.org/drawingml/2006/main">
            <a:r>
              <a:t>더 높은 목표 제시</a:t>
            </a:r>
          </a:p>
          <a:p xmlns:a="http://schemas.openxmlformats.org/drawingml/2006/main">
            <a:r>
              <a:t>자기주도 성장 유도</a:t>
            </a:r>
          </a:p>
          <a:p xmlns:a="http://schemas.openxmlformats.org/drawingml/2006/main">
            <a:r>
              <a:t>리더십·멘토링 기회</a:t>
            </a:r>
          </a:p>
          <a:p xmlns:a="http://schemas.openxmlformats.org/drawingml/2006/main">
            <a:r>
              <a:t>장기 커리어 설계</a:t>
            </a:r>
          </a:p>
          <a:p xmlns:a="http://schemas.openxmlformats.org/drawingml/2006/main">
            <a:r>
              <a:t>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14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WHAT</a:t>
            </a:r>
          </a:p>
          <a:p xmlns:a="http://schemas.openxmlformats.org/drawingml/2006/main">
            <a:r>
              <a:t>필드 전, 무엇을 준비하는가</a:t>
            </a:r>
          </a:p>
          <a:p xmlns:a="http://schemas.openxmlformats.org/drawingml/2006/main">
            <a:r>
              <a:t>필드에 나가기 전, 신입과 함께 점검하고 설계하는 것들.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피치 점검</a:t>
            </a:r>
          </a:p>
          <a:p xmlns:a="http://schemas.openxmlformats.org/drawingml/2006/main">
            <a:r>
              <a:t>피치 숙지·클로즈·약정서</a:t>
            </a:r>
          </a:p>
          <a:p xmlns:a="http://schemas.openxmlformats.org/drawingml/2006/main">
            <a:r>
              <a:t>핸들링 정도를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니즈 파악</a:t>
            </a:r>
          </a:p>
          <a:p xmlns:a="http://schemas.openxmlformats.org/drawingml/2006/main">
            <a:r>
              <a:t>내일 필드를 통해</a:t>
            </a:r>
          </a:p>
          <a:p xmlns:a="http://schemas.openxmlformats.org/drawingml/2006/main">
            <a:r>
              <a:t>무엇을 배우고 싶은지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목표 설정</a:t>
            </a:r>
          </a:p>
          <a:p xmlns:a="http://schemas.openxmlformats.org/drawingml/2006/main">
            <a:r>
              <a:t>필드시간·리해쉬·클로즈.</a:t>
            </a:r>
          </a:p>
          <a:p xmlns:a="http://schemas.openxmlformats.org/drawingml/2006/main">
            <a:r>
              <a:t>개인+섹터목표(AVG)까지 나누면 BEST.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사이트 전략 공유</a:t>
            </a:r>
          </a:p>
          <a:p xmlns:a="http://schemas.openxmlformats.org/drawingml/2006/main">
            <a:r>
              <a:t>사이트를 익숙하게 만들고 전략대로,</a:t>
            </a:r>
          </a:p>
          <a:p xmlns:a="http://schemas.openxmlformats.org/drawingml/2006/main">
            <a:r>
              <a:t>'나도 할 수 있다'는 기대를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사전 안내 (프리엠티브)</a:t>
            </a:r>
          </a:p>
          <a:p xmlns:a="http://schemas.openxmlformats.org/drawingml/2006/main">
            <a:r>
              <a:t>타 에이전시·우천 등 갑자기 닥치면</a:t>
            </a:r>
          </a:p>
          <a:p xmlns:a="http://schemas.openxmlformats.org/drawingml/2006/main">
            <a:r>
              <a:t>네거티브해지는 요소를 미리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필드 물품·복장 점검</a:t>
            </a:r>
          </a:p>
          <a:p xmlns:a="http://schemas.openxmlformats.org/drawingml/2006/main">
            <a:r>
              <a:t>콜백싯·조끼·아이디카드·</a:t>
            </a:r>
          </a:p>
          <a:p xmlns:a="http://schemas.openxmlformats.org/drawingml/2006/main">
            <a:r>
              <a:t>태블릿·부스 등을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15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WHAT</a:t>
            </a:r>
          </a:p>
          <a:p xmlns:a="http://schemas.openxmlformats.org/drawingml/2006/main">
            <a:r>
              <a:t>필드 전, 무엇을 준비하는가</a:t>
            </a:r>
          </a:p>
          <a:p xmlns:a="http://schemas.openxmlformats.org/drawingml/2006/main">
            <a:r>
              <a:t>필드에 나가기 전, 신입과 함께 점검하고 설계하는 것들.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피치 점검</a:t>
            </a:r>
          </a:p>
          <a:p xmlns:a="http://schemas.openxmlformats.org/drawingml/2006/main">
            <a:r>
              <a:t>피치 숙지·클로즈·약정서</a:t>
            </a:r>
          </a:p>
          <a:p xmlns:a="http://schemas.openxmlformats.org/drawingml/2006/main">
            <a:r>
              <a:t>핸들링 정도를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니즈 파악</a:t>
            </a:r>
          </a:p>
          <a:p xmlns:a="http://schemas.openxmlformats.org/drawingml/2006/main">
            <a:r>
              <a:t>내일 필드를 통해</a:t>
            </a:r>
          </a:p>
          <a:p xmlns:a="http://schemas.openxmlformats.org/drawingml/2006/main">
            <a:r>
              <a:t>무엇을 배우고 싶은지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목표 설정</a:t>
            </a:r>
          </a:p>
          <a:p xmlns:a="http://schemas.openxmlformats.org/drawingml/2006/main">
            <a:r>
              <a:t>필드시간·리해쉬·클로즈.</a:t>
            </a:r>
          </a:p>
          <a:p xmlns:a="http://schemas.openxmlformats.org/drawingml/2006/main">
            <a:r>
              <a:t>개인+섹터목표(AVG)까지 나누면 BEST.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사이트 전략 공유</a:t>
            </a:r>
          </a:p>
          <a:p xmlns:a="http://schemas.openxmlformats.org/drawingml/2006/main">
            <a:r>
              <a:t>사이트를 익숙하게 만들고 전략대로,</a:t>
            </a:r>
          </a:p>
          <a:p xmlns:a="http://schemas.openxmlformats.org/drawingml/2006/main">
            <a:r>
              <a:t>'나도 할 수 있다'는 기대를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사전 안내 (프리엠티브)</a:t>
            </a:r>
          </a:p>
          <a:p xmlns:a="http://schemas.openxmlformats.org/drawingml/2006/main">
            <a:r>
              <a:t>타 에이전시·우천 등 갑자기 닥치면</a:t>
            </a:r>
          </a:p>
          <a:p xmlns:a="http://schemas.openxmlformats.org/drawingml/2006/main">
            <a:r>
              <a:t>네거티브해지는 요소를 미리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필드 물품·복장 점검</a:t>
            </a:r>
          </a:p>
          <a:p xmlns:a="http://schemas.openxmlformats.org/drawingml/2006/main">
            <a:r>
              <a:t>콜백싯·조끼·아이디카드·</a:t>
            </a:r>
          </a:p>
          <a:p xmlns:a="http://schemas.openxmlformats.org/drawingml/2006/main">
            <a:r>
              <a:t>태블릿·부스 등을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15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HOW</a:t>
            </a:r>
          </a:p>
          <a:p xmlns:a="http://schemas.openxmlformats.org/drawingml/2006/main">
            <a:r>
              <a:t>필드 중, 어떻게 끌어가는가</a:t>
            </a:r>
          </a:p>
          <a:p xmlns:a="http://schemas.openxmlformats.org/drawingml/2006/main">
            <a:r>
              <a:t>필드 안에서 실시간으로 관찰하고, 보여주고, 케어한다.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트레이닝 대상 파악</a:t>
            </a:r>
          </a:p>
          <a:p xmlns:a="http://schemas.openxmlformats.org/drawingml/2006/main">
            <a:r>
              <a:t>어떤 유형인지,</a:t>
            </a:r>
          </a:p>
          <a:p xmlns:a="http://schemas.openxmlformats.org/drawingml/2006/main">
            <a:r>
              <a:t>어느 정도의 이해도인지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집중·계속 시도</a:t>
            </a:r>
          </a:p>
          <a:p xmlns:a="http://schemas.openxmlformats.org/drawingml/2006/main">
            <a:r>
              <a:t>계속되는 시도를 통해</a:t>
            </a:r>
          </a:p>
          <a:p xmlns:a="http://schemas.openxmlformats.org/drawingml/2006/main">
            <a:r>
              <a:t>객관적 데이터를 쌓게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상황에 맞는 피드백·점검</a:t>
            </a:r>
          </a:p>
          <a:p xmlns:a="http://schemas.openxmlformats.org/drawingml/2006/main">
            <a:r>
              <a:t>칭찬과 즉시 CS·넘버 피드백.</a:t>
            </a:r>
          </a:p>
          <a:p xmlns:a="http://schemas.openxmlformats.org/drawingml/2006/main">
            <a:r>
              <a:t>2시간마다 콜백싯을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보여주기 (Showing)</a:t>
            </a:r>
          </a:p>
          <a:p xmlns:a="http://schemas.openxmlformats.org/drawingml/2006/main">
            <a:r>
              <a:t>Showing Is The Best.</a:t>
            </a:r>
          </a:p>
          <a:p xmlns:a="http://schemas.openxmlformats.org/drawingml/2006/main">
            <a:r>
              <a:t>쉽고 빠른 벨로 직접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네거티브 파악</a:t>
            </a:r>
          </a:p>
          <a:p xmlns:a="http://schemas.openxmlformats.org/drawingml/2006/main">
            <a:r>
              <a:t>빠른 네거티브 파악과 해결,</a:t>
            </a:r>
          </a:p>
          <a:p xmlns:a="http://schemas.openxmlformats.org/drawingml/2006/main">
            <a:r>
              <a:t>그리고 멘탈 케어.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좋은 소식 공유</a:t>
            </a:r>
          </a:p>
          <a:p xmlns:a="http://schemas.openxmlformats.org/drawingml/2006/main">
            <a:r>
              <a:t>시민의 응원의 말,</a:t>
            </a:r>
          </a:p>
          <a:p xmlns:a="http://schemas.openxmlformats.org/drawingml/2006/main">
            <a:r>
              <a:t>후원자가 남긴 후원 사유를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16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WHY</a:t>
            </a:r>
          </a:p>
          <a:p xmlns:a="http://schemas.openxmlformats.org/drawingml/2006/main">
            <a:r>
              <a:t>필드 후, 무엇을 남기는가</a:t>
            </a:r>
          </a:p>
          <a:p xmlns:a="http://schemas.openxmlformats.org/drawingml/2006/main">
            <a:r>
              <a:t>하루를 돌아보고, 콜백싯 기준으로 피드백하고, 다음을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필드 소감 파악</a:t>
            </a:r>
          </a:p>
          <a:p xmlns:a="http://schemas.openxmlformats.org/drawingml/2006/main">
            <a:r>
              <a:t>오늘 하루 어땠는지 묻는다.</a:t>
            </a:r>
          </a:p>
          <a:p xmlns:a="http://schemas.openxmlformats.org/drawingml/2006/main">
            <a:r>
              <a:t>무엇을 배웠고, 좋았던 점과</a:t>
            </a:r>
          </a:p>
          <a:p xmlns:a="http://schemas.openxmlformats.org/drawingml/2006/main">
            <a:r>
              <a:t>아쉬운 점은 무엇이었는지.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콜백싯 기준 피드백</a:t>
            </a:r>
          </a:p>
          <a:p xmlns:a="http://schemas.openxmlformats.org/drawingml/2006/main">
            <a:r>
              <a:t>같이 필드한 사람들과 넘버를</a:t>
            </a:r>
          </a:p>
          <a:p xmlns:a="http://schemas.openxmlformats.org/drawingml/2006/main">
            <a:r>
              <a:t>비교하며, 넘버·스킬·태도의</a:t>
            </a:r>
          </a:p>
          <a:p xmlns:a="http://schemas.openxmlformats.org/drawingml/2006/main">
            <a:r>
              <a:t>보완점을 함께 이야기한다.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다음 교육 일정 안내 · 기본 5일</a:t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콜백싯 교육 기본 작성법</a:t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콜백싯 교육 분석 · Contact to Stop &amp; 부스 컨트롤</a:t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5 Steps</a:t>
            </a:r>
          </a:p>
          <a:p xmlns:a="http://schemas.openxmlformats.org/drawingml/2006/main">
            <a:r>
              <a:t>DAY 4</a:t>
            </a:r>
          </a:p>
          <a:p xmlns:a="http://schemas.openxmlformats.org/drawingml/2006/main">
            <a:r>
              <a:t>Closing</a:t>
            </a:r>
          </a:p>
          <a:p xmlns:a="http://schemas.openxmlformats.org/drawingml/2006/main">
            <a:r>
              <a:t>DAY 5</a:t>
            </a:r>
          </a:p>
          <a:p xmlns:a="http://schemas.openxmlformats.org/drawingml/2006/main">
            <a:r>
              <a:t>약정서 &amp; 리해쉬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17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WHY</a:t>
            </a:r>
          </a:p>
          <a:p xmlns:a="http://schemas.openxmlformats.org/drawingml/2006/main">
            <a:r>
              <a:t>필드 후, 무엇을 남기는가</a:t>
            </a:r>
          </a:p>
          <a:p xmlns:a="http://schemas.openxmlformats.org/drawingml/2006/main">
            <a:r>
              <a:t>하루를 돌아보고, 콜백싯 기준으로 피드백하고, 다음을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필드 소감 파악</a:t>
            </a:r>
          </a:p>
          <a:p xmlns:a="http://schemas.openxmlformats.org/drawingml/2006/main">
            <a:r>
              <a:t>오늘 하루 어땠는지 묻는다.</a:t>
            </a:r>
          </a:p>
          <a:p xmlns:a="http://schemas.openxmlformats.org/drawingml/2006/main">
            <a:r>
              <a:t>무엇을 배웠고, 좋았던 점과</a:t>
            </a:r>
          </a:p>
          <a:p xmlns:a="http://schemas.openxmlformats.org/drawingml/2006/main">
            <a:r>
              <a:t>아쉬운 점은 무엇이었는지.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콜백싯 기준 피드백</a:t>
            </a:r>
          </a:p>
          <a:p xmlns:a="http://schemas.openxmlformats.org/drawingml/2006/main">
            <a:r>
              <a:t>같이 필드한 사람들과 넘버를</a:t>
            </a:r>
          </a:p>
          <a:p xmlns:a="http://schemas.openxmlformats.org/drawingml/2006/main">
            <a:r>
              <a:t>비교하며, 넘버·스킬·태도의</a:t>
            </a:r>
          </a:p>
          <a:p xmlns:a="http://schemas.openxmlformats.org/drawingml/2006/main">
            <a:r>
              <a:t>보완점을 함께 이야기한다.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다음 교육 일정 안내 · 기본 5일</a:t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콜백싯 교육 기본 작성법</a:t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콜백싯 교육 분석 · Contact to Stop &amp; 부스 컨트롤</a:t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5 Steps</a:t>
            </a:r>
          </a:p>
          <a:p xmlns:a="http://schemas.openxmlformats.org/drawingml/2006/main">
            <a:r>
              <a:t>DAY 4</a:t>
            </a:r>
          </a:p>
          <a:p xmlns:a="http://schemas.openxmlformats.org/drawingml/2006/main">
            <a:r>
              <a:t>Closing</a:t>
            </a:r>
          </a:p>
          <a:p xmlns:a="http://schemas.openxmlformats.org/drawingml/2006/main">
            <a:r>
              <a:t>DAY 5</a:t>
            </a:r>
          </a:p>
          <a:p xmlns:a="http://schemas.openxmlformats.org/drawingml/2006/main">
            <a:r>
              <a:t>약정서 &amp; 리해쉬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17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CAUTION</a:t>
            </a:r>
          </a:p>
          <a:p xmlns:a="http://schemas.openxmlformats.org/drawingml/2006/main">
            <a:r>
              <a:t>피드백할 때 주의사항</a:t>
            </a:r>
          </a:p>
          <a:p xmlns:a="http://schemas.openxmlformats.org/drawingml/2006/main">
            <a:r>
              <a:t>좋은 의도라도 방식이 틀리면 독이 된다. 다섯 가지를 기억한다.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감정·느낌이 아닌 기준으로</a:t>
            </a:r>
          </a:p>
          <a:p xmlns:a="http://schemas.openxmlformats.org/drawingml/2006/main">
            <a:r>
              <a:t>넘버·스킬·태도 모두 콜백싯 기준으로 피드백한다.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내 말이 아닌, 상대에게 필요한 말인가 (매우 중요)</a:t>
            </a:r>
          </a:p>
          <a:p xmlns:a="http://schemas.openxmlformats.org/drawingml/2006/main">
            <a:r>
              <a:t>하고 싶은 말보다 상대에게 정말 필요한 말인지 먼저 고민한다.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KISS — 간단·명료·눈높이</a:t>
            </a:r>
          </a:p>
          <a:p xmlns:a="http://schemas.openxmlformats.org/drawingml/2006/main">
            <a:r>
              <a:t>상대가 공감하기 좋은 예시로 쉽게 이해되도록 트레이닝한다.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COD 공부하기</a:t>
            </a:r>
          </a:p>
          <a:p xmlns:a="http://schemas.openxmlformats.org/drawingml/2006/main">
            <a:r>
              <a:t>올바른 정보인지 확인하고 피드백. 긴가민가한 이야기는 하지 않는다.</a:t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타이밍을 정해두기</a:t>
            </a:r>
          </a:p>
          <a:p xmlns:a="http://schemas.openxmlformats.org/drawingml/2006/main">
            <a:r>
              <a:t>꼭 필요한 상황 외엔 2시간에 1번. 그 사이엔 개인 목표 달성에 집중한다.</a:t>
            </a:r>
          </a:p>
          <a:p xmlns:a="http://schemas.openxmlformats.org/drawingml/2006/main">
            <a:r>
              <a:t>TIP   피드백 수용이 빠른 신입, 주거테리·유동이 적은 B패턴에는 전략적으로 피드백을 활용하면 좋다.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18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CAUTION</a:t>
            </a:r>
          </a:p>
          <a:p xmlns:a="http://schemas.openxmlformats.org/drawingml/2006/main">
            <a:r>
              <a:t>피드백할 때 주의사항</a:t>
            </a:r>
          </a:p>
          <a:p xmlns:a="http://schemas.openxmlformats.org/drawingml/2006/main">
            <a:r>
              <a:t>좋은 의도라도 방식이 틀리면 독이 된다. 다섯 가지를 기억한다.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감정·느낌이 아닌 기준으로</a:t>
            </a:r>
          </a:p>
          <a:p xmlns:a="http://schemas.openxmlformats.org/drawingml/2006/main">
            <a:r>
              <a:t>넘버·스킬·태도 모두 콜백싯 기준으로 피드백한다.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내 말이 아닌, 상대에게 필요한 말인가 (매우 중요)</a:t>
            </a:r>
          </a:p>
          <a:p xmlns:a="http://schemas.openxmlformats.org/drawingml/2006/main">
            <a:r>
              <a:t>하고 싶은 말보다 상대에게 정말 필요한 말인지 먼저 고민한다.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KISS — 간단·명료·눈높이</a:t>
            </a:r>
          </a:p>
          <a:p xmlns:a="http://schemas.openxmlformats.org/drawingml/2006/main">
            <a:r>
              <a:t>상대가 공감하기 좋은 예시로 쉽게 이해되도록 트레이닝한다.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COD 공부하기</a:t>
            </a:r>
          </a:p>
          <a:p xmlns:a="http://schemas.openxmlformats.org/drawingml/2006/main">
            <a:r>
              <a:t>올바른 정보인지 확인하고 피드백. 긴가민가한 이야기는 하지 않는다.</a:t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타이밍을 정해두기</a:t>
            </a:r>
          </a:p>
          <a:p xmlns:a="http://schemas.openxmlformats.org/drawingml/2006/main">
            <a:r>
              <a:t>꼭 필요한 상황 외엔 2시간에 1번. 그 사이엔 개인 목표 달성에 집중한다.</a:t>
            </a:r>
          </a:p>
          <a:p xmlns:a="http://schemas.openxmlformats.org/drawingml/2006/main">
            <a:r>
              <a:t>TIP   피드백 수용이 빠른 신입, 주거테리·유동이 적은 B패턴에는 전략적으로 피드백을 활용하면 좋다.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18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트레이너도 콜백싯을 쓴다</a:t>
            </a:r>
          </a:p>
          <a:p xmlns:a="http://schemas.openxmlformats.org/drawingml/2006/main">
            <a:r>
              <a:t>신입이 필드 콜백싯으로 하루를 점검하듯, 트레이너는 같은 3축으로 '내가 신입을 위해 무엇을 챙겼는가'를 매일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Number</a:t>
            </a:r>
          </a:p>
          <a:p xmlns:a="http://schemas.openxmlformats.org/drawingml/2006/main">
            <a:r>
              <a:t>넘버를 쌓게 했는가</a:t>
            </a:r>
          </a:p>
          <a:p xmlns:a="http://schemas.openxmlformats.org/drawingml/2006/main">
            <a:r>
              <a:t>넘버를 쌓을 수 있는 사이트를 준비했는가</a:t>
            </a:r>
          </a:p>
          <a:p xmlns:a="http://schemas.openxmlformats.org/drawingml/2006/main">
            <a:r>
              <a:t>시도하도록 만드는 피드백을 했는가</a:t>
            </a:r>
          </a:p>
          <a:p xmlns:a="http://schemas.openxmlformats.org/drawingml/2006/main">
            <a:r>
              <a:t>거절 없는 시도 횟수를 끌어냈는가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Pitch · Skill</a:t>
            </a:r>
          </a:p>
          <a:p xmlns:a="http://schemas.openxmlformats.org/drawingml/2006/main">
            <a:r>
              <a:t>스킬을 보강했는가</a:t>
            </a:r>
          </a:p>
          <a:p xmlns:a="http://schemas.openxmlformats.org/drawingml/2006/main">
            <a:r>
              <a:t>약한 부분을 필드에서 바로 교육했는가</a:t>
            </a:r>
          </a:p>
          <a:p xmlns:a="http://schemas.openxmlformats.org/drawingml/2006/main">
            <a:r>
              <a:t>어떤 스킬이든 보강하도록 도왔는가</a:t>
            </a:r>
          </a:p>
          <a:p xmlns:a="http://schemas.openxmlformats.org/drawingml/2006/main">
            <a:r>
              <a:t>내일 바로 쓸 수 있게 알려줬는가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Attitude · Mental</a:t>
            </a:r>
          </a:p>
          <a:p xmlns:a="http://schemas.openxmlformats.org/drawingml/2006/main">
            <a:r>
              <a:t>멘탈을 지켜줬는가</a:t>
            </a:r>
          </a:p>
          <a:p xmlns:a="http://schemas.openxmlformats.org/drawingml/2006/main">
            <a:r>
              <a:t>불안·두려움 요소를 제거했는가</a:t>
            </a:r>
          </a:p>
          <a:p xmlns:a="http://schemas.openxmlformats.org/drawingml/2006/main">
            <a:r>
              <a:t>필드에 방해되는 마음을 케어했는가</a:t>
            </a:r>
          </a:p>
          <a:p xmlns:a="http://schemas.openxmlformats.org/drawingml/2006/main">
            <a:r>
              <a:t>필드에 온전히 집중하게 해줬는가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매일 반복</a:t>
            </a:r>
          </a:p>
          <a:p xmlns:a="http://schemas.openxmlformats.org/drawingml/2006/main">
            <a:r>
              <a:t>이 세 가지를 매일 점검하면, 트레이닝이 성장한다.  신입의 콜백싯이 신입을 키우듯, 트레이너의 콜백싯이 트레이너를 키운다.</a:t>
            </a:r>
          </a:p>
          <a:p xmlns:a="http://schemas.openxmlformats.org/drawingml/2006/main">
            <a:r>
              <a:t>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자립을 위한 6주 전략</a:t>
            </a:r>
          </a:p>
          <a:p xmlns:a="http://schemas.openxmlformats.org/drawingml/2006/main">
            <a:r>
              <a:t>신입이 필드에 완전히 적응하기까지 약 6주. 이 기간 동안 전략적인 스케줄 관리와 필드 시간 확보가 자립의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리더힛, 2주 이내</a:t>
            </a:r>
          </a:p>
          <a:p xmlns:a="http://schemas.openxmlformats.org/drawingml/2006/main">
            <a:r>
              <a:t>리더힛은 2주 이내 달성이 이상적. 전략적으로 스케줄과 필드 시간을 확보하고, 신입의 성장 속도에 맞춰 목표를 설정한다.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6주 필드 적응</a:t>
            </a:r>
          </a:p>
          <a:p xmlns:a="http://schemas.openxmlformats.org/drawingml/2006/main">
            <a:r>
              <a:t>필드 적응에는 약 6주가 소요. 3–5주차에 로드트립을 적극 활용하며 단계별 성장 과정을 모니터링한다.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Self 세일즈 준비</a:t>
            </a:r>
          </a:p>
          <a:p xmlns:a="http://schemas.openxmlformats.org/drawingml/2006/main">
            <a:r>
              <a:t>혼자 세일즈해야 하는 시점을 미리 안내하고 프리엠티브한다. 심리적 준비와 실전 역량을 동시에 강화한다.</a:t>
            </a:r>
          </a:p>
          <a:p xmlns:a="http://schemas.openxmlformats.org/drawingml/2006/main">
            <a:r>
              <a:t>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21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자립을 위한 6주 전략</a:t>
            </a:r>
          </a:p>
          <a:p xmlns:a="http://schemas.openxmlformats.org/drawingml/2006/main">
            <a:r>
              <a:t>신입이 필드에 완전히 적응하기까지 약 6주. 이 기간 동안 전략적인 스케줄 관리와 필드 시간 확보가 자립의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리더힛, 2주 이내</a:t>
            </a:r>
          </a:p>
          <a:p xmlns:a="http://schemas.openxmlformats.org/drawingml/2006/main">
            <a:r>
              <a:t>리더힛은 2주 이내 달성이 이상적. 전략적으로 스케줄과 필드 시간을 확보하고, 신입의 성장 속도에 맞춰 목표를 설정한다.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6주 필드 적응</a:t>
            </a:r>
          </a:p>
          <a:p xmlns:a="http://schemas.openxmlformats.org/drawingml/2006/main">
            <a:r>
              <a:t>필드 적응에는 약 6주가 소요. 3–5주차에 로드트립을 적극 활용하며 단계별 성장 과정을 모니터링한다.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Self 세일즈 준비</a:t>
            </a:r>
          </a:p>
          <a:p xmlns:a="http://schemas.openxmlformats.org/drawingml/2006/main">
            <a:r>
              <a:t>혼자 세일즈해야 하는 시점을 미리 안내하고 프리엠티브한다. 심리적 준비와 실전 역량을 동시에 강화한다.</a:t>
            </a:r>
          </a:p>
          <a:p xmlns:a="http://schemas.openxmlformats.org/drawingml/2006/main">
            <a:r>
              <a:t>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21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트레이너의 3가지 핵심 역할</a:t>
            </a:r>
          </a:p>
          <a:p xmlns:a="http://schemas.openxmlformats.org/drawingml/2006/main">
            <a:r>
              <a:t>신입이 '자발적으로' 성장하는 환경을 만드는 세 개의 레버.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성취감 제공</a:t>
            </a:r>
          </a:p>
          <a:p xmlns:a="http://schemas.openxmlformats.org/drawingml/2006/main">
            <a:r>
              <a:t>'내가 직접 해냈다'를 느끼게 한다.</a:t>
            </a:r>
          </a:p>
          <a:p xmlns:a="http://schemas.openxmlformats.org/drawingml/2006/main">
            <a:r>
              <a:t>두려워하면 돕고, 아니면 혼자 하게.</a:t>
            </a:r>
          </a:p>
          <a:p xmlns:a="http://schemas.openxmlformats.org/drawingml/2006/main">
            <a:r>
              <a:t>두려움 수준 파악이 판단 기준.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두려움 제거</a:t>
            </a:r>
          </a:p>
          <a:p xmlns:a="http://schemas.openxmlformats.org/drawingml/2006/main">
            <a:r>
              <a:t>초기엔 충분한 서포트를 제공.</a:t>
            </a:r>
          </a:p>
          <a:p xmlns:a="http://schemas.openxmlformats.org/drawingml/2006/main">
            <a:r>
              <a:t>점진적으로 독립성을 부여.</a:t>
            </a:r>
          </a:p>
          <a:p xmlns:a="http://schemas.openxmlformats.org/drawingml/2006/main">
            <a:r>
              <a:t>안전한 환경에서 도전하게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인정과 칭찬</a:t>
            </a:r>
          </a:p>
          <a:p xmlns:a="http://schemas.openxmlformats.org/drawingml/2006/main">
            <a:r>
              <a:t>인정·칭찬을 아끼지 않는다.</a:t>
            </a:r>
          </a:p>
          <a:p xmlns:a="http://schemas.openxmlformats.org/drawingml/2006/main">
            <a:r>
              <a:t>사람은 인정받을 때 주도적이 된다.</a:t>
            </a:r>
          </a:p>
          <a:p xmlns:a="http://schemas.openxmlformats.org/drawingml/2006/main">
            <a:r>
              <a:t>혼냄은 효과 없음 — 스스로 깨닫게.</a:t>
            </a:r>
          </a:p>
          <a:p xmlns:a="http://schemas.openxmlformats.org/drawingml/2006/main">
            <a:r>
              <a:t>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22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캔슬 관리 &amp; 그로스 집중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캔슬은 '그로스(Gross)'에만 집중하는 것이 옳은 방향. 캔슬에 대한 두려움은 오히려 세일즈에 대한 확신을 떨어뜨린다.</a:t>
            </a:r>
          </a:p>
          <a:p xmlns:a="http://schemas.openxmlformats.org/drawingml/2006/main">
            <a:r>
              <a:t>다만 리젝은 자연스러운 것 + 수치(20-30%)만큼 발생할 수 있다는 심리적 준비가 되도록 건강한 매니징 필요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매니지먼트 영역</a:t>
            </a:r>
          </a:p>
          <a:p xmlns:a="http://schemas.openxmlformats.org/drawingml/2006/main">
            <a:r>
              <a:t>캔슬은 지점 차원에서 관리. IC 개인이 과도하게 신경 쓸 부분이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BEP 대비 타겟 조정</a:t>
            </a:r>
          </a:p>
          <a:p xmlns:a="http://schemas.openxmlformats.org/drawingml/2006/main">
            <a:r>
              <a:t>손익분기점(BEP) 대비 세일즈 타겟을 분명히. 최종 + 수익이 얼마인가가 중요.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그로스(Gross) 집중</a:t>
            </a:r>
          </a:p>
          <a:p xmlns:a="http://schemas.openxmlformats.org/drawingml/2006/main">
            <a:r>
              <a:t>캔슬을 두려워하면 세일즈 Drop으로 이어진다. 총매출에만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하이롤러 리젝 대응</a:t>
            </a:r>
          </a:p>
          <a:p xmlns:a="http://schemas.openxmlformats.org/drawingml/2006/main">
            <a:r>
              <a:t>하이롤러는 1일 1건 리젝 리스크. 사전 프리엠티브가 핵심 </a:t>
            </a:r>
          </a:p>
          <a:p xmlns:a="http://schemas.openxmlformats.org/drawingml/2006/main">
            <a:r>
              <a:t>(주 10세일즈+).</a:t>
            </a:r>
          </a:p>
          <a:p xmlns:a="http://schemas.openxmlformats.org/drawingml/2006/main">
            <a:r>
              <a:t>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매슬로우 5단계 욕구</a:t>
            </a:r>
          </a:p>
          <a:p xmlns:a="http://schemas.openxmlformats.org/drawingml/2006/main">
            <a:r>
              <a:t>사람은 아래 욕구가 채워지면 더 높은 욕구를 향한다. 트레이너는 신입을 단계마다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자아실현  Self-Actualization</a:t>
            </a:r>
          </a:p>
          <a:p xmlns:a="http://schemas.openxmlformats.org/drawingml/2006/main">
            <a:r>
              <a:t>더 큰 목표·성장. 스스로 리더로 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존중  Esteem</a:t>
            </a:r>
          </a:p>
          <a:p xmlns:a="http://schemas.openxmlformats.org/drawingml/2006/main">
            <a:r>
              <a:t>인정과 칭찬. 성취를 알아준다.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소속·애정  Love &amp; Belonging</a:t>
            </a:r>
          </a:p>
          <a:p xmlns:a="http://schemas.openxmlformats.org/drawingml/2006/main">
            <a:r>
              <a:t>팀의 일원이라는 소속감을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안전  Safety</a:t>
            </a:r>
          </a:p>
          <a:p xmlns:a="http://schemas.openxmlformats.org/drawingml/2006/main">
            <a:r>
              <a:t>두려움 제거. 안전한 환경에서 도전.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생리적 욕구  Physiological</a:t>
            </a:r>
          </a:p>
          <a:p xmlns:a="http://schemas.openxmlformats.org/drawingml/2006/main">
            <a:r>
              <a:t>기본 생계·수입. 가장 먼저 채워질 토대.</a:t>
            </a:r>
          </a:p>
          <a:p xmlns:a="http://schemas.openxmlformats.org/drawingml/2006/main">
            <a:r>
              <a:t>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24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WRAP-UP</a:t>
            </a:r>
          </a:p>
          <a:p xmlns:a="http://schemas.openxmlformats.org/drawingml/2006/main">
            <a:r>
              <a:t>결과 판단 &amp;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트레이너의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신입의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STAY</a:t>
            </a:r>
          </a:p>
          <a:p xmlns:a="http://schemas.openxmlformats.org/drawingml/2006/main">
            <a:r>
              <a:t>결과가 좋거나 기준 도달 확신이 있으면 — 머무르게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QUALIFYING</a:t>
            </a:r>
          </a:p>
          <a:p xmlns:a="http://schemas.openxmlformats.org/drawingml/2006/main">
            <a:r>
              <a:t>최소 기준 도달이 어렵고 확신이 없으면 — 과감하게 결정한다.</a:t>
            </a:r>
          </a:p>
          <a:p xmlns:a="http://schemas.openxmlformats.org/drawingml/2006/main">
            <a:r>
              <a:t>실제 트레이닝은 Case by Case. 명확한 기준과 일관된 원칙을 유지하되, 개별 상황의 특수성을 고려해 최선의 결정을 내린다.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25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WRAP-UP</a:t>
            </a:r>
          </a:p>
          <a:p xmlns:a="http://schemas.openxmlformats.org/drawingml/2006/main">
            <a:r>
              <a:t>결과 판단 &amp;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트레이너의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신입의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STAY</a:t>
            </a:r>
          </a:p>
          <a:p xmlns:a="http://schemas.openxmlformats.org/drawingml/2006/main">
            <a:r>
              <a:t>결과가 좋거나 기준 도달 확신이 있으면 — 머무르게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QUALIFYING</a:t>
            </a:r>
          </a:p>
          <a:p xmlns:a="http://schemas.openxmlformats.org/drawingml/2006/main">
            <a:r>
              <a:t>최소 기준 도달이 어렵고 확신이 없으면 — 과감하게 결정한다.</a:t>
            </a:r>
          </a:p>
          <a:p xmlns:a="http://schemas.openxmlformats.org/drawingml/2006/main">
            <a:r>
              <a:t>실제 트레이닝은 Case by Case. 명확한 기준과 일관된 원칙을 유지하되, 개별 상황의 특수성을 고려해 최선의 결정을 내린다.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25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INSIGHT  ·  ON HUMAN &amp; EDUCATION</a:t>
            </a:r>
          </a:p>
          <a:p xmlns:a="http://schemas.openxmlformats.org/drawingml/2006/main">
            <a:r>
              <a:t>장 자크 루소, 『에밀』에서</a:t>
            </a:r>
          </a:p>
          <a:p xmlns:a="http://schemas.openxmlformats.org/drawingml/2006/main">
            <a:r>
              <a:t>"진리를 가르치는 것보다, 알고 싶고 배우고 싶은 욕구를 일으키는</a:t>
            </a:r>
          </a:p>
          <a:p xmlns:a="http://schemas.openxmlformats.org/drawingml/2006/main">
            <a:r>
              <a:t>방법이 더 중요하다. 교육자는 결코 </a:t>
            </a:r>
          </a:p>
          <a:p xmlns:a="http://schemas.openxmlformats.org/drawingml/2006/main">
            <a:r>
              <a:t>아이보다 앞서서는 안 된다."</a:t>
            </a:r>
          </a:p>
          <a:p xmlns:a="http://schemas.openxmlformats.org/drawingml/2006/main">
            <a:r>
              <a:t>— 장 자크 루소, 『에밀』 (1762)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우리의 트레이닝과 닿아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</a:t>
            </a:r>
          </a:p>
          <a:p xmlns:a="http://schemas.openxmlformats.org/drawingml/2006/main">
            <a:r>
              <a:t>지식을 밀어넣기 전에 호기심과 욕구를 켠다 — 루소의 '욕구가 먼저'와 같은 출발점.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앞서지 말고 관찰하라</a:t>
            </a:r>
          </a:p>
          <a:p xmlns:a="http://schemas.openxmlformats.org/drawingml/2006/main">
            <a:r>
              <a:t>스스로 깨닫게 두되 꼭 필요할 때 최소한만. 관찰·경청이 피드백을 앞선다.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경험이 곧 배움</a:t>
            </a:r>
          </a:p>
          <a:p xmlns:a="http://schemas.openxmlformats.org/drawingml/2006/main">
            <a:r>
              <a:t>위험과 어려움은 위기가 아니라 기회. 필드의 경험으로 신입은 자란다.</a:t>
            </a:r>
          </a:p>
          <a:p xmlns:a="http://schemas.openxmlformats.org/drawingml/2006/main">
            <a:r>
              <a:t>결국 신입에게 답이 있다 — 트레이너는 그 답이 피어나도록 돕는 사람이다.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26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INSIGHT  ·  ON HUMAN &amp; EDUCATION</a:t>
            </a:r>
          </a:p>
          <a:p xmlns:a="http://schemas.openxmlformats.org/drawingml/2006/main">
            <a:r>
              <a:t>장 자크 루소, 『에밀』에서</a:t>
            </a:r>
          </a:p>
          <a:p xmlns:a="http://schemas.openxmlformats.org/drawingml/2006/main">
            <a:r>
              <a:t>"진리를 가르치는 것보다, 알고 싶고 배우고 싶은 욕구를 일으키는</a:t>
            </a:r>
          </a:p>
          <a:p xmlns:a="http://schemas.openxmlformats.org/drawingml/2006/main">
            <a:r>
              <a:t>방법이 더 중요하다. 교육자는 결코 </a:t>
            </a:r>
          </a:p>
          <a:p xmlns:a="http://schemas.openxmlformats.org/drawingml/2006/main">
            <a:r>
              <a:t>아이보다 앞서서는 안 된다."</a:t>
            </a:r>
          </a:p>
          <a:p xmlns:a="http://schemas.openxmlformats.org/drawingml/2006/main">
            <a:r>
              <a:t>— 장 자크 루소, 『에밀』 (1762)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우리의 트레이닝과 닿아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</a:t>
            </a:r>
          </a:p>
          <a:p xmlns:a="http://schemas.openxmlformats.org/drawingml/2006/main">
            <a:r>
              <a:t>지식을 밀어넣기 전에 호기심과 욕구를 켠다 — 루소의 '욕구가 먼저'와 같은 출발점.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앞서지 말고 관찰하라</a:t>
            </a:r>
          </a:p>
          <a:p xmlns:a="http://schemas.openxmlformats.org/drawingml/2006/main">
            <a:r>
              <a:t>스스로 깨닫게 두되 꼭 필요할 때 최소한만. 관찰·경청이 피드백을 앞선다.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경험이 곧 배움</a:t>
            </a:r>
          </a:p>
          <a:p xmlns:a="http://schemas.openxmlformats.org/drawingml/2006/main">
            <a:r>
              <a:t>위험과 어려움은 위기가 아니라 기회. 필드의 경험으로 신입은 자란다.</a:t>
            </a:r>
          </a:p>
          <a:p xmlns:a="http://schemas.openxmlformats.org/drawingml/2006/main">
            <a:r>
              <a:t>결국 신입에게 답이 있다 — 트레이너는 그 답이 피어나도록 돕는 사람이다.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26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 I WANTED TO LEAD · 리더가 되고 싶었던 이유</a:t>
            </a:r>
          </a:p>
          <a:p xmlns:a="http://schemas.openxmlformats.org/drawingml/2006/main">
            <a:r>
              <a:t>내가 리더가 되고 싶었던 10가지 이유</a:t>
            </a:r>
          </a:p>
          <a:p xmlns:a="http://schemas.openxmlformats.org/drawingml/2006/main">
            <a:r>
              <a:t>루소가 말한 '아이보다 앞서지 않는' 교육처럼 — 딱 한 걸음 앞서 기다리는 리더가 되고 싶었다.</a:t>
            </a:r>
          </a:p>
          <a:p xmlns:a="http://schemas.openxmlformats.org/drawingml/2006/main">
            <a:r>
              <a:t>01   세일즈웍스의 첫 번째 목표여서</a:t>
            </a:r>
          </a:p>
          <a:p xmlns:a="http://schemas.openxmlformats.org/drawingml/2006/main">
            <a:r>
              <a:t>02   내 가치관이 담긴 팀을 만들 수 있어서</a:t>
            </a:r>
          </a:p>
          <a:p xmlns:a="http://schemas.openxmlformats.org/drawingml/2006/main">
            <a:r>
              <a:t>03   누군가의 리더가 된다는 것이 기뻐서</a:t>
            </a:r>
          </a:p>
          <a:p xmlns:a="http://schemas.openxmlformats.org/drawingml/2006/main">
            <a:r>
              <a:t>04   'OO리'라 불리는 친근함이 좋아서</a:t>
            </a:r>
          </a:p>
          <a:p xmlns:a="http://schemas.openxmlformats.org/drawingml/2006/main">
            <a:r>
              <a:t>05   조끼·피치카드·사물함을 쓸 수 있어서</a:t>
            </a:r>
          </a:p>
          <a:p xmlns:a="http://schemas.openxmlformats.org/drawingml/2006/main">
            <a:r>
              <a:t>06   리더라는 위치가 동기부여가 되어서</a:t>
            </a:r>
          </a:p>
          <a:p xmlns:a="http://schemas.openxmlformats.org/drawingml/2006/main">
            <a:r>
              <a:t>07   상위 프로모션에 도전할 수 있어서</a:t>
            </a:r>
          </a:p>
          <a:p xmlns:a="http://schemas.openxmlformats.org/drawingml/2006/main">
            <a:r>
              <a:t>08   리더힛 부담이 아닌 더 큰 비전으로</a:t>
            </a:r>
          </a:p>
          <a:p xmlns:a="http://schemas.openxmlformats.org/drawingml/2006/main">
            <a:r>
              <a:t>09   섬기고 돕는 자리에서만 배울 수 있어서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>이런 리더가 되고 싶어서</a:t>
            </a:r>
          </a:p>
          <a:p xmlns:a="http://schemas.openxmlformats.org/drawingml/2006/main">
            <a:r>
              <a:t>아주 먼 곳까지 내다보되, 앞서 달음박질하지 않고</a:t>
            </a:r>
          </a:p>
          <a:p xmlns:a="http://schemas.openxmlformats.org/drawingml/2006/main">
            <a:r>
              <a:t>언제든 따라올 수 있도록 딱 한 걸음 앞서 기다릴 줄 아는 리더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27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 I WANTED TO LEAD · 리더가 되고 싶었던 이유</a:t>
            </a:r>
          </a:p>
          <a:p xmlns:a="http://schemas.openxmlformats.org/drawingml/2006/main">
            <a:r>
              <a:t>내가 리더가 되고 싶었던 10가지 이유</a:t>
            </a:r>
          </a:p>
          <a:p xmlns:a="http://schemas.openxmlformats.org/drawingml/2006/main">
            <a:r>
              <a:t>루소가 말한 '아이보다 앞서지 않는' 교육처럼 — 딱 한 걸음 앞서 기다리는 리더가 되고 싶었다.</a:t>
            </a:r>
          </a:p>
          <a:p xmlns:a="http://schemas.openxmlformats.org/drawingml/2006/main">
            <a:r>
              <a:t>01   세일즈웍스의 첫 번째 목표여서</a:t>
            </a:r>
          </a:p>
          <a:p xmlns:a="http://schemas.openxmlformats.org/drawingml/2006/main">
            <a:r>
              <a:t>02   내 가치관이 담긴 팀을 만들 수 있어서</a:t>
            </a:r>
          </a:p>
          <a:p xmlns:a="http://schemas.openxmlformats.org/drawingml/2006/main">
            <a:r>
              <a:t>03   누군가의 리더가 된다는 것이 기뻐서</a:t>
            </a:r>
          </a:p>
          <a:p xmlns:a="http://schemas.openxmlformats.org/drawingml/2006/main">
            <a:r>
              <a:t>04   'OO리'라 불리는 친근함이 좋아서</a:t>
            </a:r>
          </a:p>
          <a:p xmlns:a="http://schemas.openxmlformats.org/drawingml/2006/main">
            <a:r>
              <a:t>05   조끼·피치카드·사물함을 쓸 수 있어서</a:t>
            </a:r>
          </a:p>
          <a:p xmlns:a="http://schemas.openxmlformats.org/drawingml/2006/main">
            <a:r>
              <a:t>06   리더라는 위치가 동기부여가 되어서</a:t>
            </a:r>
          </a:p>
          <a:p xmlns:a="http://schemas.openxmlformats.org/drawingml/2006/main">
            <a:r>
              <a:t>07   상위 프로모션에 도전할 수 있어서</a:t>
            </a:r>
          </a:p>
          <a:p xmlns:a="http://schemas.openxmlformats.org/drawingml/2006/main">
            <a:r>
              <a:t>08   리더힛 부담이 아닌 더 큰 비전으로</a:t>
            </a:r>
          </a:p>
          <a:p xmlns:a="http://schemas.openxmlformats.org/drawingml/2006/main">
            <a:r>
              <a:t>09   섬기고 돕는 자리에서만 배울 수 있어서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>이런 리더가 되고 싶어서</a:t>
            </a:r>
          </a:p>
          <a:p xmlns:a="http://schemas.openxmlformats.org/drawingml/2006/main">
            <a:r>
              <a:t>아주 먼 곳까지 내다보되, 앞서 달음박질하지 않고</a:t>
            </a:r>
          </a:p>
          <a:p xmlns:a="http://schemas.openxmlformats.org/drawingml/2006/main">
            <a:r>
              <a:t>언제든 따라올 수 있도록 딱 한 걸음 앞서 기다릴 줄 아는 리더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27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ONE-PAGE GUIDE</a:t>
            </a:r>
          </a:p>
          <a:p xmlns:a="http://schemas.openxmlformats.org/drawingml/2006/main">
            <a:r>
              <a:t>신입 트레이닝 1–3일, 한 장 요약</a:t>
            </a:r>
          </a:p>
          <a:p xmlns:a="http://schemas.openxmlformats.org/drawingml/2006/main">
            <a:r>
              <a:t>나가면 반드시 세일즈하는 신입으로</a:t>
            </a:r>
          </a:p>
          <a:p xmlns:a="http://schemas.openxmlformats.org/drawingml/2006/main">
            <a:r>
              <a:t>DAY별 필수 액션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경험</a:t>
            </a:r>
          </a:p>
          <a:p xmlns:a="http://schemas.openxmlformats.org/drawingml/2006/main">
            <a:r>
              <a:t>2시간 뛰게 한 뒤 반응·태도 관찰</a:t>
            </a:r>
          </a:p>
          <a:p xmlns:a="http://schemas.openxmlformats.org/drawingml/2006/main">
            <a:r>
              <a:t>트레이너가 직접 쇼잉</a:t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제로 방지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학습</a:t>
            </a:r>
          </a:p>
          <a:p xmlns:a="http://schemas.openxmlformats.org/drawingml/2006/main">
            <a:r>
              <a:t>첫 세일즈 1개 함께 달성(필수)</a:t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첫날 대비 개선점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판단</a:t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3일 성과 패턴으로 판단</a:t>
            </a:r>
          </a:p>
          <a:p xmlns:a="http://schemas.openxmlformats.org/drawingml/2006/main">
            <a:r>
              <a:t>Stay / Qualifying 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가져야 할 태도</a:t>
            </a:r>
          </a:p>
          <a:p xmlns:a="http://schemas.openxmlformats.org/drawingml/2006/main">
            <a:r>
              <a:t>성취감 제공 · 인정과 칭찬</a:t>
            </a:r>
          </a:p>
          <a:p xmlns:a="http://schemas.openxmlformats.org/drawingml/2006/main">
            <a:r>
              <a:t>혼냄보다 스스로 깨닫게 (앞서지 않기)</a:t>
            </a:r>
          </a:p>
          <a:p xmlns:a="http://schemas.openxmlformats.org/drawingml/2006/main">
            <a:r>
              <a:t>불안·두려움을 케어해 필드에 집중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갖춰야 할 스킬</a:t>
            </a:r>
          </a:p>
          <a:p xmlns:a="http://schemas.openxmlformats.org/drawingml/2006/main">
            <a:r>
              <a:t>5 Step : Intro·Short Story·Presentation·Closing·Rehash</a:t>
            </a:r>
          </a:p>
          <a:p xmlns:a="http://schemas.openxmlformats.org/drawingml/2006/main">
            <a:r>
              <a:t>TAAIS 클로징 · 쿠션 멘트</a:t>
            </a:r>
          </a:p>
          <a:p xmlns:a="http://schemas.openxmlformats.org/drawingml/2006/main">
            <a:r>
              <a:t>약점별 보강 : 리액션·스트릿·클로징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매일 점검 체크리스트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사이트를 준비해 넘버를 쌓게 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약한 스킬을 필드에서 바로 보강했는가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두려움을 제거해 집중하게 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신입의 콜백싯을 함께 점검했는가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28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Presence Team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Thank you</a:t>
            </a:r>
          </a:p>
          <a:p xmlns:a="http://schemas.openxmlformats.org/drawingml/2006/main">
            <a:r>
              <a:t>후원의 기쁨과 가치를 전할 수 있는 곳이라면 어디든 가는 사람</a:t>
            </a:r>
          </a:p>
          <a:p xmlns:a="http://schemas.openxmlformats.org/drawingml/2006/main">
            <a:r>
              <a:t>임재영 AOP</a:t>
            </a:r>
          </a:p>
          <a:p xmlns:a="http://schemas.openxmlformats.org/drawingml/2006/main">
            <a:r>
              <a:t>☎  Tel : 010-5178-1713        ✉  e-mail : jaeyoung5178@naver.com</a:t>
            </a:r>
          </a:p>
          <a:p xmlns:a="http://schemas.openxmlformats.org/drawingml/2006/main">
            <a:r>
              <a:t>기타 궁금하거나 질문이 있으시면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8ea4dab927453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3b719458834b6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c167d37898416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2010a1839542f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d5bf2bf275455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19b0a9bc524a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7223D6A-ED74-4615-A529-A41AD0E551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AB707C2-5D1C-4632-B0EB-11C6931F3E9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9B35B1A-1CFF-43E9-BFA5-D71D136A84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A2D69D7-90BF-4154-852E-14C55F7EAD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2719B3A-9C77-4C68-91D6-8671C8B035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3197C71-ADD1-4140-8EA0-097348FFE2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6B25341-8254-4D75-849D-F761C06F7B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6B7F1C0-60AB-4E22-95EB-85A26A0BF0A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8377B73-510D-42EB-9D62-E1A58FB179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385CFF4-8C46-4276-BAD9-379604A0E1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2b236bbd03a4e25" /><Relationship Type="http://schemas.openxmlformats.org/officeDocument/2006/relationships/slideLayout" Target="/ppt/slideLayouts/slideLayout1.xml" Id="Rc6c73134942444eb" /><Relationship Type="http://schemas.openxmlformats.org/officeDocument/2006/relationships/slideLayout" Target="/ppt/slideLayouts/slideLayout2.xml" Id="R451b9202d90249ec" /><Relationship Type="http://schemas.openxmlformats.org/officeDocument/2006/relationships/slideLayout" Target="/ppt/slideLayouts/slideLayout3.xml" Id="R697b23ad0e3b41f9" /><Relationship Type="http://schemas.openxmlformats.org/officeDocument/2006/relationships/slideLayout" Target="/ppt/slideLayouts/slideLayout4.xml" Id="R8e8245886e644cf8" /><Relationship Type="http://schemas.openxmlformats.org/officeDocument/2006/relationships/slideLayout" Target="/ppt/slideLayouts/slideLayout5.xml" Id="Ra9401ca261ae4692" /><Relationship Type="http://schemas.openxmlformats.org/officeDocument/2006/relationships/slideLayout" Target="/ppt/slideLayouts/slideLayout6.xml" Id="Rba9a7a2d4eb246c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c73134942444eb"/>
    <p:sldLayoutId xmlns:r="http://schemas.openxmlformats.org/officeDocument/2006/relationships" id="2147483650" r:id="R451b9202d90249ec"/>
    <p:sldLayoutId xmlns:r="http://schemas.openxmlformats.org/officeDocument/2006/relationships" id="2147483651" r:id="R697b23ad0e3b41f9"/>
    <p:sldLayoutId xmlns:r="http://schemas.openxmlformats.org/officeDocument/2006/relationships" id="2147483652" r:id="R8e8245886e644cf8"/>
    <p:sldLayoutId xmlns:r="http://schemas.openxmlformats.org/officeDocument/2006/relationships" id="2147483653" r:id="Ra9401ca261ae4692"/>
    <p:sldLayoutId xmlns:r="http://schemas.openxmlformats.org/officeDocument/2006/relationships" id="2147483654" r:id="Rba9a7a2d4eb246c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a2a4a11cc24623" /><Relationship Type="http://schemas.openxmlformats.org/officeDocument/2006/relationships/image" Target="/ppt/media/image.jpeg" Id="Rfb5b443dc68e48df" /><Relationship Type="http://schemas.openxmlformats.org/officeDocument/2006/relationships/notesSlide" Target="/ppt/notesSlides/notesSlide1.xml" Id="R287a4a3d1d284e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b7c76c91a14208" /><Relationship Type="http://schemas.openxmlformats.org/officeDocument/2006/relationships/notesSlide" Target="/ppt/notesSlides/notesSlide2.xml" Id="Rcefd2579e5ff4b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0d9f743d184e65" /><Relationship Type="http://schemas.openxmlformats.org/officeDocument/2006/relationships/notesSlide" Target="/ppt/notesSlides/notesSlide3.xml" Id="R3f2af4f297ab4ca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682159ff7f4db7" /><Relationship Type="http://schemas.openxmlformats.org/officeDocument/2006/relationships/image" Target="/ppt/media/image2.jpeg" Id="Rd90b37912e1c4b74" /><Relationship Type="http://schemas.openxmlformats.org/officeDocument/2006/relationships/notesSlide" Target="/ppt/notesSlides/notesSlide4.xml" Id="R92cfada9df594f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4770fb6842468b" /><Relationship Type="http://schemas.openxmlformats.org/officeDocument/2006/relationships/notesSlide" Target="/ppt/notesSlides/notesSlide5.xml" Id="Re2b7e38c2f66472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b78838c2604a68" /><Relationship Type="http://schemas.openxmlformats.org/officeDocument/2006/relationships/image" Target="/ppt/media/image3.jpeg" Id="R2764d0c8e43942b7" /><Relationship Type="http://schemas.openxmlformats.org/officeDocument/2006/relationships/notesSlide" Target="/ppt/notesSlides/notesSlide6.xml" Id="Rf6cd1d8492a24fe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d4dd8aa29e4951" /><Relationship Type="http://schemas.openxmlformats.org/officeDocument/2006/relationships/image" Target="/ppt/media/image.png" Id="R8f6e983a3d454232" /><Relationship Type="http://schemas.openxmlformats.org/officeDocument/2006/relationships/image" Target="/ppt/media/image2.png" Id="Rcea67ebe56c941d2" /><Relationship Type="http://schemas.openxmlformats.org/officeDocument/2006/relationships/image" Target="/ppt/media/image3.png" Id="R0af199121c2f4632" /><Relationship Type="http://schemas.openxmlformats.org/officeDocument/2006/relationships/notesSlide" Target="/ppt/notesSlides/notesSlide7.xml" Id="Refdbaef59d5345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c5bb6954d74daa" /><Relationship Type="http://schemas.openxmlformats.org/officeDocument/2006/relationships/image" Target="/ppt/media/image4.jpeg" Id="R81a9f3d8f1f34724" /><Relationship Type="http://schemas.openxmlformats.org/officeDocument/2006/relationships/notesSlide" Target="/ppt/notesSlides/notesSlide8.xml" Id="R6c1702209e4c49b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ea44231d2f4e2a" /><Relationship Type="http://schemas.openxmlformats.org/officeDocument/2006/relationships/image" Target="/ppt/media/image4.png" Id="Rd7ca1a96ab0f4d27" /><Relationship Type="http://schemas.openxmlformats.org/officeDocument/2006/relationships/image" Target="/ppt/media/image5.png" Id="R4fd7bdcc70004506" /><Relationship Type="http://schemas.openxmlformats.org/officeDocument/2006/relationships/image" Target="/ppt/media/image6.png" Id="R95375cb005474779" /><Relationship Type="http://schemas.openxmlformats.org/officeDocument/2006/relationships/image" Target="/ppt/media/image7.png" Id="Ra283c954fdbe4c30" /><Relationship Type="http://schemas.openxmlformats.org/officeDocument/2006/relationships/notesSlide" Target="/ppt/notesSlides/notesSlide9.xml" Id="R9815a5ef9e924da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b0c46526704ca8" /><Relationship Type="http://schemas.openxmlformats.org/officeDocument/2006/relationships/notesSlide" Target="/ppt/notesSlides/notesSlide10.xml" Id="R48201bf3f7104b3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3ef7037dd1411e" /><Relationship Type="http://schemas.openxmlformats.org/officeDocument/2006/relationships/notesSlide" Target="/ppt/notesSlides/notesSlide11.xml" Id="Rcaf9a53ae8f947d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18bd6d30c042bb" /><Relationship Type="http://schemas.openxmlformats.org/officeDocument/2006/relationships/image" Target="/ppt/media/image5.jpeg" Id="Rb593446919784e81" /><Relationship Type="http://schemas.openxmlformats.org/officeDocument/2006/relationships/notesSlide" Target="/ppt/notesSlides/notesSlide12.xml" Id="Rb03ad3fe149e492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f94de505214147" /><Relationship Type="http://schemas.openxmlformats.org/officeDocument/2006/relationships/image" Target="/ppt/media/image8.png" Id="R4ccb912686464dba" /><Relationship Type="http://schemas.openxmlformats.org/officeDocument/2006/relationships/image" Target="/ppt/media/image9.png" Id="R1f9d53615ed1457d" /><Relationship Type="http://schemas.openxmlformats.org/officeDocument/2006/relationships/notesSlide" Target="/ppt/notesSlides/notesSlide13.xml" Id="R69d62b89d5b5495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c343f2bcd24d10" /><Relationship Type="http://schemas.openxmlformats.org/officeDocument/2006/relationships/image" Target="/ppt/media/image6.jpeg" Id="R00d365ac6f1f49c5" /><Relationship Type="http://schemas.openxmlformats.org/officeDocument/2006/relationships/notesSlide" Target="/ppt/notesSlides/notesSlide14.xml" Id="Rd63c7ee15eb5477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7630f594e54808" /><Relationship Type="http://schemas.openxmlformats.org/officeDocument/2006/relationships/image" Target="/ppt/media/image7.jpeg" Id="R790833f381124003" /><Relationship Type="http://schemas.openxmlformats.org/officeDocument/2006/relationships/notesSlide" Target="/ppt/notesSlides/notesSlide15.xml" Id="R08eff5e4c51342c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5286411f5d402a" /><Relationship Type="http://schemas.openxmlformats.org/officeDocument/2006/relationships/image" Target="/ppt/media/image10.png" Id="R3bcf472917324c6b" /><Relationship Type="http://schemas.openxmlformats.org/officeDocument/2006/relationships/image" Target="/ppt/media/image11.png" Id="R0df61790e3254dd5" /><Relationship Type="http://schemas.openxmlformats.org/officeDocument/2006/relationships/image" Target="/ppt/media/image12.png" Id="R95e83d28643b4682" /><Relationship Type="http://schemas.openxmlformats.org/officeDocument/2006/relationships/image" Target="/ppt/media/image13.png" Id="R8f25709a018246b4" /><Relationship Type="http://schemas.openxmlformats.org/officeDocument/2006/relationships/notesSlide" Target="/ppt/notesSlides/notesSlide16.xml" Id="R5a26873478d546f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ea9800e8d84071" /><Relationship Type="http://schemas.openxmlformats.org/officeDocument/2006/relationships/image" Target="/ppt/media/image8.jpeg" Id="Rd2d53afaa3d245c0" /><Relationship Type="http://schemas.openxmlformats.org/officeDocument/2006/relationships/notesSlide" Target="/ppt/notesSlides/notesSlide17.xml" Id="R6d2df831120b423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9de08a4cf9408f" /><Relationship Type="http://schemas.openxmlformats.org/officeDocument/2006/relationships/image" Target="/ppt/media/image14.png" Id="R4495893a64574e75" /><Relationship Type="http://schemas.openxmlformats.org/officeDocument/2006/relationships/image" Target="/ppt/media/image15.png" Id="R99e1f81154d24385" /><Relationship Type="http://schemas.openxmlformats.org/officeDocument/2006/relationships/image" Target="/ppt/media/image16.png" Id="Re1fe1da34ccf4a84" /><Relationship Type="http://schemas.openxmlformats.org/officeDocument/2006/relationships/notesSlide" Target="/ppt/notesSlides/notesSlide18.xml" Id="Ree84629f307e4a0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bb6ad7e64b444a" /><Relationship Type="http://schemas.openxmlformats.org/officeDocument/2006/relationships/notesSlide" Target="/ppt/notesSlides/notesSlide19.xml" Id="R65d89fa436224f5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07f159187f4191" /><Relationship Type="http://schemas.openxmlformats.org/officeDocument/2006/relationships/image" Target="/ppt/media/image17.png" Id="Ra51e9965fde34e24" /><Relationship Type="http://schemas.openxmlformats.org/officeDocument/2006/relationships/image" Target="/ppt/media/image18.png" Id="R6b73081c83984a91" /><Relationship Type="http://schemas.openxmlformats.org/officeDocument/2006/relationships/notesSlide" Target="/ppt/notesSlides/notesSlide20.xml" Id="Ref0b6ea5a87d4cf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18ebb48eac472b" /><Relationship Type="http://schemas.openxmlformats.org/officeDocument/2006/relationships/notesSlide" Target="/ppt/notesSlides/notesSlide21.xml" Id="R461307c82d824fa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afce5be9d84829" /><Relationship Type="http://schemas.openxmlformats.org/officeDocument/2006/relationships/image" Target="/ppt/media/image19.png" Id="Re184c3baa0a84c58" /><Relationship Type="http://schemas.openxmlformats.org/officeDocument/2006/relationships/image" Target="/ppt/media/image20.png" Id="R87b9ec832a684176" /><Relationship Type="http://schemas.openxmlformats.org/officeDocument/2006/relationships/notesSlide" Target="/ppt/notesSlides/notesSlide22.xml" Id="R06d56f3cb38a49e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aa86a2909c4c10" /><Relationship Type="http://schemas.openxmlformats.org/officeDocument/2006/relationships/image" Target="/ppt/media/image21.png" Id="R90508549f2e04eb9" /><Relationship Type="http://schemas.openxmlformats.org/officeDocument/2006/relationships/image" Target="/ppt/media/image22.png" Id="R6c1df16347c14037" /><Relationship Type="http://schemas.openxmlformats.org/officeDocument/2006/relationships/notesSlide" Target="/ppt/notesSlides/notesSlide23.xml" Id="Redd4f2f00fbc437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e3ffcc638242f4" /><Relationship Type="http://schemas.openxmlformats.org/officeDocument/2006/relationships/notesSlide" Target="/ppt/notesSlides/notesSlide24.xml" Id="R417f205ffdf84d9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071d7c35844a9e" /><Relationship Type="http://schemas.openxmlformats.org/officeDocument/2006/relationships/notesSlide" Target="/ppt/notesSlides/notesSlide25.xml" Id="R937082333c5543e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0d2e6457a24612" /><Relationship Type="http://schemas.openxmlformats.org/officeDocument/2006/relationships/image" Target="/ppt/media/image23.png" Id="R4ede650222d5496f" /><Relationship Type="http://schemas.openxmlformats.org/officeDocument/2006/relationships/image" Target="/ppt/media/image24.png" Id="Rd72146d82b294903" /><Relationship Type="http://schemas.openxmlformats.org/officeDocument/2006/relationships/image" Target="/ppt/media/image25.png" Id="R97fa582a2cc64683" /><Relationship Type="http://schemas.openxmlformats.org/officeDocument/2006/relationships/image" Target="/ppt/media/image26.png" Id="R7d396bfd85bb4f67" /><Relationship Type="http://schemas.openxmlformats.org/officeDocument/2006/relationships/notesSlide" Target="/ppt/notesSlides/notesSlide26.xml" Id="R04502928eb8f4df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9ef24d86584b57" /><Relationship Type="http://schemas.openxmlformats.org/officeDocument/2006/relationships/notesSlide" Target="/ppt/notesSlides/notesSlide27.xml" Id="R8459f1af8cbc49c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afd467a7614b9d" /><Relationship Type="http://schemas.openxmlformats.org/officeDocument/2006/relationships/image" Target="/ppt/media/image27.png" Id="R9373e0acb60b4c83" /><Relationship Type="http://schemas.openxmlformats.org/officeDocument/2006/relationships/image" Target="/ppt/media/image28.png" Id="R5ff83482e76e4d2c" /><Relationship Type="http://schemas.openxmlformats.org/officeDocument/2006/relationships/image" Target="/ppt/media/image29.png" Id="Rbefc6195e3bc4265" /><Relationship Type="http://schemas.openxmlformats.org/officeDocument/2006/relationships/image" Target="/ppt/media/image30.png" Id="Rf3d8dc68b4f04c9a" /><Relationship Type="http://schemas.openxmlformats.org/officeDocument/2006/relationships/image" Target="/ppt/media/image31.png" Id="R6f138a3e695f410e" /><Relationship Type="http://schemas.openxmlformats.org/officeDocument/2006/relationships/image" Target="/ppt/media/image32.png" Id="R48d6caa19e5f4a7b" /><Relationship Type="http://schemas.openxmlformats.org/officeDocument/2006/relationships/notesSlide" Target="/ppt/notesSlides/notesSlide28.xml" Id="R6340aba54672438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bce3b7897b4b8e" /><Relationship Type="http://schemas.openxmlformats.org/officeDocument/2006/relationships/image" Target="/ppt/media/image33.png" Id="R3d11e2aaf82d4d5f" /><Relationship Type="http://schemas.openxmlformats.org/officeDocument/2006/relationships/image" Target="/ppt/media/image34.png" Id="Rf70b62e04c934cba" /><Relationship Type="http://schemas.openxmlformats.org/officeDocument/2006/relationships/image" Target="/ppt/media/image35.png" Id="Rc24f483dab8d41cf" /><Relationship Type="http://schemas.openxmlformats.org/officeDocument/2006/relationships/image" Target="/ppt/media/image36.png" Id="R87c45700f13048bb" /><Relationship Type="http://schemas.openxmlformats.org/officeDocument/2006/relationships/image" Target="/ppt/media/image37.png" Id="R2a0d827fb49844f3" /><Relationship Type="http://schemas.openxmlformats.org/officeDocument/2006/relationships/image" Target="/ppt/media/image38.png" Id="R8e9b24958b734091" /><Relationship Type="http://schemas.openxmlformats.org/officeDocument/2006/relationships/notesSlide" Target="/ppt/notesSlides/notesSlide29.xml" Id="R091e09810abf41e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01a6fac5134d6e" /><Relationship Type="http://schemas.openxmlformats.org/officeDocument/2006/relationships/image" Target="/ppt/media/image9.jpeg" Id="R623e3eb6cf4c4890" /><Relationship Type="http://schemas.openxmlformats.org/officeDocument/2006/relationships/image" Target="/ppt/media/image39.png" Id="R1990f4cfba6b44ba" /><Relationship Type="http://schemas.openxmlformats.org/officeDocument/2006/relationships/image" Target="/ppt/media/image40.png" Id="R57c403ae240a4b5d" /><Relationship Type="http://schemas.openxmlformats.org/officeDocument/2006/relationships/notesSlide" Target="/ppt/notesSlides/notesSlide30.xml" Id="R9fae80e60e524dd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ae6411ee0845c8" /><Relationship Type="http://schemas.openxmlformats.org/officeDocument/2006/relationships/notesSlide" Target="/ppt/notesSlides/notesSlide31.xml" Id="R03edea9f71414f97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23cf86a9924b1c" /><Relationship Type="http://schemas.openxmlformats.org/officeDocument/2006/relationships/image" Target="/ppt/media/image10.jpeg" Id="Rdbcccfc7ffb7414b" /><Relationship Type="http://schemas.openxmlformats.org/officeDocument/2006/relationships/notesSlide" Target="/ppt/notesSlides/notesSlide32.xml" Id="Ra8a1cee177e04c5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dfa6efa645473d" /><Relationship Type="http://schemas.openxmlformats.org/officeDocument/2006/relationships/image" Target="/ppt/media/image41.png" Id="R918e6512473045e4" /><Relationship Type="http://schemas.openxmlformats.org/officeDocument/2006/relationships/image" Target="/ppt/media/image42.png" Id="R24fa008328574258" /><Relationship Type="http://schemas.openxmlformats.org/officeDocument/2006/relationships/image" Target="/ppt/media/image43.png" Id="Reaf3af0edfc746c6" /><Relationship Type="http://schemas.openxmlformats.org/officeDocument/2006/relationships/image" Target="/ppt/media/image44.png" Id="Ra58dcb614f4f454f" /><Relationship Type="http://schemas.openxmlformats.org/officeDocument/2006/relationships/image" Target="/ppt/media/image45.png" Id="R6323883c0fa74c0d" /><Relationship Type="http://schemas.openxmlformats.org/officeDocument/2006/relationships/notesSlide" Target="/ppt/notesSlides/notesSlide33.xml" Id="R8af4e5d3360c4ff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cfeedfe61e4bdd" /><Relationship Type="http://schemas.openxmlformats.org/officeDocument/2006/relationships/image" Target="/ppt/media/image46.png" Id="Rcaea9d1196c343ca" /><Relationship Type="http://schemas.openxmlformats.org/officeDocument/2006/relationships/image" Target="/ppt/media/image47.png" Id="R3a06448f14ed4516" /><Relationship Type="http://schemas.openxmlformats.org/officeDocument/2006/relationships/image" Target="/ppt/media/image48.png" Id="Rf18f276e457d425d" /><Relationship Type="http://schemas.openxmlformats.org/officeDocument/2006/relationships/notesSlide" Target="/ppt/notesSlides/notesSlide34.xml" Id="R190dcc0930a5480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8631cf23864ec3" /><Relationship Type="http://schemas.openxmlformats.org/officeDocument/2006/relationships/notesSlide" Target="/ppt/notesSlides/notesSlide35.xml" Id="Re217734724744d0d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e281878492499a" /><Relationship Type="http://schemas.openxmlformats.org/officeDocument/2006/relationships/notesSlide" Target="/ppt/notesSlides/notesSlide36.xml" Id="Rd5026e9227d94127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3dc24e2994427a" /><Relationship Type="http://schemas.openxmlformats.org/officeDocument/2006/relationships/notesSlide" Target="/ppt/notesSlides/notesSlide37.xml" Id="R75e35bbd817c4c60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e09d91761d40ed" /><Relationship Type="http://schemas.openxmlformats.org/officeDocument/2006/relationships/image" Target="/ppt/media/image11.jpeg" Id="R613e736c340d4fb5" /><Relationship Type="http://schemas.openxmlformats.org/officeDocument/2006/relationships/notesSlide" Target="/ppt/notesSlides/notesSlide38.xml" Id="R2506be9ab6354cad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082daa1c1c4ff6" /><Relationship Type="http://schemas.openxmlformats.org/officeDocument/2006/relationships/image" Target="/ppt/media/image12.jpeg" Id="R823cfd6626fe4b21" /><Relationship Type="http://schemas.openxmlformats.org/officeDocument/2006/relationships/notesSlide" Target="/ppt/notesSlides/notesSlide39.xml" Id="R6e258d1eaec94afe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bb461cfc34428f" /><Relationship Type="http://schemas.openxmlformats.org/officeDocument/2006/relationships/image" Target="/ppt/media/image49.png" Id="R4ceae705b74646a6" /><Relationship Type="http://schemas.openxmlformats.org/officeDocument/2006/relationships/image" Target="/ppt/media/image50.png" Id="R047c4fc7d7a8411c" /><Relationship Type="http://schemas.openxmlformats.org/officeDocument/2006/relationships/image" Target="/ppt/media/image51.png" Id="R35212ea5467d4086" /><Relationship Type="http://schemas.openxmlformats.org/officeDocument/2006/relationships/notesSlide" Target="/ppt/notesSlides/notesSlide40.xml" Id="Rb5c482e7151243d5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cc5cf093294a1f" /><Relationship Type="http://schemas.openxmlformats.org/officeDocument/2006/relationships/image" Target="/ppt/media/image52.png" Id="R81d8d35ae3924296" /><Relationship Type="http://schemas.openxmlformats.org/officeDocument/2006/relationships/image" Target="/ppt/media/image53.png" Id="Rc2de1cfeb05e43cb" /><Relationship Type="http://schemas.openxmlformats.org/officeDocument/2006/relationships/notesSlide" Target="/ppt/notesSlides/notesSlide41.xml" Id="R0a635f5a9d6645a5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07ff09aa55439c" /><Relationship Type="http://schemas.openxmlformats.org/officeDocument/2006/relationships/notesSlide" Target="/ppt/notesSlides/notesSlide42.xml" Id="Ra48cb87a0d594a4b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690ef0d407443e" /><Relationship Type="http://schemas.openxmlformats.org/officeDocument/2006/relationships/notesSlide" Target="/ppt/notesSlides/notesSlide43.xml" Id="R5ae54f5bc1c442b2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c07bc6f1044974" /><Relationship Type="http://schemas.openxmlformats.org/officeDocument/2006/relationships/image" Target="/ppt/media/image54.png" Id="R8e10210779204dee" /><Relationship Type="http://schemas.openxmlformats.org/officeDocument/2006/relationships/image" Target="/ppt/media/image55.png" Id="R13eef2deb7c74cc8" /><Relationship Type="http://schemas.openxmlformats.org/officeDocument/2006/relationships/notesSlide" Target="/ppt/notesSlides/notesSlide44.xml" Id="R57d4cbb39ce542f4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21e6f8742f455f" /><Relationship Type="http://schemas.openxmlformats.org/officeDocument/2006/relationships/image" Target="/ppt/media/image13.jpeg" Id="Read150687ce04760" /><Relationship Type="http://schemas.openxmlformats.org/officeDocument/2006/relationships/notesSlide" Target="/ppt/notesSlides/notesSlide45.xml" Id="R599dfa2645774090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65b3d1e0154372" /><Relationship Type="http://schemas.openxmlformats.org/officeDocument/2006/relationships/notesSlide" Target="/ppt/notesSlides/notesSlide46.xml" Id="R86f1f5f891ce4b29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5bad7b8f554d13" /><Relationship Type="http://schemas.openxmlformats.org/officeDocument/2006/relationships/notesSlide" Target="/ppt/notesSlides/notesSlide47.xml" Id="R48c399c5627d438d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ef81368e6949eb" /><Relationship Type="http://schemas.openxmlformats.org/officeDocument/2006/relationships/image" Target="/ppt/media/image14.jpeg" Id="Rd96b6486dec6418e" /><Relationship Type="http://schemas.openxmlformats.org/officeDocument/2006/relationships/notesSlide" Target="/ppt/notesSlides/notesSlide48.xml" Id="Ra4414b32c493446f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cdb72fe9324dcf" /><Relationship Type="http://schemas.openxmlformats.org/officeDocument/2006/relationships/notesSlide" Target="/ppt/notesSlides/notesSlide49.xml" Id="Rafed4d653ce249a0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953242ca46414f" /><Relationship Type="http://schemas.openxmlformats.org/officeDocument/2006/relationships/image" Target="/ppt/media/image15.jpeg" Id="Rc25a5429c7a54d19" /><Relationship Type="http://schemas.openxmlformats.org/officeDocument/2006/relationships/notesSlide" Target="/ppt/notesSlides/notesSlide50.xml" Id="R26e6681b1b0b481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A65301-B395-4352-AAFB-8817FB913A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5b443dc68e48d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63DA8D-F55F-4D57-86E1-F0DCFA3BE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임재영 AOP · PRESENCE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3CE96C-9BA9-44DA-BD2E-3EF0999C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92392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딱 한 걸음 앞서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1E92D8-691D-4F7C-B2F2-E15BB070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38475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 IC 트레이닝 가이드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3E757E-4985-48DC-9746-7471D98B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905250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먼저 배우고 싶게 만들라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피드백 전에 관찰하라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401A3E-2D77-44AA-88CB-E0738EFD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8167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임재영 AOP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DE8FD7-5B3D-4993-9961-0B077EB30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01 / 50</a:t>
            </a:r>
          </a:p>
        </p:txBody>
      </p:sp>
    </p:spTree>
    <p:extLst>
      <p:ext uri="{BB962C8B-B14F-4D97-AF65-F5344CB8AC3E}">
        <p14:creationId xmlns:p14="http://schemas.microsoft.com/office/powerpoint/2010/main" val="11419861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10874F-47F7-4C4F-80A8-5379ED76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INTRO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73B63B-3744-473B-9517-D7C212D9F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다음 중 관련 있는 분야는?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3BE99D-A982-445F-9A39-C98DE7C3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잠시, 함께 생각해 봅시다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3DF67A-E6FF-474C-8D48-0839C5FB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7DCC3E-AD5A-4D26-9424-588053CAA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자동차운전면허증(1종)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4D9B50-48EC-469E-A4D1-7CF66970F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78419C-0AC8-4F3D-9340-72706CD8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14625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대형면허 자격증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83CA81-F6FB-4730-86E7-E65E944B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8063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E828D7-0A17-43B8-9291-46DB48AEE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48063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복어조리기능사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6DFE84-09DC-47AB-A6B9-0606B939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48063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F96ED8-E7EB-4DCE-BC4D-67FA2AAA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548063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제빵기능사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DCE01E-C80B-4CD7-9D72-7AD7C211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30532B-F0F3-4966-8A3A-41060DBC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81500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지게차 운전기능사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5728A8-D59F-417C-B88C-B1668E06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81500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F331C6-E85D-4E62-A62A-BD95EE3E7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381500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코칭(다문화)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E3109F-F129-4E1F-A788-6AB73964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4938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185B47-067D-42D9-93BB-5B8CF0CDE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4938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용접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505FC1-423D-4C1B-9122-412771E09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4938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64C481-068B-4F76-86AD-EF46A6F6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214938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신학 석사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B1137A-2664-47EF-84E5-A6E522D1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02 / 50</a:t>
            </a:r>
          </a:p>
        </p:txBody>
      </p:sp>
    </p:spTree>
    <p:extLst>
      <p:ext uri="{BB962C8B-B14F-4D97-AF65-F5344CB8AC3E}">
        <p14:creationId xmlns:p14="http://schemas.microsoft.com/office/powerpoint/2010/main" val="19800583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4EEC43-9589-4B0C-9FE6-DD536DFCA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INTRO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BF8860-FA80-48F7-9FB7-E327DEBC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트레이닝의 전체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97C1EA-89A2-477D-953A-AE880F93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동기를 만들고, 관찰하고, 자립을 설계한다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C54720-A2FA-47F7-B9F1-C2F64D11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B4FB73-2695-4BEA-8414-CD7662FA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철학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73E6B4-4577-47D1-834E-3DA5A4B03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동기와 관찰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CC6724-3915-41EF-B52F-415940F84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7146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067F65-B476-48EC-B3F7-FB325380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30765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전제 조건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01ED1B-93C3-47FD-8BF1-DBC9FB54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35433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쇼잉과 스탠다드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9A488-D239-4E9A-B91D-1B2D880D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7146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5CD175-4FDE-4D22-BF74-7E6A3347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765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3일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A0869C-8091-4A88-8525-6873A84C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5433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경험 · 학습 · 판단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F22C8F-4399-4088-B0E4-973E7ADE5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291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D48D98-B8E2-43D3-BA08-B178869F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910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스킬과 피드백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870E39-3962-4875-8671-5C1AD019D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5 Step · 타이밍 · 모델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8930F1-184C-4FFA-8267-314659DE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44291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150F78-D839-4927-A25A-03FAFBEF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47910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6주 전략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97C03B-0144-4C8F-B496-883A98B9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52578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리더힛 · 로드트립 · Self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0A7D42-18ED-40EC-B1C1-586D70C6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44291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A0F0BA-C361-4B9D-A12A-037B0662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47910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리더의 역할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E35DEE-4E6C-4D35-9580-4A3D9680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52578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성취 · 인정 · 결과 판단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4D7228-EDA0-45DE-A891-20C5DCD6C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03 / 50</a:t>
            </a:r>
          </a:p>
        </p:txBody>
      </p:sp>
    </p:spTree>
    <p:extLst>
      <p:ext uri="{BB962C8B-B14F-4D97-AF65-F5344CB8AC3E}">
        <p14:creationId xmlns:p14="http://schemas.microsoft.com/office/powerpoint/2010/main" val="20600454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9FABBB-B1DC-49C3-933E-ADD088D148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0b37912e1c4b7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5B6B46-070B-44DF-B038-306E2551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565D93-A358-4E82-8DD7-007158D5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먼저,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배우고 싶게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B83C5F-66C6-4419-BE66-5F91D956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How to teach보다 먼저, Why they want to 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6EB432-4874-4063-8860-61E3F439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04 / 50</a:t>
            </a:r>
          </a:p>
        </p:txBody>
      </p:sp>
    </p:spTree>
    <p:extLst>
      <p:ext uri="{BB962C8B-B14F-4D97-AF65-F5344CB8AC3E}">
        <p14:creationId xmlns:p14="http://schemas.microsoft.com/office/powerpoint/2010/main" val="19888716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4CF6F3-8835-4EBF-99A6-F4B3C9DEA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948C62-ED60-4E70-96CD-0568D8C61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배우고 싶은 마음이 생기는 과정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F39686-3547-434A-99F2-8583B706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가르침은 그 의지 위에 얹는다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5247F-0956-4862-8A78-F3406F853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동기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84C6F8-C875-4FB8-9B9A-E0A26CC76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지식 전에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하고 싶다는 마음을 켠다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F1E914-68D3-43BF-937F-2261E24D1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311C20-5DCA-4475-8CAF-FDFB9755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쇼잉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1EF015-0C5C-44F2-9779-66B1C2A90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직접 보여줘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나도 저렇게 되고 싶게 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8ECE6F-BE13-4732-9BB7-B2BD7F12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39BC53-4DFC-44DF-82D2-F97134AD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작은 성공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14AFFC-7D68-4F79-A28D-083F53E7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해낸 성취감이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다음 학습 의지를 만든다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2D1921-CB95-4876-99F1-80E84F01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23E042-75A2-4D11-B8B3-6318BE15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05 / 50</a:t>
            </a:r>
          </a:p>
        </p:txBody>
      </p:sp>
    </p:spTree>
    <p:extLst>
      <p:ext uri="{BB962C8B-B14F-4D97-AF65-F5344CB8AC3E}">
        <p14:creationId xmlns:p14="http://schemas.microsoft.com/office/powerpoint/2010/main" val="9626031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536543-A58B-4861-875E-762D77B3ED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64d0c8e43942b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1C0572-94B0-4BE1-A3D5-870C4D4C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장 자크 루소 · 『에밀』 제2권 · 원본 수록 번역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C3B409-F44F-4925-A603-C08E70BD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04775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시간을 잃어라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AE023F-E237-4F02-9F31-5862239E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24225"/>
            <a:ext cx="704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가장 유용한 교육 규칙은 시간을 버는 것이 아니라, 시간을 잃는 것이다.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B75BC0-CFA2-40EA-A223-654A65E6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06 / 50</a:t>
            </a:r>
          </a:p>
        </p:txBody>
      </p:sp>
    </p:spTree>
    <p:extLst>
      <p:ext uri="{BB962C8B-B14F-4D97-AF65-F5344CB8AC3E}">
        <p14:creationId xmlns:p14="http://schemas.microsoft.com/office/powerpoint/2010/main" val="7524896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AAA36B-C0C2-4083-84B9-196ABD1E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8FF6A7-3032-47F3-A5D5-E757B546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가르치기 전에, 관찰하기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04A986-412E-4E31-A3AC-39C6200D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소극적 교육 · Negative Education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941618-A5D7-4710-884E-F9B2E6D721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6e983a3d454232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14D107-AC5C-4CE0-8136-2E61061A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조급함이 가장 큰 위험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49C856-9E8B-4320-83AA-CD001DA3F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준비되지 않은 신입에게 주입하면 텅 빈 암기에 그치고 진짜 이해를 방해한다.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1EF13D-0BBD-452A-99A8-88FCC87781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a67ebe56c941d2"/>
          <a:stretch xmlns:a="http://schemas.openxmlformats.org/drawingml/2006/main"/>
        </p:blipFill>
        <p:spPr>
          <a:xfrm xmlns:a="http://schemas.openxmlformats.org/drawingml/2006/main">
            <a:off x="828675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DFD1C2-820F-412F-8387-9B46658A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먼저, 이해한 만큼을 관찰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7F2507-BA80-4572-B349-A8CB4B99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어디까지 이해하고 있는지 관찰한다. 그 위에 필요한 것을 얹는다.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25C3AC-EBE7-4DA3-BDB2-FA4DD2C21E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f199121c2f4632"/>
          <a:stretch xmlns:a="http://schemas.openxmlformats.org/drawingml/2006/main"/>
        </p:blipFill>
        <p:spPr>
          <a:xfrm xmlns:a="http://schemas.openxmlformats.org/drawingml/2006/main">
            <a:off x="828675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224369-7E6D-4394-A78A-5E136532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기다림이 가장 빠른 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795D04-2658-4EE0-8886-3E7D7118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경험하고 성숙할 시간을 허락한다.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24F7C1-4827-4D91-B523-864CBEC7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07 / 50</a:t>
            </a:r>
          </a:p>
        </p:txBody>
      </p:sp>
    </p:spTree>
    <p:extLst>
      <p:ext uri="{BB962C8B-B14F-4D97-AF65-F5344CB8AC3E}">
        <p14:creationId xmlns:p14="http://schemas.microsoft.com/office/powerpoint/2010/main" val="18444748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0FD910-E4AA-4D3D-974C-D762BB8BB1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a9f3d8f1f3472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B6C65B-69AA-4433-8F00-3B75301C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D3F677-C671-4C33-8DC7-1DF921DE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피드백 전에,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먼저 관찰하라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5A4703-9385-4D65-B9F3-D500324F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같은 피드백도 사람에 따라 독이 되고 약이 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5AB24-450E-48F2-B6FC-AE1FDAA0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08 / 50</a:t>
            </a:r>
          </a:p>
        </p:txBody>
      </p:sp>
    </p:spTree>
    <p:extLst>
      <p:ext uri="{BB962C8B-B14F-4D97-AF65-F5344CB8AC3E}">
        <p14:creationId xmlns:p14="http://schemas.microsoft.com/office/powerpoint/2010/main" val="5985394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6C9FE5-7765-469B-91B1-347E82013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6F7BA7-0BE3-400E-AECF-455ED4CF1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관찰해야 할 네 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73F0AB-4A43-4F88-A871-21DF8E32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관찰한 뒤 진단하고, 그 사람에게 맞춰 피드백한다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66DED6-4F04-46BD-A472-1C3AADD6FD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a1a96ab0f4d27"/>
          <a:stretch xmlns:a="http://schemas.openxmlformats.org/drawingml/2006/main"/>
        </p:blipFill>
        <p:spPr>
          <a:xfrm xmlns:a="http://schemas.openxmlformats.org/drawingml/2006/main">
            <a:off x="819150" y="27908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FB36CF-2E88-4ECD-8C8B-5429BF5EF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428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반응과 태도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29A5A6-D42F-4152-BF26-5A1CCD64A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76625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2시간쯤 뛰게 한 뒤 할 만한지 확인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69D3A3-F6AD-43FC-835E-F7BBBBF78F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d7bdcc70004506"/>
          <a:stretch xmlns:a="http://schemas.openxmlformats.org/drawingml/2006/main"/>
        </p:blipFill>
        <p:spPr>
          <a:xfrm xmlns:a="http://schemas.openxmlformats.org/drawingml/2006/main">
            <a:off x="6534150" y="27908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0A38CA-1998-40C2-B283-DBE374F4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62250"/>
            <a:ext cx="428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두려움의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230182-19C0-4513-85FF-443C1E70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76625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접근 · 피치 · 클로징, 어디서 멈칫하는가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C7F107-33E8-4CB5-8947-DF82570FAD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375cb005474779"/>
          <a:stretch xmlns:a="http://schemas.openxmlformats.org/drawingml/2006/main"/>
        </p:blipFill>
        <p:spPr>
          <a:xfrm xmlns:a="http://schemas.openxmlformats.org/drawingml/2006/main">
            <a:off x="819150" y="4410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1E8AC8-E3A3-4096-B2C6-5B01E0E11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81500"/>
            <a:ext cx="428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학습 속도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AA4016-1A6D-4B86-8D52-D19B1127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어제의 피드백을 오늘 반영하는가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AFD8B9-05B9-4DA1-8558-480BCAE023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83c954fdbe4c30"/>
          <a:stretch xmlns:a="http://schemas.openxmlformats.org/drawingml/2006/main"/>
        </p:blipFill>
        <p:spPr>
          <a:xfrm xmlns:a="http://schemas.openxmlformats.org/drawingml/2006/main">
            <a:off x="6534150" y="4410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B4A5B7-819C-4B61-9507-647B8D811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81500"/>
            <a:ext cx="428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강점과 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FEDC4C-DE19-4651-B475-FF465F280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95875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리액션형인가, 논리형인가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5B3B0E-6600-486D-86CA-B46A368C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09 / 50</a:t>
            </a:r>
          </a:p>
        </p:txBody>
      </p:sp>
    </p:spTree>
    <p:extLst>
      <p:ext uri="{BB962C8B-B14F-4D97-AF65-F5344CB8AC3E}">
        <p14:creationId xmlns:p14="http://schemas.microsoft.com/office/powerpoint/2010/main" val="3499493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A1A95D-CECB-4DE9-BA25-7A2851E0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6F5A92-1D31-4AA5-937E-EB0E684A4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이전부터 시작되는 관찰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2A65E7-D56D-4FFC-A71E-2026BAA3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사람이 다르면, 트레이닝도 달라야 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133094-ACB1-4826-A0EC-A05AF7B60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이력서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3BBF56-8248-4FCF-8932-0C1B2D8B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경력과 이전 직무에서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성향과 강점의 단서를 읽는다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DA02FD-8B42-4C45-9EF8-3FA49774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D086AE-9BE6-4A40-AF78-B97F1DD1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주변 피드백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587173-1841-4427-853E-61C8ABD8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오너 · 클라이언트 · 교육자에게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어떤 사람이었는지 묻는다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7BBF91-4E80-4B9B-883C-C37FAA6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0084C4-3CBB-4E52-89A7-D65304F5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트레이닝 설계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6202B9-66E1-4FB8-AE37-BFF2C7CE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어떻게 가르칠지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 전에 미리 고민한다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A37D24-7F2D-4D05-8BDE-CBB726CCA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C39AC0-5703-4D4B-862C-9012EC59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10 / 50</a:t>
            </a:r>
          </a:p>
        </p:txBody>
      </p:sp>
    </p:spTree>
    <p:extLst>
      <p:ext uri="{BB962C8B-B14F-4D97-AF65-F5344CB8AC3E}">
        <p14:creationId xmlns:p14="http://schemas.microsoft.com/office/powerpoint/2010/main" val="8506731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436B0D-CC7A-4622-AE79-8E0C0C7FD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09857A-311F-41E3-8B1D-2A45D971C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신입에게 답이 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18AF3C-F725-4550-B516-5EA60792A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현장의 어려움은 현장에서 답을 찾는다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64D9FF-27D6-437B-BFEC-60DB8096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포착하기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1EC6B4-9EAF-41BA-8B8C-8809AF33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이해하지 못하거나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머뭇거리는 순간을 찾는다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F2876E-0C96-4BBB-822B-8FD58826C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5C174A-D2AC-464A-978A-1E352BE1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먼저 묻기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554CD2-5385-45FB-A24A-4D757BD28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왜 그 부분이 어려운지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입으로 듣는다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353323-C5AB-4BEA-A878-F0EB27EC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045DCC-7860-499C-B8B6-1078EC93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함께 찾기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7B06AE-F6BE-4AEB-833C-577B3D50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들은 내용을 바탕으로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솔직하게 피드백한다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53D670-A882-46E8-8A4B-16B0F2DD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534B96-C209-4B91-8962-B14CE188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11 / 50</a:t>
            </a:r>
          </a:p>
        </p:txBody>
      </p:sp>
    </p:spTree>
    <p:extLst>
      <p:ext uri="{BB962C8B-B14F-4D97-AF65-F5344CB8AC3E}">
        <p14:creationId xmlns:p14="http://schemas.microsoft.com/office/powerpoint/2010/main" val="25268821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BAF9ED-8BCD-46BE-8E71-48F398166D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93446919784e8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E4CC79-0F80-4BC6-85CA-7F2F85D68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 전제 조건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8CAF55-7EB6-443D-B927-9636A70FE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트레이너가 먼저 증명하는 실력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EA1DBD-DFA7-40B3-9954-0A8FD4B7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직접 쇼잉할 수 있는 실전 능력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8DAB9E-8576-42DE-8CE8-04E57E1FF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666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주 1회 이상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712F08-276B-4E79-A275-6AE24D06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벨-공 세일즈 증명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846BA6-A37E-4000-BC41-FD8DCA72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666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4시간 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0B11A7-C897-4B39-A631-6EE0BC4A8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81575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세일즈 가능한 실력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CE14F5-B95D-4465-AD86-5D64DA480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12 / 50</a:t>
            </a:r>
          </a:p>
        </p:txBody>
      </p:sp>
    </p:spTree>
    <p:extLst>
      <p:ext uri="{BB962C8B-B14F-4D97-AF65-F5344CB8AC3E}">
        <p14:creationId xmlns:p14="http://schemas.microsoft.com/office/powerpoint/2010/main" val="18116945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42AA0A-7749-46F5-ADE3-5C1C235A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 전제 조건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C34D02-92F8-4958-A299-E1D33CB5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쇼잉과 스탠다드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505065-9311-497A-926E-6802FF7A5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교육의 질은 트레이너의 실전 역량에서 시작된다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CAC2D-0048-44BA-8F84-EF4D22A47A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cb912686464dba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4CEA7-C2DF-450A-ABD1-9985CD8B3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SHOWING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014320-BA76-4DA2-96DD-B9A87685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가장 효과적인 교육은 직접 보여주기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신입은 실제 과정을 관찰하며 학습한다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2EC25C-08ED-4D5F-97D4-CC68FF7499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d53615ed1457d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DC8B95-E0B8-41A6-B463-3D0727321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STANDARD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B334CE-C06D-424B-9C16-F285FEC2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일관된 기본 패턴을 모든 신입에게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나가면 반드시 세일즈 가능한 기본기를 만든다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0EB17A-25D0-4844-912C-EB8EDADA0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13 / 50</a:t>
            </a:r>
          </a:p>
        </p:txBody>
      </p:sp>
    </p:spTree>
    <p:extLst>
      <p:ext uri="{BB962C8B-B14F-4D97-AF65-F5344CB8AC3E}">
        <p14:creationId xmlns:p14="http://schemas.microsoft.com/office/powerpoint/2010/main" val="115052806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4BC02D-F81D-4259-B413-14D20EF065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d365ac6f1f49c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118871-7C15-49E1-83B4-C8EFA903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A84EA5-C3A5-4E93-AA14-E4DE1E896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3일의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8558C7-BF12-445B-887F-2B807058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각 단계에서 이렇게 느끼도록 돕는다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7D54A4-2DFF-4C7D-AB47-AFC86007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D54D28-8550-4887-991D-5E9924BC1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경험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616AE8-77AB-4E47-BE32-F3D4E1C3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필드가 할 만하다고 느끼게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F9BB44-EA17-4F25-A347-4278125F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36566B-F2DA-4B5C-8C8C-6A7B197C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0E49BE-5F24-4AEC-AE74-9CBF793B6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잘 배우고 성장하면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할 수 있다고 느끼게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5BCFF2-2DE4-448B-ABF5-D0090EE13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B57AE6-18CE-4E2C-9A80-FE06EFA1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판단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689299-5D28-4897-8717-F744424B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가능성이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있다고 느끼게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2338B5-2AC4-455B-9C5E-52826B4C5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14 / 50</a:t>
            </a:r>
          </a:p>
        </p:txBody>
      </p:sp>
    </p:spTree>
    <p:extLst>
      <p:ext uri="{BB962C8B-B14F-4D97-AF65-F5344CB8AC3E}">
        <p14:creationId xmlns:p14="http://schemas.microsoft.com/office/powerpoint/2010/main" val="12734497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486989-2584-4AC8-A56D-614CA59F59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833f38112400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288B03-7782-4CF2-BF64-6E9F9042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DAY 1 · 경험의 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41BADB-4004-47E1-A37C-2F0737FB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첫날의 리더는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안전벨트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85B331-5444-47C7-B3E6-92D0FAEC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마음껏 시도하게 해주는 리더십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BD8575-3BDF-46BA-94F8-12932F81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15 / 50</a:t>
            </a:r>
          </a:p>
        </p:txBody>
      </p:sp>
    </p:spTree>
    <p:extLst>
      <p:ext uri="{BB962C8B-B14F-4D97-AF65-F5344CB8AC3E}">
        <p14:creationId xmlns:p14="http://schemas.microsoft.com/office/powerpoint/2010/main" val="74008828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D73DF4-CCD3-4645-AF30-A27576D0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2BBE47-4ACD-4301-838F-43EAA10B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1 · 긍정적인 첫 경험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5B2318-B5F9-4DD7-9C61-8A1DC7EB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성과보다 적응과 관찰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3629B5-5CC6-40DC-8D97-9E3A8AF3BD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f472917324c6b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9DE588-4933-4021-BED7-E15E5E02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반응과 태도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7ADAE0-D22A-4049-A0DB-0D07E7CE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2시간쯤 뛰게 한 뒤 할 만한지 확인하고 기본 자세와 의지를 파악한다.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23DDFF-3B69-4712-8EC2-DA910BA6C0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f61790e3254dd5"/>
          <a:stretch xmlns:a="http://schemas.openxmlformats.org/drawingml/2006/main"/>
        </p:blipFill>
        <p:spPr>
          <a:xfrm xmlns:a="http://schemas.openxmlformats.org/drawingml/2006/main">
            <a:off x="828675" y="3576638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AD463F-CDBD-4C6C-A7D3-44DEEC73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48063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쇼잉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D2B837-B9A2-477E-B08C-A84D97917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57638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자신의 세일즈에 집중해 실제 과정을 직접 보여준다.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B0E101-759D-446E-99C8-5BBD2405BD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e83d28643b4682"/>
          <a:stretch xmlns:a="http://schemas.openxmlformats.org/drawingml/2006/main"/>
        </p:blipFill>
        <p:spPr>
          <a:xfrm xmlns:a="http://schemas.openxmlformats.org/drawingml/2006/main">
            <a:off x="828675" y="4410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7FA11-35FF-4AC2-94A7-837DF2B6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81500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두려움 제거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73F93D-D965-411C-99C4-7B6D06E9D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791075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프리엠티브를 충분히 제공한다. 재미있고 해볼 만하다고 느끼게 한다.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88677D-1056-46F1-973A-525A42D319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25709a018246b4"/>
          <a:stretch xmlns:a="http://schemas.openxmlformats.org/drawingml/2006/main"/>
        </p:blipFill>
        <p:spPr>
          <a:xfrm xmlns:a="http://schemas.openxmlformats.org/drawingml/2006/main">
            <a:off x="828675" y="5243513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BB344B-2CB1-4688-A3FF-C451CC38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214938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다음 날의 준비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67F2E9-DE1E-4AE9-AA3C-F408759A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624513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결과 압박 대신 환경 적응을 돕고 심리적 준비를 만든다.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3841F-6002-4EDE-9063-98D059E5F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16 / 50</a:t>
            </a:r>
          </a:p>
        </p:txBody>
      </p:sp>
    </p:spTree>
    <p:extLst>
      <p:ext uri="{BB962C8B-B14F-4D97-AF65-F5344CB8AC3E}">
        <p14:creationId xmlns:p14="http://schemas.microsoft.com/office/powerpoint/2010/main" val="43480800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80C3B4-8A0A-4951-BD3B-708A60C43C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d53afaa3d245c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59F526-B977-449A-8A9F-3ADF92AC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DAY 2 · 학습의 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B958C0-9E09-4349-8A87-BE4F239B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성공은,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함께 만든다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0446C6-9951-43DF-B07C-CEC11417E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둘째 날, 반드시 세일즈 1개 이상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F92DAC-3540-4D80-8FCA-8AF81D40D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17 / 50</a:t>
            </a:r>
          </a:p>
        </p:txBody>
      </p:sp>
    </p:spTree>
    <p:extLst>
      <p:ext uri="{BB962C8B-B14F-4D97-AF65-F5344CB8AC3E}">
        <p14:creationId xmlns:p14="http://schemas.microsoft.com/office/powerpoint/2010/main" val="109703690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7C592D-7F0B-43EA-82AB-DBB09BCFC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B5DB92-0350-4C34-8793-E9B73F82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2 · 결과로 배우는 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038A22-3E6D-456E-B704-2F1DBE34A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실질 역량을 가늠하는 시점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F34C98-B6F0-449C-B670-DBF5AB95E0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95893a64574e75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6A2D8-9C7E-48D2-933C-D0E76B719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세일즈 1개 이상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C99D21-89FC-486A-B31B-FB631B33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반드시 함께 만들어낸다. 신입이 직접 성공을 체감하게 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83CF33-FBEF-46EC-9026-08E2A84302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1f81154d24385"/>
          <a:stretch xmlns:a="http://schemas.openxmlformats.org/drawingml/2006/main"/>
        </p:blipFill>
        <p:spPr>
          <a:xfrm xmlns:a="http://schemas.openxmlformats.org/drawingml/2006/main">
            <a:off x="828675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A6AC7C-7E57-41F9-B750-2098488B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학습력과 성장성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D6D2A8-6B27-4469-BBF6-22B7F5BC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첫날 대비 개선점을 짚고 학습 능력과 성장 가능성을 본다.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ED18C6-9160-445C-BEB1-7BE86AF524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fe1da34ccf4a84"/>
          <a:stretch xmlns:a="http://schemas.openxmlformats.org/drawingml/2006/main"/>
        </p:blipFill>
        <p:spPr>
          <a:xfrm xmlns:a="http://schemas.openxmlformats.org/drawingml/2006/main">
            <a:off x="828675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B7CE06-3E0D-4730-B68E-E48E0DF4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트레이너와 신입의 균형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DB8C61-535C-4B26-A59C-7FEB54EC1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세일즈가 우선이며, 트레이너도 함께 성과를 낸다.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26D596-8F32-4038-9DE5-71E93EC2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18 / 50</a:t>
            </a:r>
          </a:p>
        </p:txBody>
      </p:sp>
    </p:spTree>
    <p:extLst>
      <p:ext uri="{BB962C8B-B14F-4D97-AF65-F5344CB8AC3E}">
        <p14:creationId xmlns:p14="http://schemas.microsoft.com/office/powerpoint/2010/main" val="38490281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C8B156-4F73-4742-9E35-6B832CD1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48E106-4AB4-4A16-B3B6-F7646893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3 · 성과의 패턴 읽기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2935D9-D96D-41BF-9C12-ED892C55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Stay / Qualifying은 반드시 오너와 상의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CB43E4-6404-4BA8-880F-CFCC0C7B4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 · 1 ·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CDEDC6-73F7-4944-A04E-BF9613A8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가장 이상적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리더로 육성 가능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CF2A4-30DD-4CE7-94CF-29764F25A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14625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3일간 2개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AC7E67-D87A-45ED-8094-FBFCF617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86150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로드트립 제안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4EBC98-36D0-4EEA-86A4-F72DFC7E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3일간 3개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DF88AF-7514-45D7-943C-FCBA55EE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53025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의지와 센스 모두 보유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3A5C14-541C-4010-890A-C5571DB1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81500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 · 0 · 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92C523-1207-46E8-B7ED-9DF71404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153025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빠른 Qualifying 검토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C267EB-5D88-442B-AB78-B4395169A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모든 판단은 Case by Case. 기준 위에서 유연하게.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74DE80-3843-433F-93B1-0E5BEA26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19 / 50</a:t>
            </a:r>
          </a:p>
        </p:txBody>
      </p:sp>
    </p:spTree>
    <p:extLst>
      <p:ext uri="{BB962C8B-B14F-4D97-AF65-F5344CB8AC3E}">
        <p14:creationId xmlns:p14="http://schemas.microsoft.com/office/powerpoint/2010/main" val="88598266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DF10A9-65F5-4F3A-8177-66ABAFF5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1E298A-8A11-4D7D-A689-B3CFE1C7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판단 전에 확보할 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8BE8AE-9B1D-44FF-877A-4D80D70E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제로 방지를 위한 전략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52AC9C-6348-44FB-AF1C-6704B0DD1B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1e9965fde34e24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3F8B25-08E7-4E16-8184-C1D00526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사이트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12B4F9-CFC2-4630-88F3-6E9E8DE6D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벨을 칠 수 있는 사이트를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전략적으로 고른다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DAE7B6-278C-49D6-993D-69EEC18100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73081c83984a91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FB31E8-A666-4C92-9FC4-6F4FE7AA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시간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10B950-8EFD-412D-B1C3-A31FAF08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미리 스케줄을 짜고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성공 가능성 높은 필드에서 시간을 확보한다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6B8E19-29B7-4D5F-9323-3DB5E540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개별 상황을 고려해, 반드시 오너와 상의한다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4BDDE6-4632-4DB3-83FB-8FF0F160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20 / 50</a:t>
            </a:r>
          </a:p>
        </p:txBody>
      </p:sp>
    </p:spTree>
    <p:extLst>
      <p:ext uri="{BB962C8B-B14F-4D97-AF65-F5344CB8AC3E}">
        <p14:creationId xmlns:p14="http://schemas.microsoft.com/office/powerpoint/2010/main" val="49284876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AE0BFA-D0A9-45A6-9877-AE5DDC261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912563-A511-4696-B7A1-BBC02E2DA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 Step 트레이닝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01DEA3-6BFF-486E-9104-3501B0375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주목부터 거래정보 재확인까지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7C9259-F2A4-403D-8352-E9F690CA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69AFA9-16D5-471C-A861-2D5BE8DF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2CDB22-C2AE-4AD1-9BDB-566B6335E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Intro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114963-13EE-415A-BA77-2B8BF5F2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FBCAFF-B8E3-460D-94D7-3BFB25B9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10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AD16C5-65A6-45D6-B698-47AF5E6C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4B054F-7782-428A-8C3E-2C816A649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BE95A4-BEA7-4C77-88CC-F68AE01A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Short Story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6E1829-513D-43A5-8E76-D336F6F3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짧은 피치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0FBCDF-2390-4D28-A452-4F06B916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866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248BAD-4005-4E7C-8F77-080B89DE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B90B70-8D18-41EC-B589-7C48C75EC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F484FA-17CF-4C9E-9260-5FB014BF3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Presentation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9344DA-4AF1-4A9C-9210-5C531B8C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496098-3495-47FC-B88E-F7627FF1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2D890C-F13A-458E-B576-EBDA0438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6C9DAE-EC7F-44D9-A1FD-93057C31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22DFA9-0863-4650-8982-545E55AC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76E182-2834-47CF-B6A6-C5E27F6A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TAAIS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F6559B-24AD-4C03-A645-136C71EA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801D1B-8E3D-458D-9EF6-2C7E1A8A2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74D1DB-5158-466A-BFB4-F9A427F8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701AAA-D700-41E9-8019-BBBF0CAF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Rehash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D27DFA-FD85-45B9-9DAD-05B1F553A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재확인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C37CC6-9791-47C8-870D-E2FB8D2A0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21 / 50</a:t>
            </a:r>
          </a:p>
        </p:txBody>
      </p:sp>
    </p:spTree>
    <p:extLst>
      <p:ext uri="{BB962C8B-B14F-4D97-AF65-F5344CB8AC3E}">
        <p14:creationId xmlns:p14="http://schemas.microsoft.com/office/powerpoint/2010/main" val="1941025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613116-0EC6-4D8C-887D-2900F0B4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CD0889-411E-47B7-8F64-F82D8A29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대화하고 싶은 분위기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7677AA-9A90-4B8F-811A-0B0BA9CF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Intro와 Short Story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1EBBF2-2F9C-4C31-B7FA-4BB691FC23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84c3baa0a84c58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8694A2-6516-439B-8677-7A6034515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 INTRO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62D178-D664-4F79-A9BB-D0097256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시선과 발걸음을 멈춰 세운다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적극적인 리액션과 아이스브레이크로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경계심을 푼다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B2494-137A-41EE-8148-9390953214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b9ec832a684176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53A05C-35EF-465A-9D93-4F50E1112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  SHORT STORY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21767-B6B4-4256-89E3-E290B13B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짧은 피치와 Yes Question으로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긍정 응답을 만든다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WOW 포인트, Tone of Voice,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Body Language를 활용한다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21C71A-4CF5-462C-800B-802DCD16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22 / 50</a:t>
            </a:r>
          </a:p>
        </p:txBody>
      </p:sp>
    </p:spTree>
    <p:extLst>
      <p:ext uri="{BB962C8B-B14F-4D97-AF65-F5344CB8AC3E}">
        <p14:creationId xmlns:p14="http://schemas.microsoft.com/office/powerpoint/2010/main" val="84702319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6B45DD-0929-4D57-91DF-1CA24059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971B76-78AE-4633-BD3A-8E18A7366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해결책 제시와 거래정보 재확인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CC8718-7A2A-40DA-872C-8BE2213A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Presentation과 Rehash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80C7E2-E477-4B3F-8339-EEA10B1B5A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508549f2e04eb9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A4DE06-5F60-4212-AE9D-920A4FDE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 PRESENTATION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BDF647-8F8A-412A-A6CD-9791D394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해결책으로 구호물품을 직접 보여준다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 욕구를 최대치로 끌어올린다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569251-A0C6-4D33-9A63-6A4A3920C1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1df16347c14037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A59D8F-63C5-43BB-90DF-67CBF8EC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  REHASH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93044D-A3A1-46BC-8C22-96C7F5CA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거래 정보를 다시 확인한다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취소율을 낮추고 구매 만족도를 한 번 더 높인다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2FF8F0-7A3D-4EAA-82B6-794C08B8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23 / 50</a:t>
            </a:r>
          </a:p>
        </p:txBody>
      </p:sp>
    </p:spTree>
    <p:extLst>
      <p:ext uri="{BB962C8B-B14F-4D97-AF65-F5344CB8AC3E}">
        <p14:creationId xmlns:p14="http://schemas.microsoft.com/office/powerpoint/2010/main" val="162569027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8BF419-0259-402A-B873-43F02BE9E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68F50-D8D1-452F-83E3-FF30B30B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 · TAAIS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47786F-8CCA-484A-ACF2-8CEF9A09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구매를 전제로 대화하고, 선택권과 침묵을 활용한다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76E8A0-3D42-4B47-A538-F899ABFC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2734C7-FB41-4AC2-89CF-94177B31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Trial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D3AAC7-3F10-4FB3-B6F8-96A62639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항상 시도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27E534-D5AD-46FF-9119-A44BED948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35A989-EB23-4CC1-8F2E-7737ED82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Assumptive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D4F43D-26E5-4730-B996-68BA41F9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 전제 대화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00B0A3-4501-4D33-B9C0-FA6A13A4C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AD5AE7-C915-42F4-BCF7-E884AFA6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Alternative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889A06-BF5F-4EB2-A7D4-7700AADB9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대안 제시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2EF775-ED5B-4050-AC53-81A23E0E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1FBCDC-10B4-4ACD-A47A-A44C6C3C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Indifference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767AE-6F78-4EF2-B321-7CBE4532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선택권 부여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21D6EF-601D-42FD-B5FB-5F4E04C1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54DC74-56EA-4087-9023-A09DABE4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Silence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3D8D14-5B2D-4107-AA59-949F8940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침묵 활용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4DF9B9-C082-4404-8D89-75D687B8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24 / 50</a:t>
            </a:r>
          </a:p>
        </p:txBody>
      </p:sp>
    </p:spTree>
    <p:extLst>
      <p:ext uri="{BB962C8B-B14F-4D97-AF65-F5344CB8AC3E}">
        <p14:creationId xmlns:p14="http://schemas.microsoft.com/office/powerpoint/2010/main" val="187171570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1BF7CF-665B-4A70-B62D-23BC10C7F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5 STEP 외 · 거절 확률을 낮추는 언어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A38038-EB3D-4750-8F5C-4EE86764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047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“바쁘시니까”</a:t>
            </a:r>
          </a:p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“이미 좋은 일 많이 하시겠지만”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530E80-8F8F-4071-9E1F-7C4956E7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704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쿠션 멘트는 피치 전반에 꼭 필요한 핵심 요소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F984F3-A6E3-411E-AEE1-592039D72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25 / 50</a:t>
            </a:r>
          </a:p>
        </p:txBody>
      </p:sp>
    </p:spTree>
    <p:extLst>
      <p:ext uri="{BB962C8B-B14F-4D97-AF65-F5344CB8AC3E}">
        <p14:creationId xmlns:p14="http://schemas.microsoft.com/office/powerpoint/2010/main" val="94614897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B7C27D-C4BA-40D2-AFEB-EDD2932B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3B806B-0A73-4B4D-B778-A105C6D1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관찰에 맞춘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3A7A7D-5F50-4DFE-8268-1C848E33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사람의 약점에 따라 처방을 달리한다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C46F84-036A-4535-BFA2-32390CB0C0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de650222d5496f"/>
          <a:stretch xmlns:a="http://schemas.openxmlformats.org/drawingml/2006/main"/>
        </p:blipFill>
        <p:spPr>
          <a:xfrm xmlns:a="http://schemas.openxmlformats.org/drawingml/2006/main">
            <a:off x="80962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293A8D-CC20-40FF-A3B8-8E814724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146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리액션이 약하다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D138C5-C181-46FB-8034-646AF07B2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765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리액션 강화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53001C-3D1D-41B3-9E87-C7590EE5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433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표정·제스처 / 즉각 대응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임펄스·바디랭귀지 / 롤플레이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10D2C9-9BE1-4E8C-A1A8-301F327DB7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2146d82b294903"/>
          <a:stretch xmlns:a="http://schemas.openxmlformats.org/drawingml/2006/main"/>
        </p:blipFill>
        <p:spPr>
          <a:xfrm xmlns:a="http://schemas.openxmlformats.org/drawingml/2006/main">
            <a:off x="6419850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2F3110-2149-49AB-8A90-CBDBA2AC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146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부스 연결이 약하다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B9DABD-31A7-451A-9745-6CB87B54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765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스트릿 스킬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B8E46D-A025-471C-AAF1-9CD7636C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5433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접근 방법 / 첫인상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거절 극복 / 고객 유형별 접근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E4F59B-94C7-4899-98B6-E3688242C7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fa582a2cc64683"/>
          <a:stretch xmlns:a="http://schemas.openxmlformats.org/drawingml/2006/main"/>
        </p:blipFill>
        <p:spPr>
          <a:xfrm xmlns:a="http://schemas.openxmlformats.org/drawingml/2006/main">
            <a:off x="809625" y="44577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10F90E-330F-46EA-866F-85D73E81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291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클로징이 약하다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430FE2-2899-4CFD-9CE6-D53CB1E1C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910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클로징 강화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9692A8-269A-47F5-869B-2C8BC24B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578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TAAIS / Buying sign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침묵·대안 / 클로징 타이밍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AE7569-C1F2-4EF5-9224-6D777CBB53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396bfd85bb4f67"/>
          <a:stretch xmlns:a="http://schemas.openxmlformats.org/drawingml/2006/main"/>
        </p:blipFill>
        <p:spPr>
          <a:xfrm xmlns:a="http://schemas.openxmlformats.org/drawingml/2006/main">
            <a:off x="6419850" y="44577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99A010-B4D3-4E45-9A70-04D53F67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4291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이미 잘한다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5B77A6-7754-43B1-A373-A562F3A37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7910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목표 상향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37CE6D-2C4D-4AE0-8BE7-8250C8537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2578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높은 목표 / 자기주도 성장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리더십·멘토링 / 커리어 설계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C23829-0C03-4F9C-B3F8-76E11E6A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26 / 50</a:t>
            </a:r>
          </a:p>
        </p:txBody>
      </p:sp>
    </p:spTree>
    <p:extLst>
      <p:ext uri="{BB962C8B-B14F-4D97-AF65-F5344CB8AC3E}">
        <p14:creationId xmlns:p14="http://schemas.microsoft.com/office/powerpoint/2010/main" val="90434323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5B3491-CD0E-4367-B69D-AA0BDA44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EDC50B-55B6-451E-A2C0-0BCADFBF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피드백의 세 가지 시간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0D62B0-0E4A-40B6-817F-B246958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 전, 필드 중, 필드 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4E2B2-29CE-4D39-81AF-7AEC3FDBA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WHAT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B6EA31-0476-4542-B3D9-223A5E6C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336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8DF353-AA47-45D8-9B28-AFE210D36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336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점검하고 설계한다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1B82AB-2B93-4CCC-9008-0CB0F981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HOW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E676ED-D92F-44BB-B74B-998ADB16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448050"/>
            <a:ext cx="336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1D182E-44F9-42AC-A94C-A9DB050FA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48125"/>
            <a:ext cx="336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관찰하고 보여준다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D8C078-C8E3-4F4A-AC11-1DC7B43D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WHY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3BA98F-0DE0-4F8E-BEDA-6CC5DC6D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448050"/>
            <a:ext cx="336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5BD2D8-0A93-4FB4-872F-D91A0202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4048125"/>
            <a:ext cx="336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돌아보고 다음을 설계한다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EF8FF2-D26E-4950-8EC4-74CC6DFE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27 / 50</a:t>
            </a:r>
          </a:p>
        </p:txBody>
      </p:sp>
    </p:spTree>
    <p:extLst>
      <p:ext uri="{BB962C8B-B14F-4D97-AF65-F5344CB8AC3E}">
        <p14:creationId xmlns:p14="http://schemas.microsoft.com/office/powerpoint/2010/main" val="10047899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292AA5-C43E-480F-90D2-7FE78F35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102BA4-813E-4AEB-B07B-341A8E67D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전 · 함께 준비하는 여섯 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AB74E9-FA1F-4EC7-8506-A118B69B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배울지와 어떻게 시도할지를 함께 설계한다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F82A75-59C9-4CA0-A257-A91493E7D6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73e0acb60b4c83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F15E04-51FC-454B-BE04-789D96ED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피치 점검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908725-82A9-42CE-9407-290956DD8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피치 숙지 · 클로즈 · 약정서 핸들링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439733-1B06-43E6-BEB0-D3F5C37D38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f83482e76e4d2c"/>
          <a:stretch xmlns:a="http://schemas.openxmlformats.org/drawingml/2006/main"/>
        </p:blipFill>
        <p:spPr>
          <a:xfrm xmlns:a="http://schemas.openxmlformats.org/drawingml/2006/main">
            <a:off x="6438900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5997F7-FC6B-4F06-A5AF-E4598693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7146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니즈 파악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724330-F1C6-41D3-BAC5-98D39E086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1242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내일 필드에서 배우고 싶은 것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9A56DF-965C-47DB-AA1E-F9CE7A4D73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fc6195e3bc4265"/>
          <a:stretch xmlns:a="http://schemas.openxmlformats.org/drawingml/2006/main"/>
        </p:blipFill>
        <p:spPr>
          <a:xfrm xmlns:a="http://schemas.openxmlformats.org/drawingml/2006/main">
            <a:off x="828675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FD505B-0116-4053-9DFD-25E0095E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목표 설정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098C0D-D6FB-4AE4-AB8C-F922CB749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필드시간 · 리해쉬 · 클로즈 · 개인+섹터 AVG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AE1E57-9484-4C45-ACAB-E4D375E203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d8dc68b4f04c9a"/>
          <a:stretch xmlns:a="http://schemas.openxmlformats.org/drawingml/2006/main"/>
        </p:blipFill>
        <p:spPr>
          <a:xfrm xmlns:a="http://schemas.openxmlformats.org/drawingml/2006/main">
            <a:off x="6438900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DFB759-4C22-463A-A196-E210E77AA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8195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사이트 전략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EB86E1-3920-49B8-9432-3CA7A61A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2291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사이트를 익숙하게 하고 할 수 있다는 기대 만들기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2C7842-78D5-4731-9DA6-CE3BCE71B3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138a3e695f410e"/>
          <a:stretch xmlns:a="http://schemas.openxmlformats.org/drawingml/2006/main"/>
        </p:blipFill>
        <p:spPr>
          <a:xfrm xmlns:a="http://schemas.openxmlformats.org/drawingml/2006/main">
            <a:off x="828675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7936F3-F7A3-4675-8A11-5FDDBACA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프리엠티브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5B4624-D2E9-4D46-9438-77E42FED6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타 에이전시 · 우천 등 네거티브 요소 사전 안내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57F3DB-E455-47A5-A862-F16F561981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d6caa19e5f4a7b"/>
          <a:stretch xmlns:a="http://schemas.openxmlformats.org/drawingml/2006/main"/>
        </p:blipFill>
        <p:spPr>
          <a:xfrm xmlns:a="http://schemas.openxmlformats.org/drawingml/2006/main">
            <a:off x="6438900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2111C3-BA5F-4BA4-8FDC-ABADBD35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9244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물품과 복장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3B03EB-6343-4F53-9EEB-C3C90CC43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53340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콜백싯 · 조끼 · ID카드 · 태블릿 · 부스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CE591C-6650-4132-998A-405C631B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28 / 50</a:t>
            </a:r>
          </a:p>
        </p:txBody>
      </p:sp>
    </p:spTree>
    <p:extLst>
      <p:ext uri="{BB962C8B-B14F-4D97-AF65-F5344CB8AC3E}">
        <p14:creationId xmlns:p14="http://schemas.microsoft.com/office/powerpoint/2010/main" val="161904809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2E82EB-360B-4FCE-ACDA-6FAD31C4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52299E-E11B-4D9D-B10C-FF8018A0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중 · 실시간으로 끌어가는 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24554E-DC5D-46AB-A19A-206EF314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관찰하고, 보여주고, 케어한다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3776D8-3D9B-4E66-A5DF-BA9235736B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11e2aaf82d4d5f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579A95-2EAE-447E-9343-0C93D005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대상 파악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AC5C6F-96FB-4098-B108-14A4A9F4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유형과 이해도를 파악한다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392178-DCB6-4BD0-B1CB-404F7A6B36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0b62e04c934cba"/>
          <a:stretch xmlns:a="http://schemas.openxmlformats.org/drawingml/2006/main"/>
        </p:blipFill>
        <p:spPr>
          <a:xfrm xmlns:a="http://schemas.openxmlformats.org/drawingml/2006/main">
            <a:off x="6438900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25EC50-EA1C-4A67-BF1C-EED3EA15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7146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집중과 계속 시도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EA97A8-30DF-4F28-8BC1-C36226234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1242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계속된 시도로 객관적 데이터를 쌓는다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6B6E5D-85B1-45C6-8938-BB9A18DB98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4f483dab8d41cf"/>
          <a:stretch xmlns:a="http://schemas.openxmlformats.org/drawingml/2006/main"/>
        </p:blipFill>
        <p:spPr>
          <a:xfrm xmlns:a="http://schemas.openxmlformats.org/drawingml/2006/main">
            <a:off x="828675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9CC284-09C1-443F-A3E2-19C34910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상황에 맞는 피드백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63D3CB-6875-4AA6-9743-90C584C4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칭찬 · 즉시 CS · 넘버 피드백 / 2시간마다 콜백싯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9B9F39-AAF1-4287-AF29-66618B9233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c45700f13048bb"/>
          <a:stretch xmlns:a="http://schemas.openxmlformats.org/drawingml/2006/main"/>
        </p:blipFill>
        <p:spPr>
          <a:xfrm xmlns:a="http://schemas.openxmlformats.org/drawingml/2006/main">
            <a:off x="6438900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41AB05-29FE-44BA-8AFC-BE0F8004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8195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Showing Is The Best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07EE6F-4749-4EE1-9473-BA278916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2291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쉽고 빠른 벨로 직접 보여준다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6C7CF1-540F-4659-B2D3-4EDF4F9473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0d827fb49844f3"/>
          <a:stretch xmlns:a="http://schemas.openxmlformats.org/drawingml/2006/main"/>
        </p:blipFill>
        <p:spPr>
          <a:xfrm xmlns:a="http://schemas.openxmlformats.org/drawingml/2006/main">
            <a:off x="828675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431B08-02B1-439D-A2D7-7ACC29EEB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네거티브 파악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D74448-FBAD-4D61-9860-618FC154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빠르게 해결하고 멘탈을 케어한다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037DD2-913D-4B8B-92C6-3D97738D85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9b24958b734091"/>
          <a:stretch xmlns:a="http://schemas.openxmlformats.org/drawingml/2006/main"/>
        </p:blipFill>
        <p:spPr>
          <a:xfrm xmlns:a="http://schemas.openxmlformats.org/drawingml/2006/main">
            <a:off x="6438900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D63C07-CFA9-40FE-8865-C81C3D68A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9244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좋은 소식 공유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1C3DB5-CC42-42AD-ACB6-BB9C9EC0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53340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시민의 응원과 후원자가 남긴 후원 사유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161F2F-0A84-4116-8928-BC0B8F851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29 / 50</a:t>
            </a:r>
          </a:p>
        </p:txBody>
      </p:sp>
    </p:spTree>
    <p:extLst>
      <p:ext uri="{BB962C8B-B14F-4D97-AF65-F5344CB8AC3E}">
        <p14:creationId xmlns:p14="http://schemas.microsoft.com/office/powerpoint/2010/main" val="170038707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154629-4B91-48D0-8DE3-29CB07D72B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3e3eb6cf4c489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95A1E3-B6CE-44E7-ABA0-6DE000B5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49CF58-8E56-46B8-B57E-B057FCFDC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후 · 하루를 남기는 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A0C79D-DBAF-4E8E-A486-C1BF38AE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오늘을 복기하고 내일을 설계한다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0FF4D8-D097-4D8E-83C3-AF08F2856F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90f4cfba6b44ba"/>
          <a:stretch xmlns:a="http://schemas.openxmlformats.org/drawingml/2006/main"/>
        </p:blipFill>
        <p:spPr>
          <a:xfrm xmlns:a="http://schemas.openxmlformats.org/drawingml/2006/main">
            <a:off x="723900" y="26765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B73B79-F301-4FF4-AED0-C87E50F4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47950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필드 소감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A3BE72-D6F3-44FC-9F51-001BCF2B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00400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오늘 어땠는가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배웠고, 무엇이 좋고 아쉬웠는가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343918-2547-4B6F-BCE1-8A2097E006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c403ae240a4b5d"/>
          <a:stretch xmlns:a="http://schemas.openxmlformats.org/drawingml/2006/main"/>
        </p:blipFill>
        <p:spPr>
          <a:xfrm xmlns:a="http://schemas.openxmlformats.org/drawingml/2006/main">
            <a:off x="723900" y="41529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9F494F-93F6-4377-9CE3-FEEBE2B7D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2432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콜백싯 기준 피드백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ACB8B6-0B1F-464A-B06E-4FEECE684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76775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함께 필드한 사람들의 넘버를 비교한다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넘버 · 스킬 · 태도의 보완점을 이야기한다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7EEE34-DE5B-46BB-B1B3-13020C51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30 / 50</a:t>
            </a:r>
          </a:p>
        </p:txBody>
      </p:sp>
    </p:spTree>
    <p:extLst>
      <p:ext uri="{BB962C8B-B14F-4D97-AF65-F5344CB8AC3E}">
        <p14:creationId xmlns:p14="http://schemas.microsoft.com/office/powerpoint/2010/main" val="45789958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C67EBD-0FE6-465D-B1F4-5BCE339E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40EB41-858F-4E8C-8CD9-25193670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기본 5일 교육 일정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88471B-AB22-4D34-A924-2951AD26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다음 교육 일정을 미리 안내한다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2C5D85-3112-40A6-BE50-C8AF90D0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63841E-4FFF-4734-9E33-FB874823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E0D038-1D5D-4B2E-8B0C-C4EFAFF3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콜백싯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653A4F-8F49-4919-9E7E-ED155BFC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기본 작성법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E7A973-9F95-4CE2-A1D0-E53513C9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10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7C367C-425D-4059-929A-631D74EE7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D93255-2985-4C54-B065-F4FA748D6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5A6A2B-84D8-437C-97C3-EBE59CE6A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분석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7F43D0-D093-4722-9411-CAEA6EB5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Contact to Stop</a:t>
            </a:r>
          </a:p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부스 컨트롤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95417C-72CD-4004-B6E6-05E84F97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866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CFA42A-2731-41ED-BB63-87F4EC59A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DC7182-D98F-4608-A2E6-18FE8D26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0EC6D2-DBA7-4976-9B7F-05C1CE04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 Steps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45E47F-4472-4563-8FA8-E9B69036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표준 흐름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6F694F-3FB7-4430-91F4-48201787C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E24F85-1788-4FE8-92A9-5782F9A6B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9022BF-4845-44B8-8B3B-2F5D403BB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5036B2-EAF5-433F-99E0-4FED15B55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DCA8BD-0DAB-49BD-8CF8-4BB056B6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클로징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FBE649-EB25-4318-94AB-203D9C81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D31DB3-42D0-4672-90B5-400057E9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892041-9C69-453E-B5A1-47F1560C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D21AD4-200E-4D7F-94B3-A2CF0B97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약정서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8B6D68-B621-4A93-AB8B-B0B68E93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리해쉬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7BE385-8FD9-406D-A146-957D0C86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31 / 50</a:t>
            </a:r>
          </a:p>
        </p:txBody>
      </p:sp>
    </p:spTree>
    <p:extLst>
      <p:ext uri="{BB962C8B-B14F-4D97-AF65-F5344CB8AC3E}">
        <p14:creationId xmlns:p14="http://schemas.microsoft.com/office/powerpoint/2010/main" val="2106815750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0B56B8-937E-482D-9947-86956694DB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cccfc7ffb7414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4C1AB1-CBD5-41CC-9E16-EFE22064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14AD42-2280-45C6-A731-8DBB4AF1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상대에게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필요한 말인가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D91F80-C6B7-450C-AA48-D93814ED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하고 싶은 말보다, 상대에게 정말 필요한 말인지 먼저 고민한다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CF2DBA-0E71-4A1A-83E2-C71696F1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32 / 50</a:t>
            </a:r>
          </a:p>
        </p:txBody>
      </p:sp>
    </p:spTree>
    <p:extLst>
      <p:ext uri="{BB962C8B-B14F-4D97-AF65-F5344CB8AC3E}">
        <p14:creationId xmlns:p14="http://schemas.microsoft.com/office/powerpoint/2010/main" val="26446920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2879DE-B672-4FD9-AC0B-51782B02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ED5D43-63CD-4C0F-AD5A-E3419D2F5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피드백의 다섯 가지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CAB2D6-3EC0-4973-AC0F-5F26078DF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좋은 의도만으로는 충분하지 않다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D9C9D5-43E8-4717-952A-C872E5B10F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8e6512473045e4"/>
          <a:stretch xmlns:a="http://schemas.openxmlformats.org/drawingml/2006/main"/>
        </p:blipFill>
        <p:spPr>
          <a:xfrm xmlns:a="http://schemas.openxmlformats.org/drawingml/2006/main">
            <a:off x="762000" y="27146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710996-D58B-4AAB-8CC2-D5FB2B24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146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콜백싯 기준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363914-B2E0-4F8B-AEA1-0A85EA4E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146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감정·느낌 대신 넘버 · 스킬 · 태도를 기준으로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DA6CB3-F8B5-4841-8A90-915E1BB829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fa008328574258"/>
          <a:stretch xmlns:a="http://schemas.openxmlformats.org/drawingml/2006/main"/>
        </p:blipFill>
        <p:spPr>
          <a:xfrm xmlns:a="http://schemas.openxmlformats.org/drawingml/2006/main">
            <a:off x="762000" y="33813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9E5C52-3B2E-48C4-A42B-91F9714E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8137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상대에게 필요한 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593E1C-DEF3-411E-86CF-62207CA4C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8137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내가 하고 싶은 말인지 먼저 점검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73EB89-EE60-43A5-9312-8202A937F7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f3af0edfc746c6"/>
          <a:stretch xmlns:a="http://schemas.openxmlformats.org/drawingml/2006/main"/>
        </p:blipFill>
        <p:spPr>
          <a:xfrm xmlns:a="http://schemas.openxmlformats.org/drawingml/2006/main">
            <a:off x="762000" y="40481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184095-7C39-434B-BC1A-F70FD863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481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KISS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637C50-37EC-4DC5-8199-40B1BA749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0481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간단 · 명료 · 눈높이, 공감할 수 있는 예시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FA7253-DB06-4010-85B2-598CBCAF6B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8dcb614f4f454f"/>
          <a:stretch xmlns:a="http://schemas.openxmlformats.org/drawingml/2006/main"/>
        </p:blipFill>
        <p:spPr>
          <a:xfrm xmlns:a="http://schemas.openxmlformats.org/drawingml/2006/main">
            <a:off x="762000" y="47148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03EC77-5BF3-46BB-866E-EB55A552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1487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COD 공부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DA555A-3B2D-4375-A018-3A64E43D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1487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올바른 정보인지 확인, 긴가민가한 말은 하지 않기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91A2F9-BAD3-4CE9-9D55-266DEE252A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23883c0fa74c0d"/>
          <a:stretch xmlns:a="http://schemas.openxmlformats.org/drawingml/2006/main"/>
        </p:blipFill>
        <p:spPr>
          <a:xfrm xmlns:a="http://schemas.openxmlformats.org/drawingml/2006/main">
            <a:off x="762000" y="53816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4D0485-C4BE-44BB-A431-BF9EE0F8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816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타이밍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A4A315-FEB2-446E-AC86-EF6F1654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3816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필수 상황 외에는 2시간에 1번, 그 사이는 개인 목표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04EE91-F478-46A9-97C5-EA382831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피드백 수용이 빠른 신입, 주거테리·유동이 적은 B패턴에는 전략적으로 활용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D1EE92-AC73-4FE4-832D-C9630563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33 / 50</a:t>
            </a:r>
          </a:p>
        </p:txBody>
      </p:sp>
    </p:spTree>
    <p:extLst>
      <p:ext uri="{BB962C8B-B14F-4D97-AF65-F5344CB8AC3E}">
        <p14:creationId xmlns:p14="http://schemas.microsoft.com/office/powerpoint/2010/main" val="747522493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631F70-F804-4DBA-99A5-3F7B62CA2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F8ED58-E770-4BBC-85E0-611D3D3D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샌드위치 기법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D0604F-88D6-4A5E-B877-010722DA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긍정으로 시작하고, 개선점을 전하고, 다시 긍정으로 마무리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A3330F-F0C8-473F-A79B-007F0E7EFC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ea9d1196c343ca"/>
          <a:stretch xmlns:a="http://schemas.openxmlformats.org/drawingml/2006/main"/>
        </p:blipFill>
        <p:spPr>
          <a:xfrm xmlns:a="http://schemas.openxmlformats.org/drawingml/2006/main">
            <a:off x="7239635" y="2476500"/>
            <a:ext cx="4094480" cy="11811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A581CE-1D47-41BC-BE59-2A1D798D0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48000"/>
            <a:ext cx="723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0D04BB-2C2C-4463-8543-FA59D60C37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06448f14ed4516"/>
          <a:stretch xmlns:a="http://schemas.openxmlformats.org/drawingml/2006/main"/>
        </p:blipFill>
        <p:spPr>
          <a:xfrm xmlns:a="http://schemas.openxmlformats.org/drawingml/2006/main">
            <a:off x="7239635" y="3543300"/>
            <a:ext cx="4094480" cy="1181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C22954-BAE3-4A65-9687-D2B0E431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14800"/>
            <a:ext cx="723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24EDF6-BCF1-4497-9E9E-DF2F6E9A51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8f276e457d425d"/>
          <a:stretch xmlns:a="http://schemas.openxmlformats.org/drawingml/2006/main"/>
        </p:blipFill>
        <p:spPr>
          <a:xfrm xmlns:a="http://schemas.openxmlformats.org/drawingml/2006/main">
            <a:off x="7239635" y="4610100"/>
            <a:ext cx="4094480" cy="11811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13EDB8-DB27-4A2F-878D-611B3E71E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81600"/>
            <a:ext cx="723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0E56F9-BBB9-4935-9DDF-2FCD59C4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긍정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B57817-E64A-4295-83D6-6413827B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좋았던 행동을 구체적으로 인정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FC203D-837F-483D-949C-AB17AA40E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개선점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4B58FB-B749-4E42-AB32-808D85E63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바꿔볼 한 가지를 제안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41FEB7-7579-4329-BAD6-0340A5DDE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긍정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B1A5A5-753D-408B-A4F2-0E8EC8EC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01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잘할 수 있다는 믿음으로 마무리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FB3CED-E001-4FC3-82F0-2FB9ACF19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“이것도 저것도 좋았는데, 이 부분만 이렇게 바꿔보면 어떨까요?”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72D4A2-A436-4FC2-B5B5-B653F953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34 / 50</a:t>
            </a:r>
          </a:p>
        </p:txBody>
      </p:sp>
    </p:spTree>
    <p:extLst>
      <p:ext uri="{BB962C8B-B14F-4D97-AF65-F5344CB8AC3E}">
        <p14:creationId xmlns:p14="http://schemas.microsoft.com/office/powerpoint/2010/main" val="192298358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DCA796-2D56-45A7-B785-FEE03B76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3C9AD8-4341-4CDE-B7EF-A7790A39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SBI 모델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C5138B-04D3-4A09-B616-CCBCB4C8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상황 · 행동 · 영향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F90CF9-34D6-4DB6-B632-53161681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3048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7D5FC-8CFD-4252-8902-CCC84A991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Situation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4AECAD-ADFA-4282-BA5E-4D22C827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5E024A-5AB3-4705-BF33-E13F8849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292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이럴 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CC4A5B-2DA7-4FC0-BED6-CD66FFFA2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62250"/>
            <a:ext cx="3048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6BA491-4024-466D-886A-3A6F05DDC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095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Behavior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CE6D2F-6040-41DA-82DD-7552A0355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148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행동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4844E6-9F03-46C5-B51E-8BA3EEB0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2292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이렇게 하면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906C95-58DC-479D-B9AE-854A6AF4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62250"/>
            <a:ext cx="3048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0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0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0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9EB87D-2D2F-4EF2-BB9A-D8D3CCA8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95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Impact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C83B33-8F8C-4478-ADA1-E58D3F15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5148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영향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4FFA3C-5B91-4B8F-BE0A-CB9593932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2292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이런 장점이 있어요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859CA8-6626-4A6D-97A2-F8730C5D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“이럴 땐 이렇게 하면 이런 장점이 있어요!”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64BF62-C173-4B43-8D2D-19E683F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35 / 50</a:t>
            </a:r>
          </a:p>
        </p:txBody>
      </p:sp>
    </p:spTree>
    <p:extLst>
      <p:ext uri="{BB962C8B-B14F-4D97-AF65-F5344CB8AC3E}">
        <p14:creationId xmlns:p14="http://schemas.microsoft.com/office/powerpoint/2010/main" val="2008438098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B16BB3-250A-49A0-A4EE-B66D7D25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7D32FB-BD4A-4CDE-B148-44E32B2C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5R 코칭법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7AB4C1-4558-4FBA-8D09-D03CEA95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디테일한 발전을 위한 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F9EBB2-839E-49FD-9006-5C80705E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Relation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572AA4-8E28-478E-B21B-64C0D41F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관계형성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0B2EC3-5B77-4CC8-8FDE-FF9D66AD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Refocus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277CC2-0C97-487B-A436-6E30E458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목표설정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6BE915-F99F-410F-AC8E-E14ED61C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5FCCC9-7BDF-42BD-ADDE-CB8F55E2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현실 장애물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C21B09-B206-4104-8169-5C829BF9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Resources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274A3A-424F-40FB-A603-D8901A61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해결자원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8A772E-120B-4238-8709-634965CC3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Responsibility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F7BDB1-97B3-4E51-8F5D-3796FD4C6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책임지기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04FF0B-BFAA-4ADF-A4FB-4D501EAC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9592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목표는? 장애물은? 그럼에도 해결할 방법은? 언제까지 무엇을 할지 약속하고 지킨다.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74B416-EEAF-4ABC-9AC7-C91EB500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36 / 50</a:t>
            </a:r>
          </a:p>
        </p:txBody>
      </p:sp>
    </p:spTree>
    <p:extLst>
      <p:ext uri="{BB962C8B-B14F-4D97-AF65-F5344CB8AC3E}">
        <p14:creationId xmlns:p14="http://schemas.microsoft.com/office/powerpoint/2010/main" val="139697886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D36474-F380-48F9-905D-83483C74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FF0D8B-C8DD-46E9-A12C-8F4BF216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트레이너도 콜백싯을 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0490BC-E0F5-45F2-9A16-15331CD3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내가 신입을 위해 무엇을 챙겼는가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6ACD05-0AB6-4F7B-9209-F13981DDD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190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E50FB2-B062-473F-AEB6-6CDFFD2B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71825"/>
            <a:ext cx="319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Number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49913E-3319-4008-A153-74D6423E7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319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넘버를 쌓게 했는가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5CFA8E-0D23-4280-B843-84BDDE90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3190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 준비 / 시도하게 하는 피드백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거절 없는 시도 횟수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7A9103-2982-481E-BC56-A590F801C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57500"/>
            <a:ext cx="3190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78ADD6-FFA4-4096-905C-410BF48E5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71825"/>
            <a:ext cx="319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Pitch · Skill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512D9A-30E1-4670-B2DF-417F7785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14750"/>
            <a:ext cx="319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스킬을 보강했는가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1C5319-0CFC-4387-9550-50ED9ED8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572000"/>
            <a:ext cx="3190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약한 부분 즉시 교육 / 어떤 스킬이든 보강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내일 바로 쓸 수 있게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C9AB9C-73BE-4319-9E9E-9B66F6ED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57500"/>
            <a:ext cx="3190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65CE3F-5EF7-4701-B111-0EC9A949B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71825"/>
            <a:ext cx="319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Attitude · Mental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42170D-4B3B-44F7-A046-B6D090B37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14750"/>
            <a:ext cx="319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멘탈을 지켜줬는가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4654EE-1EE1-42A2-B7CC-0F330E05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72000"/>
            <a:ext cx="3190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불안·두려움 제거 / 방해되는 마음 케어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필드에 온전히 집중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BDC139-1EBC-408F-820F-48DD2942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콜백싯이 신입을 키우듯, 트레이너의 콜백싯이 트레이너를 키운다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5614C1-6A90-48B3-8503-6EA645F4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37 / 50</a:t>
            </a:r>
          </a:p>
        </p:txBody>
      </p:sp>
    </p:spTree>
    <p:extLst>
      <p:ext uri="{BB962C8B-B14F-4D97-AF65-F5344CB8AC3E}">
        <p14:creationId xmlns:p14="http://schemas.microsoft.com/office/powerpoint/2010/main" val="781598996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5DA89F-4187-4622-850F-5ADB3BA411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3e736c340d4fb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222654-869A-4A6D-A219-0DFCDE7A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 자립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943754-86E5-4AE8-ADFC-F355FB08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혼자 설 수 있는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6주를 설계한다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532324-E89B-4C36-A198-618AEEF04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전략적인 스케줄과 필드 시간 확보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31304E-3009-48CD-95FC-F2C270F3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38 / 50</a:t>
            </a:r>
          </a:p>
        </p:txBody>
      </p:sp>
    </p:spTree>
    <p:extLst>
      <p:ext uri="{BB962C8B-B14F-4D97-AF65-F5344CB8AC3E}">
        <p14:creationId xmlns:p14="http://schemas.microsoft.com/office/powerpoint/2010/main" val="97969831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7D21F4-D8E1-40A3-8815-7F50B8E690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cfd6626fe4b2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8223ED-CBE9-4535-90D6-050D2407A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 자립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EDEC8D-C1BD-4637-BAAE-3A4A2F56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자립을 위한 6주 전략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B8527F-71E7-4745-88C3-BCB7F4D5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성장 속도에 맞춰, 단계별로 모니터링한다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91EB41-F7F8-42B0-95E6-69BF574A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1–2주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A914BD-DEB8-4E24-9454-34D47EF4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EC4AB3-604C-447D-904B-4446E6B9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2주 이내 달성이 이상적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스케줄과 필드 시간 확보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04FCA9-CB02-46F6-A292-3D4C4CFE1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3–5주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DD7D28-725E-4A4B-97C2-B8912C0F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로드트립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7D2B1D-EF16-4DC2-A875-70CADFAA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적극 활용하며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성장 과정을 모니터링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4329C1-D5BA-481A-BB32-33B77F002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약 6주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250359-1931-4727-90B4-4E36E7D2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적응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09F462-4480-46EB-B4D3-F32780DE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Self 시점 사전 안내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심리적 준비와 실전 역량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0AFF51-7BF3-4DD9-BC46-4D0F808B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6주는 원본의 트레이닝 운영 기준이며, 개인별 적응 속도를 고려한다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FAF533-0F8E-4DE7-A48A-EB36F371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39 / 50</a:t>
            </a:r>
          </a:p>
        </p:txBody>
      </p:sp>
    </p:spTree>
    <p:extLst>
      <p:ext uri="{BB962C8B-B14F-4D97-AF65-F5344CB8AC3E}">
        <p14:creationId xmlns:p14="http://schemas.microsoft.com/office/powerpoint/2010/main" val="188779156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B20961-4FC5-40F7-9105-EC5887FA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C21ECF-B3CE-4897-8752-378E70A6C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세 가지 핵심 역할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C4C07-760B-448A-847A-9144E28A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자발적으로 성장할 수 있는 환경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14209C-84F8-4297-B7BB-83EA1845FC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eae705b74646a6"/>
          <a:stretch xmlns:a="http://schemas.openxmlformats.org/drawingml/2006/main"/>
        </p:blipFill>
        <p:spPr>
          <a:xfrm xmlns:a="http://schemas.openxmlformats.org/drawingml/2006/main">
            <a:off x="81915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BE3A8A-FAC0-4430-996A-DBF70786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성취감 제공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059852-5F62-412C-90A6-35EDA229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내가 직접 해냈다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7E15C7-636C-468B-9F8F-430A56AB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두려워하면 돕고, 아니면 혼자 하게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두려움의 수준을 먼저 파악한다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DF4D95-9E07-4269-9D0A-E33CE15E60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7c4fc7d7a8411c"/>
          <a:stretch xmlns:a="http://schemas.openxmlformats.org/drawingml/2006/main"/>
        </p:blipFill>
        <p:spPr>
          <a:xfrm xmlns:a="http://schemas.openxmlformats.org/drawingml/2006/main">
            <a:off x="45085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168120-DCB3-4293-8B51-228F1AFF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두려움 제거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65A5F0-1F86-4841-A585-1B0C99A69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안전하게 도전한다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3643DA-D886-49AB-BB61-65B5894C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초기에 충분한 서포트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점진적으로 독립성을 부여한다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23945D-19F3-4460-BF3F-4A135DBEB8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212ea5467d4086"/>
          <a:stretch xmlns:a="http://schemas.openxmlformats.org/drawingml/2006/main"/>
        </p:blipFill>
        <p:spPr>
          <a:xfrm xmlns:a="http://schemas.openxmlformats.org/drawingml/2006/main">
            <a:off x="819785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4E2107-F529-43AF-94BE-63AC6C2C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35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인정과 칭찬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2EEEB5-F4B1-44D9-9B95-AC831CD20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스스로 깨닫게 한다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2702B7-2C54-42A2-B437-4E40ACC0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인정받을 때 주도적이 된다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혼냄보다 인정과 칭찬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559520-E7E5-46EA-8E8D-882A0BC3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40 / 50</a:t>
            </a:r>
          </a:p>
        </p:txBody>
      </p:sp>
    </p:spTree>
    <p:extLst>
      <p:ext uri="{BB962C8B-B14F-4D97-AF65-F5344CB8AC3E}">
        <p14:creationId xmlns:p14="http://schemas.microsoft.com/office/powerpoint/2010/main" val="127478169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520CCF-FB7C-42D2-ACBC-294ACCFC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54EE94-4C61-48F5-87A4-6DE5C6C0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캔슬 관리와 그로스 집중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BEC1F4-B325-4021-911C-3FF67C21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두려움이 세일즈 확신을 떨어뜨리지 않도록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B3102D-BF7D-4107-9253-E460C660C1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d8d35ae3924296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27EA06-9CA9-44DE-B87E-27DBD047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26C4C3-5743-441D-90F0-7A9E97CA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캔슬은 지점 차원에서 관리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BEP 대비 세일즈 타겟과 최종 수익을 분명히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4EF3B3-2F59-4F1C-BEFC-737310CF3A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de1cfeb05e43cb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7A06EE-7B83-43DE-AC01-BCA5F18BA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F7B822-5AF1-401A-AABE-A3D12A37C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그로스(Gross)에 집중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리젝을 자연스러운 일로 받아들일 심리적 준비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5E121F-B877-4F38-AE92-FB191961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원본의 안내 기준: 리젝 20–30% 가능성 / 하이롤러 1일 1건 리젝 리스크, 주 10세일즈+ 사전 프리엠티브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49DF60-17DA-489B-BD7D-3718B586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41 / 50</a:t>
            </a:r>
          </a:p>
        </p:txBody>
      </p:sp>
    </p:spTree>
    <p:extLst>
      <p:ext uri="{BB962C8B-B14F-4D97-AF65-F5344CB8AC3E}">
        <p14:creationId xmlns:p14="http://schemas.microsoft.com/office/powerpoint/2010/main" val="1743837112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05DB56-242A-40E0-BF5D-B6EAD0F8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A56EF7-61FA-4A79-A40B-473B9BB4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매슬로우 5단계 욕구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2707AE-514B-4303-B277-E501C6C4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다음 단계로 나아가도록 돕는다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907A1-AFBA-43D6-BA67-686356C3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8D731-959C-40B8-8CAC-AE2CE2AAB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생리적 욕구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3C5343-7540-45BA-8B82-557C4C81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7687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기본 생계와 수입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1E67A2-F072-46F2-8B57-632ECEDF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38862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EB67AF-7BDE-4F35-B868-F7570F19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47675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안전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8B8272-0C71-4310-BBF1-D18496BA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507682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두려움 제거,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안전한 도전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87334D-9C96-43FB-977B-82F46F7A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348615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75F4A3-533A-45D4-B711-4EFAA41B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07670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소속·애정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E52EA-43B0-4C6F-AECA-7DBB6181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67677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팀의 일원이라는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소속감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758044-80ED-4AB2-AE6E-1795E015F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0861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E495F3-051D-4FFA-96E8-4971C9DD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67665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존중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ECC0E5-2200-460F-BF83-3DBC9BF8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27672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인정과 칭찬,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성취를 알아주기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38F8E0-C4FD-4747-8357-F24ED112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68605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90FF6C-36E7-4A76-984D-B13DC23B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27660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자아실현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15534E-C567-4272-BB9E-29A2ADE0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87667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더 큰 목표,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리더로 성장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E1E5EE-EF30-4BA6-B893-D0293B42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원본에서 제시한 트레이닝 해석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4CB292-B590-4BC9-961B-3C1ACE91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42 / 50</a:t>
            </a:r>
          </a:p>
        </p:txBody>
      </p:sp>
    </p:spTree>
    <p:extLst>
      <p:ext uri="{BB962C8B-B14F-4D97-AF65-F5344CB8AC3E}">
        <p14:creationId xmlns:p14="http://schemas.microsoft.com/office/powerpoint/2010/main" val="322871166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3119B0-82B4-4C33-AA6C-CAC207F9A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32BE3F-71EB-41B7-A9AA-1DB2E5CB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결과를 함께 책임진다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D49D2B-A951-4F71-A7BB-C2976FE0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명확한 기준과 일관된 원칙, 그리고 Case by Case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1A9069-061A-4CB6-9CA2-74D7D2BB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3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3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50%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6765B0-E474-41F7-8E7F-A97BBA5A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762500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트레이너의 책임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62A46F-27A6-487F-9977-F41CE9B2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575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35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35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50%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3746FA-5D2C-4927-96F9-9151E1C4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762500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책임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C85002-705A-47AD-8D1D-8118F386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43 / 50</a:t>
            </a:r>
          </a:p>
        </p:txBody>
      </p:sp>
    </p:spTree>
    <p:extLst>
      <p:ext uri="{BB962C8B-B14F-4D97-AF65-F5344CB8AC3E}">
        <p14:creationId xmlns:p14="http://schemas.microsoft.com/office/powerpoint/2010/main" val="112239959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9EEC0E-152C-40D8-88EF-29D96D77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10D262-DC9D-451B-8ABC-B258A8FE5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Stay / Qualifying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236303-3F8F-4B7D-9556-648D47EA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반드시 오너와 상의하고 개별 상황을 고려한다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F33462-DF12-4AB0-88E7-596628FE8A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10210779204dee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6EF6F9-C0A9-4291-9EBE-36ABF8CA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STAY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B35D8F-498A-49D1-B628-0E8558C5D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결과가 좋거나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기준 도달에 확신이 있을 때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7E209B-F2EF-4B3F-82DC-68646D3578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eef2deb7c74cc8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F49D86-B88E-4D31-A07C-F45D3C14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QUALIFYING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FFE9F4-82A2-4C08-B90D-2B9C09E0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최소 기준 도달이 어렵고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확신이 없을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736D1C-A162-41BB-9CC4-BA617D6CE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명확한 기준과 일관된 원칙 위에서, 개별 상황에 맞춰 최선의 결정을 내린다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07BB13-30C3-4F85-B2EB-F2D5F238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44 / 50</a:t>
            </a:r>
          </a:p>
        </p:txBody>
      </p:sp>
    </p:spTree>
    <p:extLst>
      <p:ext uri="{BB962C8B-B14F-4D97-AF65-F5344CB8AC3E}">
        <p14:creationId xmlns:p14="http://schemas.microsoft.com/office/powerpoint/2010/main" val="618770154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FCA722-CD6D-4D26-83F1-B4AEAB3F24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d150687ce0476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594156-415C-43C8-89C8-E1080252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『에밀』에 관한 원본 강의자의 해석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396EC7-71A9-4FA1-BE7A-649F2DEF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047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알고 싶고,</a:t>
            </a:r>
          </a:p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배우고 싶은 욕구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827797-218E-4810-9642-5B6E813C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704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가르침보다 먼저 마음이 움직이게 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92EB98-8CEB-492C-976A-E5FDFF1FD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45 / 50</a:t>
            </a:r>
          </a:p>
        </p:txBody>
      </p:sp>
    </p:spTree>
    <p:extLst>
      <p:ext uri="{BB962C8B-B14F-4D97-AF65-F5344CB8AC3E}">
        <p14:creationId xmlns:p14="http://schemas.microsoft.com/office/powerpoint/2010/main" val="891852197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C307DB-1807-45E4-9394-4E59639B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EPILOGUE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B1C609-308D-454E-9192-CF6C1812D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우리의 트레이닝과 닿아 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A7D7DF-1C6E-4840-B175-285372C3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결국 신입에게 답이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D0A72A-1033-4D13-88DD-7E0F5475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먼저 배우고 싶게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224AB8-42A0-42C7-B961-735BF756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지식보다 먼저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호기심과 욕구를 켠다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7A690-A47F-4C9B-9F84-F490EEE24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6EE0A5-CAE6-46BC-B326-A1229E82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앞서지 말고 관찰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8A8868-AEB1-445F-8B0B-63CCFF3C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깨닫게 두고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필요할 때 돕는다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7058E-E9B9-47F5-9CD2-84D8FFE7B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1DB52-8732-461A-89C8-1D9352B9A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경험이 곧 배움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1C2232-8549-4476-AA3C-990DE660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어려움 속의 경험으로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신입은 자란다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F931DA-7F90-4B0A-BEBA-AFA5341C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B0B20B-A28B-4393-88C1-538EFB1E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46 / 50</a:t>
            </a:r>
          </a:p>
        </p:txBody>
      </p:sp>
    </p:spTree>
    <p:extLst>
      <p:ext uri="{BB962C8B-B14F-4D97-AF65-F5344CB8AC3E}">
        <p14:creationId xmlns:p14="http://schemas.microsoft.com/office/powerpoint/2010/main" val="83423878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D192F0-DC2E-4207-ACB5-BF8F528D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EPILOGUE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0B8E8-20B9-40BB-96A0-95CAE01B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내가 리더가 되고 싶었던 이유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87C5A5-7AA2-435D-A617-55C80EE4A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임재영 AOP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9B94F1-BB80-40C1-9230-EA06F59E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6798F3-AD63-4F5B-AEC4-FA4E650D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세일즈웍스의 첫 번째 목표여서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E80C7-CF33-4D37-B332-305C0CEA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AE53A-97D4-451F-B849-5BA2B67F2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146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내 가치관이 담긴 팀을 만들 수 있어서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6E93B6-DFE4-4669-AE1E-25D944730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813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CFC0EA-AA72-4681-8ED7-66762FC8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813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누군가의 리더가 된다는 것이 기뻐서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069088-C9C4-487E-BF8E-8E4FA9FE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813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44E1B0-E5CE-4715-8898-7D9E4A941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3813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‘OO리’라 불리는 친근함이 좋아서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A7E727-C17B-453D-81BD-B0A5E515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F7E236-69DE-4799-ABD9-F42F0259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481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조끼·피치카드·사물함을 쓸 수 있어서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1FF636-3D79-4DD3-BE1A-9DF9B4D0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481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0FE7CF-3DC8-40CC-878D-F20D06A1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0481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리더라는 위치가 동기부여가 되어서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C38A1A-6BD0-4D97-8B84-F2A8E970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291C27-7726-4E84-B6F4-06F95C36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148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상위 프로모션에 도전할 수 있어서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D2EE1B-CFB8-4EC6-8C0F-6E376CC8A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7148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0544CC-7346-41F8-84D6-85410D3CA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7148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리더힛 부담이 아닌 더 큰 비전으로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104FB7-1C72-4E47-A0E2-0C58047A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81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043D3C-D5C3-4E6C-8CF2-74438A9AA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3816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섬기고 돕는 자리에서만 배울 수 있어서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6E661C-587D-4F14-A1E7-D05B1658B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47 / 50</a:t>
            </a:r>
          </a:p>
        </p:txBody>
      </p:sp>
    </p:spTree>
    <p:extLst>
      <p:ext uri="{BB962C8B-B14F-4D97-AF65-F5344CB8AC3E}">
        <p14:creationId xmlns:p14="http://schemas.microsoft.com/office/powerpoint/2010/main" val="165622548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3F3D48-B4D7-45D5-8609-672BC90440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6b6486dec6418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55A880-ACC7-4937-81BC-AA0271C89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내가 리더가 되고 싶었던 열 번째 이유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CCE442-649C-4EBE-ABF0-2DADC95E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딱 한 걸음 앞서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기다릴 줄 아는 리더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AB1B6-29CF-48BC-8405-0CF52A9F9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아주 먼 곳까지 내다보되, 앞서 달음박질하지 않고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언제든 따라올 수 있도록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2E0064-ABC8-4AEE-9B59-9F36357A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48 / 50</a:t>
            </a:r>
          </a:p>
        </p:txBody>
      </p:sp>
    </p:spTree>
    <p:extLst>
      <p:ext uri="{BB962C8B-B14F-4D97-AF65-F5344CB8AC3E}">
        <p14:creationId xmlns:p14="http://schemas.microsoft.com/office/powerpoint/2010/main" val="420687764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C9D838-517A-4816-8E7E-6895A2327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TAKEAWAY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12CB79-1DE1-4927-9EF3-BFE27E5E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신입 트레이닝, 한 장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70F9B1-BAD8-4460-8BE8-46168648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나가면 반드시 세일즈하는 신입으로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D8ED48-E53B-438C-92F0-0FF0A836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644378-692B-42B3-8024-60259050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1 · 경험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DDE67F-46D4-4921-841C-5B590AA34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242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2시간 후 반응·태도 관찰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쇼잉 / 두려움 제거 / 프리엠티브 / 제로 방지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E755C9-1CE9-48FC-B67C-60E50B14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51AEC0-0B69-47CC-BCDE-9DA38460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146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2 · 학습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08DEDE-FD78-4C5D-9E47-DA7E085B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242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첫 세일즈 1개 함께 달성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학습력·성장성 / 개선점 피드백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2282C8-250E-4970-9BF1-F750BB81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53B7FB-EC94-4D32-B579-DCB8F29A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95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3 · 판단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E5B12B-6224-406C-9F8D-31CD9032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291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전략적 사이트 선택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성과 패턴 / 오너와 Stay·Qualifying 판단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F9DB1F-C820-47DB-A1E2-A971A0B1C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195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96DACB-0CEB-4596-9ABD-CEDCDB57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195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태도와 스킬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CF8074-C245-40BC-99FC-919272E3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2291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성취감 / 인정과 칭찬 / 스스로 깨닫게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5 Step / TAAIS / 쿠션 멘트 / 약점별 보강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5BA8EC-F113-43C5-A78E-723AA97F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매일: 사이트와 넘버 / 약한 스킬 보강 / 두려움 제거 / 신입 콜백싯 함께 점검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1D4B4C-C8A6-46BD-A7A8-C990CFE7B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49 / 50</a:t>
            </a:r>
          </a:p>
        </p:txBody>
      </p:sp>
    </p:spTree>
    <p:extLst>
      <p:ext uri="{BB962C8B-B14F-4D97-AF65-F5344CB8AC3E}">
        <p14:creationId xmlns:p14="http://schemas.microsoft.com/office/powerpoint/2010/main" val="955472774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75B212-40D5-47C2-8BDB-03C5023466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a5429c7a54d1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2E39CC-44DF-445E-B143-AD516213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임재영 AOP · Presence Team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AA53CD-CC75-4FD4-9613-FC1A49EB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후원의 기쁨과</a:t>
            </a:r>
          </a:p>
          <a:p xmlns:a="http://schemas.openxmlformats.org/drawingml/2006/main">
            <a:pPr algn="l">
              <a:def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가치를 전하는 사람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FC647E-1623-4F76-9E95-6F9486ED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그곳이 어디든 가는 사람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171C64-7F51-48BC-BAF6-FBDADCE59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72125"/>
            <a:ext cx="904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임재영 AOP · Presence Team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010-5178-1713 · jaeyoung5178@naver.com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2AC0F3-EADD-486B-B0DB-F7501B106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50 / 50</a:t>
            </a:r>
          </a:p>
        </p:txBody>
      </p:sp>
    </p:spTree>
    <p:extLst>
      <p:ext uri="{BB962C8B-B14F-4D97-AF65-F5344CB8AC3E}">
        <p14:creationId xmlns:p14="http://schemas.microsoft.com/office/powerpoint/2010/main" val="9792067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2026-10-25T04:12:07.6250000Z</dcterms:created>
  <dcterms:modified xsi:type="dcterms:W3CDTF">2026-10-25T04:12:07.6250000Z</dcterms:modified>
</coreProperties>
</file>