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3f8693e6604030" /><Relationship Type="http://schemas.openxmlformats.org/officeDocument/2006/relationships/extended-properties" Target="/docProps/app.xml" Id="R065ba98a477343b0" /><Relationship Type="http://schemas.openxmlformats.org/officeDocument/2006/relationships/officeDocument" Target="/ppt/presentation.xml" Id="R54f36fcb52b24e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5634c2b4c840b6"/>
  </p:sldMasterIdLst>
  <p:notesMasterIdLst>
    <p:notesMasterId xmlns:r="http://schemas.openxmlformats.org/officeDocument/2006/relationships" r:id="R8ef5aa8b1c3c4847"/>
  </p:notesMasterIdLst>
  <p:sldIdLst>
    <p:sldId xmlns:r="http://schemas.openxmlformats.org/officeDocument/2006/relationships" id="256" r:id="Rd67667cb70e14660"/>
    <p:sldId xmlns:r="http://schemas.openxmlformats.org/officeDocument/2006/relationships" id="257" r:id="Rda46f1cab6c043b4"/>
    <p:sldId xmlns:r="http://schemas.openxmlformats.org/officeDocument/2006/relationships" id="258" r:id="Re7fa379a29fd4ab8"/>
    <p:sldId xmlns:r="http://schemas.openxmlformats.org/officeDocument/2006/relationships" id="259" r:id="R7b45f2f90aba4d8a"/>
    <p:sldId xmlns:r="http://schemas.openxmlformats.org/officeDocument/2006/relationships" id="260" r:id="Rbea59104354e45cf"/>
    <p:sldId xmlns:r="http://schemas.openxmlformats.org/officeDocument/2006/relationships" id="261" r:id="Rfddc3f5e59b24abc"/>
    <p:sldId xmlns:r="http://schemas.openxmlformats.org/officeDocument/2006/relationships" id="262" r:id="R00e5a1e2cb2747b8"/>
    <p:sldId xmlns:r="http://schemas.openxmlformats.org/officeDocument/2006/relationships" id="263" r:id="R8e3b486650e348e1"/>
    <p:sldId xmlns:r="http://schemas.openxmlformats.org/officeDocument/2006/relationships" id="264" r:id="R18413bc3233d47b6"/>
    <p:sldId xmlns:r="http://schemas.openxmlformats.org/officeDocument/2006/relationships" id="265" r:id="Rfd9ea8c867794c8f"/>
    <p:sldId xmlns:r="http://schemas.openxmlformats.org/officeDocument/2006/relationships" id="266" r:id="R548cbf9072464a9e"/>
    <p:sldId xmlns:r="http://schemas.openxmlformats.org/officeDocument/2006/relationships" id="267" r:id="Rf884ad0742ad4d71"/>
    <p:sldId xmlns:r="http://schemas.openxmlformats.org/officeDocument/2006/relationships" id="268" r:id="R6de370af4efd428f"/>
    <p:sldId xmlns:r="http://schemas.openxmlformats.org/officeDocument/2006/relationships" id="269" r:id="R1e80b8834d814540"/>
    <p:sldId xmlns:r="http://schemas.openxmlformats.org/officeDocument/2006/relationships" id="270" r:id="R20717ead0d274c23"/>
    <p:sldId xmlns:r="http://schemas.openxmlformats.org/officeDocument/2006/relationships" id="271" r:id="R0822f20020f84a41"/>
    <p:sldId xmlns:r="http://schemas.openxmlformats.org/officeDocument/2006/relationships" id="272" r:id="R85544ad99b98407f"/>
    <p:sldId xmlns:r="http://schemas.openxmlformats.org/officeDocument/2006/relationships" id="273" r:id="R74c9b2fedf7744bc"/>
    <p:sldId xmlns:r="http://schemas.openxmlformats.org/officeDocument/2006/relationships" id="274" r:id="R2d9ea6302e5b460b"/>
    <p:sldId xmlns:r="http://schemas.openxmlformats.org/officeDocument/2006/relationships" id="275" r:id="R5593add1ae0349fe"/>
    <p:sldId xmlns:r="http://schemas.openxmlformats.org/officeDocument/2006/relationships" id="276" r:id="R78729dcb5dde482b"/>
    <p:sldId xmlns:r="http://schemas.openxmlformats.org/officeDocument/2006/relationships" id="277" r:id="Rf816da1443e04f1c"/>
    <p:sldId xmlns:r="http://schemas.openxmlformats.org/officeDocument/2006/relationships" id="278" r:id="R62bb0a1e84404f08"/>
    <p:sldId xmlns:r="http://schemas.openxmlformats.org/officeDocument/2006/relationships" id="279" r:id="Rc176f54c928642c7"/>
    <p:sldId xmlns:r="http://schemas.openxmlformats.org/officeDocument/2006/relationships" id="280" r:id="Rcbb03226af5f4084"/>
    <p:sldId xmlns:r="http://schemas.openxmlformats.org/officeDocument/2006/relationships" id="281" r:id="Race024e52edd4236"/>
    <p:sldId xmlns:r="http://schemas.openxmlformats.org/officeDocument/2006/relationships" id="282" r:id="R2512deb7e8b54c4e"/>
    <p:sldId xmlns:r="http://schemas.openxmlformats.org/officeDocument/2006/relationships" id="283" r:id="R834aec18d0ae4e61"/>
    <p:sldId xmlns:r="http://schemas.openxmlformats.org/officeDocument/2006/relationships" id="284" r:id="R45576220239241c6"/>
    <p:sldId xmlns:r="http://schemas.openxmlformats.org/officeDocument/2006/relationships" id="285" r:id="Re120bd0491304fd9"/>
    <p:sldId xmlns:r="http://schemas.openxmlformats.org/officeDocument/2006/relationships" id="286" r:id="Rcd12a1978fa94c39"/>
    <p:sldId xmlns:r="http://schemas.openxmlformats.org/officeDocument/2006/relationships" id="287" r:id="Rb6df88670735484b"/>
    <p:sldId xmlns:r="http://schemas.openxmlformats.org/officeDocument/2006/relationships" id="288" r:id="Rbdcc0edcfaf8469c"/>
    <p:sldId xmlns:r="http://schemas.openxmlformats.org/officeDocument/2006/relationships" id="289" r:id="Rdb846d4e9a7a442c"/>
    <p:sldId xmlns:r="http://schemas.openxmlformats.org/officeDocument/2006/relationships" id="290" r:id="R0130593d8f1a4823"/>
    <p:sldId xmlns:r="http://schemas.openxmlformats.org/officeDocument/2006/relationships" id="291" r:id="Rf92c011e3cbd4e9e"/>
    <p:sldId xmlns:r="http://schemas.openxmlformats.org/officeDocument/2006/relationships" id="292" r:id="R3b3ffa2569414e04"/>
    <p:sldId xmlns:r="http://schemas.openxmlformats.org/officeDocument/2006/relationships" id="293" r:id="Rff8e95ee040d4ffa"/>
    <p:sldId xmlns:r="http://schemas.openxmlformats.org/officeDocument/2006/relationships" id="294" r:id="Ra5070bdb0d774ff2"/>
    <p:sldId xmlns:r="http://schemas.openxmlformats.org/officeDocument/2006/relationships" id="295" r:id="R91afa7bd02734b89"/>
    <p:sldId xmlns:r="http://schemas.openxmlformats.org/officeDocument/2006/relationships" id="296" r:id="Rde38124b68974ad0"/>
    <p:sldId xmlns:r="http://schemas.openxmlformats.org/officeDocument/2006/relationships" id="297" r:id="R855e29e839a043b2"/>
    <p:sldId xmlns:r="http://schemas.openxmlformats.org/officeDocument/2006/relationships" id="298" r:id="R3b5257874dd44868"/>
    <p:sldId xmlns:r="http://schemas.openxmlformats.org/officeDocument/2006/relationships" id="299" r:id="R2ac4704c978645a4"/>
    <p:sldId xmlns:r="http://schemas.openxmlformats.org/officeDocument/2006/relationships" id="300" r:id="R023186698b6442e7"/>
    <p:sldId xmlns:r="http://schemas.openxmlformats.org/officeDocument/2006/relationships" id="301" r:id="R41c9b5294da94775"/>
    <p:sldId xmlns:r="http://schemas.openxmlformats.org/officeDocument/2006/relationships" id="302" r:id="R4b3e07533254455b"/>
    <p:sldId xmlns:r="http://schemas.openxmlformats.org/officeDocument/2006/relationships" id="303" r:id="Rc265bdd3616a4b03"/>
    <p:sldId xmlns:r="http://schemas.openxmlformats.org/officeDocument/2006/relationships" id="304" r:id="R2ff970c5ea01423d"/>
    <p:sldId xmlns:r="http://schemas.openxmlformats.org/officeDocument/2006/relationships" id="305" r:id="R905af54f2d2944b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6b2b9c02414b8d" /><Relationship Type="http://schemas.openxmlformats.org/officeDocument/2006/relationships/slideMaster" Target="/ppt/slideMasters/slideMaster1.xml" Id="Rd15634c2b4c840b6" /><Relationship Type="http://schemas.openxmlformats.org/officeDocument/2006/relationships/notesMaster" Target="/ppt/notesMasters/notesMaster1.xml" Id="R8ef5aa8b1c3c4847" /><Relationship Type="http://schemas.openxmlformats.org/officeDocument/2006/relationships/presProps" Target="/ppt/presProps.xml" Id="Rc8211190dbe54693" /><Relationship Type="http://schemas.openxmlformats.org/officeDocument/2006/relationships/tableStyles" Target="/ppt/tableStyles.xml" Id="Rde92c47f27764c8c" /><Relationship Type="http://schemas.openxmlformats.org/officeDocument/2006/relationships/slide" Target="/ppt/slides/slide1.xml" Id="Rd67667cb70e14660" /><Relationship Type="http://schemas.openxmlformats.org/officeDocument/2006/relationships/slide" Target="/ppt/slides/slide2.xml" Id="Rda46f1cab6c043b4" /><Relationship Type="http://schemas.openxmlformats.org/officeDocument/2006/relationships/slide" Target="/ppt/slides/slide3.xml" Id="Re7fa379a29fd4ab8" /><Relationship Type="http://schemas.openxmlformats.org/officeDocument/2006/relationships/slide" Target="/ppt/slides/slide4.xml" Id="R7b45f2f90aba4d8a" /><Relationship Type="http://schemas.openxmlformats.org/officeDocument/2006/relationships/slide" Target="/ppt/slides/slide5.xml" Id="Rbea59104354e45cf" /><Relationship Type="http://schemas.openxmlformats.org/officeDocument/2006/relationships/slide" Target="/ppt/slides/slide6.xml" Id="Rfddc3f5e59b24abc" /><Relationship Type="http://schemas.openxmlformats.org/officeDocument/2006/relationships/slide" Target="/ppt/slides/slide7.xml" Id="R00e5a1e2cb2747b8" /><Relationship Type="http://schemas.openxmlformats.org/officeDocument/2006/relationships/slide" Target="/ppt/slides/slide8.xml" Id="R8e3b486650e348e1" /><Relationship Type="http://schemas.openxmlformats.org/officeDocument/2006/relationships/slide" Target="/ppt/slides/slide9.xml" Id="R18413bc3233d47b6" /><Relationship Type="http://schemas.openxmlformats.org/officeDocument/2006/relationships/slide" Target="/ppt/slides/slide10.xml" Id="Rfd9ea8c867794c8f" /><Relationship Type="http://schemas.openxmlformats.org/officeDocument/2006/relationships/slide" Target="/ppt/slides/slide11.xml" Id="R548cbf9072464a9e" /><Relationship Type="http://schemas.openxmlformats.org/officeDocument/2006/relationships/slide" Target="/ppt/slides/slide12.xml" Id="Rf884ad0742ad4d71" /><Relationship Type="http://schemas.openxmlformats.org/officeDocument/2006/relationships/slide" Target="/ppt/slides/slide13.xml" Id="R6de370af4efd428f" /><Relationship Type="http://schemas.openxmlformats.org/officeDocument/2006/relationships/slide" Target="/ppt/slides/slide14.xml" Id="R1e80b8834d814540" /><Relationship Type="http://schemas.openxmlformats.org/officeDocument/2006/relationships/slide" Target="/ppt/slides/slide15.xml" Id="R20717ead0d274c23" /><Relationship Type="http://schemas.openxmlformats.org/officeDocument/2006/relationships/slide" Target="/ppt/slides/slide16.xml" Id="R0822f20020f84a41" /><Relationship Type="http://schemas.openxmlformats.org/officeDocument/2006/relationships/slide" Target="/ppt/slides/slide17.xml" Id="R85544ad99b98407f" /><Relationship Type="http://schemas.openxmlformats.org/officeDocument/2006/relationships/slide" Target="/ppt/slides/slide18.xml" Id="R74c9b2fedf7744bc" /><Relationship Type="http://schemas.openxmlformats.org/officeDocument/2006/relationships/slide" Target="/ppt/slides/slide19.xml" Id="R2d9ea6302e5b460b" /><Relationship Type="http://schemas.openxmlformats.org/officeDocument/2006/relationships/slide" Target="/ppt/slides/slide20.xml" Id="R5593add1ae0349fe" /><Relationship Type="http://schemas.openxmlformats.org/officeDocument/2006/relationships/slide" Target="/ppt/slides/slide21.xml" Id="R78729dcb5dde482b" /><Relationship Type="http://schemas.openxmlformats.org/officeDocument/2006/relationships/slide" Target="/ppt/slides/slide22.xml" Id="Rf816da1443e04f1c" /><Relationship Type="http://schemas.openxmlformats.org/officeDocument/2006/relationships/slide" Target="/ppt/slides/slide23.xml" Id="R62bb0a1e84404f08" /><Relationship Type="http://schemas.openxmlformats.org/officeDocument/2006/relationships/slide" Target="/ppt/slides/slide24.xml" Id="Rc176f54c928642c7" /><Relationship Type="http://schemas.openxmlformats.org/officeDocument/2006/relationships/slide" Target="/ppt/slides/slide25.xml" Id="Rcbb03226af5f4084" /><Relationship Type="http://schemas.openxmlformats.org/officeDocument/2006/relationships/slide" Target="/ppt/slides/slide26.xml" Id="Race024e52edd4236" /><Relationship Type="http://schemas.openxmlformats.org/officeDocument/2006/relationships/slide" Target="/ppt/slides/slide27.xml" Id="R2512deb7e8b54c4e" /><Relationship Type="http://schemas.openxmlformats.org/officeDocument/2006/relationships/slide" Target="/ppt/slides/slide28.xml" Id="R834aec18d0ae4e61" /><Relationship Type="http://schemas.openxmlformats.org/officeDocument/2006/relationships/slide" Target="/ppt/slides/slide29.xml" Id="R45576220239241c6" /><Relationship Type="http://schemas.openxmlformats.org/officeDocument/2006/relationships/slide" Target="/ppt/slides/slide30.xml" Id="Re120bd0491304fd9" /><Relationship Type="http://schemas.openxmlformats.org/officeDocument/2006/relationships/slide" Target="/ppt/slides/slide31.xml" Id="Rcd12a1978fa94c39" /><Relationship Type="http://schemas.openxmlformats.org/officeDocument/2006/relationships/slide" Target="/ppt/slides/slide32.xml" Id="Rb6df88670735484b" /><Relationship Type="http://schemas.openxmlformats.org/officeDocument/2006/relationships/slide" Target="/ppt/slides/slide33.xml" Id="Rbdcc0edcfaf8469c" /><Relationship Type="http://schemas.openxmlformats.org/officeDocument/2006/relationships/slide" Target="/ppt/slides/slide34.xml" Id="Rdb846d4e9a7a442c" /><Relationship Type="http://schemas.openxmlformats.org/officeDocument/2006/relationships/slide" Target="/ppt/slides/slide35.xml" Id="R0130593d8f1a4823" /><Relationship Type="http://schemas.openxmlformats.org/officeDocument/2006/relationships/slide" Target="/ppt/slides/slide36.xml" Id="Rf92c011e3cbd4e9e" /><Relationship Type="http://schemas.openxmlformats.org/officeDocument/2006/relationships/slide" Target="/ppt/slides/slide37.xml" Id="R3b3ffa2569414e04" /><Relationship Type="http://schemas.openxmlformats.org/officeDocument/2006/relationships/slide" Target="/ppt/slides/slide38.xml" Id="Rff8e95ee040d4ffa" /><Relationship Type="http://schemas.openxmlformats.org/officeDocument/2006/relationships/slide" Target="/ppt/slides/slide39.xml" Id="Ra5070bdb0d774ff2" /><Relationship Type="http://schemas.openxmlformats.org/officeDocument/2006/relationships/slide" Target="/ppt/slides/slide40.xml" Id="R91afa7bd02734b89" /><Relationship Type="http://schemas.openxmlformats.org/officeDocument/2006/relationships/slide" Target="/ppt/slides/slide41.xml" Id="Rde38124b68974ad0" /><Relationship Type="http://schemas.openxmlformats.org/officeDocument/2006/relationships/slide" Target="/ppt/slides/slide42.xml" Id="R855e29e839a043b2" /><Relationship Type="http://schemas.openxmlformats.org/officeDocument/2006/relationships/slide" Target="/ppt/slides/slide43.xml" Id="R3b5257874dd44868" /><Relationship Type="http://schemas.openxmlformats.org/officeDocument/2006/relationships/slide" Target="/ppt/slides/slide44.xml" Id="R2ac4704c978645a4" /><Relationship Type="http://schemas.openxmlformats.org/officeDocument/2006/relationships/slide" Target="/ppt/slides/slide45.xml" Id="R023186698b6442e7" /><Relationship Type="http://schemas.openxmlformats.org/officeDocument/2006/relationships/slide" Target="/ppt/slides/slide46.xml" Id="R41c9b5294da94775" /><Relationship Type="http://schemas.openxmlformats.org/officeDocument/2006/relationships/slide" Target="/ppt/slides/slide47.xml" Id="R4b3e07533254455b" /><Relationship Type="http://schemas.openxmlformats.org/officeDocument/2006/relationships/slide" Target="/ppt/slides/slide48.xml" Id="Rc265bdd3616a4b03" /><Relationship Type="http://schemas.openxmlformats.org/officeDocument/2006/relationships/slide" Target="/ppt/slides/slide49.xml" Id="R2ff970c5ea01423d" /><Relationship Type="http://schemas.openxmlformats.org/officeDocument/2006/relationships/slide" Target="/ppt/slides/slide50.xml" Id="R905af54f2d2944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d549c070224b9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0c90c8874448fc" /><Relationship Type="http://schemas.openxmlformats.org/officeDocument/2006/relationships/notesMaster" Target="/ppt/notesMasters/notesMaster1.xml" Id="Rfc70506de8874b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e0f72e8f8e54d64" /><Relationship Type="http://schemas.openxmlformats.org/officeDocument/2006/relationships/notesMaster" Target="/ppt/notesMasters/notesMaster1.xml" Id="R562734e50a054d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66aea3cb2fc4af0" /><Relationship Type="http://schemas.openxmlformats.org/officeDocument/2006/relationships/notesMaster" Target="/ppt/notesMasters/notesMaster1.xml" Id="R8a1042d7d34f4f4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0ddd26cd5b4f25" /><Relationship Type="http://schemas.openxmlformats.org/officeDocument/2006/relationships/notesMaster" Target="/ppt/notesMasters/notesMaster1.xml" Id="R0f6a1826cc6e48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e22e471440a48d1" /><Relationship Type="http://schemas.openxmlformats.org/officeDocument/2006/relationships/notesMaster" Target="/ppt/notesMasters/notesMaster1.xml" Id="Ra850891cde82496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6ed59e69034177" /><Relationship Type="http://schemas.openxmlformats.org/officeDocument/2006/relationships/notesMaster" Target="/ppt/notesMasters/notesMaster1.xml" Id="R98c170f8d42745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12e5da15b14449" /><Relationship Type="http://schemas.openxmlformats.org/officeDocument/2006/relationships/notesMaster" Target="/ppt/notesMasters/notesMaster1.xml" Id="Radb9aefe0f1443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8f966f3a89c4598" /><Relationship Type="http://schemas.openxmlformats.org/officeDocument/2006/relationships/notesMaster" Target="/ppt/notesMasters/notesMaster1.xml" Id="R56183ac2a4b3466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252a374186046d9" /><Relationship Type="http://schemas.openxmlformats.org/officeDocument/2006/relationships/notesMaster" Target="/ppt/notesMasters/notesMaster1.xml" Id="Rb0245b53b2c64e9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83553dec98c4015" /><Relationship Type="http://schemas.openxmlformats.org/officeDocument/2006/relationships/notesMaster" Target="/ppt/notesMasters/notesMaster1.xml" Id="Rb16e083c804a4d3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9c40650b06f42a4" /><Relationship Type="http://schemas.openxmlformats.org/officeDocument/2006/relationships/notesMaster" Target="/ppt/notesMasters/notesMaster1.xml" Id="R4cb54756f03e49f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4db7ef2c97a468a" /><Relationship Type="http://schemas.openxmlformats.org/officeDocument/2006/relationships/notesMaster" Target="/ppt/notesMasters/notesMaster1.xml" Id="Ra1a8807523f8457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9dc0ec6581844af" /><Relationship Type="http://schemas.openxmlformats.org/officeDocument/2006/relationships/notesMaster" Target="/ppt/notesMasters/notesMaster1.xml" Id="R10aa783153d0447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0bf0c6d0a19489b" /><Relationship Type="http://schemas.openxmlformats.org/officeDocument/2006/relationships/notesMaster" Target="/ppt/notesMasters/notesMaster1.xml" Id="R22f3c2554b5741a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ef4f54124b644b1" /><Relationship Type="http://schemas.openxmlformats.org/officeDocument/2006/relationships/notesMaster" Target="/ppt/notesMasters/notesMaster1.xml" Id="R85f0f721c09b4e2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3f5529dd11d4719" /><Relationship Type="http://schemas.openxmlformats.org/officeDocument/2006/relationships/notesMaster" Target="/ppt/notesMasters/notesMaster1.xml" Id="R2fa2bfc9da7643d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42df6fd62a640e3" /><Relationship Type="http://schemas.openxmlformats.org/officeDocument/2006/relationships/notesMaster" Target="/ppt/notesMasters/notesMaster1.xml" Id="R5f7451343d30423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0bf9816478b4fc0" /><Relationship Type="http://schemas.openxmlformats.org/officeDocument/2006/relationships/notesMaster" Target="/ppt/notesMasters/notesMaster1.xml" Id="Rcb4143857ac4422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fb5a12755474df2" /><Relationship Type="http://schemas.openxmlformats.org/officeDocument/2006/relationships/notesMaster" Target="/ppt/notesMasters/notesMaster1.xml" Id="R68a4e9c8020d4fa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a5e2b9b6ab7448d" /><Relationship Type="http://schemas.openxmlformats.org/officeDocument/2006/relationships/notesMaster" Target="/ppt/notesMasters/notesMaster1.xml" Id="Rcf5feed8588e4a1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3901b0464f34f4e" /><Relationship Type="http://schemas.openxmlformats.org/officeDocument/2006/relationships/notesMaster" Target="/ppt/notesMasters/notesMaster1.xml" Id="Re1e87c3e8165442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e3964810965400e" /><Relationship Type="http://schemas.openxmlformats.org/officeDocument/2006/relationships/notesMaster" Target="/ppt/notesMasters/notesMaster1.xml" Id="R6b5008378ae84ad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4c56208afea490d" /><Relationship Type="http://schemas.openxmlformats.org/officeDocument/2006/relationships/notesMaster" Target="/ppt/notesMasters/notesMaster1.xml" Id="Rc078f4e4db8d42a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e98778c77064c58" /><Relationship Type="http://schemas.openxmlformats.org/officeDocument/2006/relationships/notesMaster" Target="/ppt/notesMasters/notesMaster1.xml" Id="Rc73977a78fa1443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eea315252a94758" /><Relationship Type="http://schemas.openxmlformats.org/officeDocument/2006/relationships/notesMaster" Target="/ppt/notesMasters/notesMaster1.xml" Id="R178814353565447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74d01ce60d34359" /><Relationship Type="http://schemas.openxmlformats.org/officeDocument/2006/relationships/notesMaster" Target="/ppt/notesMasters/notesMaster1.xml" Id="Re99674e4c60d42e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5ba53f1f4854247" /><Relationship Type="http://schemas.openxmlformats.org/officeDocument/2006/relationships/notesMaster" Target="/ppt/notesMasters/notesMaster1.xml" Id="Rb842563d51dd416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af11ce1788d4c28" /><Relationship Type="http://schemas.openxmlformats.org/officeDocument/2006/relationships/notesMaster" Target="/ppt/notesMasters/notesMaster1.xml" Id="R384f4309f7a8425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de49369f8cf43c4" /><Relationship Type="http://schemas.openxmlformats.org/officeDocument/2006/relationships/notesMaster" Target="/ppt/notesMasters/notesMaster1.xml" Id="Re45f14e65a0b49f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fbbfdc15adf465a" /><Relationship Type="http://schemas.openxmlformats.org/officeDocument/2006/relationships/notesMaster" Target="/ppt/notesMasters/notesMaster1.xml" Id="Re9aafc7c6f424ad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ab2764bbf2e4e58" /><Relationship Type="http://schemas.openxmlformats.org/officeDocument/2006/relationships/notesMaster" Target="/ppt/notesMasters/notesMaster1.xml" Id="R3f04914fab6548f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a5d5fb6d0454ce5" /><Relationship Type="http://schemas.openxmlformats.org/officeDocument/2006/relationships/notesMaster" Target="/ppt/notesMasters/notesMaster1.xml" Id="R862d1207ceb644a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6a8951c3ca44978" /><Relationship Type="http://schemas.openxmlformats.org/officeDocument/2006/relationships/notesMaster" Target="/ppt/notesMasters/notesMaster1.xml" Id="R490c019ef64a484b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8e20695140f4100" /><Relationship Type="http://schemas.openxmlformats.org/officeDocument/2006/relationships/notesMaster" Target="/ppt/notesMasters/notesMaster1.xml" Id="R62ce594d833f4f0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853ca14ba9d42e3" /><Relationship Type="http://schemas.openxmlformats.org/officeDocument/2006/relationships/notesMaster" Target="/ppt/notesMasters/notesMaster1.xml" Id="Raf493a9302634f4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96d10540e1d4d57" /><Relationship Type="http://schemas.openxmlformats.org/officeDocument/2006/relationships/notesMaster" Target="/ppt/notesMasters/notesMaster1.xml" Id="Rfff0654644814a5e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2d20777f97f24e9b" /><Relationship Type="http://schemas.openxmlformats.org/officeDocument/2006/relationships/notesMaster" Target="/ppt/notesMasters/notesMaster1.xml" Id="R4fae33a9d2604f09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57860fcc4d74cd1" /><Relationship Type="http://schemas.openxmlformats.org/officeDocument/2006/relationships/notesMaster" Target="/ppt/notesMasters/notesMaster1.xml" Id="R222c8e7ff2ef4fd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9f32cc98425546a4" /><Relationship Type="http://schemas.openxmlformats.org/officeDocument/2006/relationships/notesMaster" Target="/ppt/notesMasters/notesMaster1.xml" Id="R6414e0f6176e4b3e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08fff31000b8484e" /><Relationship Type="http://schemas.openxmlformats.org/officeDocument/2006/relationships/notesMaster" Target="/ppt/notesMasters/notesMaster1.xml" Id="R9d17de7201a34a97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3651154d3d5a46a4" /><Relationship Type="http://schemas.openxmlformats.org/officeDocument/2006/relationships/notesMaster" Target="/ppt/notesMasters/notesMaster1.xml" Id="R8b8cd63172df48a6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4d59b2538c2345de" /><Relationship Type="http://schemas.openxmlformats.org/officeDocument/2006/relationships/notesMaster" Target="/ppt/notesMasters/notesMaster1.xml" Id="Rf7dff7e269ac43c3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9194da6f3d3141bf" /><Relationship Type="http://schemas.openxmlformats.org/officeDocument/2006/relationships/notesMaster" Target="/ppt/notesMasters/notesMaster1.xml" Id="R1d1e0a1a89fc4a2b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1605a1035fa04bcd" /><Relationship Type="http://schemas.openxmlformats.org/officeDocument/2006/relationships/notesMaster" Target="/ppt/notesMasters/notesMaster1.xml" Id="R84b51adaa6e240ed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f0cc7cdd36a842d5" /><Relationship Type="http://schemas.openxmlformats.org/officeDocument/2006/relationships/notesMaster" Target="/ppt/notesMasters/notesMaster1.xml" Id="R350a5461bb7447ec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5059e57993434df7" /><Relationship Type="http://schemas.openxmlformats.org/officeDocument/2006/relationships/notesMaster" Target="/ppt/notesMasters/notesMaster1.xml" Id="R98cdc87eb6be4c68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31dd058ce662455f" /><Relationship Type="http://schemas.openxmlformats.org/officeDocument/2006/relationships/notesMaster" Target="/ppt/notesMasters/notesMaster1.xml" Id="Rbf4d1a2c9be7466d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873bf2fbe2e044d4" /><Relationship Type="http://schemas.openxmlformats.org/officeDocument/2006/relationships/notesMaster" Target="/ppt/notesMasters/notesMaster1.xml" Id="R13586e6e4b1847a4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750252d9269a46ed" /><Relationship Type="http://schemas.openxmlformats.org/officeDocument/2006/relationships/notesMaster" Target="/ppt/notesMasters/notesMaster1.xml" Id="R904de2116e744893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4396f0044f80416f" /><Relationship Type="http://schemas.openxmlformats.org/officeDocument/2006/relationships/notesMaster" Target="/ppt/notesMasters/notesMaster1.xml" Id="R19ec332d85494aa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 LEADERS MEETING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신입 IC 트레이닝 가이드</a:t>
            </a:r>
          </a:p>
          <a:p xmlns:a="http://schemas.openxmlformats.org/drawingml/2006/main">
            <a:r>
              <a:t>신입을 '나가면 반드시 세일즈하는' 사람으로 키우는 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 만들라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피드백 전에 관찰하라</a:t>
            </a:r>
          </a:p>
          <a:p xmlns:a="http://schemas.openxmlformats.org/drawingml/2006/main">
            <a:r>
              <a:t>임재영 AOP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CONTENTS</a:t>
            </a:r>
          </a:p>
          <a:p xmlns:a="http://schemas.openxmlformats.org/drawingml/2006/main">
            <a:r>
              <a:t>목 차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트레이닝의 두 가지 철학</a:t>
            </a:r>
          </a:p>
          <a:p xmlns:a="http://schemas.openxmlformats.org/drawingml/2006/main">
            <a:r>
              <a:t>먼저 배우고 싶게 만들라 · 관찰 후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쇼잉(Showing) · 스탠다드 적용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첫 3일의 설계 (Day 1–3)</a:t>
            </a:r>
          </a:p>
          <a:p xmlns:a="http://schemas.openxmlformats.org/drawingml/2006/main">
            <a:r>
              <a:t>경험 → 학습 → 판단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스킬 트레이닝 &amp; 맞춤 피드백</a:t>
            </a:r>
          </a:p>
          <a:p xmlns:a="http://schemas.openxmlformats.org/drawingml/2006/main">
            <a:r>
              <a:t>5 Step · 피드백 타이밍 · 피드백 모델 3가지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리더힛 · 로드트립 · Self 적응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핵심 역할 &amp; 결과 판단</a:t>
            </a:r>
          </a:p>
          <a:p xmlns:a="http://schemas.openxmlformats.org/drawingml/2006/main">
            <a:r>
              <a:t>성취·인정 · Stay / Qualifying</a:t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3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TRAINING PHILOSOPHY  ·  01</a:t>
            </a:r>
          </a:p>
          <a:p xmlns:a="http://schemas.openxmlformats.org/drawingml/2006/main">
            <a:r>
              <a:t>가르치기 전에, 먼저 배우고 싶게 만들라</a:t>
            </a:r>
          </a:p>
          <a:p xmlns:a="http://schemas.openxmlformats.org/drawingml/2006/main">
            <a:r>
              <a:t>"How to teach"보다 먼저 풀어야 할 것은 "Why they want to learn"이다.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동기가 먼저다</a:t>
            </a:r>
          </a:p>
          <a:p xmlns:a="http://schemas.openxmlformats.org/drawingml/2006/main">
            <a:r>
              <a:t>지식을 밀어넣기 전에 '하고 싶다'는 마음을 먼저 켠다. 동기 없는 신입에게 스킬은 흡수되지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쇼잉으로 욕망을 만든다</a:t>
            </a:r>
          </a:p>
          <a:p xmlns:a="http://schemas.openxmlformats.org/drawingml/2006/main">
            <a:r>
              <a:t>잘하는 모습을 직접 보여줘 '나도 저렇게 되고 싶다'를 끌어낸다. 첫날의 긍정 경험이 학습 엔진이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작은 성공을 빨리 준다</a:t>
            </a:r>
          </a:p>
          <a:p xmlns:a="http://schemas.openxmlformats.org/drawingml/2006/main">
            <a:r>
              <a:t>스스로 해냈다는 성취감이 다음 학습 의지를 만든다. 가르침은 그 의지 위에 얹는다.</a:t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4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TRAINING PHILOSOPHY  ·  01</a:t>
            </a:r>
          </a:p>
          <a:p xmlns:a="http://schemas.openxmlformats.org/drawingml/2006/main">
            <a:r>
              <a:t>가르치기 전에, 먼저 배우고 싶게 만들라</a:t>
            </a:r>
          </a:p>
          <a:p xmlns:a="http://schemas.openxmlformats.org/drawingml/2006/main">
            <a:r>
              <a:t>"How to teach"보다 먼저 풀어야 할 것은 "Why they want to learn"이다.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동기가 먼저다</a:t>
            </a:r>
          </a:p>
          <a:p xmlns:a="http://schemas.openxmlformats.org/drawingml/2006/main">
            <a:r>
              <a:t>지식을 밀어넣기 전에 '하고 싶다'는 마음을 먼저 켠다. 동기 없는 신입에게 스킬은 흡수되지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쇼잉으로 욕망을 만든다</a:t>
            </a:r>
          </a:p>
          <a:p xmlns:a="http://schemas.openxmlformats.org/drawingml/2006/main">
            <a:r>
              <a:t>잘하는 모습을 직접 보여줘 '나도 저렇게 되고 싶다'를 끌어낸다. 첫날의 긍정 경험이 학습 엔진이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작은 성공을 빨리 준다</a:t>
            </a:r>
          </a:p>
          <a:p xmlns:a="http://schemas.openxmlformats.org/drawingml/2006/main">
            <a:r>
              <a:t>스스로 해냈다는 성취감이 다음 학습 의지를 만든다. 가르침은 그 의지 위에 얹는다.</a:t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4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01  |  『EMILE』</a:t>
            </a:r>
          </a:p>
          <a:p xmlns:a="http://schemas.openxmlformats.org/drawingml/2006/main">
            <a:r>
              <a:t>소극적 교육 — 가르치기 전에, 관찰하기</a:t>
            </a:r>
          </a:p>
          <a:p xmlns:a="http://schemas.openxmlformats.org/drawingml/2006/main">
            <a:r>
              <a:t>루소가 말한 가장 도발적인 개념. 가장 훌륭한 교육은 '아무것도 하지 않는 것처럼 보이는' 교육이다.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Negative Education</a:t>
            </a:r>
          </a:p>
          <a:p xmlns:a="http://schemas.openxmlformats.org/drawingml/2006/main">
            <a:r>
              <a:t>"가장 초기의 교육은 순전히 소극적이어야 한다. 덕이나 진리를 가르치는 데 있지 않고, 마음을 악덕으로부터, 정신을 오류로부터 지키는 데 있다."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"시간을 잃어라"</a:t>
            </a:r>
          </a:p>
          <a:p xmlns:a="http://schemas.openxmlformats.org/drawingml/2006/main">
            <a:r>
              <a:t>"가장 유용한 교육 규칙은 시간을 버는 것이 아니라, 시간을 잃는 것이다."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>트레이닝에 적용하면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조급함이 가장 큰 위험</a:t>
            </a:r>
          </a:p>
          <a:p xmlns:a="http://schemas.openxmlformats.org/drawingml/2006/main">
            <a:r>
              <a:t>준비되지 않은 신입에게 억지로 주입하면, 텅빈 </a:t>
            </a:r>
          </a:p>
          <a:p xmlns:a="http://schemas.openxmlformats.org/drawingml/2006/main">
            <a:r>
              <a:t>암기에 그치고 오히려 진짜 이해를 방해한다.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먼저, 얼마나 이해했는지 관찰</a:t>
            </a:r>
          </a:p>
          <a:p xmlns:a="http://schemas.openxmlformats.org/drawingml/2006/main">
            <a:r>
              <a:t>가르치기 전에 트레이니가 무엇을, 어디까지 이해하고 있는지 관찰한다. 그 위에 필요한 것을 얹는다.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기다림이 가장 빠른 길</a:t>
            </a:r>
          </a:p>
          <a:p xmlns:a="http://schemas.openxmlformats.org/drawingml/2006/main">
            <a:r>
              <a:t>스스로 경험하고 성숙할 '시간'을 허락하는 것이, 멀리 보면 가장 빠른 성장의 길이다.</a:t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5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01  |  『EMILE』</a:t>
            </a:r>
          </a:p>
          <a:p xmlns:a="http://schemas.openxmlformats.org/drawingml/2006/main">
            <a:r>
              <a:t>소극적 교육 — 가르치기 전에, 관찰하기</a:t>
            </a:r>
          </a:p>
          <a:p xmlns:a="http://schemas.openxmlformats.org/drawingml/2006/main">
            <a:r>
              <a:t>루소가 말한 가장 도발적인 개념. 가장 훌륭한 교육은 '아무것도 하지 않는 것처럼 보이는' 교육이다.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Negative Education</a:t>
            </a:r>
          </a:p>
          <a:p xmlns:a="http://schemas.openxmlformats.org/drawingml/2006/main">
            <a:r>
              <a:t>"가장 초기의 교육은 순전히 소극적이어야 한다. 덕이나 진리를 가르치는 데 있지 않고, 마음을 악덕으로부터, 정신을 오류로부터 지키는 데 있다."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"시간을 잃어라"</a:t>
            </a:r>
          </a:p>
          <a:p xmlns:a="http://schemas.openxmlformats.org/drawingml/2006/main">
            <a:r>
              <a:t>"가장 유용한 교육 규칙은 시간을 버는 것이 아니라, 시간을 잃는 것이다."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>트레이닝에 적용하면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조급함이 가장 큰 위험</a:t>
            </a:r>
          </a:p>
          <a:p xmlns:a="http://schemas.openxmlformats.org/drawingml/2006/main">
            <a:r>
              <a:t>준비되지 않은 신입에게 억지로 주입하면, 텅빈 </a:t>
            </a:r>
          </a:p>
          <a:p xmlns:a="http://schemas.openxmlformats.org/drawingml/2006/main">
            <a:r>
              <a:t>암기에 그치고 오히려 진짜 이해를 방해한다.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먼저, 얼마나 이해했는지 관찰</a:t>
            </a:r>
          </a:p>
          <a:p xmlns:a="http://schemas.openxmlformats.org/drawingml/2006/main">
            <a:r>
              <a:t>가르치기 전에 트레이니가 무엇을, 어디까지 이해하고 있는지 관찰한다. 그 위에 필요한 것을 얹는다.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기다림이 가장 빠른 길</a:t>
            </a:r>
          </a:p>
          <a:p xmlns:a="http://schemas.openxmlformats.org/drawingml/2006/main">
            <a:r>
              <a:t>스스로 경험하고 성숙할 '시간'을 허락하는 것이, 멀리 보면 가장 빠른 성장의 길이다.</a:t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5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피드백 전에, 트레이니를 먼저 관찰하라</a:t>
            </a:r>
          </a:p>
          <a:p xmlns:a="http://schemas.openxmlformats.org/drawingml/2006/main">
            <a:r>
              <a:t>같은 피드백도 사람에 따라 독이 되고 약이 된다. 처방 전에 진단이 먼저다.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관찰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진단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맞춤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</a:t>
            </a:r>
          </a:p>
          <a:p xmlns:a="http://schemas.openxmlformats.org/drawingml/2006/main">
            <a:r>
              <a:t>2시간 뛰게 한 뒤 '할 만한가'를 본다. 결과보다 자세·의지가 먼저.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두려움의 위치</a:t>
            </a:r>
          </a:p>
          <a:p xmlns:a="http://schemas.openxmlformats.org/drawingml/2006/main">
            <a:r>
              <a:t>어디서 멈칫하는가 — 접근? 피치? 클로징? 두려움의 좌표를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속도</a:t>
            </a:r>
          </a:p>
          <a:p xmlns:a="http://schemas.openxmlformats.org/drawingml/2006/main">
            <a:r>
              <a:t>어제 준 피드백이 오늘 반영되는가. 성장 곡선을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강점과 결</a:t>
            </a:r>
          </a:p>
          <a:p xmlns:a="http://schemas.openxmlformats.org/drawingml/2006/main">
            <a:r>
              <a:t>리액션형인가, 논리형인가. 사람의 결에 맞춰 코칭 방식을 바꾼다.</a:t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6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피드백 전에, 트레이니를 먼저 관찰하라</a:t>
            </a:r>
          </a:p>
          <a:p xmlns:a="http://schemas.openxmlformats.org/drawingml/2006/main">
            <a:r>
              <a:t>같은 피드백도 사람에 따라 독이 되고 약이 된다. 처방 전에 진단이 먼저다.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관찰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진단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맞춤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</a:t>
            </a:r>
          </a:p>
          <a:p xmlns:a="http://schemas.openxmlformats.org/drawingml/2006/main">
            <a:r>
              <a:t>2시간 뛰게 한 뒤 '할 만한가'를 본다. 결과보다 자세·의지가 먼저.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두려움의 위치</a:t>
            </a:r>
          </a:p>
          <a:p xmlns:a="http://schemas.openxmlformats.org/drawingml/2006/main">
            <a:r>
              <a:t>어디서 멈칫하는가 — 접근? 피치? 클로징? 두려움의 좌표를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속도</a:t>
            </a:r>
          </a:p>
          <a:p xmlns:a="http://schemas.openxmlformats.org/drawingml/2006/main">
            <a:r>
              <a:t>어제 준 피드백이 오늘 반영되는가. 성장 곡선을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강점과 결</a:t>
            </a:r>
          </a:p>
          <a:p xmlns:a="http://schemas.openxmlformats.org/drawingml/2006/main">
            <a:r>
              <a:t>리액션형인가, 논리형인가. 사람의 결에 맞춰 코칭 방식을 바꾼다.</a:t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6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사람이 다르면, 트레이닝도 달라야 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필드에 나가기 전에, '이 사람이 어떤 사람인가'를 먼저 파악해야 한다. 관찰은 첫 만남이 아니라 그 이전부터 시작된다.</a:t>
            </a:r>
          </a:p>
          <a:p xmlns:a="http://schemas.openxmlformats.org/drawingml/2006/main">
            <a:r>
              <a:t>필드 전, 이렇게 준비한다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이력서를 꼼꼼히 읽자</a:t>
            </a:r>
          </a:p>
          <a:p xmlns:a="http://schemas.openxmlformats.org/drawingml/2006/main">
            <a:r>
              <a:t>경력·이전 직무·성향의 단서를 미리 읽는다. 어디서 일했고 무엇을 잘했는지가 트레이닝의 출발점이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주변에 피드백을 요청하자</a:t>
            </a:r>
          </a:p>
          <a:p xmlns:a="http://schemas.openxmlformats.org/drawingml/2006/main">
            <a:r>
              <a:t>오너·클라이언트·교육자에게 '어떤 사람이었는지' 묻는다. 다양한 시선이 모이면 한 사람의 윤곽이 또렷해진다.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트레이닝을 미리 설계하자</a:t>
            </a:r>
          </a:p>
          <a:p xmlns:a="http://schemas.openxmlformats.org/drawingml/2006/main">
            <a:r>
              <a:t>필드에서 무엇을, 어떻게 가르칠지 사전에 고민한다. 준비된 관찰이 첫날의 시행착오를 줄인다.</a:t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7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TRAINING PHILOSOPHY  ·  03</a:t>
            </a:r>
          </a:p>
          <a:p xmlns:a="http://schemas.openxmlformats.org/drawingml/2006/main">
            <a:r>
              <a:t>신입에게 답이 있다</a:t>
            </a:r>
          </a:p>
          <a:p xmlns:a="http://schemas.openxmlformats.org/drawingml/2006/main">
            <a:r>
              <a:t>현장의 어려움은 현장에서 답을 찾는 것이 가장 좋다. 트레이닝도 마찬가지 — 신입에게 답이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1</a:t>
            </a:r>
          </a:p>
          <a:p xmlns:a="http://schemas.openxmlformats.org/drawingml/2006/main">
            <a:r>
              <a:t>어려워하는 부분 포착하기</a:t>
            </a:r>
          </a:p>
          <a:p xmlns:a="http://schemas.openxmlformats.org/drawingml/2006/main">
            <a:r>
              <a:t>신입이 이해 못 하거나 머뭇거리는 순간을 놓치지 않는다.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2</a:t>
            </a:r>
          </a:p>
          <a:p xmlns:a="http://schemas.openxmlformats.org/drawingml/2006/main">
            <a:r>
              <a:t>부드럽게 먼저 묻기</a:t>
            </a:r>
          </a:p>
          <a:p xmlns:a="http://schemas.openxmlformats.org/drawingml/2006/main">
            <a:r>
              <a:t>"왜 그 부분이 어렵고 이해가 안 되는지" 신입의 입으로 듣기 위해 질문해보자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3</a:t>
            </a:r>
          </a:p>
          <a:p xmlns:a="http://schemas.openxmlformats.org/drawingml/2006/main">
            <a:r>
              <a:t>솔직하게 피드백하기</a:t>
            </a:r>
          </a:p>
          <a:p xmlns:a="http://schemas.openxmlformats.org/drawingml/2006/main">
            <a:r>
              <a:t>들은 내용을 바탕으로 솔직하게, </a:t>
            </a:r>
          </a:p>
          <a:p xmlns:a="http://schemas.openxmlformats.org/drawingml/2006/main">
            <a:r>
              <a:t>함께 답을 찾아가는 시간을 갖는다.</a:t>
            </a:r>
          </a:p>
          <a:p xmlns:a="http://schemas.openxmlformats.org/drawingml/2006/main">
            <a:r>
              <a:t>07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8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효과적인 신입 트레이닝은 트레이너의 역량과 일관된 표준에서 시작된다. </a:t>
            </a:r>
          </a:p>
          <a:p xmlns:a="http://schemas.openxmlformats.org/drawingml/2006/main">
            <a:r>
              <a:t>마치 '기초군사훈련’처럼 </a:t>
            </a:r>
          </a:p>
          <a:p xmlns:a="http://schemas.openxmlformats.org/drawingml/2006/main">
            <a:r>
              <a:t>누구에게나 동일하게 적용 가능해야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세일즈 역량</a:t>
            </a:r>
          </a:p>
          <a:p xmlns:a="http://schemas.openxmlformats.org/drawingml/2006/main">
            <a:r>
              <a:t>주 1회이상 벨-공 세일즈 증명</a:t>
            </a:r>
          </a:p>
          <a:p xmlns:a="http://schemas.openxmlformats.org/drawingml/2006/main">
            <a:r>
              <a:t>4시간 안에 세일즈 가능</a:t>
            </a:r>
          </a:p>
          <a:p xmlns:a="http://schemas.openxmlformats.org/drawingml/2006/main">
            <a:r>
              <a:t>신입에게 쇼잉할 수 있는 실전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쇼잉(Showing)의 중요성</a:t>
            </a:r>
          </a:p>
          <a:p xmlns:a="http://schemas.openxmlformats.org/drawingml/2006/main">
            <a:r>
              <a:t>가장 효과적인 교육은 '직접 보여주기'</a:t>
            </a:r>
          </a:p>
          <a:p xmlns:a="http://schemas.openxmlformats.org/drawingml/2006/main">
            <a:r>
              <a:t>신입은 실제 과정을 관찰하며 학습</a:t>
            </a:r>
          </a:p>
          <a:p xmlns:a="http://schemas.openxmlformats.org/drawingml/2006/main">
            <a:r>
              <a:t>트레이너의 실전 역량 = 교육의 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스탠다드(표준) 적용 원칙</a:t>
            </a:r>
          </a:p>
          <a:p xmlns:a="http://schemas.openxmlformats.org/drawingml/2006/main">
            <a:r>
              <a:t>일관된 표준을 모든 신입에게 동일하게</a:t>
            </a:r>
          </a:p>
          <a:p xmlns:a="http://schemas.openxmlformats.org/drawingml/2006/main">
            <a:r>
              <a:t>개인 맞춤보다 기본 패턴 통일 우선</a:t>
            </a:r>
          </a:p>
          <a:p xmlns:a="http://schemas.openxmlformats.org/drawingml/2006/main">
            <a:r>
              <a:t>나가면 반드시 세일즈 가능한 기본기</a:t>
            </a:r>
          </a:p>
          <a:p xmlns:a="http://schemas.openxmlformats.org/drawingml/2006/main">
            <a:r>
              <a:t>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9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효과적인 신입 트레이닝은 트레이너의 역량과 일관된 표준에서 시작된다. </a:t>
            </a:r>
          </a:p>
          <a:p xmlns:a="http://schemas.openxmlformats.org/drawingml/2006/main">
            <a:r>
              <a:t>마치 '기초군사훈련’처럼 </a:t>
            </a:r>
          </a:p>
          <a:p xmlns:a="http://schemas.openxmlformats.org/drawingml/2006/main">
            <a:r>
              <a:t>누구에게나 동일하게 적용 가능해야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세일즈 역량</a:t>
            </a:r>
          </a:p>
          <a:p xmlns:a="http://schemas.openxmlformats.org/drawingml/2006/main">
            <a:r>
              <a:t>주 1회이상 벨-공 세일즈 증명</a:t>
            </a:r>
          </a:p>
          <a:p xmlns:a="http://schemas.openxmlformats.org/drawingml/2006/main">
            <a:r>
              <a:t>4시간 안에 세일즈 가능</a:t>
            </a:r>
          </a:p>
          <a:p xmlns:a="http://schemas.openxmlformats.org/drawingml/2006/main">
            <a:r>
              <a:t>신입에게 쇼잉할 수 있는 실전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쇼잉(Showing)의 중요성</a:t>
            </a:r>
          </a:p>
          <a:p xmlns:a="http://schemas.openxmlformats.org/drawingml/2006/main">
            <a:r>
              <a:t>가장 효과적인 교육은 '직접 보여주기'</a:t>
            </a:r>
          </a:p>
          <a:p xmlns:a="http://schemas.openxmlformats.org/drawingml/2006/main">
            <a:r>
              <a:t>신입은 실제 과정을 관찰하며 학습</a:t>
            </a:r>
          </a:p>
          <a:p xmlns:a="http://schemas.openxmlformats.org/drawingml/2006/main">
            <a:r>
              <a:t>트레이너의 실전 역량 = 교육의 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스탠다드(표준) 적용 원칙</a:t>
            </a:r>
          </a:p>
          <a:p xmlns:a="http://schemas.openxmlformats.org/drawingml/2006/main">
            <a:r>
              <a:t>일관된 표준을 모든 신입에게 동일하게</a:t>
            </a:r>
          </a:p>
          <a:p xmlns:a="http://schemas.openxmlformats.org/drawingml/2006/main">
            <a:r>
              <a:t>개인 맞춤보다 기본 패턴 통일 우선</a:t>
            </a:r>
          </a:p>
          <a:p xmlns:a="http://schemas.openxmlformats.org/drawingml/2006/main">
            <a:r>
              <a:t>나가면 반드시 세일즈 가능한 기본기</a:t>
            </a:r>
          </a:p>
          <a:p xmlns:a="http://schemas.openxmlformats.org/drawingml/2006/main">
            <a:r>
              <a:t>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9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둘째 날은</a:t>
            </a:r>
          </a:p>
          <a:p xmlns:a="http://schemas.openxmlformats.org/drawingml/2006/main">
            <a:r>
              <a:t>학습의 날</a:t>
            </a:r>
          </a:p>
          <a:p xmlns:a="http://schemas.openxmlformats.org/drawingml/2006/main">
            <a:r>
              <a:t>첫날이 경험이었다면, 둘째 날은 학습이다. 신입이 반드시 세일즈 1개 이상을 달성하게 하는 가장 중요한 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 세일즈 달성 (매우 중요)</a:t>
            </a:r>
          </a:p>
          <a:p xmlns:a="http://schemas.openxmlformats.org/drawingml/2006/main">
            <a:r>
              <a:t>반드시 1개 이상을 함께 만들어낸다. 신입이 직접 성공을 체감하게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학습 능력과 성장 가능성을 평가하고, 첫날 대비 개선점을 짚어 피드백한다.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트레이너와 신입의 균형</a:t>
            </a:r>
          </a:p>
          <a:p xmlns:a="http://schemas.openxmlformats.org/drawingml/2006/main">
            <a:r>
              <a:t>신입의 세일즈가 우선이지만 트레이너도 성과가 필요. 함께 내는 것이 이상적.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둘째 날의 의미</a:t>
            </a:r>
          </a:p>
          <a:p xmlns:a="http://schemas.openxmlformats.org/drawingml/2006/main">
            <a:r>
              <a:t>경험에서 '결과에 대한 학습'으로. 신입의 실질 역량을 가늠하는 시점.</a:t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11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둘째 날은</a:t>
            </a:r>
          </a:p>
          <a:p xmlns:a="http://schemas.openxmlformats.org/drawingml/2006/main">
            <a:r>
              <a:t>학습의 날</a:t>
            </a:r>
          </a:p>
          <a:p xmlns:a="http://schemas.openxmlformats.org/drawingml/2006/main">
            <a:r>
              <a:t>첫날이 경험이었다면, 둘째 날은 학습이다. 신입이 반드시 세일즈 1개 이상을 달성하게 하는 가장 중요한 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 세일즈 달성 (매우 중요)</a:t>
            </a:r>
          </a:p>
          <a:p xmlns:a="http://schemas.openxmlformats.org/drawingml/2006/main">
            <a:r>
              <a:t>반드시 1개 이상을 함께 만들어낸다. 신입이 직접 성공을 체감하게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학습 능력과 성장 가능성을 평가하고, 첫날 대비 개선점을 짚어 피드백한다.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트레이너와 신입의 균형</a:t>
            </a:r>
          </a:p>
          <a:p xmlns:a="http://schemas.openxmlformats.org/drawingml/2006/main">
            <a:r>
              <a:t>신입의 세일즈가 우선이지만 트레이너도 성과가 필요. 함께 내는 것이 이상적.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둘째 날의 의미</a:t>
            </a:r>
          </a:p>
          <a:p xmlns:a="http://schemas.openxmlformats.org/drawingml/2006/main">
            <a:r>
              <a:t>경험에서 '결과에 대한 학습'으로. 신입의 실질 역량을 가늠하는 시점.</a:t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11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 3 · 판단의 날</a:t>
            </a:r>
          </a:p>
          <a:p xmlns:a="http://schemas.openxmlformats.org/drawingml/2006/main">
            <a:r>
              <a:t>셋째 날, Stay인가 Qualifying인가 (반드시 오너와 상의)</a:t>
            </a:r>
          </a:p>
          <a:p xmlns:a="http://schemas.openxmlformats.org/drawingml/2006/main">
            <a:r>
              <a:t>전략적 사이트 선택과 시간 확보로 '제로(0)'를 막고, 3일간의 성과 패턴으로 향후 가능성을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신입이 벨을 칠 수 있는 사이트를 전략적으로 고르고 스케줄을 미리 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제로(0) 방지 전략</a:t>
            </a:r>
          </a:p>
          <a:p xmlns:a="http://schemas.openxmlformats.org/drawingml/2006/main">
            <a:r>
              <a:t>제로는 절대 금물. 시간 확보는 필수, 성공 가능성 높은 필드를 찾는다.</a:t>
            </a:r>
          </a:p>
          <a:p xmlns:a="http://schemas.openxmlformats.org/drawingml/2006/main">
            <a:r>
              <a:t>3일간 성과 → 판단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1 – 2</a:t>
            </a:r>
          </a:p>
          <a:p xmlns:a="http://schemas.openxmlformats.org/drawingml/2006/main">
            <a:r>
              <a:t>가장 이상적 · 리더로 육성 가능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2개</a:t>
            </a:r>
          </a:p>
          <a:p xmlns:a="http://schemas.openxmlformats.org/drawingml/2006/main">
            <a:r>
              <a:t>로드트립 제안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3개</a:t>
            </a:r>
          </a:p>
          <a:p xmlns:a="http://schemas.openxmlformats.org/drawingml/2006/main">
            <a:r>
              <a:t>의지와 센스 모두 보유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0 – 0</a:t>
            </a:r>
          </a:p>
          <a:p xmlns:a="http://schemas.openxmlformats.org/drawingml/2006/main">
            <a:r>
              <a:t>의지·센스 부족 → 빠른 Qualifying</a:t>
            </a:r>
          </a:p>
          <a:p xmlns:a="http://schemas.openxmlformats.org/drawingml/2006/main">
            <a:r>
              <a:t>단, 모든 판단은 Case by Case — 기준 위에서 유연하게.</a:t>
            </a:r>
          </a:p>
          <a:p xmlns:a="http://schemas.openxmlformats.org/drawingml/2006/main">
            <a:r>
              <a:t>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12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 3 · 판단의 날</a:t>
            </a:r>
          </a:p>
          <a:p xmlns:a="http://schemas.openxmlformats.org/drawingml/2006/main">
            <a:r>
              <a:t>셋째 날, Stay인가 Qualifying인가 (반드시 오너와 상의)</a:t>
            </a:r>
          </a:p>
          <a:p xmlns:a="http://schemas.openxmlformats.org/drawingml/2006/main">
            <a:r>
              <a:t>전략적 사이트 선택과 시간 확보로 '제로(0)'를 막고, 3일간의 성과 패턴으로 향후 가능성을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신입이 벨을 칠 수 있는 사이트를 전략적으로 고르고 스케줄을 미리 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제로(0) 방지 전략</a:t>
            </a:r>
          </a:p>
          <a:p xmlns:a="http://schemas.openxmlformats.org/drawingml/2006/main">
            <a:r>
              <a:t>제로는 절대 금물. 시간 확보는 필수, 성공 가능성 높은 필드를 찾는다.</a:t>
            </a:r>
          </a:p>
          <a:p xmlns:a="http://schemas.openxmlformats.org/drawingml/2006/main">
            <a:r>
              <a:t>3일간 성과 → 판단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1 – 2</a:t>
            </a:r>
          </a:p>
          <a:p xmlns:a="http://schemas.openxmlformats.org/drawingml/2006/main">
            <a:r>
              <a:t>가장 이상적 · 리더로 육성 가능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2개</a:t>
            </a:r>
          </a:p>
          <a:p xmlns:a="http://schemas.openxmlformats.org/drawingml/2006/main">
            <a:r>
              <a:t>로드트립 제안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3개</a:t>
            </a:r>
          </a:p>
          <a:p xmlns:a="http://schemas.openxmlformats.org/drawingml/2006/main">
            <a:r>
              <a:t>의지와 센스 모두 보유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0 – 0</a:t>
            </a:r>
          </a:p>
          <a:p xmlns:a="http://schemas.openxmlformats.org/drawingml/2006/main">
            <a:r>
              <a:t>의지·센스 부족 → 빠른 Qualifying</a:t>
            </a:r>
          </a:p>
          <a:p xmlns:a="http://schemas.openxmlformats.org/drawingml/2006/main">
            <a:r>
              <a:t>단, 모든 판단은 Case by Case — 기준 위에서 유연하게.</a:t>
            </a:r>
          </a:p>
          <a:p xmlns:a="http://schemas.openxmlformats.org/drawingml/2006/main">
            <a:r>
              <a:t>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12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개인별 맞춤 피드백</a:t>
            </a:r>
          </a:p>
          <a:p xmlns:a="http://schemas.openxmlformats.org/drawingml/2006/main">
            <a:r>
              <a:t>관찰로 약점을 진단한 뒤, 그 사람에게 맞는 처방을 내린다. — 관찰이 먼저, 피드백은 그 다음.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리액션이 약하다</a:t>
            </a:r>
          </a:p>
          <a:p xmlns:a="http://schemas.openxmlformats.org/drawingml/2006/main">
            <a:r>
              <a:t>리액션 강화</a:t>
            </a:r>
          </a:p>
          <a:p xmlns:a="http://schemas.openxmlformats.org/drawingml/2006/main">
            <a:r>
              <a:t>표정·제스처 훈련</a:t>
            </a:r>
          </a:p>
          <a:p xmlns:a="http://schemas.openxmlformats.org/drawingml/2006/main">
            <a:r>
              <a:t>고객 반응에 즉각 대응</a:t>
            </a:r>
          </a:p>
          <a:p xmlns:a="http://schemas.openxmlformats.org/drawingml/2006/main">
            <a:r>
              <a:t>임펄스·바디랭귀지</a:t>
            </a:r>
          </a:p>
          <a:p xmlns:a="http://schemas.openxmlformats.org/drawingml/2006/main">
            <a:r>
              <a:t>롤플레이 반복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부스 연결이 약하다</a:t>
            </a:r>
          </a:p>
          <a:p xmlns:a="http://schemas.openxmlformats.org/drawingml/2006/main">
            <a:r>
              <a:t>스트릿 스킬</a:t>
            </a:r>
          </a:p>
          <a:p xmlns:a="http://schemas.openxmlformats.org/drawingml/2006/main">
            <a:r>
              <a:t>접근 방법 다양화</a:t>
            </a:r>
          </a:p>
          <a:p xmlns:a="http://schemas.openxmlformats.org/drawingml/2006/main">
            <a:r>
              <a:t>첫인상 개선 훈련</a:t>
            </a:r>
          </a:p>
          <a:p xmlns:a="http://schemas.openxmlformats.org/drawingml/2006/main">
            <a:r>
              <a:t>거절 극복 기술</a:t>
            </a:r>
          </a:p>
          <a:p xmlns:a="http://schemas.openxmlformats.org/drawingml/2006/main">
            <a:r>
              <a:t>고객 유형별 접근법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클로징이 약하다</a:t>
            </a:r>
          </a:p>
          <a:p xmlns:a="http://schemas.openxmlformats.org/drawingml/2006/main">
            <a:r>
              <a:t>클로징 강화</a:t>
            </a:r>
          </a:p>
          <a:p xmlns:a="http://schemas.openxmlformats.org/drawingml/2006/main">
            <a:r>
              <a:t>TAAIS 집중 훈련</a:t>
            </a:r>
          </a:p>
          <a:p xmlns:a="http://schemas.openxmlformats.org/drawingml/2006/main">
            <a:r>
              <a:t>Buying sign 포착</a:t>
            </a:r>
          </a:p>
          <a:p xmlns:a="http://schemas.openxmlformats.org/drawingml/2006/main">
            <a:r>
              <a:t>침묵·대안 제시 기술</a:t>
            </a:r>
          </a:p>
          <a:p xmlns:a="http://schemas.openxmlformats.org/drawingml/2006/main">
            <a:r>
              <a:t>클로징 타이밍 습득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이미 잘한다</a:t>
            </a:r>
          </a:p>
          <a:p xmlns:a="http://schemas.openxmlformats.org/drawingml/2006/main">
            <a:r>
              <a:t>목표 상향</a:t>
            </a:r>
          </a:p>
          <a:p xmlns:a="http://schemas.openxmlformats.org/drawingml/2006/main">
            <a:r>
              <a:t>더 높은 목표 제시</a:t>
            </a:r>
          </a:p>
          <a:p xmlns:a="http://schemas.openxmlformats.org/drawingml/2006/main">
            <a:r>
              <a:t>자기주도 성장 유도</a:t>
            </a:r>
          </a:p>
          <a:p xmlns:a="http://schemas.openxmlformats.org/drawingml/2006/main">
            <a:r>
              <a:t>리더십·멘토링 기회</a:t>
            </a:r>
          </a:p>
          <a:p xmlns:a="http://schemas.openxmlformats.org/drawingml/2006/main">
            <a:r>
              <a:t>장기 커리어 설계</a:t>
            </a:r>
          </a:p>
          <a:p xmlns:a="http://schemas.openxmlformats.org/drawingml/2006/main">
            <a:r>
              <a:t>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14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WHAT</a:t>
            </a:r>
          </a:p>
          <a:p xmlns:a="http://schemas.openxmlformats.org/drawingml/2006/main">
            <a:r>
              <a:t>필드 전, 무엇을 준비하는가</a:t>
            </a:r>
          </a:p>
          <a:p xmlns:a="http://schemas.openxmlformats.org/drawingml/2006/main">
            <a:r>
              <a:t>필드에 나가기 전, 신입과 함께 점검하고 설계하는 것들.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피치 점검</a:t>
            </a:r>
          </a:p>
          <a:p xmlns:a="http://schemas.openxmlformats.org/drawingml/2006/main">
            <a:r>
              <a:t>피치 숙지·클로즈·약정서</a:t>
            </a:r>
          </a:p>
          <a:p xmlns:a="http://schemas.openxmlformats.org/drawingml/2006/main">
            <a:r>
              <a:t>핸들링 정도를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니즈 파악</a:t>
            </a:r>
          </a:p>
          <a:p xmlns:a="http://schemas.openxmlformats.org/drawingml/2006/main">
            <a:r>
              <a:t>내일 필드를 통해</a:t>
            </a:r>
          </a:p>
          <a:p xmlns:a="http://schemas.openxmlformats.org/drawingml/2006/main">
            <a:r>
              <a:t>무엇을 배우고 싶은지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목표 설정</a:t>
            </a:r>
          </a:p>
          <a:p xmlns:a="http://schemas.openxmlformats.org/drawingml/2006/main">
            <a:r>
              <a:t>필드시간·리해쉬·클로즈.</a:t>
            </a:r>
          </a:p>
          <a:p xmlns:a="http://schemas.openxmlformats.org/drawingml/2006/main">
            <a:r>
              <a:t>개인+섹터목표(AVG)까지 나누면 BEST.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사이트 전략 공유</a:t>
            </a:r>
          </a:p>
          <a:p xmlns:a="http://schemas.openxmlformats.org/drawingml/2006/main">
            <a:r>
              <a:t>사이트를 익숙하게 만들고 전략대로,</a:t>
            </a:r>
          </a:p>
          <a:p xmlns:a="http://schemas.openxmlformats.org/drawingml/2006/main">
            <a:r>
              <a:t>'나도 할 수 있다'는 기대를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사전 안내 (프리엠티브)</a:t>
            </a:r>
          </a:p>
          <a:p xmlns:a="http://schemas.openxmlformats.org/drawingml/2006/main">
            <a:r>
              <a:t>타 에이전시·우천 등 갑자기 닥치면</a:t>
            </a:r>
          </a:p>
          <a:p xmlns:a="http://schemas.openxmlformats.org/drawingml/2006/main">
            <a:r>
              <a:t>네거티브해지는 요소를 미리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필드 물품·복장 점검</a:t>
            </a:r>
          </a:p>
          <a:p xmlns:a="http://schemas.openxmlformats.org/drawingml/2006/main">
            <a:r>
              <a:t>콜백싯·조끼·아이디카드·</a:t>
            </a:r>
          </a:p>
          <a:p xmlns:a="http://schemas.openxmlformats.org/drawingml/2006/main">
            <a:r>
              <a:t>태블릿·부스 등을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15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WHAT</a:t>
            </a:r>
          </a:p>
          <a:p xmlns:a="http://schemas.openxmlformats.org/drawingml/2006/main">
            <a:r>
              <a:t>필드 전, 무엇을 준비하는가</a:t>
            </a:r>
          </a:p>
          <a:p xmlns:a="http://schemas.openxmlformats.org/drawingml/2006/main">
            <a:r>
              <a:t>필드에 나가기 전, 신입과 함께 점검하고 설계하는 것들.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피치 점검</a:t>
            </a:r>
          </a:p>
          <a:p xmlns:a="http://schemas.openxmlformats.org/drawingml/2006/main">
            <a:r>
              <a:t>피치 숙지·클로즈·약정서</a:t>
            </a:r>
          </a:p>
          <a:p xmlns:a="http://schemas.openxmlformats.org/drawingml/2006/main">
            <a:r>
              <a:t>핸들링 정도를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니즈 파악</a:t>
            </a:r>
          </a:p>
          <a:p xmlns:a="http://schemas.openxmlformats.org/drawingml/2006/main">
            <a:r>
              <a:t>내일 필드를 통해</a:t>
            </a:r>
          </a:p>
          <a:p xmlns:a="http://schemas.openxmlformats.org/drawingml/2006/main">
            <a:r>
              <a:t>무엇을 배우고 싶은지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목표 설정</a:t>
            </a:r>
          </a:p>
          <a:p xmlns:a="http://schemas.openxmlformats.org/drawingml/2006/main">
            <a:r>
              <a:t>필드시간·리해쉬·클로즈.</a:t>
            </a:r>
          </a:p>
          <a:p xmlns:a="http://schemas.openxmlformats.org/drawingml/2006/main">
            <a:r>
              <a:t>개인+섹터목표(AVG)까지 나누면 BEST.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사이트 전략 공유</a:t>
            </a:r>
          </a:p>
          <a:p xmlns:a="http://schemas.openxmlformats.org/drawingml/2006/main">
            <a:r>
              <a:t>사이트를 익숙하게 만들고 전략대로,</a:t>
            </a:r>
          </a:p>
          <a:p xmlns:a="http://schemas.openxmlformats.org/drawingml/2006/main">
            <a:r>
              <a:t>'나도 할 수 있다'는 기대를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사전 안내 (프리엠티브)</a:t>
            </a:r>
          </a:p>
          <a:p xmlns:a="http://schemas.openxmlformats.org/drawingml/2006/main">
            <a:r>
              <a:t>타 에이전시·우천 등 갑자기 닥치면</a:t>
            </a:r>
          </a:p>
          <a:p xmlns:a="http://schemas.openxmlformats.org/drawingml/2006/main">
            <a:r>
              <a:t>네거티브해지는 요소를 미리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필드 물품·복장 점검</a:t>
            </a:r>
          </a:p>
          <a:p xmlns:a="http://schemas.openxmlformats.org/drawingml/2006/main">
            <a:r>
              <a:t>콜백싯·조끼·아이디카드·</a:t>
            </a:r>
          </a:p>
          <a:p xmlns:a="http://schemas.openxmlformats.org/drawingml/2006/main">
            <a:r>
              <a:t>태블릿·부스 등을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15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HOW</a:t>
            </a:r>
          </a:p>
          <a:p xmlns:a="http://schemas.openxmlformats.org/drawingml/2006/main">
            <a:r>
              <a:t>필드 중, 어떻게 끌어가는가</a:t>
            </a:r>
          </a:p>
          <a:p xmlns:a="http://schemas.openxmlformats.org/drawingml/2006/main">
            <a:r>
              <a:t>필드 안에서 실시간으로 관찰하고, 보여주고, 케어한다.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트레이닝 대상 파악</a:t>
            </a:r>
          </a:p>
          <a:p xmlns:a="http://schemas.openxmlformats.org/drawingml/2006/main">
            <a:r>
              <a:t>어떤 유형인지,</a:t>
            </a:r>
          </a:p>
          <a:p xmlns:a="http://schemas.openxmlformats.org/drawingml/2006/main">
            <a:r>
              <a:t>어느 정도의 이해도인지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집중·계속 시도</a:t>
            </a:r>
          </a:p>
          <a:p xmlns:a="http://schemas.openxmlformats.org/drawingml/2006/main">
            <a:r>
              <a:t>계속되는 시도를 통해</a:t>
            </a:r>
          </a:p>
          <a:p xmlns:a="http://schemas.openxmlformats.org/drawingml/2006/main">
            <a:r>
              <a:t>객관적 데이터를 쌓게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상황에 맞는 피드백·점검</a:t>
            </a:r>
          </a:p>
          <a:p xmlns:a="http://schemas.openxmlformats.org/drawingml/2006/main">
            <a:r>
              <a:t>칭찬과 즉시 CS·넘버 피드백.</a:t>
            </a:r>
          </a:p>
          <a:p xmlns:a="http://schemas.openxmlformats.org/drawingml/2006/main">
            <a:r>
              <a:t>2시간마다 콜백싯을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보여주기 (Showing)</a:t>
            </a:r>
          </a:p>
          <a:p xmlns:a="http://schemas.openxmlformats.org/drawingml/2006/main">
            <a:r>
              <a:t>Showing Is The Best.</a:t>
            </a:r>
          </a:p>
          <a:p xmlns:a="http://schemas.openxmlformats.org/drawingml/2006/main">
            <a:r>
              <a:t>쉽고 빠른 벨로 직접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네거티브 파악</a:t>
            </a:r>
          </a:p>
          <a:p xmlns:a="http://schemas.openxmlformats.org/drawingml/2006/main">
            <a:r>
              <a:t>빠른 네거티브 파악과 해결,</a:t>
            </a:r>
          </a:p>
          <a:p xmlns:a="http://schemas.openxmlformats.org/drawingml/2006/main">
            <a:r>
              <a:t>그리고 멘탈 케어.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좋은 소식 공유</a:t>
            </a:r>
          </a:p>
          <a:p xmlns:a="http://schemas.openxmlformats.org/drawingml/2006/main">
            <a:r>
              <a:t>시민의 응원의 말,</a:t>
            </a:r>
          </a:p>
          <a:p xmlns:a="http://schemas.openxmlformats.org/drawingml/2006/main">
            <a:r>
              <a:t>후원자가 남긴 후원 사유를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16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WHY</a:t>
            </a:r>
          </a:p>
          <a:p xmlns:a="http://schemas.openxmlformats.org/drawingml/2006/main">
            <a:r>
              <a:t>필드 후, 무엇을 남기는가</a:t>
            </a:r>
          </a:p>
          <a:p xmlns:a="http://schemas.openxmlformats.org/drawingml/2006/main">
            <a:r>
              <a:t>하루를 돌아보고, 콜백싯 기준으로 피드백하고, 다음을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필드 소감 파악</a:t>
            </a:r>
          </a:p>
          <a:p xmlns:a="http://schemas.openxmlformats.org/drawingml/2006/main">
            <a:r>
              <a:t>오늘 하루 어땠는지 묻는다.</a:t>
            </a:r>
          </a:p>
          <a:p xmlns:a="http://schemas.openxmlformats.org/drawingml/2006/main">
            <a:r>
              <a:t>무엇을 배웠고, 좋았던 점과</a:t>
            </a:r>
          </a:p>
          <a:p xmlns:a="http://schemas.openxmlformats.org/drawingml/2006/main">
            <a:r>
              <a:t>아쉬운 점은 무엇이었는지.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콜백싯 기준 피드백</a:t>
            </a:r>
          </a:p>
          <a:p xmlns:a="http://schemas.openxmlformats.org/drawingml/2006/main">
            <a:r>
              <a:t>같이 필드한 사람들과 넘버를</a:t>
            </a:r>
          </a:p>
          <a:p xmlns:a="http://schemas.openxmlformats.org/drawingml/2006/main">
            <a:r>
              <a:t>비교하며, 넘버·스킬·태도의</a:t>
            </a:r>
          </a:p>
          <a:p xmlns:a="http://schemas.openxmlformats.org/drawingml/2006/main">
            <a:r>
              <a:t>보완점을 함께 이야기한다.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다음 교육 일정 안내 · 기본 5일</a:t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콜백싯 교육 기본 작성법</a:t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콜백싯 교육 분석 · Contact to Stop &amp; 부스 컨트롤</a:t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5 Steps</a:t>
            </a:r>
          </a:p>
          <a:p xmlns:a="http://schemas.openxmlformats.org/drawingml/2006/main">
            <a:r>
              <a:t>DAY 4</a:t>
            </a:r>
          </a:p>
          <a:p xmlns:a="http://schemas.openxmlformats.org/drawingml/2006/main">
            <a:r>
              <a:t>Closing</a:t>
            </a:r>
          </a:p>
          <a:p xmlns:a="http://schemas.openxmlformats.org/drawingml/2006/main">
            <a:r>
              <a:t>DAY 5</a:t>
            </a:r>
          </a:p>
          <a:p xmlns:a="http://schemas.openxmlformats.org/drawingml/2006/main">
            <a:r>
              <a:t>약정서 &amp; 리해쉬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17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WHY</a:t>
            </a:r>
          </a:p>
          <a:p xmlns:a="http://schemas.openxmlformats.org/drawingml/2006/main">
            <a:r>
              <a:t>필드 후, 무엇을 남기는가</a:t>
            </a:r>
          </a:p>
          <a:p xmlns:a="http://schemas.openxmlformats.org/drawingml/2006/main">
            <a:r>
              <a:t>하루를 돌아보고, 콜백싯 기준으로 피드백하고, 다음을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필드 소감 파악</a:t>
            </a:r>
          </a:p>
          <a:p xmlns:a="http://schemas.openxmlformats.org/drawingml/2006/main">
            <a:r>
              <a:t>오늘 하루 어땠는지 묻는다.</a:t>
            </a:r>
          </a:p>
          <a:p xmlns:a="http://schemas.openxmlformats.org/drawingml/2006/main">
            <a:r>
              <a:t>무엇을 배웠고, 좋았던 점과</a:t>
            </a:r>
          </a:p>
          <a:p xmlns:a="http://schemas.openxmlformats.org/drawingml/2006/main">
            <a:r>
              <a:t>아쉬운 점은 무엇이었는지.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콜백싯 기준 피드백</a:t>
            </a:r>
          </a:p>
          <a:p xmlns:a="http://schemas.openxmlformats.org/drawingml/2006/main">
            <a:r>
              <a:t>같이 필드한 사람들과 넘버를</a:t>
            </a:r>
          </a:p>
          <a:p xmlns:a="http://schemas.openxmlformats.org/drawingml/2006/main">
            <a:r>
              <a:t>비교하며, 넘버·스킬·태도의</a:t>
            </a:r>
          </a:p>
          <a:p xmlns:a="http://schemas.openxmlformats.org/drawingml/2006/main">
            <a:r>
              <a:t>보완점을 함께 이야기한다.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다음 교육 일정 안내 · 기본 5일</a:t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콜백싯 교육 기본 작성법</a:t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콜백싯 교육 분석 · Contact to Stop &amp; 부스 컨트롤</a:t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5 Steps</a:t>
            </a:r>
          </a:p>
          <a:p xmlns:a="http://schemas.openxmlformats.org/drawingml/2006/main">
            <a:r>
              <a:t>DAY 4</a:t>
            </a:r>
          </a:p>
          <a:p xmlns:a="http://schemas.openxmlformats.org/drawingml/2006/main">
            <a:r>
              <a:t>Closing</a:t>
            </a:r>
          </a:p>
          <a:p xmlns:a="http://schemas.openxmlformats.org/drawingml/2006/main">
            <a:r>
              <a:t>DAY 5</a:t>
            </a:r>
          </a:p>
          <a:p xmlns:a="http://schemas.openxmlformats.org/drawingml/2006/main">
            <a:r>
              <a:t>약정서 &amp; 리해쉬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17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CAUTION</a:t>
            </a:r>
          </a:p>
          <a:p xmlns:a="http://schemas.openxmlformats.org/drawingml/2006/main">
            <a:r>
              <a:t>피드백할 때 주의사항</a:t>
            </a:r>
          </a:p>
          <a:p xmlns:a="http://schemas.openxmlformats.org/drawingml/2006/main">
            <a:r>
              <a:t>좋은 의도라도 방식이 틀리면 독이 된다. 다섯 가지를 기억한다.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감정·느낌이 아닌 기준으로</a:t>
            </a:r>
          </a:p>
          <a:p xmlns:a="http://schemas.openxmlformats.org/drawingml/2006/main">
            <a:r>
              <a:t>넘버·스킬·태도 모두 콜백싯 기준으로 피드백한다.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내 말이 아닌, 상대에게 필요한 말인가 (매우 중요)</a:t>
            </a:r>
          </a:p>
          <a:p xmlns:a="http://schemas.openxmlformats.org/drawingml/2006/main">
            <a:r>
              <a:t>하고 싶은 말보다 상대에게 정말 필요한 말인지 먼저 고민한다.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KISS — 간단·명료·눈높이</a:t>
            </a:r>
          </a:p>
          <a:p xmlns:a="http://schemas.openxmlformats.org/drawingml/2006/main">
            <a:r>
              <a:t>상대가 공감하기 좋은 예시로 쉽게 이해되도록 트레이닝한다.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COD 공부하기</a:t>
            </a:r>
          </a:p>
          <a:p xmlns:a="http://schemas.openxmlformats.org/drawingml/2006/main">
            <a:r>
              <a:t>올바른 정보인지 확인하고 피드백. 긴가민가한 이야기는 하지 않는다.</a:t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타이밍을 정해두기</a:t>
            </a:r>
          </a:p>
          <a:p xmlns:a="http://schemas.openxmlformats.org/drawingml/2006/main">
            <a:r>
              <a:t>꼭 필요한 상황 외엔 2시간에 1번. 그 사이엔 개인 목표 달성에 집중한다.</a:t>
            </a:r>
          </a:p>
          <a:p xmlns:a="http://schemas.openxmlformats.org/drawingml/2006/main">
            <a:r>
              <a:t>TIP   피드백 수용이 빠른 신입, 주거테리·유동이 적은 B패턴에는 전략적으로 피드백을 활용하면 좋다.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18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CAUTION</a:t>
            </a:r>
          </a:p>
          <a:p xmlns:a="http://schemas.openxmlformats.org/drawingml/2006/main">
            <a:r>
              <a:t>피드백할 때 주의사항</a:t>
            </a:r>
          </a:p>
          <a:p xmlns:a="http://schemas.openxmlformats.org/drawingml/2006/main">
            <a:r>
              <a:t>좋은 의도라도 방식이 틀리면 독이 된다. 다섯 가지를 기억한다.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감정·느낌이 아닌 기준으로</a:t>
            </a:r>
          </a:p>
          <a:p xmlns:a="http://schemas.openxmlformats.org/drawingml/2006/main">
            <a:r>
              <a:t>넘버·스킬·태도 모두 콜백싯 기준으로 피드백한다.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내 말이 아닌, 상대에게 필요한 말인가 (매우 중요)</a:t>
            </a:r>
          </a:p>
          <a:p xmlns:a="http://schemas.openxmlformats.org/drawingml/2006/main">
            <a:r>
              <a:t>하고 싶은 말보다 상대에게 정말 필요한 말인지 먼저 고민한다.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KISS — 간단·명료·눈높이</a:t>
            </a:r>
          </a:p>
          <a:p xmlns:a="http://schemas.openxmlformats.org/drawingml/2006/main">
            <a:r>
              <a:t>상대가 공감하기 좋은 예시로 쉽게 이해되도록 트레이닝한다.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COD 공부하기</a:t>
            </a:r>
          </a:p>
          <a:p xmlns:a="http://schemas.openxmlformats.org/drawingml/2006/main">
            <a:r>
              <a:t>올바른 정보인지 확인하고 피드백. 긴가민가한 이야기는 하지 않는다.</a:t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타이밍을 정해두기</a:t>
            </a:r>
          </a:p>
          <a:p xmlns:a="http://schemas.openxmlformats.org/drawingml/2006/main">
            <a:r>
              <a:t>꼭 필요한 상황 외엔 2시간에 1번. 그 사이엔 개인 목표 달성에 집중한다.</a:t>
            </a:r>
          </a:p>
          <a:p xmlns:a="http://schemas.openxmlformats.org/drawingml/2006/main">
            <a:r>
              <a:t>TIP   피드백 수용이 빠른 신입, 주거테리·유동이 적은 B패턴에는 전략적으로 피드백을 활용하면 좋다.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18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트레이너도 콜백싯을 쓴다</a:t>
            </a:r>
          </a:p>
          <a:p xmlns:a="http://schemas.openxmlformats.org/drawingml/2006/main">
            <a:r>
              <a:t>신입이 필드 콜백싯으로 하루를 점검하듯, 트레이너는 같은 3축으로 '내가 신입을 위해 무엇을 챙겼는가'를 매일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Number</a:t>
            </a:r>
          </a:p>
          <a:p xmlns:a="http://schemas.openxmlformats.org/drawingml/2006/main">
            <a:r>
              <a:t>넘버를 쌓게 했는가</a:t>
            </a:r>
          </a:p>
          <a:p xmlns:a="http://schemas.openxmlformats.org/drawingml/2006/main">
            <a:r>
              <a:t>넘버를 쌓을 수 있는 사이트를 준비했는가</a:t>
            </a:r>
          </a:p>
          <a:p xmlns:a="http://schemas.openxmlformats.org/drawingml/2006/main">
            <a:r>
              <a:t>시도하도록 만드는 피드백을 했는가</a:t>
            </a:r>
          </a:p>
          <a:p xmlns:a="http://schemas.openxmlformats.org/drawingml/2006/main">
            <a:r>
              <a:t>거절 없는 시도 횟수를 끌어냈는가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Pitch · Skill</a:t>
            </a:r>
          </a:p>
          <a:p xmlns:a="http://schemas.openxmlformats.org/drawingml/2006/main">
            <a:r>
              <a:t>스킬을 보강했는가</a:t>
            </a:r>
          </a:p>
          <a:p xmlns:a="http://schemas.openxmlformats.org/drawingml/2006/main">
            <a:r>
              <a:t>약한 부분을 필드에서 바로 교육했는가</a:t>
            </a:r>
          </a:p>
          <a:p xmlns:a="http://schemas.openxmlformats.org/drawingml/2006/main">
            <a:r>
              <a:t>어떤 스킬이든 보강하도록 도왔는가</a:t>
            </a:r>
          </a:p>
          <a:p xmlns:a="http://schemas.openxmlformats.org/drawingml/2006/main">
            <a:r>
              <a:t>내일 바로 쓸 수 있게 알려줬는가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Attitude · Mental</a:t>
            </a:r>
          </a:p>
          <a:p xmlns:a="http://schemas.openxmlformats.org/drawingml/2006/main">
            <a:r>
              <a:t>멘탈을 지켜줬는가</a:t>
            </a:r>
          </a:p>
          <a:p xmlns:a="http://schemas.openxmlformats.org/drawingml/2006/main">
            <a:r>
              <a:t>불안·두려움 요소를 제거했는가</a:t>
            </a:r>
          </a:p>
          <a:p xmlns:a="http://schemas.openxmlformats.org/drawingml/2006/main">
            <a:r>
              <a:t>필드에 방해되는 마음을 케어했는가</a:t>
            </a:r>
          </a:p>
          <a:p xmlns:a="http://schemas.openxmlformats.org/drawingml/2006/main">
            <a:r>
              <a:t>필드에 온전히 집중하게 해줬는가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매일 반복</a:t>
            </a:r>
          </a:p>
          <a:p xmlns:a="http://schemas.openxmlformats.org/drawingml/2006/main">
            <a:r>
              <a:t>이 세 가지를 매일 점검하면, 트레이닝이 성장한다.  신입의 콜백싯이 신입을 키우듯, 트레이너의 콜백싯이 트레이너를 키운다.</a:t>
            </a:r>
          </a:p>
          <a:p xmlns:a="http://schemas.openxmlformats.org/drawingml/2006/main">
            <a:r>
              <a:t>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20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신입이 필드에 완전히 적응하기까지 약 6주. 이 기간 동안 전략적인 스케줄 관리와 필드 시간 확보가 자립의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리더힛, 2주 이내</a:t>
            </a:r>
          </a:p>
          <a:p xmlns:a="http://schemas.openxmlformats.org/drawingml/2006/main">
            <a:r>
              <a:t>리더힛은 2주 이내 달성이 이상적. 전략적으로 스케줄과 필드 시간을 확보하고, 신입의 성장 속도에 맞춰 목표를 설정한다.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6주 필드 적응</a:t>
            </a:r>
          </a:p>
          <a:p xmlns:a="http://schemas.openxmlformats.org/drawingml/2006/main">
            <a:r>
              <a:t>필드 적응에는 약 6주가 소요. 3–5주차에 로드트립을 적극 활용하며 단계별 성장 과정을 모니터링한다.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Self 세일즈 준비</a:t>
            </a:r>
          </a:p>
          <a:p xmlns:a="http://schemas.openxmlformats.org/drawingml/2006/main">
            <a:r>
              <a:t>혼자 세일즈해야 하는 시점을 미리 안내하고 프리엠티브한다. 심리적 준비와 실전 역량을 동시에 강화한다.</a:t>
            </a:r>
          </a:p>
          <a:p xmlns:a="http://schemas.openxmlformats.org/drawingml/2006/main">
            <a:r>
              <a:t>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21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신입이 필드에 완전히 적응하기까지 약 6주. 이 기간 동안 전략적인 스케줄 관리와 필드 시간 확보가 자립의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리더힛, 2주 이내</a:t>
            </a:r>
          </a:p>
          <a:p xmlns:a="http://schemas.openxmlformats.org/drawingml/2006/main">
            <a:r>
              <a:t>리더힛은 2주 이내 달성이 이상적. 전략적으로 스케줄과 필드 시간을 확보하고, 신입의 성장 속도에 맞춰 목표를 설정한다.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6주 필드 적응</a:t>
            </a:r>
          </a:p>
          <a:p xmlns:a="http://schemas.openxmlformats.org/drawingml/2006/main">
            <a:r>
              <a:t>필드 적응에는 약 6주가 소요. 3–5주차에 로드트립을 적극 활용하며 단계별 성장 과정을 모니터링한다.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Self 세일즈 준비</a:t>
            </a:r>
          </a:p>
          <a:p xmlns:a="http://schemas.openxmlformats.org/drawingml/2006/main">
            <a:r>
              <a:t>혼자 세일즈해야 하는 시점을 미리 안내하고 프리엠티브한다. 심리적 준비와 실전 역량을 동시에 강화한다.</a:t>
            </a:r>
          </a:p>
          <a:p xmlns:a="http://schemas.openxmlformats.org/drawingml/2006/main">
            <a:r>
              <a:t>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21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트레이너의 3가지 핵심 역할</a:t>
            </a:r>
          </a:p>
          <a:p xmlns:a="http://schemas.openxmlformats.org/drawingml/2006/main">
            <a:r>
              <a:t>신입이 '자발적으로' 성장하는 환경을 만드는 세 개의 레버.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성취감 제공</a:t>
            </a:r>
          </a:p>
          <a:p xmlns:a="http://schemas.openxmlformats.org/drawingml/2006/main">
            <a:r>
              <a:t>'내가 직접 해냈다'를 느끼게 한다.</a:t>
            </a:r>
          </a:p>
          <a:p xmlns:a="http://schemas.openxmlformats.org/drawingml/2006/main">
            <a:r>
              <a:t>두려워하면 돕고, 아니면 혼자 하게.</a:t>
            </a:r>
          </a:p>
          <a:p xmlns:a="http://schemas.openxmlformats.org/drawingml/2006/main">
            <a:r>
              <a:t>두려움 수준 파악이 판단 기준.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두려움 제거</a:t>
            </a:r>
          </a:p>
          <a:p xmlns:a="http://schemas.openxmlformats.org/drawingml/2006/main">
            <a:r>
              <a:t>초기엔 충분한 서포트를 제공.</a:t>
            </a:r>
          </a:p>
          <a:p xmlns:a="http://schemas.openxmlformats.org/drawingml/2006/main">
            <a:r>
              <a:t>점진적으로 독립성을 부여.</a:t>
            </a:r>
          </a:p>
          <a:p xmlns:a="http://schemas.openxmlformats.org/drawingml/2006/main">
            <a:r>
              <a:t>안전한 환경에서 도전하게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인정과 칭찬</a:t>
            </a:r>
          </a:p>
          <a:p xmlns:a="http://schemas.openxmlformats.org/drawingml/2006/main">
            <a:r>
              <a:t>인정·칭찬을 아끼지 않는다.</a:t>
            </a:r>
          </a:p>
          <a:p xmlns:a="http://schemas.openxmlformats.org/drawingml/2006/main">
            <a:r>
              <a:t>사람은 인정받을 때 주도적이 된다.</a:t>
            </a:r>
          </a:p>
          <a:p xmlns:a="http://schemas.openxmlformats.org/drawingml/2006/main">
            <a:r>
              <a:t>혼냄은 효과 없음 — 스스로 깨닫게.</a:t>
            </a:r>
          </a:p>
          <a:p xmlns:a="http://schemas.openxmlformats.org/drawingml/2006/main">
            <a:r>
              <a:t>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22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캔슬 관리 &amp; 그로스 집중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캔슬은 '그로스(Gross)'에만 집중하는 것이 옳은 방향. 캔슬에 대한 두려움은 오히려 세일즈에 대한 확신을 떨어뜨린다.</a:t>
            </a:r>
          </a:p>
          <a:p xmlns:a="http://schemas.openxmlformats.org/drawingml/2006/main">
            <a:r>
              <a:t>다만 리젝은 자연스러운 것 + 수치(20-30%)만큼 발생할 수 있다는 심리적 준비가 되도록 건강한 매니징 필요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매니지먼트 영역</a:t>
            </a:r>
          </a:p>
          <a:p xmlns:a="http://schemas.openxmlformats.org/drawingml/2006/main">
            <a:r>
              <a:t>캔슬은 지점 차원에서 관리. IC 개인이 과도하게 신경 쓸 부분이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BEP 대비 타겟 조정</a:t>
            </a:r>
          </a:p>
          <a:p xmlns:a="http://schemas.openxmlformats.org/drawingml/2006/main">
            <a:r>
              <a:t>손익분기점(BEP) 대비 세일즈 타겟을 분명히. 최종 + 수익이 얼마인가가 중요.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그로스(Gross) 집중</a:t>
            </a:r>
          </a:p>
          <a:p xmlns:a="http://schemas.openxmlformats.org/drawingml/2006/main">
            <a:r>
              <a:t>캔슬을 두려워하면 세일즈 Drop으로 이어진다. 총매출에만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하이롤러 리젝 대응</a:t>
            </a:r>
          </a:p>
          <a:p xmlns:a="http://schemas.openxmlformats.org/drawingml/2006/main">
            <a:r>
              <a:t>하이롤러는 1일 1건 리젝 리스크. 사전 프리엠티브가 핵심 </a:t>
            </a:r>
          </a:p>
          <a:p xmlns:a="http://schemas.openxmlformats.org/drawingml/2006/main">
            <a:r>
              <a:t>(주 10세일즈+).</a:t>
            </a:r>
          </a:p>
          <a:p xmlns:a="http://schemas.openxmlformats.org/drawingml/2006/main">
            <a:r>
              <a:t>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23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매슬로우 5단계 욕구</a:t>
            </a:r>
          </a:p>
          <a:p xmlns:a="http://schemas.openxmlformats.org/drawingml/2006/main">
            <a:r>
              <a:t>사람은 아래 욕구가 채워지면 더 높은 욕구를 향한다. 트레이너는 신입을 단계마다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자아실현  Self-Actualization</a:t>
            </a:r>
          </a:p>
          <a:p xmlns:a="http://schemas.openxmlformats.org/drawingml/2006/main">
            <a:r>
              <a:t>더 큰 목표·성장. 스스로 리더로 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존중  Esteem</a:t>
            </a:r>
          </a:p>
          <a:p xmlns:a="http://schemas.openxmlformats.org/drawingml/2006/main">
            <a:r>
              <a:t>인정과 칭찬. 성취를 알아준다.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소속·애정  Love &amp; Belonging</a:t>
            </a:r>
          </a:p>
          <a:p xmlns:a="http://schemas.openxmlformats.org/drawingml/2006/main">
            <a:r>
              <a:t>팀의 일원이라는 소속감을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안전  Safety</a:t>
            </a:r>
          </a:p>
          <a:p xmlns:a="http://schemas.openxmlformats.org/drawingml/2006/main">
            <a:r>
              <a:t>두려움 제거. 안전한 환경에서 도전.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생리적 욕구  Physiological</a:t>
            </a:r>
          </a:p>
          <a:p xmlns:a="http://schemas.openxmlformats.org/drawingml/2006/main">
            <a:r>
              <a:t>기본 생계·수입. 가장 먼저 채워질 토대.</a:t>
            </a:r>
          </a:p>
          <a:p xmlns:a="http://schemas.openxmlformats.org/drawingml/2006/main">
            <a:r>
              <a:t>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24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WRAP-UP</a:t>
            </a:r>
          </a:p>
          <a:p xmlns:a="http://schemas.openxmlformats.org/drawingml/2006/main">
            <a:r>
              <a:t>결과 판단 &amp;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트레이너의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신입의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STAY</a:t>
            </a:r>
          </a:p>
          <a:p xmlns:a="http://schemas.openxmlformats.org/drawingml/2006/main">
            <a:r>
              <a:t>결과가 좋거나 기준 도달 확신이 있으면 — 머무르게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QUALIFYING</a:t>
            </a:r>
          </a:p>
          <a:p xmlns:a="http://schemas.openxmlformats.org/drawingml/2006/main">
            <a:r>
              <a:t>최소 기준 도달이 어렵고 확신이 없으면 — 과감하게 결정한다.</a:t>
            </a:r>
          </a:p>
          <a:p xmlns:a="http://schemas.openxmlformats.org/drawingml/2006/main">
            <a:r>
              <a:t>실제 트레이닝은 Case by Case. 명확한 기준과 일관된 원칙을 유지하되, 개별 상황의 특수성을 고려해 최선의 결정을 내린다.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25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WRAP-UP</a:t>
            </a:r>
          </a:p>
          <a:p xmlns:a="http://schemas.openxmlformats.org/drawingml/2006/main">
            <a:r>
              <a:t>결과 판단 &amp;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트레이너의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신입의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STAY</a:t>
            </a:r>
          </a:p>
          <a:p xmlns:a="http://schemas.openxmlformats.org/drawingml/2006/main">
            <a:r>
              <a:t>결과가 좋거나 기준 도달 확신이 있으면 — 머무르게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QUALIFYING</a:t>
            </a:r>
          </a:p>
          <a:p xmlns:a="http://schemas.openxmlformats.org/drawingml/2006/main">
            <a:r>
              <a:t>최소 기준 도달이 어렵고 확신이 없으면 — 과감하게 결정한다.</a:t>
            </a:r>
          </a:p>
          <a:p xmlns:a="http://schemas.openxmlformats.org/drawingml/2006/main">
            <a:r>
              <a:t>실제 트레이닝은 Case by Case. 명확한 기준과 일관된 원칙을 유지하되, 개별 상황의 특수성을 고려해 최선의 결정을 내린다.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25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INSIGHT  ·  ON HUMAN &amp; EDUCATION</a:t>
            </a:r>
          </a:p>
          <a:p xmlns:a="http://schemas.openxmlformats.org/drawingml/2006/main">
            <a:r>
              <a:t>장 자크 루소, 『에밀』에서</a:t>
            </a:r>
          </a:p>
          <a:p xmlns:a="http://schemas.openxmlformats.org/drawingml/2006/main">
            <a:r>
              <a:t>"진리를 가르치는 것보다, 알고 싶고 배우고 싶은 욕구를 일으키는</a:t>
            </a:r>
          </a:p>
          <a:p xmlns:a="http://schemas.openxmlformats.org/drawingml/2006/main">
            <a:r>
              <a:t>방법이 더 중요하다. 교육자는 결코 </a:t>
            </a:r>
          </a:p>
          <a:p xmlns:a="http://schemas.openxmlformats.org/drawingml/2006/main">
            <a:r>
              <a:t>아이보다 앞서서는 안 된다."</a:t>
            </a:r>
          </a:p>
          <a:p xmlns:a="http://schemas.openxmlformats.org/drawingml/2006/main">
            <a:r>
              <a:t>— 장 자크 루소, 『에밀』 (1762)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우리의 트레이닝과 닿아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</a:t>
            </a:r>
          </a:p>
          <a:p xmlns:a="http://schemas.openxmlformats.org/drawingml/2006/main">
            <a:r>
              <a:t>지식을 밀어넣기 전에 호기심과 욕구를 켠다 — 루소의 '욕구가 먼저'와 같은 출발점.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앞서지 말고 관찰하라</a:t>
            </a:r>
          </a:p>
          <a:p xmlns:a="http://schemas.openxmlformats.org/drawingml/2006/main">
            <a:r>
              <a:t>스스로 깨닫게 두되 꼭 필요할 때 최소한만. 관찰·경청이 피드백을 앞선다.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경험이 곧 배움</a:t>
            </a:r>
          </a:p>
          <a:p xmlns:a="http://schemas.openxmlformats.org/drawingml/2006/main">
            <a:r>
              <a:t>위험과 어려움은 위기가 아니라 기회. 필드의 경험으로 신입은 자란다.</a:t>
            </a:r>
          </a:p>
          <a:p xmlns:a="http://schemas.openxmlformats.org/drawingml/2006/main">
            <a:r>
              <a:t>결국 신입에게 답이 있다 — 트레이너는 그 답이 피어나도록 돕는 사람이다.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26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INSIGHT  ·  ON HUMAN &amp; EDUCATION</a:t>
            </a:r>
          </a:p>
          <a:p xmlns:a="http://schemas.openxmlformats.org/drawingml/2006/main">
            <a:r>
              <a:t>장 자크 루소, 『에밀』에서</a:t>
            </a:r>
          </a:p>
          <a:p xmlns:a="http://schemas.openxmlformats.org/drawingml/2006/main">
            <a:r>
              <a:t>"진리를 가르치는 것보다, 알고 싶고 배우고 싶은 욕구를 일으키는</a:t>
            </a:r>
          </a:p>
          <a:p xmlns:a="http://schemas.openxmlformats.org/drawingml/2006/main">
            <a:r>
              <a:t>방법이 더 중요하다. 교육자는 결코 </a:t>
            </a:r>
          </a:p>
          <a:p xmlns:a="http://schemas.openxmlformats.org/drawingml/2006/main">
            <a:r>
              <a:t>아이보다 앞서서는 안 된다."</a:t>
            </a:r>
          </a:p>
          <a:p xmlns:a="http://schemas.openxmlformats.org/drawingml/2006/main">
            <a:r>
              <a:t>— 장 자크 루소, 『에밀』 (1762)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우리의 트레이닝과 닿아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</a:t>
            </a:r>
          </a:p>
          <a:p xmlns:a="http://schemas.openxmlformats.org/drawingml/2006/main">
            <a:r>
              <a:t>지식을 밀어넣기 전에 호기심과 욕구를 켠다 — 루소의 '욕구가 먼저'와 같은 출발점.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앞서지 말고 관찰하라</a:t>
            </a:r>
          </a:p>
          <a:p xmlns:a="http://schemas.openxmlformats.org/drawingml/2006/main">
            <a:r>
              <a:t>스스로 깨닫게 두되 꼭 필요할 때 최소한만. 관찰·경청이 피드백을 앞선다.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경험이 곧 배움</a:t>
            </a:r>
          </a:p>
          <a:p xmlns:a="http://schemas.openxmlformats.org/drawingml/2006/main">
            <a:r>
              <a:t>위험과 어려움은 위기가 아니라 기회. 필드의 경험으로 신입은 자란다.</a:t>
            </a:r>
          </a:p>
          <a:p xmlns:a="http://schemas.openxmlformats.org/drawingml/2006/main">
            <a:r>
              <a:t>결국 신입에게 답이 있다 — 트레이너는 그 답이 피어나도록 돕는 사람이다.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26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 I WANTED TO LEAD · 리더가 되고 싶었던 이유</a:t>
            </a:r>
          </a:p>
          <a:p xmlns:a="http://schemas.openxmlformats.org/drawingml/2006/main">
            <a:r>
              <a:t>내가 리더가 되고 싶었던 10가지 이유</a:t>
            </a:r>
          </a:p>
          <a:p xmlns:a="http://schemas.openxmlformats.org/drawingml/2006/main">
            <a:r>
              <a:t>루소가 말한 '아이보다 앞서지 않는' 교육처럼 — 딱 한 걸음 앞서 기다리는 리더가 되고 싶었다.</a:t>
            </a:r>
          </a:p>
          <a:p xmlns:a="http://schemas.openxmlformats.org/drawingml/2006/main">
            <a:r>
              <a:t>01   세일즈웍스의 첫 번째 목표여서</a:t>
            </a:r>
          </a:p>
          <a:p xmlns:a="http://schemas.openxmlformats.org/drawingml/2006/main">
            <a:r>
              <a:t>02   내 가치관이 담긴 팀을 만들 수 있어서</a:t>
            </a:r>
          </a:p>
          <a:p xmlns:a="http://schemas.openxmlformats.org/drawingml/2006/main">
            <a:r>
              <a:t>03   누군가의 리더가 된다는 것이 기뻐서</a:t>
            </a:r>
          </a:p>
          <a:p xmlns:a="http://schemas.openxmlformats.org/drawingml/2006/main">
            <a:r>
              <a:t>04   'OO리'라 불리는 친근함이 좋아서</a:t>
            </a:r>
          </a:p>
          <a:p xmlns:a="http://schemas.openxmlformats.org/drawingml/2006/main">
            <a:r>
              <a:t>05   조끼·피치카드·사물함을 쓸 수 있어서</a:t>
            </a:r>
          </a:p>
          <a:p xmlns:a="http://schemas.openxmlformats.org/drawingml/2006/main">
            <a:r>
              <a:t>06   리더라는 위치가 동기부여가 되어서</a:t>
            </a:r>
          </a:p>
          <a:p xmlns:a="http://schemas.openxmlformats.org/drawingml/2006/main">
            <a:r>
              <a:t>07   상위 프로모션에 도전할 수 있어서</a:t>
            </a:r>
          </a:p>
          <a:p xmlns:a="http://schemas.openxmlformats.org/drawingml/2006/main">
            <a:r>
              <a:t>08   리더힛 부담이 아닌 더 큰 비전으로</a:t>
            </a:r>
          </a:p>
          <a:p xmlns:a="http://schemas.openxmlformats.org/drawingml/2006/main">
            <a:r>
              <a:t>09   섬기고 돕는 자리에서만 배울 수 있어서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>이런 리더가 되고 싶어서</a:t>
            </a:r>
          </a:p>
          <a:p xmlns:a="http://schemas.openxmlformats.org/drawingml/2006/main">
            <a:r>
              <a:t>아주 먼 곳까지 내다보되, 앞서 달음박질하지 않고</a:t>
            </a:r>
          </a:p>
          <a:p xmlns:a="http://schemas.openxmlformats.org/drawingml/2006/main">
            <a:r>
              <a:t>언제든 따라올 수 있도록 딱 한 걸음 앞서 기다릴 줄 아는 리더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27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 I WANTED TO LEAD · 리더가 되고 싶었던 이유</a:t>
            </a:r>
          </a:p>
          <a:p xmlns:a="http://schemas.openxmlformats.org/drawingml/2006/main">
            <a:r>
              <a:t>내가 리더가 되고 싶었던 10가지 이유</a:t>
            </a:r>
          </a:p>
          <a:p xmlns:a="http://schemas.openxmlformats.org/drawingml/2006/main">
            <a:r>
              <a:t>루소가 말한 '아이보다 앞서지 않는' 교육처럼 — 딱 한 걸음 앞서 기다리는 리더가 되고 싶었다.</a:t>
            </a:r>
          </a:p>
          <a:p xmlns:a="http://schemas.openxmlformats.org/drawingml/2006/main">
            <a:r>
              <a:t>01   세일즈웍스의 첫 번째 목표여서</a:t>
            </a:r>
          </a:p>
          <a:p xmlns:a="http://schemas.openxmlformats.org/drawingml/2006/main">
            <a:r>
              <a:t>02   내 가치관이 담긴 팀을 만들 수 있어서</a:t>
            </a:r>
          </a:p>
          <a:p xmlns:a="http://schemas.openxmlformats.org/drawingml/2006/main">
            <a:r>
              <a:t>03   누군가의 리더가 된다는 것이 기뻐서</a:t>
            </a:r>
          </a:p>
          <a:p xmlns:a="http://schemas.openxmlformats.org/drawingml/2006/main">
            <a:r>
              <a:t>04   'OO리'라 불리는 친근함이 좋아서</a:t>
            </a:r>
          </a:p>
          <a:p xmlns:a="http://schemas.openxmlformats.org/drawingml/2006/main">
            <a:r>
              <a:t>05   조끼·피치카드·사물함을 쓸 수 있어서</a:t>
            </a:r>
          </a:p>
          <a:p xmlns:a="http://schemas.openxmlformats.org/drawingml/2006/main">
            <a:r>
              <a:t>06   리더라는 위치가 동기부여가 되어서</a:t>
            </a:r>
          </a:p>
          <a:p xmlns:a="http://schemas.openxmlformats.org/drawingml/2006/main">
            <a:r>
              <a:t>07   상위 프로모션에 도전할 수 있어서</a:t>
            </a:r>
          </a:p>
          <a:p xmlns:a="http://schemas.openxmlformats.org/drawingml/2006/main">
            <a:r>
              <a:t>08   리더힛 부담이 아닌 더 큰 비전으로</a:t>
            </a:r>
          </a:p>
          <a:p xmlns:a="http://schemas.openxmlformats.org/drawingml/2006/main">
            <a:r>
              <a:t>09   섬기고 돕는 자리에서만 배울 수 있어서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>이런 리더가 되고 싶어서</a:t>
            </a:r>
          </a:p>
          <a:p xmlns:a="http://schemas.openxmlformats.org/drawingml/2006/main">
            <a:r>
              <a:t>아주 먼 곳까지 내다보되, 앞서 달음박질하지 않고</a:t>
            </a:r>
          </a:p>
          <a:p xmlns:a="http://schemas.openxmlformats.org/drawingml/2006/main">
            <a:r>
              <a:t>언제든 따라올 수 있도록 딱 한 걸음 앞서 기다릴 줄 아는 리더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27 · 임재영 AOP. 배경: AI 생성 컨셉 이미지, 실제 팀 활동 기록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ONE-PAGE GUIDE</a:t>
            </a:r>
          </a:p>
          <a:p xmlns:a="http://schemas.openxmlformats.org/drawingml/2006/main">
            <a:r>
              <a:t>신입 트레이닝 1–3일, 한 장 요약</a:t>
            </a:r>
          </a:p>
          <a:p xmlns:a="http://schemas.openxmlformats.org/drawingml/2006/main">
            <a:r>
              <a:t>나가면 반드시 세일즈하는 신입으로</a:t>
            </a:r>
          </a:p>
          <a:p xmlns:a="http://schemas.openxmlformats.org/drawingml/2006/main">
            <a:r>
              <a:t>DAY별 필수 액션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경험</a:t>
            </a:r>
          </a:p>
          <a:p xmlns:a="http://schemas.openxmlformats.org/drawingml/2006/main">
            <a:r>
              <a:t>2시간 뛰게 한 뒤 반응·태도 관찰</a:t>
            </a:r>
          </a:p>
          <a:p xmlns:a="http://schemas.openxmlformats.org/drawingml/2006/main">
            <a:r>
              <a:t>트레이너가 직접 쇼잉</a:t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제로 방지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학습</a:t>
            </a:r>
          </a:p>
          <a:p xmlns:a="http://schemas.openxmlformats.org/drawingml/2006/main">
            <a:r>
              <a:t>첫 세일즈 1개 함께 달성(필수)</a:t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첫날 대비 개선점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판단</a:t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3일 성과 패턴으로 판단</a:t>
            </a:r>
          </a:p>
          <a:p xmlns:a="http://schemas.openxmlformats.org/drawingml/2006/main">
            <a:r>
              <a:t>Stay / Qualifying 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가져야 할 태도</a:t>
            </a:r>
          </a:p>
          <a:p xmlns:a="http://schemas.openxmlformats.org/drawingml/2006/main">
            <a:r>
              <a:t>성취감 제공 · 인정과 칭찬</a:t>
            </a:r>
          </a:p>
          <a:p xmlns:a="http://schemas.openxmlformats.org/drawingml/2006/main">
            <a:r>
              <a:t>혼냄보다 스스로 깨닫게 (앞서지 않기)</a:t>
            </a:r>
          </a:p>
          <a:p xmlns:a="http://schemas.openxmlformats.org/drawingml/2006/main">
            <a:r>
              <a:t>불안·두려움을 케어해 필드에 집중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갖춰야 할 스킬</a:t>
            </a:r>
          </a:p>
          <a:p xmlns:a="http://schemas.openxmlformats.org/drawingml/2006/main">
            <a:r>
              <a:t>5 Step : Intro·Short Story·Presentation·Closing·Rehash</a:t>
            </a:r>
          </a:p>
          <a:p xmlns:a="http://schemas.openxmlformats.org/drawingml/2006/main">
            <a:r>
              <a:t>TAAIS 클로징 · 쿠션 멘트</a:t>
            </a:r>
          </a:p>
          <a:p xmlns:a="http://schemas.openxmlformats.org/drawingml/2006/main">
            <a:r>
              <a:t>약점별 보강 : 리액션·스트릿·클로징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매일 점검 체크리스트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사이트를 준비해 넘버를 쌓게 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약한 스킬을 필드에서 바로 보강했는가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두려움을 제거해 집중하게 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신입의 콜백싯을 함께 점검했는가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28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Presence Team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Thank you</a:t>
            </a:r>
          </a:p>
          <a:p xmlns:a="http://schemas.openxmlformats.org/drawingml/2006/main">
            <a:r>
              <a:t>후원의 기쁨과 가치를 전할 수 있는 곳이라면 어디든 가는 사람</a:t>
            </a:r>
          </a:p>
          <a:p xmlns:a="http://schemas.openxmlformats.org/drawingml/2006/main">
            <a:r>
              <a:t>임재영 AOP</a:t>
            </a:r>
          </a:p>
          <a:p xmlns:a="http://schemas.openxmlformats.org/drawingml/2006/main">
            <a:r>
              <a:t>☎  Tel : 010-5178-1713        ✉  e-mail : jaeyoung5178@naver.com</a:t>
            </a:r>
          </a:p>
          <a:p xmlns:a="http://schemas.openxmlformats.org/drawingml/2006/main">
            <a:r>
              <a:t>기타 궁금하거나 질문이 있으시면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29 · 임재영 AOP.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8fff50b09248a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b6170d71224a9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c916ccffa44ab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31b4d9f4c6483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6b20d066e845c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fac7bb45cc4ed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7CE29F-B502-4A46-AEE2-3C7F19F0F4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90DCF2F-1259-447B-AAE1-F2786833E8A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6B4E41E-59FC-4C4D-B473-4B70E567D9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A95DF0A-EE99-4C20-BD8C-32C62BD91C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95C184E-2EBD-478B-B20D-A467196C77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41DD867-92B1-47E3-AE08-316D2A8FCE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9B4AACB-119E-4B35-8A88-393A3C857E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9A1260B-018B-438C-817D-F68983A58C7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A74575-CBD9-4A18-9894-89413DD60B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4D6DCD3-95A5-4A96-A378-7C16BD702E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b4d0dd28b894f13" /><Relationship Type="http://schemas.openxmlformats.org/officeDocument/2006/relationships/slideLayout" Target="/ppt/slideLayouts/slideLayout1.xml" Id="Rf3f8441391e748e2" /><Relationship Type="http://schemas.openxmlformats.org/officeDocument/2006/relationships/slideLayout" Target="/ppt/slideLayouts/slideLayout2.xml" Id="Raf5c424717e2483f" /><Relationship Type="http://schemas.openxmlformats.org/officeDocument/2006/relationships/slideLayout" Target="/ppt/slideLayouts/slideLayout3.xml" Id="R12e8010081a14ab4" /><Relationship Type="http://schemas.openxmlformats.org/officeDocument/2006/relationships/slideLayout" Target="/ppt/slideLayouts/slideLayout4.xml" Id="Ra717cb1d59c94642" /><Relationship Type="http://schemas.openxmlformats.org/officeDocument/2006/relationships/slideLayout" Target="/ppt/slideLayouts/slideLayout5.xml" Id="R3380ddf2124c4089" /><Relationship Type="http://schemas.openxmlformats.org/officeDocument/2006/relationships/slideLayout" Target="/ppt/slideLayouts/slideLayout6.xml" Id="R7c39a333d0904c7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f8441391e748e2"/>
    <p:sldLayoutId xmlns:r="http://schemas.openxmlformats.org/officeDocument/2006/relationships" id="2147483650" r:id="Raf5c424717e2483f"/>
    <p:sldLayoutId xmlns:r="http://schemas.openxmlformats.org/officeDocument/2006/relationships" id="2147483651" r:id="R12e8010081a14ab4"/>
    <p:sldLayoutId xmlns:r="http://schemas.openxmlformats.org/officeDocument/2006/relationships" id="2147483652" r:id="Ra717cb1d59c94642"/>
    <p:sldLayoutId xmlns:r="http://schemas.openxmlformats.org/officeDocument/2006/relationships" id="2147483653" r:id="R3380ddf2124c4089"/>
    <p:sldLayoutId xmlns:r="http://schemas.openxmlformats.org/officeDocument/2006/relationships" id="2147483654" r:id="R7c39a333d0904c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5057d789e24d9c" /><Relationship Type="http://schemas.openxmlformats.org/officeDocument/2006/relationships/image" Target="/ppt/media/image.jpeg" Id="R5bb8d4f218f24ff0" /><Relationship Type="http://schemas.openxmlformats.org/officeDocument/2006/relationships/notesSlide" Target="/ppt/notesSlides/notesSlide1.xml" Id="Rebaa197dfedc45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dc2a9cd663408d" /><Relationship Type="http://schemas.openxmlformats.org/officeDocument/2006/relationships/notesSlide" Target="/ppt/notesSlides/notesSlide2.xml" Id="R943dc579ed6c4e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a83299295f4dfb" /><Relationship Type="http://schemas.openxmlformats.org/officeDocument/2006/relationships/notesSlide" Target="/ppt/notesSlides/notesSlide3.xml" Id="R1d9afc18598d49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2d44acd5c74059" /><Relationship Type="http://schemas.openxmlformats.org/officeDocument/2006/relationships/image" Target="/ppt/media/image2.jpeg" Id="Rd86e1f73a7ff499e" /><Relationship Type="http://schemas.openxmlformats.org/officeDocument/2006/relationships/notesSlide" Target="/ppt/notesSlides/notesSlide4.xml" Id="Rd29667fa53e64e5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7d708f50014f0a" /><Relationship Type="http://schemas.openxmlformats.org/officeDocument/2006/relationships/notesSlide" Target="/ppt/notesSlides/notesSlide5.xml" Id="R9090a088dfc242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4309c34bea42b6" /><Relationship Type="http://schemas.openxmlformats.org/officeDocument/2006/relationships/image" Target="/ppt/media/image3.jpeg" Id="Rd26d4258dbd64649" /><Relationship Type="http://schemas.openxmlformats.org/officeDocument/2006/relationships/notesSlide" Target="/ppt/notesSlides/notesSlide6.xml" Id="R3bb61cfbfe744b8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bb0511081e40c2" /><Relationship Type="http://schemas.openxmlformats.org/officeDocument/2006/relationships/notesSlide" Target="/ppt/notesSlides/notesSlide7.xml" Id="Rc432cabca69d44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808cc0c27d4b51" /><Relationship Type="http://schemas.openxmlformats.org/officeDocument/2006/relationships/image" Target="/ppt/media/image4.jpeg" Id="R570576d1c4844d61" /><Relationship Type="http://schemas.openxmlformats.org/officeDocument/2006/relationships/notesSlide" Target="/ppt/notesSlides/notesSlide8.xml" Id="Rd99ec7ffa5e5475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ebc909681f41fe" /><Relationship Type="http://schemas.openxmlformats.org/officeDocument/2006/relationships/notesSlide" Target="/ppt/notesSlides/notesSlide9.xml" Id="R37c1e87ffb8649e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779bd2c4dc4cd4" /><Relationship Type="http://schemas.openxmlformats.org/officeDocument/2006/relationships/notesSlide" Target="/ppt/notesSlides/notesSlide10.xml" Id="R452c6f0f0ce047e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bd58da985a420d" /><Relationship Type="http://schemas.openxmlformats.org/officeDocument/2006/relationships/notesSlide" Target="/ppt/notesSlides/notesSlide11.xml" Id="R18a7b04b157a4ca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caf559a7e64ae6" /><Relationship Type="http://schemas.openxmlformats.org/officeDocument/2006/relationships/image" Target="/ppt/media/image5.jpeg" Id="R59bd13e36ed74d8d" /><Relationship Type="http://schemas.openxmlformats.org/officeDocument/2006/relationships/notesSlide" Target="/ppt/notesSlides/notesSlide12.xml" Id="R052aa9313342442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a990c6e23341b8" /><Relationship Type="http://schemas.openxmlformats.org/officeDocument/2006/relationships/notesSlide" Target="/ppt/notesSlides/notesSlide13.xml" Id="R2db5f54d64e4401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872fac0c0e4594" /><Relationship Type="http://schemas.openxmlformats.org/officeDocument/2006/relationships/image" Target="/ppt/media/image6.jpeg" Id="Rbf7ff44cba4942f9" /><Relationship Type="http://schemas.openxmlformats.org/officeDocument/2006/relationships/notesSlide" Target="/ppt/notesSlides/notesSlide14.xml" Id="R43873e823d15490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302e95c42e4bba" /><Relationship Type="http://schemas.openxmlformats.org/officeDocument/2006/relationships/image" Target="/ppt/media/image7.jpeg" Id="R4749f0d7cdc84f69" /><Relationship Type="http://schemas.openxmlformats.org/officeDocument/2006/relationships/notesSlide" Target="/ppt/notesSlides/notesSlide15.xml" Id="Rc90685ab8ec344d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edcffb877c466b" /><Relationship Type="http://schemas.openxmlformats.org/officeDocument/2006/relationships/notesSlide" Target="/ppt/notesSlides/notesSlide16.xml" Id="R4a2e85b951054bc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87c0ab3ac142a9" /><Relationship Type="http://schemas.openxmlformats.org/officeDocument/2006/relationships/image" Target="/ppt/media/image8.jpeg" Id="R5f593b7186a84595" /><Relationship Type="http://schemas.openxmlformats.org/officeDocument/2006/relationships/notesSlide" Target="/ppt/notesSlides/notesSlide17.xml" Id="R7187bfdb44b843f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422cb7bb1d49e8" /><Relationship Type="http://schemas.openxmlformats.org/officeDocument/2006/relationships/notesSlide" Target="/ppt/notesSlides/notesSlide18.xml" Id="R2eca4632d63f40c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603c1ad3ef420a" /><Relationship Type="http://schemas.openxmlformats.org/officeDocument/2006/relationships/notesSlide" Target="/ppt/notesSlides/notesSlide19.xml" Id="R5cf6ce01d7be494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4ebc197acb4729" /><Relationship Type="http://schemas.openxmlformats.org/officeDocument/2006/relationships/notesSlide" Target="/ppt/notesSlides/notesSlide20.xml" Id="R3f55766bf0c2478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7883f4538b4990" /><Relationship Type="http://schemas.openxmlformats.org/officeDocument/2006/relationships/image" Target="/ppt/media/image9.jpeg" Id="Rf08001203f3640d9" /><Relationship Type="http://schemas.openxmlformats.org/officeDocument/2006/relationships/notesSlide" Target="/ppt/notesSlides/notesSlide21.xml" Id="R8dd26eb07aa646e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7a15c0b17c4d70" /><Relationship Type="http://schemas.openxmlformats.org/officeDocument/2006/relationships/notesSlide" Target="/ppt/notesSlides/notesSlide22.xml" Id="R8d5d4fc44fe942f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9b84c229b1496a" /><Relationship Type="http://schemas.openxmlformats.org/officeDocument/2006/relationships/notesSlide" Target="/ppt/notesSlides/notesSlide23.xml" Id="R943622ba50cf47f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31a0812723427e" /><Relationship Type="http://schemas.openxmlformats.org/officeDocument/2006/relationships/notesSlide" Target="/ppt/notesSlides/notesSlide24.xml" Id="R718129d65b0646c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5e698e716c4419" /><Relationship Type="http://schemas.openxmlformats.org/officeDocument/2006/relationships/notesSlide" Target="/ppt/notesSlides/notesSlide25.xml" Id="Rfd2963815c2f48b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66713880c74ee8" /><Relationship Type="http://schemas.openxmlformats.org/officeDocument/2006/relationships/notesSlide" Target="/ppt/notesSlides/notesSlide26.xml" Id="R76297cd2d6754e8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2f4e4e91cb4d66" /><Relationship Type="http://schemas.openxmlformats.org/officeDocument/2006/relationships/notesSlide" Target="/ppt/notesSlides/notesSlide27.xml" Id="R6951c50e297e4a2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8e65b62a8748ef" /><Relationship Type="http://schemas.openxmlformats.org/officeDocument/2006/relationships/notesSlide" Target="/ppt/notesSlides/notesSlide28.xml" Id="R57ea4ace4d91401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8de9e2706d49bc" /><Relationship Type="http://schemas.openxmlformats.org/officeDocument/2006/relationships/notesSlide" Target="/ppt/notesSlides/notesSlide29.xml" Id="R55726d878fc54ea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2b3a3a98974608" /><Relationship Type="http://schemas.openxmlformats.org/officeDocument/2006/relationships/image" Target="/ppt/media/image10.jpeg" Id="R81c98d5c9ad4499e" /><Relationship Type="http://schemas.openxmlformats.org/officeDocument/2006/relationships/notesSlide" Target="/ppt/notesSlides/notesSlide30.xml" Id="Reac1a9cb7f644ac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11db5f382b4d92" /><Relationship Type="http://schemas.openxmlformats.org/officeDocument/2006/relationships/notesSlide" Target="/ppt/notesSlides/notesSlide31.xml" Id="R560546a671224de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5786fd64c54769" /><Relationship Type="http://schemas.openxmlformats.org/officeDocument/2006/relationships/image" Target="/ppt/media/image11.jpeg" Id="R0d14e35bf97f4aa7" /><Relationship Type="http://schemas.openxmlformats.org/officeDocument/2006/relationships/notesSlide" Target="/ppt/notesSlides/notesSlide32.xml" Id="R32f3f21cbff14c9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3250573e124807" /><Relationship Type="http://schemas.openxmlformats.org/officeDocument/2006/relationships/notesSlide" Target="/ppt/notesSlides/notesSlide33.xml" Id="Rf9dec8b643714683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1c0717f7ab4dbd" /><Relationship Type="http://schemas.openxmlformats.org/officeDocument/2006/relationships/notesSlide" Target="/ppt/notesSlides/notesSlide34.xml" Id="R3b89608b792440b5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d29ff6fe0e4ee5" /><Relationship Type="http://schemas.openxmlformats.org/officeDocument/2006/relationships/notesSlide" Target="/ppt/notesSlides/notesSlide35.xml" Id="R384906f0da11406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f69bedd3154c74" /><Relationship Type="http://schemas.openxmlformats.org/officeDocument/2006/relationships/notesSlide" Target="/ppt/notesSlides/notesSlide36.xml" Id="Raf03c3e1b67e4f1a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f50ab50c20433f" /><Relationship Type="http://schemas.openxmlformats.org/officeDocument/2006/relationships/image" Target="/ppt/media/image12.jpeg" Id="Rfc6fe3e241404305" /><Relationship Type="http://schemas.openxmlformats.org/officeDocument/2006/relationships/notesSlide" Target="/ppt/notesSlides/notesSlide37.xml" Id="R0426c12e5cb245b8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ee95ab961f4fe6" /><Relationship Type="http://schemas.openxmlformats.org/officeDocument/2006/relationships/image" Target="/ppt/media/image13.jpeg" Id="R91bf768bd8f944a9" /><Relationship Type="http://schemas.openxmlformats.org/officeDocument/2006/relationships/notesSlide" Target="/ppt/notesSlides/notesSlide38.xml" Id="R1adce265542d4be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27437f180c47ff" /><Relationship Type="http://schemas.openxmlformats.org/officeDocument/2006/relationships/image" Target="/ppt/media/image14.jpeg" Id="Rab7d077eedcf491d" /><Relationship Type="http://schemas.openxmlformats.org/officeDocument/2006/relationships/notesSlide" Target="/ppt/notesSlides/notesSlide39.xml" Id="R97c0456501c3413e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bb2b6869cf4c32" /><Relationship Type="http://schemas.openxmlformats.org/officeDocument/2006/relationships/notesSlide" Target="/ppt/notesSlides/notesSlide40.xml" Id="Rdb1ce0de5f174b5f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9ee3d12d5547d4" /><Relationship Type="http://schemas.openxmlformats.org/officeDocument/2006/relationships/notesSlide" Target="/ppt/notesSlides/notesSlide41.xml" Id="R4708c374cf2f4f83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6b5187fbfa4c06" /><Relationship Type="http://schemas.openxmlformats.org/officeDocument/2006/relationships/notesSlide" Target="/ppt/notesSlides/notesSlide42.xml" Id="R6648cded1e704b96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b07785d9ea4c17" /><Relationship Type="http://schemas.openxmlformats.org/officeDocument/2006/relationships/notesSlide" Target="/ppt/notesSlides/notesSlide43.xml" Id="R18c8a846c15c4520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6c3e6705654a24" /><Relationship Type="http://schemas.openxmlformats.org/officeDocument/2006/relationships/notesSlide" Target="/ppt/notesSlides/notesSlide44.xml" Id="R82540556f35d41b6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6e0ff326084c23" /><Relationship Type="http://schemas.openxmlformats.org/officeDocument/2006/relationships/image" Target="/ppt/media/image15.jpeg" Id="R87505151ace44ef1" /><Relationship Type="http://schemas.openxmlformats.org/officeDocument/2006/relationships/notesSlide" Target="/ppt/notesSlides/notesSlide45.xml" Id="R28685668aa144c1f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a2278175774d77" /><Relationship Type="http://schemas.openxmlformats.org/officeDocument/2006/relationships/notesSlide" Target="/ppt/notesSlides/notesSlide46.xml" Id="R51de6b26bf98494e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43692167244737" /><Relationship Type="http://schemas.openxmlformats.org/officeDocument/2006/relationships/notesSlide" Target="/ppt/notesSlides/notesSlide47.xml" Id="Rabd349c7b9534164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4a96a886644c15" /><Relationship Type="http://schemas.openxmlformats.org/officeDocument/2006/relationships/image" Target="/ppt/media/image16.jpeg" Id="R7c181e1b6cd84015" /><Relationship Type="http://schemas.openxmlformats.org/officeDocument/2006/relationships/notesSlide" Target="/ppt/notesSlides/notesSlide48.xml" Id="Re014e5d3d2f64381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4cd797c15d48a7" /><Relationship Type="http://schemas.openxmlformats.org/officeDocument/2006/relationships/notesSlide" Target="/ppt/notesSlides/notesSlide49.xml" Id="R1d8d5bc70e494726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26cf97920c4bd2" /><Relationship Type="http://schemas.openxmlformats.org/officeDocument/2006/relationships/image" Target="/ppt/media/image17.jpeg" Id="R8305db2717bc479f" /><Relationship Type="http://schemas.openxmlformats.org/officeDocument/2006/relationships/notesSlide" Target="/ppt/notesSlides/notesSlide50.xml" Id="Rb00809c7f1a54d5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9096F7-4F53-4018-9CF3-DEF5231436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8d4f218f24ff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880B55-B6EB-4B7E-8F62-6F977E94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임재영 AOP · PRESENCE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C00F74-9C8A-4524-8655-EA8C458C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92392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딱 한 걸음 앞서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4EB19A-8CBC-40B5-8CA7-F19D99C6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38475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 IC 트레이닝 가이드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DD3268-0C0B-415B-8219-10886F7F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05250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먼저 배우고 싶게 만들라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피드백 전에 관찰하라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ED68C5-DD52-4F98-89B5-306A9EA2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8167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임재영 AOP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D31EE5-F761-4CA3-A1C7-14DD5FC1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01 / 50</a:t>
            </a:r>
          </a:p>
        </p:txBody>
      </p:sp>
    </p:spTree>
    <p:extLst>
      <p:ext uri="{BB962C8B-B14F-4D97-AF65-F5344CB8AC3E}">
        <p14:creationId xmlns:p14="http://schemas.microsoft.com/office/powerpoint/2010/main" val="16854239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5885F7-414B-4EBD-8AF8-C11C1BAD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4FB139-95F8-443E-994A-3E3F0066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다음 중 관련 있는 분야는?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4DF48-274D-4A0C-B56D-D458EEC0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잠시, 함께 생각해 봅시다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4C47B1-6A8F-4B84-9A97-B14D46BC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D2B32D-B32E-4A51-8DB2-A9C4E0C8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자동차운전면허증(1종)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3270AE-FC7D-44D8-A38A-BB0DB875F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CC860D-46F2-4134-9675-92808E88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14625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대형면허 자격증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EC52C1-A374-49D7-82D7-8C48E899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8063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DB57D7-13AB-468B-9B9E-A9F66CB4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48063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복어조리기능사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4DF0FE-B560-4AAA-8CDF-9BDE96CD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48063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64A523-8EFC-4B27-BFAA-99DE5C126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548063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제빵기능사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1C8677-1C4D-49DD-9428-59C605055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B7B920-A677-44AD-A8F9-F26E92DD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81500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지게차 운전기능사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FB26B8-5F6F-4678-ABB3-921E4669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81500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0E942D-3DBA-489D-A601-1A3956D7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381500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코칭(다문화)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999668-F968-4A1D-8FEE-814F24F3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4938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AED528-69FC-41B7-A337-01C63E62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4938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용접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9EB79B-988A-445D-A87F-D97D52F26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4938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4ACC76-D4FB-48A2-A964-70A9A65F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214938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신학 석사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69BCCA-5EB6-4F73-AA4C-1F5F9D34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02 / 50</a:t>
            </a:r>
          </a:p>
        </p:txBody>
      </p:sp>
    </p:spTree>
    <p:extLst>
      <p:ext uri="{BB962C8B-B14F-4D97-AF65-F5344CB8AC3E}">
        <p14:creationId xmlns:p14="http://schemas.microsoft.com/office/powerpoint/2010/main" val="18106771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F7DC33-CF47-4FFD-8036-DACC96D9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DE2143-6B02-4FCC-86CC-1EFE520F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트레이닝의 전체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EDEA9D-F297-442F-84D7-B0637BA9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동기를 만들고, 관찰하고, 자립을 설계한다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C648E3-9F61-4B56-A669-727464D3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339D25-D3D6-4F1F-9587-5C323556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철학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7F37D4-8AB4-4E24-AF29-673BA674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동기와 관찰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2EF870-90A9-4DCC-A138-8B364797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7146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EAE3FC-4C2B-457A-976B-07911101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30765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전제 조건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56FDC0-B001-480A-B1A8-11B59639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35433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쇼잉과 스탠다드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B41C09-816C-4FA8-8D2F-FBA1B36F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7146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88B10E-9E85-4C44-95BF-A036B691A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765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3일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2BFFC5-9256-415E-81D0-615C1D6F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5433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경험 · 학습 · 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8DD297-43D8-486E-BC68-E55E44A20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291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FFC904-933E-455C-9926-EA96B2C7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910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스킬과 피드백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96F19A-6214-459A-86EE-D00BA2DA4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5 Step · 타이밍 · 모델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A68881-93D7-4378-9600-3DCAE082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44291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7A52FD-3DDD-449C-A09D-A5253A45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47910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6주 전략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42125A-5431-4AC7-9BDA-99DC1CFB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52578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리더힛 · 로드트립 · Self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605C6A-F04F-4C3C-A0B5-30D46FC7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44291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BB8A72-E3DC-4214-988F-FACD8F28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47910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리더의 역할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808007-095F-48D0-AFDC-5D9F8830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52578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성취 · 인정 · 결과 판단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B27C28-BA44-41CA-8A6A-3B4A3D54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03 / 50</a:t>
            </a:r>
          </a:p>
        </p:txBody>
      </p:sp>
    </p:spTree>
    <p:extLst>
      <p:ext uri="{BB962C8B-B14F-4D97-AF65-F5344CB8AC3E}">
        <p14:creationId xmlns:p14="http://schemas.microsoft.com/office/powerpoint/2010/main" val="9482305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62770E-2D14-47EF-AEBE-68412EF6DF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e1f73a7ff499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810847-3A50-4D5B-9113-555EBE622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8EBD0B-326F-41A4-800A-A13CA446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먼저,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배우고 싶게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E80A3E-2CF3-4549-9D09-90992480C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How to teach보다 먼저, Why they want to 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F235AA-428C-4930-A159-3FA8C40FF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04 / 50</a:t>
            </a:r>
          </a:p>
        </p:txBody>
      </p:sp>
    </p:spTree>
    <p:extLst>
      <p:ext uri="{BB962C8B-B14F-4D97-AF65-F5344CB8AC3E}">
        <p14:creationId xmlns:p14="http://schemas.microsoft.com/office/powerpoint/2010/main" val="14189327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E51A5-51E8-426E-9350-0F8A777B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1D1DD4-B130-4211-BE96-DC08C16B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배우고 싶은 마음이 생기는 과정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770C1C-289E-4EEB-A0B0-34B1D8B9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가르침은 그 의지 위에 얹는다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B29B08-0782-485F-8CC0-69C0B979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동기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68DF29-C075-4879-AD7E-7DFF1134E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지식 전에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하고 싶다는 마음을 켠다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79248C-BB2C-4651-A95C-957C1B19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4A2264-78D4-4ACD-8C9D-0E96DBFC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쇼잉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6159F4-E188-4F71-8697-67A8D6C2C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직접 보여줘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나도 저렇게 되고 싶게 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0E0751-3EE5-4440-9E35-1D08AB7D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1D1E69-1004-4E47-83F8-60D7130F1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작은 성공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C791C9-0F80-48CA-91C8-72E0620D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해낸 성취감이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다음 학습 의지를 만든다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F971A-4909-4581-B36E-C7920500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600DFF-17FF-496C-B629-3DEB3816A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05 / 50</a:t>
            </a:r>
          </a:p>
        </p:txBody>
      </p:sp>
    </p:spTree>
    <p:extLst>
      <p:ext uri="{BB962C8B-B14F-4D97-AF65-F5344CB8AC3E}">
        <p14:creationId xmlns:p14="http://schemas.microsoft.com/office/powerpoint/2010/main" val="3937566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129054-3DA2-42B5-BE06-6BA6299D15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6d4258dbd6464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F8E9F5-84B7-4C2A-9875-AD252C3C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장 자크 루소 · 『에밀』 제2권 · 원본 수록 번역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331ED5-B4E4-4DCA-82AA-55556C84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4775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시간을 잃어라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D0EA21-1269-47E7-BA6D-798E92EB0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24225"/>
            <a:ext cx="704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유용한 교육 규칙은 시간을 버는 것이 아니라, 시간을 잃는 것이다.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61F157-F5EF-434A-81B0-C6CB4DDA8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06 / 50</a:t>
            </a:r>
          </a:p>
        </p:txBody>
      </p:sp>
    </p:spTree>
    <p:extLst>
      <p:ext uri="{BB962C8B-B14F-4D97-AF65-F5344CB8AC3E}">
        <p14:creationId xmlns:p14="http://schemas.microsoft.com/office/powerpoint/2010/main" val="17260268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693E1A-5235-44E1-8D58-21432A0E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658A10-B218-4FCD-878C-DF583854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가르치기 전에, 관찰하기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0C700A-BD2F-4C65-A5DD-588037BD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소극적 교육 · Negative Education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9A9718-1110-4438-B52C-1C5F9CD9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B96893-50A4-4610-826C-B326C8AE9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1028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조급함이 가장 큰 위험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5DE0F3-34FF-4CD4-AAF5-4A871626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24200"/>
            <a:ext cx="102870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준비되지 않은 신입에게 주입하면 텅 빈 암기에 그치고 진짜 이해를 방해한다.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C786BD-1CF3-4700-BB5E-A1D74222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D9A5F3-FF6B-4F17-8CCF-ED4F5AE0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9525"/>
            <a:ext cx="1028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먼저, 이해한 만큼을 관찰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FCB66C-4869-455B-BD3B-E89EEE47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29100"/>
            <a:ext cx="102870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어디까지 이해하고 있는지 관찰한다. 그 위에 필요한 것을 얹는다.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D90B20-603B-47D6-AAE8-A53AAB4E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244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648CDD-8F38-4870-B3A6-C011F7BC5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24425"/>
            <a:ext cx="1028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기다림이 가장 빠른 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DB776E-67D1-4154-91BF-9DA92AB0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334000"/>
            <a:ext cx="102870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경험하고 성숙할 시간을 허락한다.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7086AB-5968-48F0-92F0-F9DB5766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07 / 50</a:t>
            </a:r>
          </a:p>
        </p:txBody>
      </p:sp>
    </p:spTree>
    <p:extLst>
      <p:ext uri="{BB962C8B-B14F-4D97-AF65-F5344CB8AC3E}">
        <p14:creationId xmlns:p14="http://schemas.microsoft.com/office/powerpoint/2010/main" val="15410834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852782-1F22-4D65-8D04-0673EA716A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0576d1c4844d6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544F46-6ABB-4A41-967E-14B2891C6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4955CC-AE03-4E79-B915-8F293F30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 전에,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 관찰하라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6C1DBD-8E06-4AEF-9033-C12E6CE8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같은 피드백도 사람에 따라 독이 되고 약이 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1585F5-7F61-4CFE-8C97-602F4E76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08 / 50</a:t>
            </a:r>
          </a:p>
        </p:txBody>
      </p:sp>
    </p:spTree>
    <p:extLst>
      <p:ext uri="{BB962C8B-B14F-4D97-AF65-F5344CB8AC3E}">
        <p14:creationId xmlns:p14="http://schemas.microsoft.com/office/powerpoint/2010/main" val="189039580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8A5557-C757-43D5-9314-7C2C57C1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B3EDAA-68A2-4482-A6FD-24F81767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관찰해야 할 네 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55104-B609-497E-A238-95A463120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관찰한 뒤 진단하고, 그 사람에게 맞춰 피드백한다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43F250-CC4B-411F-B628-3C8F1E43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반응과 태도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56C4BB-428A-4C2F-B9DB-E3F4BE30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2시간쯤 뛰게 한 뒤 할 만한지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72EFCE-7ACB-4C5B-AC15-91B44B08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6225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두려움의 위치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088C4B-4F4A-4A76-9548-AA262B64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37185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접근 · 피치 · 클로징, 어디서 멈칫하는가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4FA8EC-F535-4CAD-A91E-EBA160B60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학습 속도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BF9808-72C4-4C7C-A4D7-DA2549BE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911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어제의 피드백을 오늘 반영하는가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F34C6-D63D-489B-99CB-7A153A9F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8150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강점과 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AFAE78-480F-4835-BACE-EB8AC780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9911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리액션형인가, 논리형인가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6A319C-6501-41ED-8BEC-F95E189E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09 / 50</a:t>
            </a:r>
          </a:p>
        </p:txBody>
      </p:sp>
    </p:spTree>
    <p:extLst>
      <p:ext uri="{BB962C8B-B14F-4D97-AF65-F5344CB8AC3E}">
        <p14:creationId xmlns:p14="http://schemas.microsoft.com/office/powerpoint/2010/main" val="20982670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BBFAE5-62A3-49A9-A270-17DED4DE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E6AA7A-9B86-4A53-9398-A825BEE2D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이전부터 시작되는 관찰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90A9BB-0225-4A13-B020-10B9CDBC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사람이 다르면, 트레이닝도 달라야 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076166-97B6-4727-A2DD-242EB04BF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이력서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F8BCB-2096-4D8E-A734-E9D9FF21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경력과 이전 직무에서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성향과 강점의 단서를 읽는다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A7E248-7BFF-4639-9A12-828C5C44C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2D0643-32DC-477C-AA06-E89B6CB6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주변 피드백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D2612C-6CFB-4FB7-BD8F-4BD4AB38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오너 · 클라이언트 · 교육자에게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어떤 사람이었는지 묻는다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5B41B1-CABA-4C8A-926B-2255FD39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83252A-D7C4-4533-BD1B-AE9529B2F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트레이닝 설계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035D80-62D0-48D5-8FD7-79170C02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어떻게 가르칠지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 전에 미리 고민한다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A38C65-E3A3-4C2E-8B1D-7F3F675DD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81F861-4C15-49FF-AC8E-D57B0E21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10 / 50</a:t>
            </a:r>
          </a:p>
        </p:txBody>
      </p:sp>
    </p:spTree>
    <p:extLst>
      <p:ext uri="{BB962C8B-B14F-4D97-AF65-F5344CB8AC3E}">
        <p14:creationId xmlns:p14="http://schemas.microsoft.com/office/powerpoint/2010/main" val="21406604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1FB921-5047-4A3A-A210-919BFAFB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90D831-3DE2-4FCA-B11C-7EB337A9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신입에게 답이 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C94EA2-A64B-4584-9F97-7061BAE87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현장의 어려움은 현장에서 답을 찾는다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2882E4-F3A5-4F7A-BBCC-592E3738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포착하기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238A8-52DF-4659-A9D6-560F1192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이해하지 못하거나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머뭇거리는 순간을 찾는다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DE8A46-0201-4DAE-B0B1-96C17078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B02506-6AA0-48BC-A843-EDE1CC63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먼저 묻기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BB0768-3109-4D1E-914D-BCC5B715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왜 그 부분이 어려운지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입으로 듣는다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461CB2-7379-451E-B991-28E73D4D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FD96C1-A3F2-4883-91BF-457EBC51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함께 찾기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705B89-4F9D-48CA-9889-4125DABC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들은 내용을 바탕으로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솔직하게 피드백한다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2A17F5-1832-409E-9BBE-838D68065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6CFEE2-4515-4E3C-B41E-9606B816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11 / 50</a:t>
            </a:r>
          </a:p>
        </p:txBody>
      </p:sp>
    </p:spTree>
    <p:extLst>
      <p:ext uri="{BB962C8B-B14F-4D97-AF65-F5344CB8AC3E}">
        <p14:creationId xmlns:p14="http://schemas.microsoft.com/office/powerpoint/2010/main" val="127702466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F7472C-02E8-4CEA-A21C-D16D492F5D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bd13e36ed74d8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B4123C-FDC0-49A5-A533-CA5D3ADD8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전제 조건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7B2D3A-35C4-4A90-9629-AE4351E5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트레이너가 먼저 증명하는 실력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63B1D0-7891-43CE-B1C8-952C77D5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직접 쇼잉할 수 있는 실전 능력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0C519A-948C-4C12-B527-9293D6CB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666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주 1회 이상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E826F-481B-4542-921A-5D1586B1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벨-공 세일즈 증명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98FE71-D6F1-4938-AC8A-F1A01DE66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666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4시간 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B75301-0755-4562-970F-FE23CAF5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81575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세일즈 가능한 실력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62578F-4B86-42E8-8F53-D064D3F7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12 / 50</a:t>
            </a:r>
          </a:p>
        </p:txBody>
      </p:sp>
    </p:spTree>
    <p:extLst>
      <p:ext uri="{BB962C8B-B14F-4D97-AF65-F5344CB8AC3E}">
        <p14:creationId xmlns:p14="http://schemas.microsoft.com/office/powerpoint/2010/main" val="159308463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F3B2EE-D41D-44F1-9E90-F0A7259F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전제 조건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D4DC99-C74B-4DDD-86F4-19A2B36A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쇼잉과 스탠다드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AE7802-7DA6-40EB-835B-7334C3CB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교육의 질은 트레이너의 실전 역량에서 시작된다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B7F2C9-8593-44FA-91BF-2C102138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210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SHOWING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F39DE5-DC56-46E7-A9A6-A7B3A5C1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5210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효과적인 교육은 직접 보여주기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신입은 실제 과정을 관찰하며 학습한다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85F7F6-452C-44E1-90DC-C9BBA6EC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57500"/>
            <a:ext cx="5210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STANDARD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337589-C752-4A1F-83BF-22F3DD46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905250"/>
            <a:ext cx="5210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일관된 기본 패턴을 모든 신입에게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나가면 반드시 세일즈 가능한 기본기를 만든다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63BF29-F173-42C1-AC13-E2497882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13 / 50</a:t>
            </a:r>
          </a:p>
        </p:txBody>
      </p:sp>
    </p:spTree>
    <p:extLst>
      <p:ext uri="{BB962C8B-B14F-4D97-AF65-F5344CB8AC3E}">
        <p14:creationId xmlns:p14="http://schemas.microsoft.com/office/powerpoint/2010/main" val="120907870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9A062A-F778-4D3B-963C-05B978135B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7ff44cba4942f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24C56B-BDE4-4B97-88EA-5B65D55C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CCE814-52E7-4C20-9E91-00EC01D1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3일의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4785A2-F52B-4827-9CE5-23EB6D73E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세 날은 서로 다른 목표를 가진다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571A2A-71C4-4C69-BA88-6B42B13B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FE58CA-A5F2-4ACC-BE9D-DC2A2711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경험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1449C3-87F3-477B-B405-C20670969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674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필드는 할 만하다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381514-A78A-4D15-9CDE-FDEEFFD1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9530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06E37B-2FD2-48EA-BB21-93EE3591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4102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0B4009-4E46-4560-8A1E-E89D31DA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8674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직접 해냈다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E325A8-96CD-477C-9B31-64A01D8D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9530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2383B0-4F95-48FC-88E1-F62AA2F54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4102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8376E2-D58A-4B04-8D79-C68C0D168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8674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가능성을 함께 읽는다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EE09DB-ACFC-43D4-B4F3-414C3458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14 / 50</a:t>
            </a:r>
          </a:p>
        </p:txBody>
      </p:sp>
    </p:spTree>
    <p:extLst>
      <p:ext uri="{BB962C8B-B14F-4D97-AF65-F5344CB8AC3E}">
        <p14:creationId xmlns:p14="http://schemas.microsoft.com/office/powerpoint/2010/main" val="53859594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40F484-2D4F-4356-A008-7778204784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49f0d7cdc84f6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797897-DF9C-4F72-BFB9-DF760D125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DAY 1 · 경험의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E782D5-0633-4028-B98B-55D3535C2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첫날의 리더는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안전벨트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EC097-89E9-4AC3-9386-197858BF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마음껏 시도하게 해주는 리더십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362D3A-1291-48CE-B9CC-61066C3B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15 / 50</a:t>
            </a:r>
          </a:p>
        </p:txBody>
      </p:sp>
    </p:spTree>
    <p:extLst>
      <p:ext uri="{BB962C8B-B14F-4D97-AF65-F5344CB8AC3E}">
        <p14:creationId xmlns:p14="http://schemas.microsoft.com/office/powerpoint/2010/main" val="18105474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5E37B0-7171-439C-8C96-012B35D2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B0A399-4B22-4C34-A8FF-65A44B19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1 · 긍정적인 첫 경험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70A1B4-C693-493E-B309-D3300240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성과보다 적응과 관찰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EB1759-E606-4A9A-A8C4-99546B9BF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129284-4BE2-46B9-A600-11419535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1028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반응과 태도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94CC81-BABC-4066-9D23-710F6BC7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24200"/>
            <a:ext cx="102870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2시간쯤 뛰게 한 뒤 할 만한지 확인하고 기본 자세와 의지를 파악한다.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C21194-D79D-40AC-BCA3-A5BE172C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8063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81B810-1E1B-4894-A6B4-448F694A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48063"/>
            <a:ext cx="1028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쇼잉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7B1A97-7FFC-48A7-96FF-8227B3EC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957638"/>
            <a:ext cx="102870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자신의 세일즈에 집중해 실제 과정을 직접 보여준다.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6AD4D1-A29F-4281-92C8-93CC107E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044B45-D317-4B3C-8081-651CE53DF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81500"/>
            <a:ext cx="1028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두려움 제거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513600-324B-4424-83FF-09C6D143C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91075"/>
            <a:ext cx="102870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프리엠티브를 충분히 제공한다. 재미있고 해볼 만하다고 느끼게 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5BFDB4-0C36-434D-B6B6-0B2D45AF7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4938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20E209-A290-48AF-ACB5-C77842EC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4938"/>
            <a:ext cx="1028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다음 날의 준비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916338-CA96-4AA0-A0A2-E36FA0CF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624513"/>
            <a:ext cx="102870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결과 압박 대신 환경 적응을 돕고 심리적 준비를 만든다.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861ADF-26F8-47DA-84BF-1E4230CB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16 / 50</a:t>
            </a:r>
          </a:p>
        </p:txBody>
      </p:sp>
    </p:spTree>
    <p:extLst>
      <p:ext uri="{BB962C8B-B14F-4D97-AF65-F5344CB8AC3E}">
        <p14:creationId xmlns:p14="http://schemas.microsoft.com/office/powerpoint/2010/main" val="27202437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A49A0D-7864-4540-8EDE-05E3395708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593b7186a8459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8B3FC4-60CA-46A6-A7E8-698F7528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DAY 2 · 학습의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71890A-FEA4-48F6-A5D0-B5398C99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성공은,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함께 만든다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DAE7A8-5979-4D1C-B602-9455923B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둘째 날, 반드시 세일즈 1개 이상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A9EAE9-8957-4744-9075-65390E2F9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17 / 50</a:t>
            </a:r>
          </a:p>
        </p:txBody>
      </p:sp>
    </p:spTree>
    <p:extLst>
      <p:ext uri="{BB962C8B-B14F-4D97-AF65-F5344CB8AC3E}">
        <p14:creationId xmlns:p14="http://schemas.microsoft.com/office/powerpoint/2010/main" val="97314770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157BAA-9F1E-467C-9F16-C3609484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0954F2-F37B-4B76-911B-1E144476B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2 · 결과로 배우는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EE7631-C058-4435-87FA-B0B1F9C2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실질 역량을 가늠하는 시점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61E666-AA85-4CFA-9A07-9476F965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E1F56F-82AF-42A0-9497-7B7307B28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1028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세일즈 1개 이상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DD509B-21DA-4DF0-923B-087A6658A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24200"/>
            <a:ext cx="102870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반드시 함께 만들어낸다. 신입이 직접 성공을 체감하게 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280A26-CE1A-4E16-824C-D63F73FE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C75915-2832-4941-BE62-C4994242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9525"/>
            <a:ext cx="1028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학습력과 성장성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EE2C81-E9FD-457C-83E4-A4C6DF58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29100"/>
            <a:ext cx="102870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첫날 대비 개선점을 짚고 학습 능력과 성장 가능성을 본다.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479E24-625E-4EDB-A5DF-49468B56B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244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F609E4-7C49-4A55-A035-0AAC6DDC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24425"/>
            <a:ext cx="1028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트레이너와 신입의 균형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257F67-BE63-45F8-9EDA-C8910332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334000"/>
            <a:ext cx="102870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세일즈가 우선이며, 트레이너도 함께 성과를 낸다.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D58090-8855-433F-9AC8-65C6A7BD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18 / 50</a:t>
            </a:r>
          </a:p>
        </p:txBody>
      </p:sp>
    </p:spTree>
    <p:extLst>
      <p:ext uri="{BB962C8B-B14F-4D97-AF65-F5344CB8AC3E}">
        <p14:creationId xmlns:p14="http://schemas.microsoft.com/office/powerpoint/2010/main" val="161564046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614632-8E08-4355-B1D8-BD4F6BC8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A170F2-8D76-4461-8E5A-5F0965DA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3 · 성과의 패턴 읽기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084011-2994-46B5-B96A-12937B4F5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Stay / Qualifying은 반드시 오너와 상의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1880F7-CFA4-4BE1-B629-5FD1230F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 · 1 ·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64351A-DA01-4773-9A7A-1B45E4E0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이상적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리더로 육성 가능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C04E77-BE74-45CF-84B3-75C2B9F5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3일간 2개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405706-7381-4C7B-8034-2803D3EA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86150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로드트립 제안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DD3B71-37CD-4439-8109-74C6208D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3일간 3개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68FEC5-9C1A-4E53-8FDD-9BB07E787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53025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의지와 센스 모두 보유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F5E5C4-2D3B-4B33-870B-983441D14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81500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 · 0 · 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FDA5C8-C9C6-44A5-8F65-058206AD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153025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빠른 Qualifying 검토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D2D151-61BD-47DD-8A8C-A3EB703A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모든 판단은 Case by Case. 기준 위에서 유연하게.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E2BE0E-D193-4F52-9755-21AEBE74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19 / 50</a:t>
            </a:r>
          </a:p>
        </p:txBody>
      </p:sp>
    </p:spTree>
    <p:extLst>
      <p:ext uri="{BB962C8B-B14F-4D97-AF65-F5344CB8AC3E}">
        <p14:creationId xmlns:p14="http://schemas.microsoft.com/office/powerpoint/2010/main" val="213082042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64B0D4-2811-4C4A-9E24-899CE841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4A9292-0F45-43EC-9996-76D80F69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판단 전에 확보할 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FD6F26-1626-4E2F-BD4B-BC7A0213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제로 방지를 위한 전략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27AECC-C2F0-4C4B-AE35-38320E73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210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사이트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E69D0F-8F5D-41F8-B1CD-5CDEAB42C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5210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벨을 칠 수 있는 사이트를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전략적으로 고른다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70340D-8322-42C1-AD6B-539311EBA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57500"/>
            <a:ext cx="5210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시간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1EB77A-8258-46EA-8BEE-FFD54B602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905250"/>
            <a:ext cx="5210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미리 스케줄을 짜고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성공 가능성 높은 필드에서 시간을 확보한다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CB1284-62B1-41DA-8894-D9CAB5BC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개별 상황을 고려해, 반드시 오너와 상의한다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8E6738-0C8B-442E-9B03-7FB91176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20 / 50</a:t>
            </a:r>
          </a:p>
        </p:txBody>
      </p:sp>
    </p:spTree>
    <p:extLst>
      <p:ext uri="{BB962C8B-B14F-4D97-AF65-F5344CB8AC3E}">
        <p14:creationId xmlns:p14="http://schemas.microsoft.com/office/powerpoint/2010/main" val="9182201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DA5B3C-7707-4948-A8BA-8F71B73E69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8001203f3640d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326089-F918-487C-902C-A3A4362E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3794C5-1FC2-448D-9666-B4CC81A0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 Step 트레이닝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B54C6E-1026-4C07-9040-75F4FF3C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주목부터 거래정보 재확인까지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EC7309-21BB-4656-B3B5-AF350AE2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9908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85083E-C210-4A79-A7DB-6BD29AA2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76725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7E7EAF-94DC-4B64-8807-83CE9971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61B2E5-E1B9-441C-A014-F9B89E54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9908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9F632F-67BB-4CD3-97C8-B59D924C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276725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Short Story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F3EC7A-70EF-4AE4-9D4F-57BF0BFF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8768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짧은 피치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7586BC-A812-442A-901B-136B315E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9908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A605CE-06D5-468C-9B34-0AD9288E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76725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Presentation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DB0462-8CB0-4787-B0B1-00574501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8768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F56908-A6F8-4E18-BCDF-CDDE3B460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9908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3614FB-5481-49EC-BCAF-A7D90202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276725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8D1DBD-51FF-472E-9057-E9A1F344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8768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TAAIS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ADFEDA-2F7E-490C-9B9A-B1940743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9908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F159CB-3AE2-413F-B26D-30DB23F6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276725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Rehash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15C8D7-78BC-4FF4-909B-BEFF55ADA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8768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재확인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ACC1C4-3E80-43D5-9B42-806CE057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21 / 50</a:t>
            </a:r>
          </a:p>
        </p:txBody>
      </p:sp>
    </p:spTree>
    <p:extLst>
      <p:ext uri="{BB962C8B-B14F-4D97-AF65-F5344CB8AC3E}">
        <p14:creationId xmlns:p14="http://schemas.microsoft.com/office/powerpoint/2010/main" val="55838996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D39014-D7C8-49A3-98E2-19EAD3F2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9D39D7-BBE6-46D8-9E6D-0465040D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대화하고 싶은 분위기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11DBF3-D4B9-4A46-A8BA-B6F104EF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Intro와 Short 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ABD8C-CD7D-4877-A93A-ADA568C8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210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 INTRO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B10FF1-AF83-4C67-AF7B-4D16AED1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5210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시선과 발걸음을 멈춰 세운다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적극적인 리액션과 아이스브레이크로 경계심을 푼다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EA5885-898F-46E5-93F5-B777678D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57500"/>
            <a:ext cx="5210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 SHORT STORY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DC8FBD-5FC5-497B-BD33-9F5592E65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905250"/>
            <a:ext cx="5210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짧은 피치와 Yes Question으로 긍정 응답을 만든다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WOW 포인트, Tone of Voice, Body Language를 활용한다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CAF92F-86F6-49F0-AE54-B916573A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22 / 50</a:t>
            </a:r>
          </a:p>
        </p:txBody>
      </p:sp>
    </p:spTree>
    <p:extLst>
      <p:ext uri="{BB962C8B-B14F-4D97-AF65-F5344CB8AC3E}">
        <p14:creationId xmlns:p14="http://schemas.microsoft.com/office/powerpoint/2010/main" val="197926445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A4BF4E-B61A-4D25-8EC4-DDA25D06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F577B2-6037-4AA0-8064-CCC8EBE4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해결책 제시와 거래정보 재확인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168702-8781-4738-8C62-1F70428C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Presentation과 Rehash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760DD1-9D88-4437-9086-5B54ADD1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210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81DD0F-5682-41B3-966E-EE633513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5210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해결책으로 구호물품을 직접 보여준다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 욕구를 최대치로 끌어올린다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D1DDF3-CF94-4A9D-A220-F816E914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57500"/>
            <a:ext cx="5210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 REHASH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2CF114-B7E6-4FC4-A654-689B64689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905250"/>
            <a:ext cx="5210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거래 정보를 다시 확인한다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취소율을 낮추고 구매 만족도를 한 번 더 높인다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ED5A04-FDC2-47F3-97BF-CDCE2499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23 / 50</a:t>
            </a:r>
          </a:p>
        </p:txBody>
      </p:sp>
    </p:spTree>
    <p:extLst>
      <p:ext uri="{BB962C8B-B14F-4D97-AF65-F5344CB8AC3E}">
        <p14:creationId xmlns:p14="http://schemas.microsoft.com/office/powerpoint/2010/main" val="193099860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D1020C-D81A-4500-9AEC-C35281EB8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F4FEFE-AC94-4A3B-A80B-BF6401E3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 · TAAIS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B4102E-257C-4AA4-9C96-E26F953E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구매를 전제로 대화하고, 선택권과 침묵을 활용한다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B2192C-D371-4275-BE30-D634D6A8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CDE3F2-4F42-49B1-984D-726D8A06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Trial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4054BD-5069-4A83-900E-ED050810C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항상 시도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59CEE2-5CA7-4F59-82CB-5ABF6215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1DF9A7-34DE-457C-AAA1-6AECE5BB2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Assumptive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353E4D-3864-4A71-9127-E2BB92E3A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 전제 대화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1143DF-B522-41D9-9817-65072ADC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7813D8-210F-4C1D-9452-9FC3B418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Alternative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A1A688-BD5B-458A-942E-25761C91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대안 제시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3DE991-2EE1-453B-80EE-80E0794C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129078-A548-4B2B-901A-7B278040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Indifference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280781-1834-4EBC-B681-9F9565C0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선택권 부여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FB6582-3187-42FC-A05C-6123D9522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E0BD3A-0D3A-4AA2-8FA7-93A54BAD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Silence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17B2E2-202F-4C19-9C74-70346AEE2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침묵 활용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E3483C-980E-4C90-A468-3FF4DCC6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24 / 50</a:t>
            </a:r>
          </a:p>
        </p:txBody>
      </p:sp>
    </p:spTree>
    <p:extLst>
      <p:ext uri="{BB962C8B-B14F-4D97-AF65-F5344CB8AC3E}">
        <p14:creationId xmlns:p14="http://schemas.microsoft.com/office/powerpoint/2010/main" val="208082072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1169C9-45B2-498B-AC18-7BE71CBB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5 STEP 외 · 거절 확률을 낮추는 언어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E435C5-8995-4CD4-A2FD-81352029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47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“바쁘시니까”</a:t>
            </a:r>
          </a:p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“이미 좋은 일 많이 하시겠지만”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A99A03-A467-4FC1-AAF5-D4F167C4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704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쿠션 멘트는 피치 전반에 꼭 필요한 핵심 요소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6CF132-E4A8-4A18-BCDC-1B6E8644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25 / 50</a:t>
            </a:r>
          </a:p>
        </p:txBody>
      </p:sp>
    </p:spTree>
    <p:extLst>
      <p:ext uri="{BB962C8B-B14F-4D97-AF65-F5344CB8AC3E}">
        <p14:creationId xmlns:p14="http://schemas.microsoft.com/office/powerpoint/2010/main" val="40065950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194888-0F53-4C5D-B9F9-B959DDAA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7D45F-E71D-48B1-8D12-DC4756813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관찰에 맞춘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866344-17DD-4ACA-8E37-5C5B3820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사람의 약점에 따라 처방을 달리한다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CB086B-DC7E-4D97-8D44-1BD85251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51339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리액션이 약하다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997342-0FB5-4615-8F5F-C245AF997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51339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리액션 강화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AAA95A-26E7-4B98-B59C-0AAD8635D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51339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표정·제스처 / 즉각 대응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임펄스·바디랭귀지 / 롤플레이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B6F479-F8F8-4A9E-BCF3-88DD207A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51339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부스 연결이 약하다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6E3308-E63F-45DC-9C26-C65B0A79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76575"/>
            <a:ext cx="51339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스트릿 스킬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9D81B-1332-42C5-990D-309870B4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43300"/>
            <a:ext cx="51339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접근 방법 / 첫인상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거절 극복 / 고객 유형별 접근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0F2755-2F08-4B50-8EEA-B183D5EC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29125"/>
            <a:ext cx="51339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클로징이 약하다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4D361C-50A6-4ABB-9DF0-67813E393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91075"/>
            <a:ext cx="51339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클로징 강화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AE3D13-F093-4DBF-8CE8-118777977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51339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TAAIS / Buying sign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침묵·대안 / 클로징 타이밍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72974F-1962-4741-A62F-D09C1F79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29125"/>
            <a:ext cx="51339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이미 잘한다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414665-2334-4B4C-8F1A-BE8A1349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791075"/>
            <a:ext cx="51339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목표 상향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C29A99-15EE-4E68-A856-10719B5F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57800"/>
            <a:ext cx="51339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높은 목표 / 자기주도 성장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리더십·멘토링 / 커리어 설계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3ACE7B-B9B1-408B-8E82-0AE90E08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26 / 50</a:t>
            </a:r>
          </a:p>
        </p:txBody>
      </p:sp>
    </p:spTree>
    <p:extLst>
      <p:ext uri="{BB962C8B-B14F-4D97-AF65-F5344CB8AC3E}">
        <p14:creationId xmlns:p14="http://schemas.microsoft.com/office/powerpoint/2010/main" val="206001334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3C0103-E08A-4C1E-9C95-E25DC8E9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65A1FA-D64C-4158-9D4F-F3A6C5C6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피드백의 세 가지 시간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BAF033-69BF-441B-B102-319C705E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 전, 필드 중, 필드 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A3BFC5-0487-4B78-B319-E9956FDBF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WHAT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58002E-85E5-43A8-BD30-2C1DE3A0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336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B4C347-C2BD-428D-AA26-D87653E6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336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점검하고 설계한다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63053C-E446-4FBF-9C79-8B9E95FC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HOW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52123-13C9-4695-9A6F-8346D187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448050"/>
            <a:ext cx="336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B8ECC1-0AE6-47BE-9DD6-00399ED3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48125"/>
            <a:ext cx="336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관찰하고 보여준다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445218-B02A-444F-92E8-17F1A524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WHY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D3201A-DFE9-4842-BE64-6742497A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448050"/>
            <a:ext cx="336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981671-94B1-46E7-9AC9-EE4849B9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4048125"/>
            <a:ext cx="336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돌아보고 다음을 설계한다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F2CC3E-5B03-4405-903F-E2D902E3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27 / 50</a:t>
            </a:r>
          </a:p>
        </p:txBody>
      </p:sp>
    </p:spTree>
    <p:extLst>
      <p:ext uri="{BB962C8B-B14F-4D97-AF65-F5344CB8AC3E}">
        <p14:creationId xmlns:p14="http://schemas.microsoft.com/office/powerpoint/2010/main" val="206154449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CAD56D-3816-465E-8CAC-293B13A0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8202BB-F9D2-49B6-B717-A4441CBF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전 · 함께 준비하는 여섯 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0AF510-D4B1-42E1-874E-4C896060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배울지와 어떻게 시도할지를 함께 설계한다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0C87D9-6CA0-4ACA-97DB-A357F594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EB3034-D88E-4CC2-A6C3-FE3CE545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피치 점검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C0A5B2-1325-4DAB-BF2D-837B52F8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242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피치 숙지 · 클로즈 · 약정서 핸들링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B56802-8A0D-45C7-ACC5-8A44F712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DABBCC-63DD-4EB2-9A95-F1808E20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146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니즈 파악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3664B6-399A-4DFB-96CF-302F67E64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242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내일 필드에서 배우고 싶은 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42053C-8F44-47E5-89F6-D0B19D40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EC0D65-5135-42FF-89BB-4764FB073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95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목표 설정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98518D-DBE4-43F4-9A8B-CA543DFB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291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필드시간 · 리해쉬 · 클로즈 · 개인+섹터 AVG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C2CBD4-CA14-46C1-B1BC-774E6357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195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31456E-2BA9-4BD3-8D23-B7858BB3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195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사이트 전략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03FC85-C5D6-4FB7-AD7D-A8643A49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2291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사이트를 익숙하게 하고 할 수 있다는 기대 만들기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CEA314-1C2B-451F-AE2E-179E1E740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244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2988FF-B3C4-42F9-AFF0-3F073C26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244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프리엠티브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66BD59-7376-40D6-A19A-FDCD0CF4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3340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타 에이전시 · 우천 등 네거티브 요소 사전 안내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896D89-A92C-4417-854A-E6AFA006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244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555183-A0EC-4229-80C8-74559670C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9244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물품과 복장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1E10DA-384C-4DE5-817F-868E4F04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3340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콜백싯 · 조끼 · ID카드 · 태블릿 · 부스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72D4D4-F37A-48E2-A9FC-21733B5C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28 / 50</a:t>
            </a:r>
          </a:p>
        </p:txBody>
      </p:sp>
    </p:spTree>
    <p:extLst>
      <p:ext uri="{BB962C8B-B14F-4D97-AF65-F5344CB8AC3E}">
        <p14:creationId xmlns:p14="http://schemas.microsoft.com/office/powerpoint/2010/main" val="165816467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148141-ABF2-4D19-8FE6-7D2E0A59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AEB663-87E2-4A39-961C-BF78EB6B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중 · 실시간으로 끌어가는 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3CEB52-2675-4261-B7D4-659BF57B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관찰하고, 보여주고, 케어한다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ECD94-9D20-42E1-97DB-B7F015F8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BE98F4-43FE-4384-9919-9681C5B7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대상 파악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BF16FD-B0AB-4706-BB0D-9AA9BB3B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242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유형과 이해도를 파악한다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C558E7-95F8-4EB1-A047-B86B2764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666AE3-C1A2-4F9E-ABF0-86FD5169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146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집중과 계속 시도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90B8E9-D1F0-403C-A0E4-F016F4C6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242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계속된 시도로 객관적 데이터를 쌓는다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68333C-FDAC-4D44-9916-4A1601B8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390989-4114-49D3-A900-FE5428143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95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상황에 맞는 피드백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7125A6-9366-422A-9668-52D167B91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291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칭찬 · 즉시 CS · 넘버 피드백 / 2시간마다 콜백싯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301A9A-DCE2-4AEA-BE53-787AB1B40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195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492552-6E90-4636-97EE-E4E9C36C8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195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Showing Is The Best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AD0F2F-AB4B-44BE-A7A0-FB41FA6ED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2291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쉽고 빠른 벨로 직접 보여준다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39982B-EA9C-4F62-AE74-0A885179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244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B73928-B9D5-4630-B21F-62C76B4F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244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네거티브 파악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1467FA-EAF7-4E84-85A3-6F303831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3340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빠르게 해결하고 멘탈을 케어한다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AEDE29-EA6A-4354-BDFD-A168BA5B3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244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C1E166-CC85-40FB-941B-D0970EC08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9244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좋은 소식 공유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8936C9-101A-451E-92F0-C286EBB7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3340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시민의 응원과 후원자가 남긴 후원 사유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AC1A4F-D0C5-4D06-8B24-583823B9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29 / 50</a:t>
            </a:r>
          </a:p>
        </p:txBody>
      </p:sp>
    </p:spTree>
    <p:extLst>
      <p:ext uri="{BB962C8B-B14F-4D97-AF65-F5344CB8AC3E}">
        <p14:creationId xmlns:p14="http://schemas.microsoft.com/office/powerpoint/2010/main" val="4952325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D432F9-48AB-4283-8C45-7F5B2EA967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c98d5c9ad4499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A3CF53-2D7F-4F14-B07B-CEEC124E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996E7D-0FD5-4CAC-AFE8-1F70D1F1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후 · 하루를 남기는 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676A9E-FB1C-41AC-A03D-A14038840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오늘을 복기하고 내일을 설계한다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D3E808-2ED7-47F0-86AB-A19A4E58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210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필드 소감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F6583-CA50-4422-8FE1-3356783B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5210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오늘 어땠는가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배웠고, 무엇이 좋고 아쉬웠는가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47CEBA-41DC-4188-9406-EC464791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57500"/>
            <a:ext cx="5210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콜백싯 기준 피드백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40EFB8-B159-41C6-ACBA-FCF4DFE20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905250"/>
            <a:ext cx="5210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함께 필드한 사람들의 넘버를 비교한다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넘버 · 스킬 · 태도의 보완점을 이야기한다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93B7B9-6844-46CF-BD03-E27A1FA6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30 / 50</a:t>
            </a:r>
          </a:p>
        </p:txBody>
      </p:sp>
    </p:spTree>
    <p:extLst>
      <p:ext uri="{BB962C8B-B14F-4D97-AF65-F5344CB8AC3E}">
        <p14:creationId xmlns:p14="http://schemas.microsoft.com/office/powerpoint/2010/main" val="115101984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FC6AE3-4361-4986-BE6F-0229D4032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FF6622-C310-4052-AD53-0027E862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기본 5일 교육 일정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006C6C-BB27-49EB-BAED-50D0A626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다음 교육 일정을 미리 안내한다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ACC124-568F-4514-92DF-AA4F26C4F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DAY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7CC071-A17F-419C-9CE9-A5926E11D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콜백싯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83AE46-2E95-4740-ABD2-46D20D3B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기본 작성법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EC3839-85FB-442E-8964-4F852A99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181356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6630F8-AFE8-45B5-B57C-24777EAF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DAY 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14643-32DC-4A4E-80EC-2AE2243B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344805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분석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2870C9-FD1A-4355-B109-7F145C5D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04812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Contact to Stop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부스 컨트롤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722F37-F42E-426D-A8F9-3F9B2944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667000"/>
            <a:ext cx="181356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BF1CF1-1B79-4D54-9896-ACF78661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DAY 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23E8FA-F01A-46CE-AB74-28318849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344805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 Steps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50A662-B211-47F7-A571-EC208443A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04812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표준 흐름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FCF0A7-E8F3-4CF1-B61B-9917EC63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667000"/>
            <a:ext cx="181356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9B90F1-7DA5-412E-BDC5-77B86021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DAY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578BB4-C599-40E2-ADC2-F55C8919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44805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48AF93-8897-404E-8037-A80EA22F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04812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클로징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EBC208-2EEA-436D-AA95-132988F99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667000"/>
            <a:ext cx="181356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35CF8B-915B-4A78-B729-31A47596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DAY 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4A6639-0E65-47B9-82CD-72F906177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44805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약정서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CE5BD9-1EF6-44E7-A609-C0B8A7B2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04812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리해쉬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2C1D45-4287-4A1B-A126-1A19CAA72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667000"/>
            <a:ext cx="181356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598460-3CB3-499E-827B-81644FBEA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31 / 50</a:t>
            </a:r>
          </a:p>
        </p:txBody>
      </p:sp>
    </p:spTree>
    <p:extLst>
      <p:ext uri="{BB962C8B-B14F-4D97-AF65-F5344CB8AC3E}">
        <p14:creationId xmlns:p14="http://schemas.microsoft.com/office/powerpoint/2010/main" val="143565879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11E7F1-55B0-4B2C-A1A5-F555456103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14e35bf97f4aa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AD7779-E244-4AA4-9EDA-F4653150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7786C0-8D33-484B-8B0F-5CAEC79B6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상대에게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필요한 말인가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2EBEC2-E02C-4CC4-91C8-DE545C90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하고 싶은 말보다, 상대에게 정말 필요한 말인지 먼저 고민한다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C30CC0-E11B-4E97-9324-F9E51654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32 / 50</a:t>
            </a:r>
          </a:p>
        </p:txBody>
      </p:sp>
    </p:spTree>
    <p:extLst>
      <p:ext uri="{BB962C8B-B14F-4D97-AF65-F5344CB8AC3E}">
        <p14:creationId xmlns:p14="http://schemas.microsoft.com/office/powerpoint/2010/main" val="133002642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096E67-3DEF-4533-819D-8B300E6E8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2C12A-0987-4E8F-A651-2766A4635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피드백의 다섯 가지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6D06DA-DB85-4059-9CA8-C498188C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좋은 의도만으로는 충분하지 않다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3F4D52-2193-47BB-8BA7-D79D0891A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4191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04547C-C7D2-4719-9BD3-FB282B554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2714625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콜백싯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79EA51-6F46-4FC9-BA44-7A871ECE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146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감정·느낌 대신 넘버 · 스킬 · 태도를 기준으로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1B18D4-FF48-4199-B474-B29881CF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81375"/>
            <a:ext cx="4191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BA0A39-57F3-4E56-A5BE-607B99F6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3381375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상대에게 필요한 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37DABF-EB89-4715-B6CB-4A660419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8137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하고 싶은 말인지 먼저 점검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5992B8-F1BB-4D7E-9B93-0F245A08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4191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46642D-6E7F-44D1-A541-85A23533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048125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KISS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F4F897-0BB4-4D24-A9BA-B1360513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0481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간단 · 명료 · 눈높이, 공감할 수 있는 예시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F0662-A3AB-474F-9BD0-0934D043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4191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81A5BC-4F15-4644-8699-573D1B524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714875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COD 공부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CBAAD8-DEFF-4632-A7AC-A7186898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1487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올바른 정보인지 확인, 긴가민가한 말은 하지 않기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D6324F-72C0-49BC-8199-84FD1E2D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81625"/>
            <a:ext cx="4191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7AA00D-A2B6-4B0B-A830-9ED7D6C6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5381625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타이밍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68C380-E0D5-4D7B-B8FE-004CF5C9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3816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필수 상황 외에는 2시간에 1번, 그 사이는 개인 목표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029782-54CE-454B-BBD6-F4B7E5E7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피드백 수용이 빠른 신입, 주거테리·유동이 적은 B패턴에는 전략적으로 활용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5972AE-95D5-425F-A1AB-DA13BB5A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33 / 50</a:t>
            </a:r>
          </a:p>
        </p:txBody>
      </p:sp>
    </p:spTree>
    <p:extLst>
      <p:ext uri="{BB962C8B-B14F-4D97-AF65-F5344CB8AC3E}">
        <p14:creationId xmlns:p14="http://schemas.microsoft.com/office/powerpoint/2010/main" val="145656539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DFCCE0-25CF-4F8F-9AB3-2F38B98A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C91B0F-4838-420D-A153-D1931AA52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샌드위치 기법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443AD7-C400-46A7-BBA4-B8363D4D6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긍정적인 말로 시작하고, 개선점을 짚고, 다시 긍정으로 마무리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8F5D69-CB48-442D-A727-B17E4EF2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긍정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32542D-3C1C-41E0-B602-90CA7F13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좋았던 행동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661BAA-1640-499A-AFD8-B10D229F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7DBA46-C4F7-485C-9DF8-5F50E299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개선점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B5AFD0-791A-4824-B61A-F88C8FFAE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바꿔볼 한 가지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C841C2-84B9-4F56-BF69-7544BFBF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8881B4-EC73-4820-9F8F-B4A83CF8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긍정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189C7A-BFF2-40DE-BED4-3D366E7A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다시 인정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9F6602-3A1C-4F25-880E-3CBC21D9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881AF0-F3C1-4D73-91FD-35347814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9592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“이것도 저것도 좋았는데, 이 부분만 이렇게 바꿔보면 어떨까요?”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EE1151-C023-4733-8557-FA97D548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34 / 50</a:t>
            </a:r>
          </a:p>
        </p:txBody>
      </p:sp>
    </p:spTree>
    <p:extLst>
      <p:ext uri="{BB962C8B-B14F-4D97-AF65-F5344CB8AC3E}">
        <p14:creationId xmlns:p14="http://schemas.microsoft.com/office/powerpoint/2010/main" val="1788012261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4D0BF3-5E98-411E-9018-141FB71A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FF7AAA-627B-47E2-B89B-D2F7A86EB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SBI 모델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270571-D7ED-4EE8-9C57-580C8F3F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구체적이고 객관적으로 전달하는 피드백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E7493D-D62F-4DAE-BC94-DD853FB6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Situation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F61566-E962-4E54-9B9D-D8D0C2631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상황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86D7C2-454B-429E-A307-9BAF1E160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D8FE01-0EE5-4695-BF80-69CDD536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Behavior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2975CF-779A-4F81-BC95-40C717668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행동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377C73-848B-4EE6-9661-AC52D9F3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72484B-8332-4E15-9BFB-D998BECF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Impact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323E6B-167D-44A6-AE51-03CC51ED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영향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CB8F1F-C314-46A7-BE33-2D8DB7EB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6BE5EC-6C50-4D65-8F83-0F65F0B27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9592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“이럴 땐(상황) 이렇게(행동) 하면 이런 장점(영향)이 있어요!”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41E794-93C8-4E13-A44B-0B3386F9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35 / 50</a:t>
            </a:r>
          </a:p>
        </p:txBody>
      </p:sp>
    </p:spTree>
    <p:extLst>
      <p:ext uri="{BB962C8B-B14F-4D97-AF65-F5344CB8AC3E}">
        <p14:creationId xmlns:p14="http://schemas.microsoft.com/office/powerpoint/2010/main" val="185232297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B4E98A-100B-4FC0-B625-914BF170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B079B7-F965-4ADA-A724-3DD81A7D4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5R 코칭법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A77E77-3C44-48DC-BFC8-39BAD55D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디테일한 발전을 위한 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4B68EE-F998-4C9D-8908-28187AE2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C017DE-37DE-4CD9-8AB0-71FB8F68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관계형성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EE207E-AE2E-452D-B3E7-CB8E689B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Refocus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4EA01A-CD30-47D0-B1D6-E73BF382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목표설정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142164-1ECA-4871-8A7A-C80A1FCB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AB1099-9379-4A19-B715-A270BEC60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현실 장애물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36A3F9-1A01-4A3A-AE3E-6BC03042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Resources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AAB35A-3206-426F-9484-4832494E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해결자원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BEDB9E-60AF-4CFD-A994-5DD0B752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Responsibility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775508-0B8E-4183-B2D2-5A211153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책임지기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9091C5-76E0-4AA0-A7C2-7863BF73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9592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목표는? 장애물은? 그럼에도 해결할 방법은? 언제까지 무엇을 할지 약속하고 지킨다.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241FA0-C5E4-4D7A-9F8E-BD7F096C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36 / 50</a:t>
            </a:r>
          </a:p>
        </p:txBody>
      </p:sp>
    </p:spTree>
    <p:extLst>
      <p:ext uri="{BB962C8B-B14F-4D97-AF65-F5344CB8AC3E}">
        <p14:creationId xmlns:p14="http://schemas.microsoft.com/office/powerpoint/2010/main" val="93870038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5C73CF-3756-4F31-A7F5-7A12DB5501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6fe3e241404305"/>
          <a:srcRect xmlns:a="http://schemas.openxmlformats.org/drawingml/2006/main" l="179" t="0" r="1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48375" y="2286000"/>
            <a:ext cx="5905500" cy="33337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816EE2-00DC-4BCE-9DA7-B012650C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FF7DA-B0CB-471C-B4AB-4FE575B27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트레이너도 콜백싯을 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497A5A-9348-49D0-840D-50C6842E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신입을 위해 무엇을 챙겼는가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BFC242-84E4-435B-AC30-35A4B523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5238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Number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AD3F5D-D0B4-476F-8EEA-D06605F7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4797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넘버를 쌓게 했는가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78F5AD-004C-4FA3-AD9F-E8CBBB71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523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 준비 / 시도하게 하는 피드백</a:t>
            </a:r>
          </a:p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거절 없는 시도 횟수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8D07B5-D577-4ED8-BB7D-7182BF67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5238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Pitch · Skill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A0DBD6-E03A-4E3B-9966-15D5236E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955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스킬을 보강했는가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71D717-A3EA-454D-B887-59559126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29125"/>
            <a:ext cx="523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약한 부분 즉시 교육 / 어떤 스킬이든 보강</a:t>
            </a:r>
          </a:p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내일 바로 쓸 수 있게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81DCB0-B79B-43A5-952A-AFD0AAFE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5238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Attitude · Mental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6102E2-57DC-4708-AFC9-4C01D5B2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91125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멘탈을 지켜줬는가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975B39-FF8B-4B69-A577-2A6BB488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00700"/>
            <a:ext cx="523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불안·두려움 제거 / 방해되는 마음 케어</a:t>
            </a:r>
          </a:p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필드에 온전히 집중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6668D6-A82E-4868-A2CC-02F3836F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콜백싯이 신입을 키우듯, 트레이너의 콜백싯이 트레이너를 키운다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242313-5282-4C04-8523-AACC4A64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37 / 50</a:t>
            </a:r>
          </a:p>
        </p:txBody>
      </p:sp>
    </p:spTree>
    <p:extLst>
      <p:ext uri="{BB962C8B-B14F-4D97-AF65-F5344CB8AC3E}">
        <p14:creationId xmlns:p14="http://schemas.microsoft.com/office/powerpoint/2010/main" val="79306084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066D97-884A-458C-9FC0-9F2320865B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bf768bd8f944a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8D0C3B-E2E0-40A0-B66E-A3658D25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자립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822583-3126-4608-B42F-CDB1144B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혼자 설 수 있는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6주를 설계한다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A5B456-69A0-4366-919D-874B692C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전략적인 스케줄과 필드 시간 확보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08381D-7FC7-4E91-A5B0-5966BC9F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38 / 50</a:t>
            </a:r>
          </a:p>
        </p:txBody>
      </p:sp>
    </p:spTree>
    <p:extLst>
      <p:ext uri="{BB962C8B-B14F-4D97-AF65-F5344CB8AC3E}">
        <p14:creationId xmlns:p14="http://schemas.microsoft.com/office/powerpoint/2010/main" val="38466153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46709A-0A63-49A8-A032-56D208A7F5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7d077eedcf491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AAADCB-2914-4569-BD5B-30C9FB65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자립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65EE3A-B307-4BD9-8A38-38A0BD16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자립을 위한 6주 전략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2DC677-5974-4D44-A285-7213005D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성장 속도에 맞춰, 단계별로 모니터링한다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815634-C484-4E99-9699-5192D5DCE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1–2주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346D3-2E55-4105-94E6-18AC7C8C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30D95C-6C40-476E-9746-59B6475B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2주 이내 달성이 이상적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스케줄과 필드 시간 확보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C89938-8E90-4542-A705-C3C1B4B4E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3–5주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BF0480-12D9-407C-8DCF-4C4850E99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로드트립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E40316-E65C-41B2-92E8-7714C8A1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5626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적극 활용하며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성장 과정을 모니터링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3F03FF-86AF-4DE3-9524-4BEBC135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약 6주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5E05A7-3440-41B9-805B-D369581B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적응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DBE4F6-345E-4B63-B30E-0F2135F1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5626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Self 시점 사전 안내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심리적 준비와 실전 역량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A27515-75F4-440C-B630-4B6E2267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6주는 원본의 트레이닝 운영 기준이며, 개인별 적응 속도를 고려한다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1821B0-D025-4949-AED6-EF7CC301B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39 / 50</a:t>
            </a:r>
          </a:p>
        </p:txBody>
      </p:sp>
    </p:spTree>
    <p:extLst>
      <p:ext uri="{BB962C8B-B14F-4D97-AF65-F5344CB8AC3E}">
        <p14:creationId xmlns:p14="http://schemas.microsoft.com/office/powerpoint/2010/main" val="77406468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37A0E7-F73D-4DC2-A4FC-4C6E7988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DFB45A-59E5-425C-BD73-E8146ADE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세 가지 핵심 역할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613E62-501F-469C-AD70-2F03EB81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자발적으로 성장할 수 있는 환경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76EEA2-8934-41C3-A89A-87547497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성취감 제공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B53281-2560-4E4E-B006-4AD5A0AE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내가 직접 해냈다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F73E7E-BC18-470F-8424-070573AD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38625"/>
            <a:ext cx="336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두려워하면 돕고, 아니면 혼자 하게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두려움의 수준을 먼저 파악한다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014D88-A21B-4FAF-9B92-357DB27D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두려움 제거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FC6FA1-8C54-417F-A056-7F827D0E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4671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안전하게 도전한다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D3B5D1-F083-4D3E-B109-58B5CE63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238625"/>
            <a:ext cx="336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초기에 충분한 서포트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점진적으로 독립성을 부여한다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F648F9-9D37-4F6B-8501-76BE853F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인정과 칭찬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EE2C04-E568-4053-9815-766CD44E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4671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스스로 깨닫게 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A96C97-2CEB-40A3-8675-803B1B67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4238625"/>
            <a:ext cx="336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인정받을 때 주도적이 된다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혼냄보다 인정과 칭찬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BF555C-A6EF-4609-A561-D4248277D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40 / 50</a:t>
            </a:r>
          </a:p>
        </p:txBody>
      </p:sp>
    </p:spTree>
    <p:extLst>
      <p:ext uri="{BB962C8B-B14F-4D97-AF65-F5344CB8AC3E}">
        <p14:creationId xmlns:p14="http://schemas.microsoft.com/office/powerpoint/2010/main" val="912524316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EBF559-B112-4AB3-8789-FDD8E411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5B27E3-F89D-403E-950B-FD356A9F5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캔슬 관리와 그로스 집중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0924A5-121B-46D7-9C44-6AB6C603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두려움이 세일즈 확신을 떨어뜨리지 않도록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0E004D-CDD9-4C35-8F88-C0C5D22E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210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MANAGEMENT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F21293-F3F8-49D0-AD89-B1E14D77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5210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캔슬은 지점 차원에서 관리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BEP 대비 세일즈 타겟과 최종 수익을 분명히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727530-0C5C-4FC3-BDB8-206288BC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57500"/>
            <a:ext cx="5210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E9D81F-5852-48F2-B93C-C4ECDA98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905250"/>
            <a:ext cx="5210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그로스(Gross)에 집중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리젝을 자연스러운 일로 받아들일 심리적 준비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4CC0D6-35CD-4471-9223-97C60378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원본의 안내 기준: 리젝 20–30% 가능성 / 하이롤러 1일 1건 리젝 리스크, 주 10세일즈+ 사전 프리엠티브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2DD7E7-943E-4D95-BCE0-EB6649D0B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41 / 50</a:t>
            </a:r>
          </a:p>
        </p:txBody>
      </p:sp>
    </p:spTree>
    <p:extLst>
      <p:ext uri="{BB962C8B-B14F-4D97-AF65-F5344CB8AC3E}">
        <p14:creationId xmlns:p14="http://schemas.microsoft.com/office/powerpoint/2010/main" val="2115036363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18D490-40F4-4176-80EC-DBFB85E05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6A3A13-B299-4BBE-B26D-A27D428C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매슬로우 5단계 욕구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6E9176-06C0-46F6-9FC1-BD626B50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다음 단계로 나아가도록 돕는다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A5FD0C-3D1A-4FD0-A3D0-F00170318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B84EC1-8C72-46CE-9563-FCD625FD4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생리적 욕구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6418A0-0E0E-4B98-A5AA-C84A91D9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7687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기본 생계와 수입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AE6261-0429-4172-A900-0E15BBDC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38862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84B75-DB33-4141-8851-83794FEF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47675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192AC6-709F-47E7-9722-C2D38F375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507682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 제거, 안전한 도전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12A1DE-FD88-4EC2-9C2B-A6B6B4C6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348615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44DD7C-1342-4D85-B62D-3B943ED4C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07670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소속·애정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DBAE49-C315-438F-B687-55568010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67677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팀의 일원이라는 소속감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87091C-B0BA-440C-A2B8-3C288C6F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0861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35227A-07A7-4A5C-9775-CEEB3B18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67665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존중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AACBB0-6DBF-4C83-90C7-FC89A23C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27672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인정과 칭찬, 성취를 알아주기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C3F9ED-4AAC-4902-BBF5-21F73A75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68605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F46E20-E048-4931-9660-7DC6FFE3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27660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자아실현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55B663-7FCA-4209-8724-A35F3891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87667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더 큰 목표, 스스로 리더로 성장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E85800-CE82-46B7-B770-E5B54E88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원본에서 제시한 트레이닝 해석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0CF726-F3A0-4617-868E-5C5EC387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42 / 50</a:t>
            </a:r>
          </a:p>
        </p:txBody>
      </p:sp>
    </p:spTree>
    <p:extLst>
      <p:ext uri="{BB962C8B-B14F-4D97-AF65-F5344CB8AC3E}">
        <p14:creationId xmlns:p14="http://schemas.microsoft.com/office/powerpoint/2010/main" val="87691519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62C9B9-A7D3-4A82-B85D-F4DA2BE45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F1474-6B1E-4209-B542-53E698584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결과를 함께 책임진다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2453EC-0D9A-404F-AFC3-1F496402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명확한 기준과 일관된 원칙, 그리고 Case by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082DDE-C573-4B1F-9171-D31928611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3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3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50%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E482D7-E72F-418B-8210-AAE0D4069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762500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트레이너의 책임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F9B597-0C4A-4D0E-A7E5-E8DC8B5E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575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35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35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50%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396CAB-7653-474B-99E5-2AD50DB9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762500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책임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8AE9B1-C08A-4BED-BF7E-8F61C6046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43 / 50</a:t>
            </a:r>
          </a:p>
        </p:txBody>
      </p:sp>
    </p:spTree>
    <p:extLst>
      <p:ext uri="{BB962C8B-B14F-4D97-AF65-F5344CB8AC3E}">
        <p14:creationId xmlns:p14="http://schemas.microsoft.com/office/powerpoint/2010/main" val="1327886858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D8FF60-B782-4698-8088-B9C02202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ADE366-CE9D-4CAD-997E-764A53C5C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Stay / Qualifying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8A2BB5-1591-450B-BF1C-662DE15D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반드시 오너와 상의하고 개별 상황을 고려한다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9E343B-2EA9-4709-9382-7381BDBD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210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STAY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126691-A60F-4C9E-9337-6EF30615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5210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결과가 좋거나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기준 도달에 확신이 있을 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854522-5192-467E-97C9-5E828610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857500"/>
            <a:ext cx="5210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QUALIFYING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EF7E98-FCF9-48C7-B787-EE1A17DD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905250"/>
            <a:ext cx="5210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최소 기준 도달이 어렵고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확신이 없을 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EDB4B9-B2B6-45A3-8364-A3848C82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명확한 기준과 일관된 원칙 위에서, 개별 상황에 맞춰 최선의 결정을 내린다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84BBFC-B99D-4589-82DD-6B6CF6E6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44 / 50</a:t>
            </a:r>
          </a:p>
        </p:txBody>
      </p:sp>
    </p:spTree>
    <p:extLst>
      <p:ext uri="{BB962C8B-B14F-4D97-AF65-F5344CB8AC3E}">
        <p14:creationId xmlns:p14="http://schemas.microsoft.com/office/powerpoint/2010/main" val="1186913147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CD1A6F-DAB3-4729-B1F2-EDBEF7E852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505151ace44ef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1D0F3E-9D19-455F-9F52-8038F2A7E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『에밀』에 관한 원본 강의자의 해석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7E7245-A53F-465F-94E6-1CF216D3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47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알고 싶고,</a:t>
            </a:r>
          </a:p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배우고 싶은 욕구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AFB387-76F4-42E1-B442-8B920A35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704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가르침보다 먼저 마음이 움직이게 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EF4AE8-70E2-4F51-9CCE-566FDEEF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45 / 50</a:t>
            </a:r>
          </a:p>
        </p:txBody>
      </p:sp>
    </p:spTree>
    <p:extLst>
      <p:ext uri="{BB962C8B-B14F-4D97-AF65-F5344CB8AC3E}">
        <p14:creationId xmlns:p14="http://schemas.microsoft.com/office/powerpoint/2010/main" val="1569733287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351F25-DBCE-4F73-95BC-C7C61E80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EPILOGUE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B1359C-C9FC-4DE3-AF81-A692C3FD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우리의 트레이닝과 닿아 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0F42E5-CBE5-4A23-B6D2-B287E6B4B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결국 신입에게 답이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EEF4FE-98BB-4F62-9479-3E220FBE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먼저 배우고 싶게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7BB911-7703-4F95-8424-80B403B6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지식보다 먼저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호기심과 욕구를 켠다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04728F-6523-4E09-A21C-23B92B37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57E078-FF94-448D-BCB4-AD49FB9E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앞서지 말고 관찰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1909CF-109F-45BD-BF40-6F815A3CE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깨닫게 두고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필요할 때 돕는다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FD6CA7-AC1A-4EFD-B787-691ACB4DE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B807A9-5681-45E4-A46B-444A6096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경험이 곧 배움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2A04C7-1CE3-49EE-9359-3EF9D6C6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어려움 속의 경험으로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신입은 자란다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A69791-3D9E-4105-9AC0-B683B1A8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42EFC4-AF48-407D-98CB-BB0B0DD3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46 / 50</a:t>
            </a:r>
          </a:p>
        </p:txBody>
      </p:sp>
    </p:spTree>
    <p:extLst>
      <p:ext uri="{BB962C8B-B14F-4D97-AF65-F5344CB8AC3E}">
        <p14:creationId xmlns:p14="http://schemas.microsoft.com/office/powerpoint/2010/main" val="2022094278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DE596B-4F09-4DF0-A929-6983BB21F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EPILOGUE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AC248F-F9FF-4DCC-B1BD-640BB2B4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내가 리더가 되고 싶었던 이유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F5B1C0-CC98-4E12-A250-0C1300BB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임재영 AOP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464F03-9A16-4E98-849A-D85F688D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4B0171-7018-4252-A693-CAF3277C4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세일즈웍스의 첫 번째 목표여서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4900B5-9B68-438B-916D-0A81F56B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E35FDB-BBFA-49EA-9033-022B307F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146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 가치관이 담긴 팀을 만들 수 있어서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609D76-5F55-4AB0-99E6-E2D5E617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813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3BB775-FFCB-486F-8DCD-C01C5830D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813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누군가의 리더가 된다는 것이 기뻐서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8D7537-4F1A-42CB-AE5C-9ADD05A3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813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F9B645-063B-47FA-85F4-10DE47A85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3813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‘OO리’라 불리는 친근함이 좋아서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FF31DA-86C4-4481-A36B-3A62D7F8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CBF443-C152-4F07-A99D-16A88908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481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조끼·피치카드·사물함을 쓸 수 있어서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3816D1-BAC4-47CB-9522-77F95B14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481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B3BDE0-A396-498E-A224-852B6D98A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0481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리더라는 위치가 동기부여가 되어서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9926C0-11E2-4F8E-8F84-C0A117AF4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D2062C-342F-4607-ABC5-5A6E3E2A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148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상위 프로모션에 도전할 수 있어서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03CDFE-2AEE-44D9-B94D-6FB230DC6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7148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26E62B-D158-4AA1-AD5E-2F4ED01A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7148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리더힛 부담이 아닌 더 큰 비전으로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53D0B2-565E-4CEC-A956-8F8B38EB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81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0DA00A-9BB3-403D-AD8D-48084622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3816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섬기고 돕는 자리에서만 배울 수 있어서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FF5A19-1C98-483B-B633-63DA542B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47 / 50</a:t>
            </a:r>
          </a:p>
        </p:txBody>
      </p:sp>
    </p:spTree>
    <p:extLst>
      <p:ext uri="{BB962C8B-B14F-4D97-AF65-F5344CB8AC3E}">
        <p14:creationId xmlns:p14="http://schemas.microsoft.com/office/powerpoint/2010/main" val="159562585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A6A034-17A0-41CB-9DF7-78F5E7D2E5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81e1b6cd8401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CEB40E-2A31-47AD-9570-F42FE450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내가 리더가 되고 싶었던 열 번째 이유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D593CD-49FB-4AB2-B1D3-95BCCA35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딱 한 걸음 앞서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기다릴 줄 아는 리더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C64500-A3E4-416B-BDDD-A8DD1A40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아주 먼 곳까지 내다보되, 앞서 달음박질하지 않고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언제든 따라올 수 있도록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060E99-4547-4F05-BB52-4EF94F9D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48 / 50</a:t>
            </a:r>
          </a:p>
        </p:txBody>
      </p:sp>
    </p:spTree>
    <p:extLst>
      <p:ext uri="{BB962C8B-B14F-4D97-AF65-F5344CB8AC3E}">
        <p14:creationId xmlns:p14="http://schemas.microsoft.com/office/powerpoint/2010/main" val="26908102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D9DBAE-7E4D-4C0E-91BE-D8AA15EE6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TAKEAWAY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89E9EC-7FD4-4581-82BE-C3DF5001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신입 트레이닝, 한 장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D40CB2-C55F-4765-8711-6190F5445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나가면 반드시 세일즈하는 신입으로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897BDE-3ED3-43D2-B814-8FF7A959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EA665C-E159-4135-B084-7B5511DDC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1 · 경험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6E36FF-53DA-4292-958A-E4371D74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242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2시간 후 반응·태도 관찰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쇼잉 / 두려움 제거 / 프리엠티브 / 제로 방지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E9B1FF-FBE8-4DCA-8CF5-A5DAFA6B9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0AA364-EF63-4E36-8BF6-571EA551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146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2 · 학습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D30B80-8863-4E81-8B81-9D7D7A90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242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첫 세일즈 1개 함께 달성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학습력·성장성 / 개선점 피드백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E966F8-ADAA-4205-B62B-C8E95C7E9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DC219B-2B32-47DC-93A2-EFA2279C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95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3 · 판단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647524-9A36-44AC-A432-3344BCC30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291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전략적 사이트 선택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성과 패턴 / 오너와 Stay·Qualifying 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8047F2-FFCB-4602-BF60-2A4031AD5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195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754324-820B-4786-ACD6-4F21B6F6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195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태도와 스킬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D7B0C9-75B8-4BEF-A7D9-48FB3D4E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2291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성취감 / 인정과 칭찬 / 스스로 깨닫게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5 Step / TAAIS / 쿠션 멘트 / 약점별 보강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EB614D-ECFD-4320-A79C-42CC103E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매일: 사이트와 넘버 / 약한 스킬 보강 / 두려움 제거 / 신입 콜백싯 함께 점검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2645C1-1AD5-41CC-B03C-A70E88EC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49 / 50</a:t>
            </a:r>
          </a:p>
        </p:txBody>
      </p:sp>
    </p:spTree>
    <p:extLst>
      <p:ext uri="{BB962C8B-B14F-4D97-AF65-F5344CB8AC3E}">
        <p14:creationId xmlns:p14="http://schemas.microsoft.com/office/powerpoint/2010/main" val="1203505851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C0248D-C926-4AD7-A970-53F3A03130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05db2717bc479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2D11EA-D66E-42CF-A6B4-0EF8D13FA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임재영 AOP · Presence Team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10170F-D747-4EE5-8C13-086BC0FA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후원의 기쁨과</a:t>
            </a:r>
          </a:p>
          <a:p xmlns:a="http://schemas.openxmlformats.org/drawingml/2006/main">
            <a:pPr algn="l">
              <a:def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가치를 전하는 사람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09BF8-6503-451F-85C0-83C697B2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그곳이 어디든 가는 사람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51F4A0-6294-4A52-A9D7-F465715B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72125"/>
            <a:ext cx="904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임재영 AOP · Presence Team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010-5178-1713 · jaeyoung5178@naver.com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8D38F5-EFCD-4D0B-88BF-3D94BFD2D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50 / 50</a:t>
            </a:r>
          </a:p>
        </p:txBody>
      </p:sp>
    </p:spTree>
    <p:extLst>
      <p:ext uri="{BB962C8B-B14F-4D97-AF65-F5344CB8AC3E}">
        <p14:creationId xmlns:p14="http://schemas.microsoft.com/office/powerpoint/2010/main" val="3933305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2026-10-25T02:59:43.4760000Z</dcterms:created>
  <dcterms:modified xsi:type="dcterms:W3CDTF">2026-10-25T02:59:43.4760000Z</dcterms:modified>
</coreProperties>
</file>