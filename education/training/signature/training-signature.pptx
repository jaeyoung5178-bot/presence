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6ff41629c5a4699" /><Relationship Type="http://schemas.openxmlformats.org/officeDocument/2006/relationships/extended-properties" Target="/docProps/app.xml" Id="R74e830902da24997" /><Relationship Type="http://schemas.openxmlformats.org/officeDocument/2006/relationships/officeDocument" Target="/ppt/presentation.xml" Id="R9fa24803a599438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4acea67efc6494a"/>
  </p:sldMasterIdLst>
  <p:notesMasterIdLst>
    <p:notesMasterId xmlns:r="http://schemas.openxmlformats.org/officeDocument/2006/relationships" r:id="R442552d920c94501"/>
  </p:notesMasterIdLst>
  <p:sldIdLst>
    <p:sldId xmlns:r="http://schemas.openxmlformats.org/officeDocument/2006/relationships" id="256" r:id="R70d45b778d56440b"/>
    <p:sldId xmlns:r="http://schemas.openxmlformats.org/officeDocument/2006/relationships" id="257" r:id="R0d2814cfd9254c6d"/>
    <p:sldId xmlns:r="http://schemas.openxmlformats.org/officeDocument/2006/relationships" id="258" r:id="Rb8bc7b1e2ea44b4a"/>
    <p:sldId xmlns:r="http://schemas.openxmlformats.org/officeDocument/2006/relationships" id="259" r:id="Rdba3ba645efb4fcd"/>
    <p:sldId xmlns:r="http://schemas.openxmlformats.org/officeDocument/2006/relationships" id="260" r:id="Rcdc58bae135849ab"/>
    <p:sldId xmlns:r="http://schemas.openxmlformats.org/officeDocument/2006/relationships" id="261" r:id="R2ceb784a30424edd"/>
    <p:sldId xmlns:r="http://schemas.openxmlformats.org/officeDocument/2006/relationships" id="262" r:id="Rfa5306162eb74400"/>
    <p:sldId xmlns:r="http://schemas.openxmlformats.org/officeDocument/2006/relationships" id="263" r:id="R14df8635c62d4d2b"/>
    <p:sldId xmlns:r="http://schemas.openxmlformats.org/officeDocument/2006/relationships" id="264" r:id="R5a218be4984c4ba3"/>
    <p:sldId xmlns:r="http://schemas.openxmlformats.org/officeDocument/2006/relationships" id="265" r:id="R001eb17363f143a3"/>
    <p:sldId xmlns:r="http://schemas.openxmlformats.org/officeDocument/2006/relationships" id="266" r:id="R4c3de2e28a0146ff"/>
    <p:sldId xmlns:r="http://schemas.openxmlformats.org/officeDocument/2006/relationships" id="267" r:id="Rc3721e1223824ce7"/>
    <p:sldId xmlns:r="http://schemas.openxmlformats.org/officeDocument/2006/relationships" id="268" r:id="Rf7b0761d1567493d"/>
    <p:sldId xmlns:r="http://schemas.openxmlformats.org/officeDocument/2006/relationships" id="269" r:id="R1f205e9e873147e0"/>
    <p:sldId xmlns:r="http://schemas.openxmlformats.org/officeDocument/2006/relationships" id="270" r:id="R449e9b4ebf114561"/>
    <p:sldId xmlns:r="http://schemas.openxmlformats.org/officeDocument/2006/relationships" id="271" r:id="Rc1613337822a4edf"/>
    <p:sldId xmlns:r="http://schemas.openxmlformats.org/officeDocument/2006/relationships" id="272" r:id="R9b19217f60844305"/>
    <p:sldId xmlns:r="http://schemas.openxmlformats.org/officeDocument/2006/relationships" id="273" r:id="R424470eb7f0c4aca"/>
    <p:sldId xmlns:r="http://schemas.openxmlformats.org/officeDocument/2006/relationships" id="274" r:id="R4b001fedafe84011"/>
    <p:sldId xmlns:r="http://schemas.openxmlformats.org/officeDocument/2006/relationships" id="275" r:id="Rc1f658cb2c004a1d"/>
    <p:sldId xmlns:r="http://schemas.openxmlformats.org/officeDocument/2006/relationships" id="276" r:id="R03cf6056e5fd4000"/>
    <p:sldId xmlns:r="http://schemas.openxmlformats.org/officeDocument/2006/relationships" id="277" r:id="Rd2cb2eaffad04833"/>
    <p:sldId xmlns:r="http://schemas.openxmlformats.org/officeDocument/2006/relationships" id="278" r:id="R3cea892b71f3408b"/>
    <p:sldId xmlns:r="http://schemas.openxmlformats.org/officeDocument/2006/relationships" id="279" r:id="R8d3ac52a77f04599"/>
    <p:sldId xmlns:r="http://schemas.openxmlformats.org/officeDocument/2006/relationships" id="280" r:id="Rea55dcd321054905"/>
    <p:sldId xmlns:r="http://schemas.openxmlformats.org/officeDocument/2006/relationships" id="281" r:id="R5dd2a134c1134389"/>
    <p:sldId xmlns:r="http://schemas.openxmlformats.org/officeDocument/2006/relationships" id="282" r:id="Rcd3fcfc9f72b4233"/>
    <p:sldId xmlns:r="http://schemas.openxmlformats.org/officeDocument/2006/relationships" id="283" r:id="R7e5e0c13e26f49d1"/>
    <p:sldId xmlns:r="http://schemas.openxmlformats.org/officeDocument/2006/relationships" id="284" r:id="Ra0905bcbb18a47bb"/>
    <p:sldId xmlns:r="http://schemas.openxmlformats.org/officeDocument/2006/relationships" id="285" r:id="R78e370671c1543b7"/>
    <p:sldId xmlns:r="http://schemas.openxmlformats.org/officeDocument/2006/relationships" id="286" r:id="R2457a81455604784"/>
    <p:sldId xmlns:r="http://schemas.openxmlformats.org/officeDocument/2006/relationships" id="287" r:id="Re2ab9c4eedba4848"/>
    <p:sldId xmlns:r="http://schemas.openxmlformats.org/officeDocument/2006/relationships" id="288" r:id="Rd640fcba46d74771"/>
    <p:sldId xmlns:r="http://schemas.openxmlformats.org/officeDocument/2006/relationships" id="289" r:id="Rc0baea6ea4ca4438"/>
    <p:sldId xmlns:r="http://schemas.openxmlformats.org/officeDocument/2006/relationships" id="290" r:id="Redb50eb85b954f78"/>
    <p:sldId xmlns:r="http://schemas.openxmlformats.org/officeDocument/2006/relationships" id="291" r:id="Rd50248fde32847f7"/>
    <p:sldId xmlns:r="http://schemas.openxmlformats.org/officeDocument/2006/relationships" id="292" r:id="R6bccc25d26364b30"/>
    <p:sldId xmlns:r="http://schemas.openxmlformats.org/officeDocument/2006/relationships" id="293" r:id="Rcf77d7c7df8b44c2"/>
    <p:sldId xmlns:r="http://schemas.openxmlformats.org/officeDocument/2006/relationships" id="294" r:id="R0a884587a07d422b"/>
    <p:sldId xmlns:r="http://schemas.openxmlformats.org/officeDocument/2006/relationships" id="295" r:id="R31de071443af4508"/>
    <p:sldId xmlns:r="http://schemas.openxmlformats.org/officeDocument/2006/relationships" id="296" r:id="Rff239c9130d04859"/>
    <p:sldId xmlns:r="http://schemas.openxmlformats.org/officeDocument/2006/relationships" id="297" r:id="Reda0e885b3e94c70"/>
    <p:sldId xmlns:r="http://schemas.openxmlformats.org/officeDocument/2006/relationships" id="298" r:id="Rf0608c31bffd42b8"/>
    <p:sldId xmlns:r="http://schemas.openxmlformats.org/officeDocument/2006/relationships" id="299" r:id="R418d9358fa964825"/>
    <p:sldId xmlns:r="http://schemas.openxmlformats.org/officeDocument/2006/relationships" id="300" r:id="R410c84629fc54139"/>
    <p:sldId xmlns:r="http://schemas.openxmlformats.org/officeDocument/2006/relationships" id="301" r:id="Ra18849162cdc40cf"/>
    <p:sldId xmlns:r="http://schemas.openxmlformats.org/officeDocument/2006/relationships" id="302" r:id="R5f32ffdf920d4df8"/>
    <p:sldId xmlns:r="http://schemas.openxmlformats.org/officeDocument/2006/relationships" id="303" r:id="R6efb26868e3a4982"/>
    <p:sldId xmlns:r="http://schemas.openxmlformats.org/officeDocument/2006/relationships" id="304" r:id="R767145b2453446c3"/>
    <p:sldId xmlns:r="http://schemas.openxmlformats.org/officeDocument/2006/relationships" id="305" r:id="Ra573107db93e4e9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b7c71c94327494e" /><Relationship Type="http://schemas.openxmlformats.org/officeDocument/2006/relationships/slideMaster" Target="/ppt/slideMasters/slideMaster1.xml" Id="R64acea67efc6494a" /><Relationship Type="http://schemas.openxmlformats.org/officeDocument/2006/relationships/notesMaster" Target="/ppt/notesMasters/notesMaster1.xml" Id="R442552d920c94501" /><Relationship Type="http://schemas.openxmlformats.org/officeDocument/2006/relationships/presProps" Target="/ppt/presProps.xml" Id="R0186810776f343c2" /><Relationship Type="http://schemas.openxmlformats.org/officeDocument/2006/relationships/tableStyles" Target="/ppt/tableStyles.xml" Id="R89631e2b437f47f2" /><Relationship Type="http://schemas.openxmlformats.org/officeDocument/2006/relationships/slide" Target="/ppt/slides/slide1.xml" Id="R70d45b778d56440b" /><Relationship Type="http://schemas.openxmlformats.org/officeDocument/2006/relationships/slide" Target="/ppt/slides/slide2.xml" Id="R0d2814cfd9254c6d" /><Relationship Type="http://schemas.openxmlformats.org/officeDocument/2006/relationships/slide" Target="/ppt/slides/slide3.xml" Id="Rb8bc7b1e2ea44b4a" /><Relationship Type="http://schemas.openxmlformats.org/officeDocument/2006/relationships/slide" Target="/ppt/slides/slide4.xml" Id="Rdba3ba645efb4fcd" /><Relationship Type="http://schemas.openxmlformats.org/officeDocument/2006/relationships/slide" Target="/ppt/slides/slide5.xml" Id="Rcdc58bae135849ab" /><Relationship Type="http://schemas.openxmlformats.org/officeDocument/2006/relationships/slide" Target="/ppt/slides/slide6.xml" Id="R2ceb784a30424edd" /><Relationship Type="http://schemas.openxmlformats.org/officeDocument/2006/relationships/slide" Target="/ppt/slides/slide7.xml" Id="Rfa5306162eb74400" /><Relationship Type="http://schemas.openxmlformats.org/officeDocument/2006/relationships/slide" Target="/ppt/slides/slide8.xml" Id="R14df8635c62d4d2b" /><Relationship Type="http://schemas.openxmlformats.org/officeDocument/2006/relationships/slide" Target="/ppt/slides/slide9.xml" Id="R5a218be4984c4ba3" /><Relationship Type="http://schemas.openxmlformats.org/officeDocument/2006/relationships/slide" Target="/ppt/slides/slide10.xml" Id="R001eb17363f143a3" /><Relationship Type="http://schemas.openxmlformats.org/officeDocument/2006/relationships/slide" Target="/ppt/slides/slide11.xml" Id="R4c3de2e28a0146ff" /><Relationship Type="http://schemas.openxmlformats.org/officeDocument/2006/relationships/slide" Target="/ppt/slides/slide12.xml" Id="Rc3721e1223824ce7" /><Relationship Type="http://schemas.openxmlformats.org/officeDocument/2006/relationships/slide" Target="/ppt/slides/slide13.xml" Id="Rf7b0761d1567493d" /><Relationship Type="http://schemas.openxmlformats.org/officeDocument/2006/relationships/slide" Target="/ppt/slides/slide14.xml" Id="R1f205e9e873147e0" /><Relationship Type="http://schemas.openxmlformats.org/officeDocument/2006/relationships/slide" Target="/ppt/slides/slide15.xml" Id="R449e9b4ebf114561" /><Relationship Type="http://schemas.openxmlformats.org/officeDocument/2006/relationships/slide" Target="/ppt/slides/slide16.xml" Id="Rc1613337822a4edf" /><Relationship Type="http://schemas.openxmlformats.org/officeDocument/2006/relationships/slide" Target="/ppt/slides/slide17.xml" Id="R9b19217f60844305" /><Relationship Type="http://schemas.openxmlformats.org/officeDocument/2006/relationships/slide" Target="/ppt/slides/slide18.xml" Id="R424470eb7f0c4aca" /><Relationship Type="http://schemas.openxmlformats.org/officeDocument/2006/relationships/slide" Target="/ppt/slides/slide19.xml" Id="R4b001fedafe84011" /><Relationship Type="http://schemas.openxmlformats.org/officeDocument/2006/relationships/slide" Target="/ppt/slides/slide20.xml" Id="Rc1f658cb2c004a1d" /><Relationship Type="http://schemas.openxmlformats.org/officeDocument/2006/relationships/slide" Target="/ppt/slides/slide21.xml" Id="R03cf6056e5fd4000" /><Relationship Type="http://schemas.openxmlformats.org/officeDocument/2006/relationships/slide" Target="/ppt/slides/slide22.xml" Id="Rd2cb2eaffad04833" /><Relationship Type="http://schemas.openxmlformats.org/officeDocument/2006/relationships/slide" Target="/ppt/slides/slide23.xml" Id="R3cea892b71f3408b" /><Relationship Type="http://schemas.openxmlformats.org/officeDocument/2006/relationships/slide" Target="/ppt/slides/slide24.xml" Id="R8d3ac52a77f04599" /><Relationship Type="http://schemas.openxmlformats.org/officeDocument/2006/relationships/slide" Target="/ppt/slides/slide25.xml" Id="Rea55dcd321054905" /><Relationship Type="http://schemas.openxmlformats.org/officeDocument/2006/relationships/slide" Target="/ppt/slides/slide26.xml" Id="R5dd2a134c1134389" /><Relationship Type="http://schemas.openxmlformats.org/officeDocument/2006/relationships/slide" Target="/ppt/slides/slide27.xml" Id="Rcd3fcfc9f72b4233" /><Relationship Type="http://schemas.openxmlformats.org/officeDocument/2006/relationships/slide" Target="/ppt/slides/slide28.xml" Id="R7e5e0c13e26f49d1" /><Relationship Type="http://schemas.openxmlformats.org/officeDocument/2006/relationships/slide" Target="/ppt/slides/slide29.xml" Id="Ra0905bcbb18a47bb" /><Relationship Type="http://schemas.openxmlformats.org/officeDocument/2006/relationships/slide" Target="/ppt/slides/slide30.xml" Id="R78e370671c1543b7" /><Relationship Type="http://schemas.openxmlformats.org/officeDocument/2006/relationships/slide" Target="/ppt/slides/slide31.xml" Id="R2457a81455604784" /><Relationship Type="http://schemas.openxmlformats.org/officeDocument/2006/relationships/slide" Target="/ppt/slides/slide32.xml" Id="Re2ab9c4eedba4848" /><Relationship Type="http://schemas.openxmlformats.org/officeDocument/2006/relationships/slide" Target="/ppt/slides/slide33.xml" Id="Rd640fcba46d74771" /><Relationship Type="http://schemas.openxmlformats.org/officeDocument/2006/relationships/slide" Target="/ppt/slides/slide34.xml" Id="Rc0baea6ea4ca4438" /><Relationship Type="http://schemas.openxmlformats.org/officeDocument/2006/relationships/slide" Target="/ppt/slides/slide35.xml" Id="Redb50eb85b954f78" /><Relationship Type="http://schemas.openxmlformats.org/officeDocument/2006/relationships/slide" Target="/ppt/slides/slide36.xml" Id="Rd50248fde32847f7" /><Relationship Type="http://schemas.openxmlformats.org/officeDocument/2006/relationships/slide" Target="/ppt/slides/slide37.xml" Id="R6bccc25d26364b30" /><Relationship Type="http://schemas.openxmlformats.org/officeDocument/2006/relationships/slide" Target="/ppt/slides/slide38.xml" Id="Rcf77d7c7df8b44c2" /><Relationship Type="http://schemas.openxmlformats.org/officeDocument/2006/relationships/slide" Target="/ppt/slides/slide39.xml" Id="R0a884587a07d422b" /><Relationship Type="http://schemas.openxmlformats.org/officeDocument/2006/relationships/slide" Target="/ppt/slides/slide40.xml" Id="R31de071443af4508" /><Relationship Type="http://schemas.openxmlformats.org/officeDocument/2006/relationships/slide" Target="/ppt/slides/slide41.xml" Id="Rff239c9130d04859" /><Relationship Type="http://schemas.openxmlformats.org/officeDocument/2006/relationships/slide" Target="/ppt/slides/slide42.xml" Id="Reda0e885b3e94c70" /><Relationship Type="http://schemas.openxmlformats.org/officeDocument/2006/relationships/slide" Target="/ppt/slides/slide43.xml" Id="Rf0608c31bffd42b8" /><Relationship Type="http://schemas.openxmlformats.org/officeDocument/2006/relationships/slide" Target="/ppt/slides/slide44.xml" Id="R418d9358fa964825" /><Relationship Type="http://schemas.openxmlformats.org/officeDocument/2006/relationships/slide" Target="/ppt/slides/slide45.xml" Id="R410c84629fc54139" /><Relationship Type="http://schemas.openxmlformats.org/officeDocument/2006/relationships/slide" Target="/ppt/slides/slide46.xml" Id="Ra18849162cdc40cf" /><Relationship Type="http://schemas.openxmlformats.org/officeDocument/2006/relationships/slide" Target="/ppt/slides/slide47.xml" Id="R5f32ffdf920d4df8" /><Relationship Type="http://schemas.openxmlformats.org/officeDocument/2006/relationships/slide" Target="/ppt/slides/slide48.xml" Id="R6efb26868e3a4982" /><Relationship Type="http://schemas.openxmlformats.org/officeDocument/2006/relationships/slide" Target="/ppt/slides/slide49.xml" Id="R767145b2453446c3" /><Relationship Type="http://schemas.openxmlformats.org/officeDocument/2006/relationships/slide" Target="/ppt/slides/slide50.xml" Id="Ra573107db93e4e9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99c60f863924e5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06953f1ce5b48c8" /><Relationship Type="http://schemas.openxmlformats.org/officeDocument/2006/relationships/notesMaster" Target="/ppt/notesMasters/notesMaster1.xml" Id="R70f8a8632c1c498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57febfc6ea94167" /><Relationship Type="http://schemas.openxmlformats.org/officeDocument/2006/relationships/notesMaster" Target="/ppt/notesMasters/notesMaster1.xml" Id="Rb297a58d23cc4ef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16d78ddef764f5f" /><Relationship Type="http://schemas.openxmlformats.org/officeDocument/2006/relationships/notesMaster" Target="/ppt/notesMasters/notesMaster1.xml" Id="R7afa6e335e81484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45ae776ab814b40" /><Relationship Type="http://schemas.openxmlformats.org/officeDocument/2006/relationships/notesMaster" Target="/ppt/notesMasters/notesMaster1.xml" Id="Rfee31a51bc344a3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4f38de8afb1499d" /><Relationship Type="http://schemas.openxmlformats.org/officeDocument/2006/relationships/notesMaster" Target="/ppt/notesMasters/notesMaster1.xml" Id="R5fd155473e94463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d6c398e81ae421b" /><Relationship Type="http://schemas.openxmlformats.org/officeDocument/2006/relationships/notesMaster" Target="/ppt/notesMasters/notesMaster1.xml" Id="R7cd8edb4ea91482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615ca3d0e6d4a7a" /><Relationship Type="http://schemas.openxmlformats.org/officeDocument/2006/relationships/notesMaster" Target="/ppt/notesMasters/notesMaster1.xml" Id="Rad377465dad74e7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bdf88b4c73747e5" /><Relationship Type="http://schemas.openxmlformats.org/officeDocument/2006/relationships/notesMaster" Target="/ppt/notesMasters/notesMaster1.xml" Id="R984ab41f0a7c42c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33c414690ac4839" /><Relationship Type="http://schemas.openxmlformats.org/officeDocument/2006/relationships/notesMaster" Target="/ppt/notesMasters/notesMaster1.xml" Id="R3bcbfaea7d7140e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d21a599cda64df9" /><Relationship Type="http://schemas.openxmlformats.org/officeDocument/2006/relationships/notesMaster" Target="/ppt/notesMasters/notesMaster1.xml" Id="Ra172d57ffce24b7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e0cc15613e3498e" /><Relationship Type="http://schemas.openxmlformats.org/officeDocument/2006/relationships/notesMaster" Target="/ppt/notesMasters/notesMaster1.xml" Id="Re851a34d703b4ea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ec3986a85b14aae" /><Relationship Type="http://schemas.openxmlformats.org/officeDocument/2006/relationships/notesMaster" Target="/ppt/notesMasters/notesMaster1.xml" Id="Rc3520c37ef2a496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9ac3a3f31b54c26" /><Relationship Type="http://schemas.openxmlformats.org/officeDocument/2006/relationships/notesMaster" Target="/ppt/notesMasters/notesMaster1.xml" Id="R1784e2b35f5140e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97c64b014ce4b7a" /><Relationship Type="http://schemas.openxmlformats.org/officeDocument/2006/relationships/notesMaster" Target="/ppt/notesMasters/notesMaster1.xml" Id="R50c9416278c444e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6d186275bde4ba7" /><Relationship Type="http://schemas.openxmlformats.org/officeDocument/2006/relationships/notesMaster" Target="/ppt/notesMasters/notesMaster1.xml" Id="R6c5d7631f5db4cb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46bb91e6e4b4707" /><Relationship Type="http://schemas.openxmlformats.org/officeDocument/2006/relationships/notesMaster" Target="/ppt/notesMasters/notesMaster1.xml" Id="R828a94e585c04c0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35cfddcf57148ca" /><Relationship Type="http://schemas.openxmlformats.org/officeDocument/2006/relationships/notesMaster" Target="/ppt/notesMasters/notesMaster1.xml" Id="R2b2957e248b14f7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d15358264d040fc" /><Relationship Type="http://schemas.openxmlformats.org/officeDocument/2006/relationships/notesMaster" Target="/ppt/notesMasters/notesMaster1.xml" Id="R0b91ae61fedd4f0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eeb726e11264909" /><Relationship Type="http://schemas.openxmlformats.org/officeDocument/2006/relationships/notesMaster" Target="/ppt/notesMasters/notesMaster1.xml" Id="R32794d830e1d438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06ec38cb9db4a7e" /><Relationship Type="http://schemas.openxmlformats.org/officeDocument/2006/relationships/notesMaster" Target="/ppt/notesMasters/notesMaster1.xml" Id="Re6cb3c77e13645f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1cdf29f997b4854" /><Relationship Type="http://schemas.openxmlformats.org/officeDocument/2006/relationships/notesMaster" Target="/ppt/notesMasters/notesMaster1.xml" Id="Rbe04145e743f4ba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d0a94d5402e4c7e" /><Relationship Type="http://schemas.openxmlformats.org/officeDocument/2006/relationships/notesMaster" Target="/ppt/notesMasters/notesMaster1.xml" Id="R09ea7452cffc4f3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7b858eb696e245cb" /><Relationship Type="http://schemas.openxmlformats.org/officeDocument/2006/relationships/notesMaster" Target="/ppt/notesMasters/notesMaster1.xml" Id="R24bdf514e8df4f7b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0c6b95d2d4e4e79" /><Relationship Type="http://schemas.openxmlformats.org/officeDocument/2006/relationships/notesMaster" Target="/ppt/notesMasters/notesMaster1.xml" Id="Rf3d339802eb04be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0b5d90c7b00f4a4b" /><Relationship Type="http://schemas.openxmlformats.org/officeDocument/2006/relationships/notesMaster" Target="/ppt/notesMasters/notesMaster1.xml" Id="R9b58dc0221334cb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28e8033af20647be" /><Relationship Type="http://schemas.openxmlformats.org/officeDocument/2006/relationships/notesMaster" Target="/ppt/notesMasters/notesMaster1.xml" Id="R49f25f47191c41bf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5b419c1640e349e3" /><Relationship Type="http://schemas.openxmlformats.org/officeDocument/2006/relationships/notesMaster" Target="/ppt/notesMasters/notesMaster1.xml" Id="R0c9fb932b82c4045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badd0bf37f9941cf" /><Relationship Type="http://schemas.openxmlformats.org/officeDocument/2006/relationships/notesMaster" Target="/ppt/notesMasters/notesMaster1.xml" Id="R200db6fb5a6d4c17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7b7c92ebc69e4b55" /><Relationship Type="http://schemas.openxmlformats.org/officeDocument/2006/relationships/notesMaster" Target="/ppt/notesMasters/notesMaster1.xml" Id="R32e2cbfcdeb64c42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e018a2452d6e4353" /><Relationship Type="http://schemas.openxmlformats.org/officeDocument/2006/relationships/notesMaster" Target="/ppt/notesMasters/notesMaster1.xml" Id="R74aea43a681843fb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c665e22ec1594d02" /><Relationship Type="http://schemas.openxmlformats.org/officeDocument/2006/relationships/notesMaster" Target="/ppt/notesMasters/notesMaster1.xml" Id="Ra238112acb694125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cbee3a7e0e804bc0" /><Relationship Type="http://schemas.openxmlformats.org/officeDocument/2006/relationships/notesMaster" Target="/ppt/notesMasters/notesMaster1.xml" Id="R30c17e52c1704594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520c716544e74084" /><Relationship Type="http://schemas.openxmlformats.org/officeDocument/2006/relationships/notesMaster" Target="/ppt/notesMasters/notesMaster1.xml" Id="R923f5bd684a749e0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f55b2a650c9e41af" /><Relationship Type="http://schemas.openxmlformats.org/officeDocument/2006/relationships/notesMaster" Target="/ppt/notesMasters/notesMaster1.xml" Id="R797a5851cef045f4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e10bd5b71c3c4155" /><Relationship Type="http://schemas.openxmlformats.org/officeDocument/2006/relationships/notesMaster" Target="/ppt/notesMasters/notesMaster1.xml" Id="R5cfc8dc930ec4c12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3a1a00d1c3584108" /><Relationship Type="http://schemas.openxmlformats.org/officeDocument/2006/relationships/notesMaster" Target="/ppt/notesMasters/notesMaster1.xml" Id="Rac1abedd2ed64ef3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4e58ee5ea0de41f0" /><Relationship Type="http://schemas.openxmlformats.org/officeDocument/2006/relationships/notesMaster" Target="/ppt/notesMasters/notesMaster1.xml" Id="R194f311647864ce3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835f701b9fa44259" /><Relationship Type="http://schemas.openxmlformats.org/officeDocument/2006/relationships/notesMaster" Target="/ppt/notesMasters/notesMaster1.xml" Id="Rf26f6ee67407431b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dff28c2814bd4fe0" /><Relationship Type="http://schemas.openxmlformats.org/officeDocument/2006/relationships/notesMaster" Target="/ppt/notesMasters/notesMaster1.xml" Id="R4ac58574d92b408a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210450598e144a80" /><Relationship Type="http://schemas.openxmlformats.org/officeDocument/2006/relationships/notesMaster" Target="/ppt/notesMasters/notesMaster1.xml" Id="R9caa4444ce5642d1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c6c2f2cacab842d6" /><Relationship Type="http://schemas.openxmlformats.org/officeDocument/2006/relationships/notesMaster" Target="/ppt/notesMasters/notesMaster1.xml" Id="R33c0c696f6ba40c3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8f16bbc2ae8f42a4" /><Relationship Type="http://schemas.openxmlformats.org/officeDocument/2006/relationships/notesMaster" Target="/ppt/notesMasters/notesMaster1.xml" Id="R8061218e705545b6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92576dfd585b4b93" /><Relationship Type="http://schemas.openxmlformats.org/officeDocument/2006/relationships/notesMaster" Target="/ppt/notesMasters/notesMaster1.xml" Id="Re3930ea3dd794fc4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25dbc8dd8f2642bd" /><Relationship Type="http://schemas.openxmlformats.org/officeDocument/2006/relationships/notesMaster" Target="/ppt/notesMasters/notesMaster1.xml" Id="Rf131d54da2414092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df69c12f472b4d0a" /><Relationship Type="http://schemas.openxmlformats.org/officeDocument/2006/relationships/notesMaster" Target="/ppt/notesMasters/notesMaster1.xml" Id="R2d892891ebfa4a91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bfc880d5683d402b" /><Relationship Type="http://schemas.openxmlformats.org/officeDocument/2006/relationships/notesMaster" Target="/ppt/notesMasters/notesMaster1.xml" Id="R929be91b54034354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f2c3f17bd62d4d68" /><Relationship Type="http://schemas.openxmlformats.org/officeDocument/2006/relationships/notesMaster" Target="/ppt/notesMasters/notesMaster1.xml" Id="Rd1e43629b50e442a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0e417d1b4bd24b02" /><Relationship Type="http://schemas.openxmlformats.org/officeDocument/2006/relationships/notesMaster" Target="/ppt/notesMasters/notesMaster1.xml" Id="R48f9a2312362405e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41f2620fa26a4bcb" /><Relationship Type="http://schemas.openxmlformats.org/officeDocument/2006/relationships/notesMaster" Target="/ppt/notesMasters/notesMaster1.xml" Id="R86b8bc51b7ee4285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14d319d07d6642ba" /><Relationship Type="http://schemas.openxmlformats.org/officeDocument/2006/relationships/notesMaster" Target="/ppt/notesMasters/notesMaster1.xml" Id="R4b83d4dc516b47a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FUTURE LEADERS MEETING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신입 IC 트레이닝 가이드</a:t>
            </a:r>
          </a:p>
          <a:p xmlns:a="http://schemas.openxmlformats.org/drawingml/2006/main">
            <a:r>
              <a:t>신입을 '나가면 반드시 세일즈하는' 사람으로 키우는 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먼저 배우고 싶게 만들라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피드백 전에 관찰하라</a:t>
            </a:r>
          </a:p>
          <a:p xmlns:a="http://schemas.openxmlformats.org/drawingml/2006/main">
            <a:r>
              <a:t>임재영 AOP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CONTENTS</a:t>
            </a:r>
          </a:p>
          <a:p xmlns:a="http://schemas.openxmlformats.org/drawingml/2006/main">
            <a:r>
              <a:t>목 차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트레이닝의 두 가지 철학</a:t>
            </a:r>
          </a:p>
          <a:p xmlns:a="http://schemas.openxmlformats.org/drawingml/2006/main">
            <a:r>
              <a:t>먼저 배우고 싶게 만들라 · 관찰 후 피드백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트레이너의 전제 조건</a:t>
            </a:r>
          </a:p>
          <a:p xmlns:a="http://schemas.openxmlformats.org/drawingml/2006/main">
            <a:r>
              <a:t>쇼잉(Showing) · 스탠다드 적용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첫 3일의 설계 (Day 1–3)</a:t>
            </a:r>
          </a:p>
          <a:p xmlns:a="http://schemas.openxmlformats.org/drawingml/2006/main">
            <a:r>
              <a:t>경험 → 학습 → 판단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>스킬 트레이닝 &amp; 맞춤 피드백</a:t>
            </a:r>
          </a:p>
          <a:p xmlns:a="http://schemas.openxmlformats.org/drawingml/2006/main">
            <a:r>
              <a:t>5 Step · 피드백 타이밍 · 피드백 모델 3가지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자립을 위한 6주 전략</a:t>
            </a:r>
          </a:p>
          <a:p xmlns:a="http://schemas.openxmlformats.org/drawingml/2006/main">
            <a:r>
              <a:t>리더힛 · 로드트립 · Self 적응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06</a:t>
            </a:r>
          </a:p>
          <a:p xmlns:a="http://schemas.openxmlformats.org/drawingml/2006/main">
            <a:r>
              <a:t>핵심 역할 &amp; 결과 판단</a:t>
            </a:r>
          </a:p>
          <a:p xmlns:a="http://schemas.openxmlformats.org/drawingml/2006/main">
            <a:r>
              <a:t>성취·인정 · Stay / Qualifying</a:t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3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TRAINING PHILOSOPHY  ·  01</a:t>
            </a:r>
          </a:p>
          <a:p xmlns:a="http://schemas.openxmlformats.org/drawingml/2006/main">
            <a:r>
              <a:t>가르치기 전에, 먼저 배우고 싶게 만들라</a:t>
            </a:r>
          </a:p>
          <a:p xmlns:a="http://schemas.openxmlformats.org/drawingml/2006/main">
            <a:r>
              <a:t>"How to teach"보다 먼저 풀어야 할 것은 "Why they want to learn"이다.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동기가 먼저다</a:t>
            </a:r>
          </a:p>
          <a:p xmlns:a="http://schemas.openxmlformats.org/drawingml/2006/main">
            <a:r>
              <a:t>지식을 밀어넣기 전에 '하고 싶다'는 마음을 먼저 켠다. 동기 없는 신입에게 스킬은 흡수되지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쇼잉으로 욕망을 만든다</a:t>
            </a:r>
          </a:p>
          <a:p xmlns:a="http://schemas.openxmlformats.org/drawingml/2006/main">
            <a:r>
              <a:t>잘하는 모습을 직접 보여줘 '나도 저렇게 되고 싶다'를 끌어낸다. 첫날의 긍정 경험이 학습 엔진이 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작은 성공을 빨리 준다</a:t>
            </a:r>
          </a:p>
          <a:p xmlns:a="http://schemas.openxmlformats.org/drawingml/2006/main">
            <a:r>
              <a:t>스스로 해냈다는 성취감이 다음 학습 의지를 만든다. 가르침은 그 의지 위에 얹는다.</a:t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4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TRAINING PHILOSOPHY  ·  01</a:t>
            </a:r>
          </a:p>
          <a:p xmlns:a="http://schemas.openxmlformats.org/drawingml/2006/main">
            <a:r>
              <a:t>가르치기 전에, 먼저 배우고 싶게 만들라</a:t>
            </a:r>
          </a:p>
          <a:p xmlns:a="http://schemas.openxmlformats.org/drawingml/2006/main">
            <a:r>
              <a:t>"How to teach"보다 먼저 풀어야 할 것은 "Why they want to learn"이다.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동기가 먼저다</a:t>
            </a:r>
          </a:p>
          <a:p xmlns:a="http://schemas.openxmlformats.org/drawingml/2006/main">
            <a:r>
              <a:t>지식을 밀어넣기 전에 '하고 싶다'는 마음을 먼저 켠다. 동기 없는 신입에게 스킬은 흡수되지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쇼잉으로 욕망을 만든다</a:t>
            </a:r>
          </a:p>
          <a:p xmlns:a="http://schemas.openxmlformats.org/drawingml/2006/main">
            <a:r>
              <a:t>잘하는 모습을 직접 보여줘 '나도 저렇게 되고 싶다'를 끌어낸다. 첫날의 긍정 경험이 학습 엔진이 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작은 성공을 빨리 준다</a:t>
            </a:r>
          </a:p>
          <a:p xmlns:a="http://schemas.openxmlformats.org/drawingml/2006/main">
            <a:r>
              <a:t>스스로 해냈다는 성취감이 다음 학습 의지를 만든다. 가르침은 그 의지 위에 얹는다.</a:t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4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TRAINING PHILOSOPHY · 01  |  『EMILE』</a:t>
            </a:r>
          </a:p>
          <a:p xmlns:a="http://schemas.openxmlformats.org/drawingml/2006/main">
            <a:r>
              <a:t>소극적 교육 — 가르치기 전에, 관찰하기</a:t>
            </a:r>
          </a:p>
          <a:p xmlns:a="http://schemas.openxmlformats.org/drawingml/2006/main">
            <a:r>
              <a:t>루소가 말한 가장 도발적인 개념. 가장 훌륭한 교육은 '아무것도 하지 않는 것처럼 보이는' 교육이다.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Negative Education</a:t>
            </a:r>
          </a:p>
          <a:p xmlns:a="http://schemas.openxmlformats.org/drawingml/2006/main">
            <a:r>
              <a:t>"가장 초기의 교육은 순전히 소극적이어야 한다. 덕이나 진리를 가르치는 데 있지 않고, 마음을 악덕으로부터, 정신을 오류로부터 지키는 데 있다."</a:t>
            </a:r>
          </a:p>
          <a:p xmlns:a="http://schemas.openxmlformats.org/drawingml/2006/main">
            <a:r>
              <a:t>— 『에밀』 제2권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"시간을 잃어라"</a:t>
            </a:r>
          </a:p>
          <a:p xmlns:a="http://schemas.openxmlformats.org/drawingml/2006/main">
            <a:r>
              <a:t>"가장 유용한 교육 규칙은 시간을 버는 것이 아니라, 시간을 잃는 것이다."</a:t>
            </a:r>
          </a:p>
          <a:p xmlns:a="http://schemas.openxmlformats.org/drawingml/2006/main">
            <a:r>
              <a:t>— 『에밀』 제2권</a:t>
            </a:r>
          </a:p>
          <a:p xmlns:a="http://schemas.openxmlformats.org/drawingml/2006/main">
            <a:r>
              <a:t>트레이닝에 적용하면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조급함이 가장 큰 위험</a:t>
            </a:r>
          </a:p>
          <a:p xmlns:a="http://schemas.openxmlformats.org/drawingml/2006/main">
            <a:r>
              <a:t>준비되지 않은 신입에게 억지로 주입하면, 텅빈 </a:t>
            </a:r>
          </a:p>
          <a:p xmlns:a="http://schemas.openxmlformats.org/drawingml/2006/main">
            <a:r>
              <a:t>암기에 그치고 오히려 진짜 이해를 방해한다.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먼저, 얼마나 이해했는지 관찰</a:t>
            </a:r>
          </a:p>
          <a:p xmlns:a="http://schemas.openxmlformats.org/drawingml/2006/main">
            <a:r>
              <a:t>가르치기 전에 트레이니가 무엇을, 어디까지 이해하고 있는지 관찰한다. 그 위에 필요한 것을 얹는다.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기다림이 가장 빠른 길</a:t>
            </a:r>
          </a:p>
          <a:p xmlns:a="http://schemas.openxmlformats.org/drawingml/2006/main">
            <a:r>
              <a:t>스스로 경험하고 성숙할 '시간'을 허락하는 것이, 멀리 보면 가장 빠른 성장의 길이다.</a:t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5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TRAINING PHILOSOPHY · 01  |  『EMILE』</a:t>
            </a:r>
          </a:p>
          <a:p xmlns:a="http://schemas.openxmlformats.org/drawingml/2006/main">
            <a:r>
              <a:t>소극적 교육 — 가르치기 전에, 관찰하기</a:t>
            </a:r>
          </a:p>
          <a:p xmlns:a="http://schemas.openxmlformats.org/drawingml/2006/main">
            <a:r>
              <a:t>루소가 말한 가장 도발적인 개념. 가장 훌륭한 교육은 '아무것도 하지 않는 것처럼 보이는' 교육이다.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Negative Education</a:t>
            </a:r>
          </a:p>
          <a:p xmlns:a="http://schemas.openxmlformats.org/drawingml/2006/main">
            <a:r>
              <a:t>"가장 초기의 교육은 순전히 소극적이어야 한다. 덕이나 진리를 가르치는 데 있지 않고, 마음을 악덕으로부터, 정신을 오류로부터 지키는 데 있다."</a:t>
            </a:r>
          </a:p>
          <a:p xmlns:a="http://schemas.openxmlformats.org/drawingml/2006/main">
            <a:r>
              <a:t>— 『에밀』 제2권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"시간을 잃어라"</a:t>
            </a:r>
          </a:p>
          <a:p xmlns:a="http://schemas.openxmlformats.org/drawingml/2006/main">
            <a:r>
              <a:t>"가장 유용한 교육 규칙은 시간을 버는 것이 아니라, 시간을 잃는 것이다."</a:t>
            </a:r>
          </a:p>
          <a:p xmlns:a="http://schemas.openxmlformats.org/drawingml/2006/main">
            <a:r>
              <a:t>— 『에밀』 제2권</a:t>
            </a:r>
          </a:p>
          <a:p xmlns:a="http://schemas.openxmlformats.org/drawingml/2006/main">
            <a:r>
              <a:t>트레이닝에 적용하면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조급함이 가장 큰 위험</a:t>
            </a:r>
          </a:p>
          <a:p xmlns:a="http://schemas.openxmlformats.org/drawingml/2006/main">
            <a:r>
              <a:t>준비되지 않은 신입에게 억지로 주입하면, 텅빈 </a:t>
            </a:r>
          </a:p>
          <a:p xmlns:a="http://schemas.openxmlformats.org/drawingml/2006/main">
            <a:r>
              <a:t>암기에 그치고 오히려 진짜 이해를 방해한다.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먼저, 얼마나 이해했는지 관찰</a:t>
            </a:r>
          </a:p>
          <a:p xmlns:a="http://schemas.openxmlformats.org/drawingml/2006/main">
            <a:r>
              <a:t>가르치기 전에 트레이니가 무엇을, 어디까지 이해하고 있는지 관찰한다. 그 위에 필요한 것을 얹는다.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기다림이 가장 빠른 길</a:t>
            </a:r>
          </a:p>
          <a:p xmlns:a="http://schemas.openxmlformats.org/drawingml/2006/main">
            <a:r>
              <a:t>스스로 경험하고 성숙할 '시간'을 허락하는 것이, 멀리 보면 가장 빠른 성장의 길이다.</a:t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5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TRAINING PHILOSOPHY · 02</a:t>
            </a:r>
          </a:p>
          <a:p xmlns:a="http://schemas.openxmlformats.org/drawingml/2006/main">
            <a:r>
              <a:t>피드백 전에, 트레이니를 먼저 관찰하라</a:t>
            </a:r>
          </a:p>
          <a:p xmlns:a="http://schemas.openxmlformats.org/drawingml/2006/main">
            <a:r>
              <a:t>같은 피드백도 사람에 따라 독이 되고 약이 된다. 처방 전에 진단이 먼저다.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관찰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진단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맞춤 피드백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반응과 태도</a:t>
            </a:r>
          </a:p>
          <a:p xmlns:a="http://schemas.openxmlformats.org/drawingml/2006/main">
            <a:r>
              <a:t>2시간 뛰게 한 뒤 '할 만한가'를 본다. 결과보다 자세·의지가 먼저.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두려움의 위치</a:t>
            </a:r>
          </a:p>
          <a:p xmlns:a="http://schemas.openxmlformats.org/drawingml/2006/main">
            <a:r>
              <a:t>어디서 멈칫하는가 — 접근? 피치? 클로징? 두려움의 좌표를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속도</a:t>
            </a:r>
          </a:p>
          <a:p xmlns:a="http://schemas.openxmlformats.org/drawingml/2006/main">
            <a:r>
              <a:t>어제 준 피드백이 오늘 반영되는가. 성장 곡선을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강점과 결</a:t>
            </a:r>
          </a:p>
          <a:p xmlns:a="http://schemas.openxmlformats.org/drawingml/2006/main">
            <a:r>
              <a:t>리액션형인가, 논리형인가. 사람의 결에 맞춰 코칭 방식을 바꾼다.</a:t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6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TRAINING PHILOSOPHY · 02</a:t>
            </a:r>
          </a:p>
          <a:p xmlns:a="http://schemas.openxmlformats.org/drawingml/2006/main">
            <a:r>
              <a:t>피드백 전에, 트레이니를 먼저 관찰하라</a:t>
            </a:r>
          </a:p>
          <a:p xmlns:a="http://schemas.openxmlformats.org/drawingml/2006/main">
            <a:r>
              <a:t>같은 피드백도 사람에 따라 독이 되고 약이 된다. 처방 전에 진단이 먼저다.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관찰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진단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맞춤 피드백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반응과 태도</a:t>
            </a:r>
          </a:p>
          <a:p xmlns:a="http://schemas.openxmlformats.org/drawingml/2006/main">
            <a:r>
              <a:t>2시간 뛰게 한 뒤 '할 만한가'를 본다. 결과보다 자세·의지가 먼저.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두려움의 위치</a:t>
            </a:r>
          </a:p>
          <a:p xmlns:a="http://schemas.openxmlformats.org/drawingml/2006/main">
            <a:r>
              <a:t>어디서 멈칫하는가 — 접근? 피치? 클로징? 두려움의 좌표를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속도</a:t>
            </a:r>
          </a:p>
          <a:p xmlns:a="http://schemas.openxmlformats.org/drawingml/2006/main">
            <a:r>
              <a:t>어제 준 피드백이 오늘 반영되는가. 성장 곡선을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강점과 결</a:t>
            </a:r>
          </a:p>
          <a:p xmlns:a="http://schemas.openxmlformats.org/drawingml/2006/main">
            <a:r>
              <a:t>리액션형인가, 논리형인가. 사람의 결에 맞춰 코칭 방식을 바꾼다.</a:t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6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TRAINING PHILOSOPHY · 02</a:t>
            </a:r>
          </a:p>
          <a:p xmlns:a="http://schemas.openxmlformats.org/drawingml/2006/main">
            <a:r>
              <a:t>사람이 다르면, 트레이닝도 달라야 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필드에 나가기 전에, '이 사람이 어떤 사람인가'를 먼저 파악해야 한다. 관찰은 첫 만남이 아니라 그 이전부터 시작된다.</a:t>
            </a:r>
          </a:p>
          <a:p xmlns:a="http://schemas.openxmlformats.org/drawingml/2006/main">
            <a:r>
              <a:t>필드 전, 이렇게 준비한다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이력서를 꼼꼼히 읽자</a:t>
            </a:r>
          </a:p>
          <a:p xmlns:a="http://schemas.openxmlformats.org/drawingml/2006/main">
            <a:r>
              <a:t>경력·이전 직무·성향의 단서를 미리 읽는다. 어디서 일했고 무엇을 잘했는지가 트레이닝의 출발점이 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주변에 피드백을 요청하자</a:t>
            </a:r>
          </a:p>
          <a:p xmlns:a="http://schemas.openxmlformats.org/drawingml/2006/main">
            <a:r>
              <a:t>오너·클라이언트·교육자에게 '어떤 사람이었는지' 묻는다. 다양한 시선이 모이면 한 사람의 윤곽이 또렷해진다.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트레이닝을 미리 설계하자</a:t>
            </a:r>
          </a:p>
          <a:p xmlns:a="http://schemas.openxmlformats.org/drawingml/2006/main">
            <a:r>
              <a:t>필드에서 무엇을, 어떻게 가르칠지 사전에 고민한다. 준비된 관찰이 첫날의 시행착오를 줄인다.</a:t>
            </a:r>
          </a:p>
          <a:p xmlns:a="http://schemas.openxmlformats.org/drawingml/2006/main">
            <a:r>
              <a:t>06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7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TRAINING PHILOSOPHY  ·  03</a:t>
            </a:r>
          </a:p>
          <a:p xmlns:a="http://schemas.openxmlformats.org/drawingml/2006/main">
            <a:r>
              <a:t>신입에게 답이 있다</a:t>
            </a:r>
          </a:p>
          <a:p xmlns:a="http://schemas.openxmlformats.org/drawingml/2006/main">
            <a:r>
              <a:t>현장의 어려움은 현장에서 답을 찾는 것이 가장 좋다. 트레이닝도 마찬가지 — 신입에게 답이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STEP 1</a:t>
            </a:r>
          </a:p>
          <a:p xmlns:a="http://schemas.openxmlformats.org/drawingml/2006/main">
            <a:r>
              <a:t>어려워하는 부분 포착하기</a:t>
            </a:r>
          </a:p>
          <a:p xmlns:a="http://schemas.openxmlformats.org/drawingml/2006/main">
            <a:r>
              <a:t>신입이 이해 못 하거나 머뭇거리는 순간을 놓치지 않는다.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STEP 2</a:t>
            </a:r>
          </a:p>
          <a:p xmlns:a="http://schemas.openxmlformats.org/drawingml/2006/main">
            <a:r>
              <a:t>부드럽게 먼저 묻기</a:t>
            </a:r>
          </a:p>
          <a:p xmlns:a="http://schemas.openxmlformats.org/drawingml/2006/main">
            <a:r>
              <a:t>"왜 그 부분이 어렵고 이해가 안 되는지" 신입의 입으로 듣기 위해 질문해보자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STEP 3</a:t>
            </a:r>
          </a:p>
          <a:p xmlns:a="http://schemas.openxmlformats.org/drawingml/2006/main">
            <a:r>
              <a:t>솔직하게 피드백하기</a:t>
            </a:r>
          </a:p>
          <a:p xmlns:a="http://schemas.openxmlformats.org/drawingml/2006/main">
            <a:r>
              <a:t>들은 내용을 바탕으로 솔직하게, </a:t>
            </a:r>
          </a:p>
          <a:p xmlns:a="http://schemas.openxmlformats.org/drawingml/2006/main">
            <a:r>
              <a:t>함께 답을 찾아가는 시간을 갖는다.</a:t>
            </a:r>
          </a:p>
          <a:p xmlns:a="http://schemas.openxmlformats.org/drawingml/2006/main">
            <a:r>
              <a:t>07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8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트레이너의 전제 조건</a:t>
            </a:r>
          </a:p>
          <a:p xmlns:a="http://schemas.openxmlformats.org/drawingml/2006/main">
            <a:r>
              <a:t>효과적인 신입 트레이닝은 트레이너의 역량과 일관된 표준에서 시작된다. </a:t>
            </a:r>
          </a:p>
          <a:p xmlns:a="http://schemas.openxmlformats.org/drawingml/2006/main">
            <a:r>
              <a:t>마치 '기초군사훈련’처럼 </a:t>
            </a:r>
          </a:p>
          <a:p xmlns:a="http://schemas.openxmlformats.org/drawingml/2006/main">
            <a:r>
              <a:t>누구에게나 동일하게 적용 가능해야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트레이너의 세일즈 역량</a:t>
            </a:r>
          </a:p>
          <a:p xmlns:a="http://schemas.openxmlformats.org/drawingml/2006/main">
            <a:r>
              <a:t>주 1회이상 벨-공 세일즈 증명</a:t>
            </a:r>
          </a:p>
          <a:p xmlns:a="http://schemas.openxmlformats.org/drawingml/2006/main">
            <a:r>
              <a:t>4시간 안에 세일즈 가능</a:t>
            </a:r>
          </a:p>
          <a:p xmlns:a="http://schemas.openxmlformats.org/drawingml/2006/main">
            <a:r>
              <a:t>신입에게 쇼잉할 수 있는 실전 능력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쇼잉(Showing)의 중요성</a:t>
            </a:r>
          </a:p>
          <a:p xmlns:a="http://schemas.openxmlformats.org/drawingml/2006/main">
            <a:r>
              <a:t>가장 효과적인 교육은 '직접 보여주기'</a:t>
            </a:r>
          </a:p>
          <a:p xmlns:a="http://schemas.openxmlformats.org/drawingml/2006/main">
            <a:r>
              <a:t>신입은 실제 과정을 관찰하며 학습</a:t>
            </a:r>
          </a:p>
          <a:p xmlns:a="http://schemas.openxmlformats.org/drawingml/2006/main">
            <a:r>
              <a:t>트레이너의 실전 역량 = 교육의 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스탠다드(표준) 적용 원칙</a:t>
            </a:r>
          </a:p>
          <a:p xmlns:a="http://schemas.openxmlformats.org/drawingml/2006/main">
            <a:r>
              <a:t>일관된 표준을 모든 신입에게 동일하게</a:t>
            </a:r>
          </a:p>
          <a:p xmlns:a="http://schemas.openxmlformats.org/drawingml/2006/main">
            <a:r>
              <a:t>개인 맞춤보다 기본 패턴 통일 우선</a:t>
            </a:r>
          </a:p>
          <a:p xmlns:a="http://schemas.openxmlformats.org/drawingml/2006/main">
            <a:r>
              <a:t>나가면 반드시 세일즈 가능한 기본기</a:t>
            </a:r>
          </a:p>
          <a:p xmlns:a="http://schemas.openxmlformats.org/drawingml/2006/main">
            <a:r>
              <a:t>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9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트레이너의 전제 조건</a:t>
            </a:r>
          </a:p>
          <a:p xmlns:a="http://schemas.openxmlformats.org/drawingml/2006/main">
            <a:r>
              <a:t>효과적인 신입 트레이닝은 트레이너의 역량과 일관된 표준에서 시작된다. </a:t>
            </a:r>
          </a:p>
          <a:p xmlns:a="http://schemas.openxmlformats.org/drawingml/2006/main">
            <a:r>
              <a:t>마치 '기초군사훈련’처럼 </a:t>
            </a:r>
          </a:p>
          <a:p xmlns:a="http://schemas.openxmlformats.org/drawingml/2006/main">
            <a:r>
              <a:t>누구에게나 동일하게 적용 가능해야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트레이너의 세일즈 역량</a:t>
            </a:r>
          </a:p>
          <a:p xmlns:a="http://schemas.openxmlformats.org/drawingml/2006/main">
            <a:r>
              <a:t>주 1회이상 벨-공 세일즈 증명</a:t>
            </a:r>
          </a:p>
          <a:p xmlns:a="http://schemas.openxmlformats.org/drawingml/2006/main">
            <a:r>
              <a:t>4시간 안에 세일즈 가능</a:t>
            </a:r>
          </a:p>
          <a:p xmlns:a="http://schemas.openxmlformats.org/drawingml/2006/main">
            <a:r>
              <a:t>신입에게 쇼잉할 수 있는 실전 능력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쇼잉(Showing)의 중요성</a:t>
            </a:r>
          </a:p>
          <a:p xmlns:a="http://schemas.openxmlformats.org/drawingml/2006/main">
            <a:r>
              <a:t>가장 효과적인 교육은 '직접 보여주기'</a:t>
            </a:r>
          </a:p>
          <a:p xmlns:a="http://schemas.openxmlformats.org/drawingml/2006/main">
            <a:r>
              <a:t>신입은 실제 과정을 관찰하며 학습</a:t>
            </a:r>
          </a:p>
          <a:p xmlns:a="http://schemas.openxmlformats.org/drawingml/2006/main">
            <a:r>
              <a:t>트레이너의 실전 역량 = 교육의 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스탠다드(표준) 적용 원칙</a:t>
            </a:r>
          </a:p>
          <a:p xmlns:a="http://schemas.openxmlformats.org/drawingml/2006/main">
            <a:r>
              <a:t>일관된 표준을 모든 신입에게 동일하게</a:t>
            </a:r>
          </a:p>
          <a:p xmlns:a="http://schemas.openxmlformats.org/drawingml/2006/main">
            <a:r>
              <a:t>개인 맞춤보다 기본 패턴 통일 우선</a:t>
            </a:r>
          </a:p>
          <a:p xmlns:a="http://schemas.openxmlformats.org/drawingml/2006/main">
            <a:r>
              <a:t>나가면 반드시 세일즈 가능한 기본기</a:t>
            </a:r>
          </a:p>
          <a:p xmlns:a="http://schemas.openxmlformats.org/drawingml/2006/main">
            <a:r>
              <a:t>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9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>DAY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첫날은</a:t>
            </a:r>
          </a:p>
          <a:p xmlns:a="http://schemas.openxmlformats.org/drawingml/2006/main">
            <a:r>
              <a:t>경험의 날</a:t>
            </a:r>
          </a:p>
          <a:p xmlns:a="http://schemas.openxmlformats.org/drawingml/2006/main">
            <a:r>
              <a:t>성과보다 적응과 관찰. 신입이 '필드는 할 만하다'를 느끼게 하는 것이 첫날의 유일한 목표, 신입이 마음껏 시도하게 해주는 ”안전벨트”같은 리더십 발휘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반응과 태도 확인</a:t>
            </a:r>
          </a:p>
          <a:p xmlns:a="http://schemas.openxmlformats.org/drawingml/2006/main">
            <a:r>
              <a:t>세일즈 결과보다 반응·태도가 중요. 2시간쯤 뛰게 한 뒤 '할 만한지' 체크하고 기본 자세와 의지를 파악한다.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트레이너의 쇼잉 집중</a:t>
            </a:r>
          </a:p>
          <a:p xmlns:a="http://schemas.openxmlformats.org/drawingml/2006/main">
            <a:r>
              <a:t>신입보다 자신의 세일즈에 집중해 실제 과정을 직접 보여준다. 첫날은 곧 '쇼잉의 날'.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 제거 · 프리엠티브</a:t>
            </a:r>
          </a:p>
          <a:p xmlns:a="http://schemas.openxmlformats.org/drawingml/2006/main">
            <a:r>
              <a:t>필드 두려움을 없애고 프리엠티브를 충분히 제공한다. ‘필드가 재미있다, 해볼만 하다'를 느끼게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긍정적 첫 경험</a:t>
            </a:r>
          </a:p>
          <a:p xmlns:a="http://schemas.openxmlformats.org/drawingml/2006/main">
            <a:r>
              <a:t>결과 압박 대신 환경 적응을 돕는다. 다음 날을 위한 심리적 준비를 만든다.</a:t>
            </a:r>
          </a:p>
          <a:p xmlns:a="http://schemas.openxmlformats.org/drawingml/2006/main">
            <a:r>
              <a:t>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10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>DAY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첫날은</a:t>
            </a:r>
          </a:p>
          <a:p xmlns:a="http://schemas.openxmlformats.org/drawingml/2006/main">
            <a:r>
              <a:t>경험의 날</a:t>
            </a:r>
          </a:p>
          <a:p xmlns:a="http://schemas.openxmlformats.org/drawingml/2006/main">
            <a:r>
              <a:t>성과보다 적응과 관찰. 신입이 '필드는 할 만하다'를 느끼게 하는 것이 첫날의 유일한 목표, 신입이 마음껏 시도하게 해주는 ”안전벨트”같은 리더십 발휘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반응과 태도 확인</a:t>
            </a:r>
          </a:p>
          <a:p xmlns:a="http://schemas.openxmlformats.org/drawingml/2006/main">
            <a:r>
              <a:t>세일즈 결과보다 반응·태도가 중요. 2시간쯤 뛰게 한 뒤 '할 만한지' 체크하고 기본 자세와 의지를 파악한다.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트레이너의 쇼잉 집중</a:t>
            </a:r>
          </a:p>
          <a:p xmlns:a="http://schemas.openxmlformats.org/drawingml/2006/main">
            <a:r>
              <a:t>신입보다 자신의 세일즈에 집중해 실제 과정을 직접 보여준다. 첫날은 곧 '쇼잉의 날'.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 제거 · 프리엠티브</a:t>
            </a:r>
          </a:p>
          <a:p xmlns:a="http://schemas.openxmlformats.org/drawingml/2006/main">
            <a:r>
              <a:t>필드 두려움을 없애고 프리엠티브를 충분히 제공한다. ‘필드가 재미있다, 해볼만 하다'를 느끼게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긍정적 첫 경험</a:t>
            </a:r>
          </a:p>
          <a:p xmlns:a="http://schemas.openxmlformats.org/drawingml/2006/main">
            <a:r>
              <a:t>결과 압박 대신 환경 적응을 돕는다. 다음 날을 위한 심리적 준비를 만든다.</a:t>
            </a:r>
          </a:p>
          <a:p xmlns:a="http://schemas.openxmlformats.org/drawingml/2006/main">
            <a:r>
              <a:t>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10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>DAY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첫날은</a:t>
            </a:r>
          </a:p>
          <a:p xmlns:a="http://schemas.openxmlformats.org/drawingml/2006/main">
            <a:r>
              <a:t>경험의 날</a:t>
            </a:r>
          </a:p>
          <a:p xmlns:a="http://schemas.openxmlformats.org/drawingml/2006/main">
            <a:r>
              <a:t>성과보다 적응과 관찰. 신입이 '필드는 할 만하다'를 느끼게 하는 것이 첫날의 유일한 목표, 신입이 마음껏 시도하게 해주는 ”안전벨트”같은 리더십 발휘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반응과 태도 확인</a:t>
            </a:r>
          </a:p>
          <a:p xmlns:a="http://schemas.openxmlformats.org/drawingml/2006/main">
            <a:r>
              <a:t>세일즈 결과보다 반응·태도가 중요. 2시간쯤 뛰게 한 뒤 '할 만한지' 체크하고 기본 자세와 의지를 파악한다.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트레이너의 쇼잉 집중</a:t>
            </a:r>
          </a:p>
          <a:p xmlns:a="http://schemas.openxmlformats.org/drawingml/2006/main">
            <a:r>
              <a:t>신입보다 자신의 세일즈에 집중해 실제 과정을 직접 보여준다. 첫날은 곧 '쇼잉의 날'.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 제거 · 프리엠티브</a:t>
            </a:r>
          </a:p>
          <a:p xmlns:a="http://schemas.openxmlformats.org/drawingml/2006/main">
            <a:r>
              <a:t>필드 두려움을 없애고 프리엠티브를 충분히 제공한다. ‘필드가 재미있다, 해볼만 하다'를 느끼게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긍정적 첫 경험</a:t>
            </a:r>
          </a:p>
          <a:p xmlns:a="http://schemas.openxmlformats.org/drawingml/2006/main">
            <a:r>
              <a:t>결과 압박 대신 환경 적응을 돕는다. 다음 날을 위한 심리적 준비를 만든다.</a:t>
            </a:r>
          </a:p>
          <a:p xmlns:a="http://schemas.openxmlformats.org/drawingml/2006/main">
            <a:r>
              <a:t>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10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둘째 날은</a:t>
            </a:r>
          </a:p>
          <a:p xmlns:a="http://schemas.openxmlformats.org/drawingml/2006/main">
            <a:r>
              <a:t>학습의 날</a:t>
            </a:r>
          </a:p>
          <a:p xmlns:a="http://schemas.openxmlformats.org/drawingml/2006/main">
            <a:r>
              <a:t>첫날이 경험이었다면, 둘째 날은 학습이다. 신입이 반드시 세일즈 1개 이상을 달성하게 하는 가장 중요한 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첫 세일즈 달성 (매우 중요)</a:t>
            </a:r>
          </a:p>
          <a:p xmlns:a="http://schemas.openxmlformats.org/drawingml/2006/main">
            <a:r>
              <a:t>반드시 1개 이상을 함께 만들어낸다. 신입이 직접 성공을 체감하게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학습력 · 성장성 체크</a:t>
            </a:r>
          </a:p>
          <a:p xmlns:a="http://schemas.openxmlformats.org/drawingml/2006/main">
            <a:r>
              <a:t>학습 능력과 성장 가능성을 평가하고, 첫날 대비 개선점을 짚어 피드백한다.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트레이너와 신입의 균형</a:t>
            </a:r>
          </a:p>
          <a:p xmlns:a="http://schemas.openxmlformats.org/drawingml/2006/main">
            <a:r>
              <a:t>신입의 세일즈가 우선이지만 트레이너도 성과가 필요. 함께 내는 것이 이상적.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둘째 날의 의미</a:t>
            </a:r>
          </a:p>
          <a:p xmlns:a="http://schemas.openxmlformats.org/drawingml/2006/main">
            <a:r>
              <a:t>경험에서 '결과에 대한 학습'으로. 신입의 실질 역량을 가늠하는 시점.</a:t>
            </a:r>
          </a:p>
          <a:p xmlns:a="http://schemas.openxmlformats.org/drawingml/2006/main">
            <a:r>
              <a:t>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11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둘째 날은</a:t>
            </a:r>
          </a:p>
          <a:p xmlns:a="http://schemas.openxmlformats.org/drawingml/2006/main">
            <a:r>
              <a:t>학습의 날</a:t>
            </a:r>
          </a:p>
          <a:p xmlns:a="http://schemas.openxmlformats.org/drawingml/2006/main">
            <a:r>
              <a:t>첫날이 경험이었다면, 둘째 날은 학습이다. 신입이 반드시 세일즈 1개 이상을 달성하게 하는 가장 중요한 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첫 세일즈 달성 (매우 중요)</a:t>
            </a:r>
          </a:p>
          <a:p xmlns:a="http://schemas.openxmlformats.org/drawingml/2006/main">
            <a:r>
              <a:t>반드시 1개 이상을 함께 만들어낸다. 신입이 직접 성공을 체감하게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학습력 · 성장성 체크</a:t>
            </a:r>
          </a:p>
          <a:p xmlns:a="http://schemas.openxmlformats.org/drawingml/2006/main">
            <a:r>
              <a:t>학습 능력과 성장 가능성을 평가하고, 첫날 대비 개선점을 짚어 피드백한다.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트레이너와 신입의 균형</a:t>
            </a:r>
          </a:p>
          <a:p xmlns:a="http://schemas.openxmlformats.org/drawingml/2006/main">
            <a:r>
              <a:t>신입의 세일즈가 우선이지만 트레이너도 성과가 필요. 함께 내는 것이 이상적.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둘째 날의 의미</a:t>
            </a:r>
          </a:p>
          <a:p xmlns:a="http://schemas.openxmlformats.org/drawingml/2006/main">
            <a:r>
              <a:t>경험에서 '결과에 대한 학습'으로. 신입의 실질 역량을 가늠하는 시점.</a:t>
            </a:r>
          </a:p>
          <a:p xmlns:a="http://schemas.openxmlformats.org/drawingml/2006/main">
            <a:r>
              <a:t>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11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>DAY 3 · 판단의 날</a:t>
            </a:r>
          </a:p>
          <a:p xmlns:a="http://schemas.openxmlformats.org/drawingml/2006/main">
            <a:r>
              <a:t>셋째 날, Stay인가 Qualifying인가 (반드시 오너와 상의)</a:t>
            </a:r>
          </a:p>
          <a:p xmlns:a="http://schemas.openxmlformats.org/drawingml/2006/main">
            <a:r>
              <a:t>전략적 사이트 선택과 시간 확보로 '제로(0)'를 막고, 3일간의 성과 패턴으로 향후 가능성을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전략적 사이트 선택</a:t>
            </a:r>
          </a:p>
          <a:p xmlns:a="http://schemas.openxmlformats.org/drawingml/2006/main">
            <a:r>
              <a:t>신입이 벨을 칠 수 있는 사이트를 전략적으로 고르고 스케줄을 미리 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제로(0) 방지 전략</a:t>
            </a:r>
          </a:p>
          <a:p xmlns:a="http://schemas.openxmlformats.org/drawingml/2006/main">
            <a:r>
              <a:t>제로는 절대 금물. 시간 확보는 필수, 성공 가능성 높은 필드를 찾는다.</a:t>
            </a:r>
          </a:p>
          <a:p xmlns:a="http://schemas.openxmlformats.org/drawingml/2006/main">
            <a:r>
              <a:t>3일간 성과 → 판단 기준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 – 1 – 2</a:t>
            </a:r>
          </a:p>
          <a:p xmlns:a="http://schemas.openxmlformats.org/drawingml/2006/main">
            <a:r>
              <a:t>가장 이상적 · 리더로 육성 가능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3일간 2개</a:t>
            </a:r>
          </a:p>
          <a:p xmlns:a="http://schemas.openxmlformats.org/drawingml/2006/main">
            <a:r>
              <a:t>로드트립 제안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3일간 3개</a:t>
            </a:r>
          </a:p>
          <a:p xmlns:a="http://schemas.openxmlformats.org/drawingml/2006/main">
            <a:r>
              <a:t>의지와 센스 모두 보유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 – 0 – 0</a:t>
            </a:r>
          </a:p>
          <a:p xmlns:a="http://schemas.openxmlformats.org/drawingml/2006/main">
            <a:r>
              <a:t>의지·센스 부족 → 빠른 Qualifying</a:t>
            </a:r>
          </a:p>
          <a:p xmlns:a="http://schemas.openxmlformats.org/drawingml/2006/main">
            <a:r>
              <a:t>단, 모든 판단은 Case by Case — 기준 위에서 유연하게.</a:t>
            </a:r>
          </a:p>
          <a:p xmlns:a="http://schemas.openxmlformats.org/drawingml/2006/main">
            <a:r>
              <a:t>11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12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>DAY 3 · 판단의 날</a:t>
            </a:r>
          </a:p>
          <a:p xmlns:a="http://schemas.openxmlformats.org/drawingml/2006/main">
            <a:r>
              <a:t>셋째 날, Stay인가 Qualifying인가 (반드시 오너와 상의)</a:t>
            </a:r>
          </a:p>
          <a:p xmlns:a="http://schemas.openxmlformats.org/drawingml/2006/main">
            <a:r>
              <a:t>전략적 사이트 선택과 시간 확보로 '제로(0)'를 막고, 3일간의 성과 패턴으로 향후 가능성을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전략적 사이트 선택</a:t>
            </a:r>
          </a:p>
          <a:p xmlns:a="http://schemas.openxmlformats.org/drawingml/2006/main">
            <a:r>
              <a:t>신입이 벨을 칠 수 있는 사이트를 전략적으로 고르고 스케줄을 미리 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제로(0) 방지 전략</a:t>
            </a:r>
          </a:p>
          <a:p xmlns:a="http://schemas.openxmlformats.org/drawingml/2006/main">
            <a:r>
              <a:t>제로는 절대 금물. 시간 확보는 필수, 성공 가능성 높은 필드를 찾는다.</a:t>
            </a:r>
          </a:p>
          <a:p xmlns:a="http://schemas.openxmlformats.org/drawingml/2006/main">
            <a:r>
              <a:t>3일간 성과 → 판단 기준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 – 1 – 2</a:t>
            </a:r>
          </a:p>
          <a:p xmlns:a="http://schemas.openxmlformats.org/drawingml/2006/main">
            <a:r>
              <a:t>가장 이상적 · 리더로 육성 가능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3일간 2개</a:t>
            </a:r>
          </a:p>
          <a:p xmlns:a="http://schemas.openxmlformats.org/drawingml/2006/main">
            <a:r>
              <a:t>로드트립 제안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3일간 3개</a:t>
            </a:r>
          </a:p>
          <a:p xmlns:a="http://schemas.openxmlformats.org/drawingml/2006/main">
            <a:r>
              <a:t>의지와 센스 모두 보유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 – 0 – 0</a:t>
            </a:r>
          </a:p>
          <a:p xmlns:a="http://schemas.openxmlformats.org/drawingml/2006/main">
            <a:r>
              <a:t>의지·센스 부족 → 빠른 Qualifying</a:t>
            </a:r>
          </a:p>
          <a:p xmlns:a="http://schemas.openxmlformats.org/drawingml/2006/main">
            <a:r>
              <a:t>단, 모든 판단은 Case by Case — 기준 위에서 유연하게.</a:t>
            </a:r>
          </a:p>
          <a:p xmlns:a="http://schemas.openxmlformats.org/drawingml/2006/main">
            <a:r>
              <a:t>11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12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5 Step 트레이닝</a:t>
            </a:r>
          </a:p>
          <a:p xmlns:a="http://schemas.openxmlformats.org/drawingml/2006/main">
            <a:r>
              <a:t>주목부터 재확인까지, 한 호흡으로 이어지는 표준 세일즈 흐름.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Intro</a:t>
            </a:r>
          </a:p>
          <a:p xmlns:a="http://schemas.openxmlformats.org/drawingml/2006/main">
            <a:r>
              <a:t>주목시키기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'주목'. 시선과 발걸음을 멈춰 세운다. 적극적 리액션과 아이스브레이크로 '대화하고 싶은 분위기'를 만들고 경계심을 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Short Story</a:t>
            </a:r>
          </a:p>
          <a:p xmlns:a="http://schemas.openxmlformats.org/drawingml/2006/main">
            <a:r>
              <a:t>짧고 명확한 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짧은 피치 + Yes Question으로 긍정 응답률을 올린다. WOW 포인트를 활용해 흥미를 끌어올린다.</a:t>
            </a:r>
          </a:p>
          <a:p xmlns:a="http://schemas.openxmlformats.org/drawingml/2006/main">
            <a:r>
              <a:t>이때  Tone of Voice와 Body Language 를 상황에 맞게 활용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Presentation</a:t>
            </a:r>
          </a:p>
          <a:p xmlns:a="http://schemas.openxmlformats.org/drawingml/2006/main">
            <a:r>
              <a:t>해결책 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액션: 해결책으로 구호물품을 직접 보여준다. 효과: 구매 욕구를 최대치로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Closing · TAAIS</a:t>
            </a:r>
          </a:p>
          <a:p xmlns:a="http://schemas.openxmlformats.org/drawingml/2006/main">
            <a:r>
              <a:t>구매를 전제로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Trial(항상 시도) · Assumptive(구매 전제 대화) · Alternative · Indifference · Silence(선택권 부여와 침묵 활용).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Rehash</a:t>
            </a:r>
          </a:p>
          <a:p xmlns:a="http://schemas.openxmlformats.org/drawingml/2006/main">
            <a:r>
              <a:t>거래정보 재확인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거래 정보를 다시 확인해 취소율을 낮추고, 구매 만족도를 한 번 더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참고 · 5 Step 外</a:t>
            </a:r>
          </a:p>
          <a:p xmlns:a="http://schemas.openxmlformats.org/drawingml/2006/main">
            <a:r>
              <a:t>쿠션 멘트  피치 전반에 꼭 필요한 핵심 요소.  "바쁘시니까", "이미 좋은 일 많이 하시겠지만" 등으로 거절 확률을 낮춘다.</a:t>
            </a:r>
          </a:p>
          <a:p xmlns:a="http://schemas.openxmlformats.org/drawingml/2006/main">
            <a:r>
              <a:t>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13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5 Step 트레이닝</a:t>
            </a:r>
          </a:p>
          <a:p xmlns:a="http://schemas.openxmlformats.org/drawingml/2006/main">
            <a:r>
              <a:t>주목부터 재확인까지, 한 호흡으로 이어지는 표준 세일즈 흐름.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Intro</a:t>
            </a:r>
          </a:p>
          <a:p xmlns:a="http://schemas.openxmlformats.org/drawingml/2006/main">
            <a:r>
              <a:t>주목시키기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'주목'. 시선과 발걸음을 멈춰 세운다. 적극적 리액션과 아이스브레이크로 '대화하고 싶은 분위기'를 만들고 경계심을 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Short Story</a:t>
            </a:r>
          </a:p>
          <a:p xmlns:a="http://schemas.openxmlformats.org/drawingml/2006/main">
            <a:r>
              <a:t>짧고 명확한 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짧은 피치 + Yes Question으로 긍정 응답률을 올린다. WOW 포인트를 활용해 흥미를 끌어올린다.</a:t>
            </a:r>
          </a:p>
          <a:p xmlns:a="http://schemas.openxmlformats.org/drawingml/2006/main">
            <a:r>
              <a:t>이때  Tone of Voice와 Body Language 를 상황에 맞게 활용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Presentation</a:t>
            </a:r>
          </a:p>
          <a:p xmlns:a="http://schemas.openxmlformats.org/drawingml/2006/main">
            <a:r>
              <a:t>해결책 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액션: 해결책으로 구호물품을 직접 보여준다. 효과: 구매 욕구를 최대치로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Closing · TAAIS</a:t>
            </a:r>
          </a:p>
          <a:p xmlns:a="http://schemas.openxmlformats.org/drawingml/2006/main">
            <a:r>
              <a:t>구매를 전제로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Trial(항상 시도) · Assumptive(구매 전제 대화) · Alternative · Indifference · Silence(선택권 부여와 침묵 활용).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Rehash</a:t>
            </a:r>
          </a:p>
          <a:p xmlns:a="http://schemas.openxmlformats.org/drawingml/2006/main">
            <a:r>
              <a:t>거래정보 재확인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거래 정보를 다시 확인해 취소율을 낮추고, 구매 만족도를 한 번 더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참고 · 5 Step 外</a:t>
            </a:r>
          </a:p>
          <a:p xmlns:a="http://schemas.openxmlformats.org/drawingml/2006/main">
            <a:r>
              <a:t>쿠션 멘트  피치 전반에 꼭 필요한 핵심 요소.  "바쁘시니까", "이미 좋은 일 많이 하시겠지만" 등으로 거절 확률을 낮춘다.</a:t>
            </a:r>
          </a:p>
          <a:p xmlns:a="http://schemas.openxmlformats.org/drawingml/2006/main">
            <a:r>
              <a:t>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13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5 Step 트레이닝</a:t>
            </a:r>
          </a:p>
          <a:p xmlns:a="http://schemas.openxmlformats.org/drawingml/2006/main">
            <a:r>
              <a:t>주목부터 재확인까지, 한 호흡으로 이어지는 표준 세일즈 흐름.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Intro</a:t>
            </a:r>
          </a:p>
          <a:p xmlns:a="http://schemas.openxmlformats.org/drawingml/2006/main">
            <a:r>
              <a:t>주목시키기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'주목'. 시선과 발걸음을 멈춰 세운다. 적극적 리액션과 아이스브레이크로 '대화하고 싶은 분위기'를 만들고 경계심을 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Short Story</a:t>
            </a:r>
          </a:p>
          <a:p xmlns:a="http://schemas.openxmlformats.org/drawingml/2006/main">
            <a:r>
              <a:t>짧고 명확한 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짧은 피치 + Yes Question으로 긍정 응답률을 올린다. WOW 포인트를 활용해 흥미를 끌어올린다.</a:t>
            </a:r>
          </a:p>
          <a:p xmlns:a="http://schemas.openxmlformats.org/drawingml/2006/main">
            <a:r>
              <a:t>이때  Tone of Voice와 Body Language 를 상황에 맞게 활용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Presentation</a:t>
            </a:r>
          </a:p>
          <a:p xmlns:a="http://schemas.openxmlformats.org/drawingml/2006/main">
            <a:r>
              <a:t>해결책 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액션: 해결책으로 구호물품을 직접 보여준다. 효과: 구매 욕구를 최대치로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Closing · TAAIS</a:t>
            </a:r>
          </a:p>
          <a:p xmlns:a="http://schemas.openxmlformats.org/drawingml/2006/main">
            <a:r>
              <a:t>구매를 전제로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Trial(항상 시도) · Assumptive(구매 전제 대화) · Alternative · Indifference · Silence(선택권 부여와 침묵 활용).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Rehash</a:t>
            </a:r>
          </a:p>
          <a:p xmlns:a="http://schemas.openxmlformats.org/drawingml/2006/main">
            <a:r>
              <a:t>거래정보 재확인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거래 정보를 다시 확인해 취소율을 낮추고, 구매 만족도를 한 번 더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참고 · 5 Step 外</a:t>
            </a:r>
          </a:p>
          <a:p xmlns:a="http://schemas.openxmlformats.org/drawingml/2006/main">
            <a:r>
              <a:t>쿠션 멘트  피치 전반에 꼭 필요한 핵심 요소.  "바쁘시니까", "이미 좋은 일 많이 하시겠지만" 등으로 거절 확률을 낮춘다.</a:t>
            </a:r>
          </a:p>
          <a:p xmlns:a="http://schemas.openxmlformats.org/drawingml/2006/main">
            <a:r>
              <a:t>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13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5 Step 트레이닝</a:t>
            </a:r>
          </a:p>
          <a:p xmlns:a="http://schemas.openxmlformats.org/drawingml/2006/main">
            <a:r>
              <a:t>주목부터 재확인까지, 한 호흡으로 이어지는 표준 세일즈 흐름.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Intro</a:t>
            </a:r>
          </a:p>
          <a:p xmlns:a="http://schemas.openxmlformats.org/drawingml/2006/main">
            <a:r>
              <a:t>주목시키기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'주목'. 시선과 발걸음을 멈춰 세운다. 적극적 리액션과 아이스브레이크로 '대화하고 싶은 분위기'를 만들고 경계심을 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Short Story</a:t>
            </a:r>
          </a:p>
          <a:p xmlns:a="http://schemas.openxmlformats.org/drawingml/2006/main">
            <a:r>
              <a:t>짧고 명확한 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짧은 피치 + Yes Question으로 긍정 응답률을 올린다. WOW 포인트를 활용해 흥미를 끌어올린다.</a:t>
            </a:r>
          </a:p>
          <a:p xmlns:a="http://schemas.openxmlformats.org/drawingml/2006/main">
            <a:r>
              <a:t>이때  Tone of Voice와 Body Language 를 상황에 맞게 활용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Presentation</a:t>
            </a:r>
          </a:p>
          <a:p xmlns:a="http://schemas.openxmlformats.org/drawingml/2006/main">
            <a:r>
              <a:t>해결책 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액션: 해결책으로 구호물품을 직접 보여준다. 효과: 구매 욕구를 최대치로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Closing · TAAIS</a:t>
            </a:r>
          </a:p>
          <a:p xmlns:a="http://schemas.openxmlformats.org/drawingml/2006/main">
            <a:r>
              <a:t>구매를 전제로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Trial(항상 시도) · Assumptive(구매 전제 대화) · Alternative · Indifference · Silence(선택권 부여와 침묵 활용).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Rehash</a:t>
            </a:r>
          </a:p>
          <a:p xmlns:a="http://schemas.openxmlformats.org/drawingml/2006/main">
            <a:r>
              <a:t>거래정보 재확인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거래 정보를 다시 확인해 취소율을 낮추고, 구매 만족도를 한 번 더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참고 · 5 Step 外</a:t>
            </a:r>
          </a:p>
          <a:p xmlns:a="http://schemas.openxmlformats.org/drawingml/2006/main">
            <a:r>
              <a:t>쿠션 멘트  피치 전반에 꼭 필요한 핵심 요소.  "바쁘시니까", "이미 좋은 일 많이 하시겠지만" 등으로 거절 확률을 낮춘다.</a:t>
            </a:r>
          </a:p>
          <a:p xmlns:a="http://schemas.openxmlformats.org/drawingml/2006/main">
            <a:r>
              <a:t>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13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5 Step 트레이닝</a:t>
            </a:r>
          </a:p>
          <a:p xmlns:a="http://schemas.openxmlformats.org/drawingml/2006/main">
            <a:r>
              <a:t>주목부터 재확인까지, 한 호흡으로 이어지는 표준 세일즈 흐름.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Intro</a:t>
            </a:r>
          </a:p>
          <a:p xmlns:a="http://schemas.openxmlformats.org/drawingml/2006/main">
            <a:r>
              <a:t>주목시키기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'주목'. 시선과 발걸음을 멈춰 세운다. 적극적 리액션과 아이스브레이크로 '대화하고 싶은 분위기'를 만들고 경계심을 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Short Story</a:t>
            </a:r>
          </a:p>
          <a:p xmlns:a="http://schemas.openxmlformats.org/drawingml/2006/main">
            <a:r>
              <a:t>짧고 명확한 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짧은 피치 + Yes Question으로 긍정 응답률을 올린다. WOW 포인트를 활용해 흥미를 끌어올린다.</a:t>
            </a:r>
          </a:p>
          <a:p xmlns:a="http://schemas.openxmlformats.org/drawingml/2006/main">
            <a:r>
              <a:t>이때  Tone of Voice와 Body Language 를 상황에 맞게 활용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Presentation</a:t>
            </a:r>
          </a:p>
          <a:p xmlns:a="http://schemas.openxmlformats.org/drawingml/2006/main">
            <a:r>
              <a:t>해결책 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액션: 해결책으로 구호물품을 직접 보여준다. 효과: 구매 욕구를 최대치로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Closing · TAAIS</a:t>
            </a:r>
          </a:p>
          <a:p xmlns:a="http://schemas.openxmlformats.org/drawingml/2006/main">
            <a:r>
              <a:t>구매를 전제로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Trial(항상 시도) · Assumptive(구매 전제 대화) · Alternative · Indifference · Silence(선택권 부여와 침묵 활용).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Rehash</a:t>
            </a:r>
          </a:p>
          <a:p xmlns:a="http://schemas.openxmlformats.org/drawingml/2006/main">
            <a:r>
              <a:t>거래정보 재확인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거래 정보를 다시 확인해 취소율을 낮추고, 구매 만족도를 한 번 더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참고 · 5 Step 外</a:t>
            </a:r>
          </a:p>
          <a:p xmlns:a="http://schemas.openxmlformats.org/drawingml/2006/main">
            <a:r>
              <a:t>쿠션 멘트  피치 전반에 꼭 필요한 핵심 요소.  "바쁘시니까", "이미 좋은 일 많이 하시겠지만" 등으로 거절 확률을 낮춘다.</a:t>
            </a:r>
          </a:p>
          <a:p xmlns:a="http://schemas.openxmlformats.org/drawingml/2006/main">
            <a:r>
              <a:t>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13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개인별 맞춤 피드백</a:t>
            </a:r>
          </a:p>
          <a:p xmlns:a="http://schemas.openxmlformats.org/drawingml/2006/main">
            <a:r>
              <a:t>관찰로 약점을 진단한 뒤, 그 사람에게 맞는 처방을 내린다. — 관찰이 먼저, 피드백은 그 다음.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리액션이 약하다</a:t>
            </a:r>
          </a:p>
          <a:p xmlns:a="http://schemas.openxmlformats.org/drawingml/2006/main">
            <a:r>
              <a:t>리액션 강화</a:t>
            </a:r>
          </a:p>
          <a:p xmlns:a="http://schemas.openxmlformats.org/drawingml/2006/main">
            <a:r>
              <a:t>표정·제스처 훈련</a:t>
            </a:r>
          </a:p>
          <a:p xmlns:a="http://schemas.openxmlformats.org/drawingml/2006/main">
            <a:r>
              <a:t>고객 반응에 즉각 대응</a:t>
            </a:r>
          </a:p>
          <a:p xmlns:a="http://schemas.openxmlformats.org/drawingml/2006/main">
            <a:r>
              <a:t>임펄스·바디랭귀지</a:t>
            </a:r>
          </a:p>
          <a:p xmlns:a="http://schemas.openxmlformats.org/drawingml/2006/main">
            <a:r>
              <a:t>롤플레이 반복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부스 연결이 약하다</a:t>
            </a:r>
          </a:p>
          <a:p xmlns:a="http://schemas.openxmlformats.org/drawingml/2006/main">
            <a:r>
              <a:t>스트릿 스킬</a:t>
            </a:r>
          </a:p>
          <a:p xmlns:a="http://schemas.openxmlformats.org/drawingml/2006/main">
            <a:r>
              <a:t>접근 방법 다양화</a:t>
            </a:r>
          </a:p>
          <a:p xmlns:a="http://schemas.openxmlformats.org/drawingml/2006/main">
            <a:r>
              <a:t>첫인상 개선 훈련</a:t>
            </a:r>
          </a:p>
          <a:p xmlns:a="http://schemas.openxmlformats.org/drawingml/2006/main">
            <a:r>
              <a:t>거절 극복 기술</a:t>
            </a:r>
          </a:p>
          <a:p xmlns:a="http://schemas.openxmlformats.org/drawingml/2006/main">
            <a:r>
              <a:t>고객 유형별 접근법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클로징이 약하다</a:t>
            </a:r>
          </a:p>
          <a:p xmlns:a="http://schemas.openxmlformats.org/drawingml/2006/main">
            <a:r>
              <a:t>클로징 강화</a:t>
            </a:r>
          </a:p>
          <a:p xmlns:a="http://schemas.openxmlformats.org/drawingml/2006/main">
            <a:r>
              <a:t>TAAIS 집중 훈련</a:t>
            </a:r>
          </a:p>
          <a:p xmlns:a="http://schemas.openxmlformats.org/drawingml/2006/main">
            <a:r>
              <a:t>Buying sign 포착</a:t>
            </a:r>
          </a:p>
          <a:p xmlns:a="http://schemas.openxmlformats.org/drawingml/2006/main">
            <a:r>
              <a:t>침묵·대안 제시 기술</a:t>
            </a:r>
          </a:p>
          <a:p xmlns:a="http://schemas.openxmlformats.org/drawingml/2006/main">
            <a:r>
              <a:t>클로징 타이밍 습득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이미 잘한다</a:t>
            </a:r>
          </a:p>
          <a:p xmlns:a="http://schemas.openxmlformats.org/drawingml/2006/main">
            <a:r>
              <a:t>목표 상향</a:t>
            </a:r>
          </a:p>
          <a:p xmlns:a="http://schemas.openxmlformats.org/drawingml/2006/main">
            <a:r>
              <a:t>더 높은 목표 제시</a:t>
            </a:r>
          </a:p>
          <a:p xmlns:a="http://schemas.openxmlformats.org/drawingml/2006/main">
            <a:r>
              <a:t>자기주도 성장 유도</a:t>
            </a:r>
          </a:p>
          <a:p xmlns:a="http://schemas.openxmlformats.org/drawingml/2006/main">
            <a:r>
              <a:t>리더십·멘토링 기회</a:t>
            </a:r>
          </a:p>
          <a:p xmlns:a="http://schemas.openxmlformats.org/drawingml/2006/main">
            <a:r>
              <a:t>장기 커리어 설계</a:t>
            </a:r>
          </a:p>
          <a:p xmlns:a="http://schemas.openxmlformats.org/drawingml/2006/main">
            <a:r>
              <a:t>13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14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TIMING · WHAT</a:t>
            </a:r>
          </a:p>
          <a:p xmlns:a="http://schemas.openxmlformats.org/drawingml/2006/main">
            <a:r>
              <a:t>필드 전, 무엇을 준비하는가</a:t>
            </a:r>
          </a:p>
          <a:p xmlns:a="http://schemas.openxmlformats.org/drawingml/2006/main">
            <a:r>
              <a:t>필드에 나가기 전, 신입과 함께 점검하고 설계하는 것들.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피치 점검</a:t>
            </a:r>
          </a:p>
          <a:p xmlns:a="http://schemas.openxmlformats.org/drawingml/2006/main">
            <a:r>
              <a:t>피치 숙지·클로즈·약정서</a:t>
            </a:r>
          </a:p>
          <a:p xmlns:a="http://schemas.openxmlformats.org/drawingml/2006/main">
            <a:r>
              <a:t>핸들링 정도를 함께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니즈 파악</a:t>
            </a:r>
          </a:p>
          <a:p xmlns:a="http://schemas.openxmlformats.org/drawingml/2006/main">
            <a:r>
              <a:t>내일 필드를 통해</a:t>
            </a:r>
          </a:p>
          <a:p xmlns:a="http://schemas.openxmlformats.org/drawingml/2006/main">
            <a:r>
              <a:t>무엇을 배우고 싶은지 묻는다.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목표 설정</a:t>
            </a:r>
          </a:p>
          <a:p xmlns:a="http://schemas.openxmlformats.org/drawingml/2006/main">
            <a:r>
              <a:t>필드시간·리해쉬·클로즈.</a:t>
            </a:r>
          </a:p>
          <a:p xmlns:a="http://schemas.openxmlformats.org/drawingml/2006/main">
            <a:r>
              <a:t>개인+섹터목표(AVG)까지 나누면 BEST.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>사이트 전략 공유</a:t>
            </a:r>
          </a:p>
          <a:p xmlns:a="http://schemas.openxmlformats.org/drawingml/2006/main">
            <a:r>
              <a:t>사이트를 익숙하게 만들고 전략대로,</a:t>
            </a:r>
          </a:p>
          <a:p xmlns:a="http://schemas.openxmlformats.org/drawingml/2006/main">
            <a:r>
              <a:t>'나도 할 수 있다'는 기대를 만든다.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사전 안내 (프리엠티브)</a:t>
            </a:r>
          </a:p>
          <a:p xmlns:a="http://schemas.openxmlformats.org/drawingml/2006/main">
            <a:r>
              <a:t>타 에이전시·우천 등 갑자기 닥치면</a:t>
            </a:r>
          </a:p>
          <a:p xmlns:a="http://schemas.openxmlformats.org/drawingml/2006/main">
            <a:r>
              <a:t>네거티브해지는 요소를 미리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06</a:t>
            </a:r>
          </a:p>
          <a:p xmlns:a="http://schemas.openxmlformats.org/drawingml/2006/main">
            <a:r>
              <a:t>필드 물품·복장 점검</a:t>
            </a:r>
          </a:p>
          <a:p xmlns:a="http://schemas.openxmlformats.org/drawingml/2006/main">
            <a:r>
              <a:t>콜백싯·조끼·아이디카드·</a:t>
            </a:r>
          </a:p>
          <a:p xmlns:a="http://schemas.openxmlformats.org/drawingml/2006/main">
            <a:r>
              <a:t>태블릿·부스 등을 점검한다.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15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TIMING · WHAT</a:t>
            </a:r>
          </a:p>
          <a:p xmlns:a="http://schemas.openxmlformats.org/drawingml/2006/main">
            <a:r>
              <a:t>필드 전, 무엇을 준비하는가</a:t>
            </a:r>
          </a:p>
          <a:p xmlns:a="http://schemas.openxmlformats.org/drawingml/2006/main">
            <a:r>
              <a:t>필드에 나가기 전, 신입과 함께 점검하고 설계하는 것들.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피치 점검</a:t>
            </a:r>
          </a:p>
          <a:p xmlns:a="http://schemas.openxmlformats.org/drawingml/2006/main">
            <a:r>
              <a:t>피치 숙지·클로즈·약정서</a:t>
            </a:r>
          </a:p>
          <a:p xmlns:a="http://schemas.openxmlformats.org/drawingml/2006/main">
            <a:r>
              <a:t>핸들링 정도를 함께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니즈 파악</a:t>
            </a:r>
          </a:p>
          <a:p xmlns:a="http://schemas.openxmlformats.org/drawingml/2006/main">
            <a:r>
              <a:t>내일 필드를 통해</a:t>
            </a:r>
          </a:p>
          <a:p xmlns:a="http://schemas.openxmlformats.org/drawingml/2006/main">
            <a:r>
              <a:t>무엇을 배우고 싶은지 묻는다.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목표 설정</a:t>
            </a:r>
          </a:p>
          <a:p xmlns:a="http://schemas.openxmlformats.org/drawingml/2006/main">
            <a:r>
              <a:t>필드시간·리해쉬·클로즈.</a:t>
            </a:r>
          </a:p>
          <a:p xmlns:a="http://schemas.openxmlformats.org/drawingml/2006/main">
            <a:r>
              <a:t>개인+섹터목표(AVG)까지 나누면 BEST.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>사이트 전략 공유</a:t>
            </a:r>
          </a:p>
          <a:p xmlns:a="http://schemas.openxmlformats.org/drawingml/2006/main">
            <a:r>
              <a:t>사이트를 익숙하게 만들고 전략대로,</a:t>
            </a:r>
          </a:p>
          <a:p xmlns:a="http://schemas.openxmlformats.org/drawingml/2006/main">
            <a:r>
              <a:t>'나도 할 수 있다'는 기대를 만든다.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사전 안내 (프리엠티브)</a:t>
            </a:r>
          </a:p>
          <a:p xmlns:a="http://schemas.openxmlformats.org/drawingml/2006/main">
            <a:r>
              <a:t>타 에이전시·우천 등 갑자기 닥치면</a:t>
            </a:r>
          </a:p>
          <a:p xmlns:a="http://schemas.openxmlformats.org/drawingml/2006/main">
            <a:r>
              <a:t>네거티브해지는 요소를 미리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06</a:t>
            </a:r>
          </a:p>
          <a:p xmlns:a="http://schemas.openxmlformats.org/drawingml/2006/main">
            <a:r>
              <a:t>필드 물품·복장 점검</a:t>
            </a:r>
          </a:p>
          <a:p xmlns:a="http://schemas.openxmlformats.org/drawingml/2006/main">
            <a:r>
              <a:t>콜백싯·조끼·아이디카드·</a:t>
            </a:r>
          </a:p>
          <a:p xmlns:a="http://schemas.openxmlformats.org/drawingml/2006/main">
            <a:r>
              <a:t>태블릿·부스 등을 점검한다.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15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TIMING · HOW</a:t>
            </a:r>
          </a:p>
          <a:p xmlns:a="http://schemas.openxmlformats.org/drawingml/2006/main">
            <a:r>
              <a:t>필드 중, 어떻게 끌어가는가</a:t>
            </a:r>
          </a:p>
          <a:p xmlns:a="http://schemas.openxmlformats.org/drawingml/2006/main">
            <a:r>
              <a:t>필드 안에서 실시간으로 관찰하고, 보여주고, 케어한다.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트레이닝 대상 파악</a:t>
            </a:r>
          </a:p>
          <a:p xmlns:a="http://schemas.openxmlformats.org/drawingml/2006/main">
            <a:r>
              <a:t>어떤 유형인지,</a:t>
            </a:r>
          </a:p>
          <a:p xmlns:a="http://schemas.openxmlformats.org/drawingml/2006/main">
            <a:r>
              <a:t>어느 정도의 이해도인지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집중·계속 시도</a:t>
            </a:r>
          </a:p>
          <a:p xmlns:a="http://schemas.openxmlformats.org/drawingml/2006/main">
            <a:r>
              <a:t>계속되는 시도를 통해</a:t>
            </a:r>
          </a:p>
          <a:p xmlns:a="http://schemas.openxmlformats.org/drawingml/2006/main">
            <a:r>
              <a:t>객관적 데이터를 쌓게 만든다.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상황에 맞는 피드백·점검</a:t>
            </a:r>
          </a:p>
          <a:p xmlns:a="http://schemas.openxmlformats.org/drawingml/2006/main">
            <a:r>
              <a:t>칭찬과 즉시 CS·넘버 피드백.</a:t>
            </a:r>
          </a:p>
          <a:p xmlns:a="http://schemas.openxmlformats.org/drawingml/2006/main">
            <a:r>
              <a:t>2시간마다 콜백싯을 점검한다.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>보여주기 (Showing)</a:t>
            </a:r>
          </a:p>
          <a:p xmlns:a="http://schemas.openxmlformats.org/drawingml/2006/main">
            <a:r>
              <a:t>Showing Is The Best.</a:t>
            </a:r>
          </a:p>
          <a:p xmlns:a="http://schemas.openxmlformats.org/drawingml/2006/main">
            <a:r>
              <a:t>쉽고 빠른 벨로 직접 보여준다.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네거티브 파악</a:t>
            </a:r>
          </a:p>
          <a:p xmlns:a="http://schemas.openxmlformats.org/drawingml/2006/main">
            <a:r>
              <a:t>빠른 네거티브 파악과 해결,</a:t>
            </a:r>
          </a:p>
          <a:p xmlns:a="http://schemas.openxmlformats.org/drawingml/2006/main">
            <a:r>
              <a:t>그리고 멘탈 케어.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06</a:t>
            </a:r>
          </a:p>
          <a:p xmlns:a="http://schemas.openxmlformats.org/drawingml/2006/main">
            <a:r>
              <a:t>좋은 소식 공유</a:t>
            </a:r>
          </a:p>
          <a:p xmlns:a="http://schemas.openxmlformats.org/drawingml/2006/main">
            <a:r>
              <a:t>시민의 응원의 말,</a:t>
            </a:r>
          </a:p>
          <a:p xmlns:a="http://schemas.openxmlformats.org/drawingml/2006/main">
            <a:r>
              <a:t>후원자가 남긴 후원 사유를 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16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TIMING · WHY</a:t>
            </a:r>
          </a:p>
          <a:p xmlns:a="http://schemas.openxmlformats.org/drawingml/2006/main">
            <a:r>
              <a:t>필드 후, 무엇을 남기는가</a:t>
            </a:r>
          </a:p>
          <a:p xmlns:a="http://schemas.openxmlformats.org/drawingml/2006/main">
            <a:r>
              <a:t>하루를 돌아보고, 콜백싯 기준으로 피드백하고, 다음을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필드 소감 파악</a:t>
            </a:r>
          </a:p>
          <a:p xmlns:a="http://schemas.openxmlformats.org/drawingml/2006/main">
            <a:r>
              <a:t>오늘 하루 어땠는지 묻는다.</a:t>
            </a:r>
          </a:p>
          <a:p xmlns:a="http://schemas.openxmlformats.org/drawingml/2006/main">
            <a:r>
              <a:t>무엇을 배웠고, 좋았던 점과</a:t>
            </a:r>
          </a:p>
          <a:p xmlns:a="http://schemas.openxmlformats.org/drawingml/2006/main">
            <a:r>
              <a:t>아쉬운 점은 무엇이었는지.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콜백싯 기준 피드백</a:t>
            </a:r>
          </a:p>
          <a:p xmlns:a="http://schemas.openxmlformats.org/drawingml/2006/main">
            <a:r>
              <a:t>같이 필드한 사람들과 넘버를</a:t>
            </a:r>
          </a:p>
          <a:p xmlns:a="http://schemas.openxmlformats.org/drawingml/2006/main">
            <a:r>
              <a:t>비교하며, 넘버·스킬·태도의</a:t>
            </a:r>
          </a:p>
          <a:p xmlns:a="http://schemas.openxmlformats.org/drawingml/2006/main">
            <a:r>
              <a:t>보완점을 함께 이야기한다.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다음 교육 일정 안내 · 기본 5일</a:t>
            </a:r>
          </a:p>
          <a:p xmlns:a="http://schemas.openxmlformats.org/drawingml/2006/main">
            <a:r>
              <a:t>DAY 1</a:t>
            </a:r>
          </a:p>
          <a:p xmlns:a="http://schemas.openxmlformats.org/drawingml/2006/main">
            <a:r>
              <a:t>콜백싯 교육 기본 작성법</a:t>
            </a:r>
          </a:p>
          <a:p xmlns:a="http://schemas.openxmlformats.org/drawingml/2006/main">
            <a:r>
              <a:t>DAY 2</a:t>
            </a:r>
          </a:p>
          <a:p xmlns:a="http://schemas.openxmlformats.org/drawingml/2006/main">
            <a:r>
              <a:t>콜백싯 교육 분석 · Contact to Stop &amp; 부스 컨트롤</a:t>
            </a:r>
          </a:p>
          <a:p xmlns:a="http://schemas.openxmlformats.org/drawingml/2006/main">
            <a:r>
              <a:t>DAY 3</a:t>
            </a:r>
          </a:p>
          <a:p xmlns:a="http://schemas.openxmlformats.org/drawingml/2006/main">
            <a:r>
              <a:t>5 Steps</a:t>
            </a:r>
          </a:p>
          <a:p xmlns:a="http://schemas.openxmlformats.org/drawingml/2006/main">
            <a:r>
              <a:t>DAY 4</a:t>
            </a:r>
          </a:p>
          <a:p xmlns:a="http://schemas.openxmlformats.org/drawingml/2006/main">
            <a:r>
              <a:t>Closing</a:t>
            </a:r>
          </a:p>
          <a:p xmlns:a="http://schemas.openxmlformats.org/drawingml/2006/main">
            <a:r>
              <a:t>DAY 5</a:t>
            </a:r>
          </a:p>
          <a:p xmlns:a="http://schemas.openxmlformats.org/drawingml/2006/main">
            <a:r>
              <a:t>약정서 &amp; 리해쉬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17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TIMING · WHY</a:t>
            </a:r>
          </a:p>
          <a:p xmlns:a="http://schemas.openxmlformats.org/drawingml/2006/main">
            <a:r>
              <a:t>필드 후, 무엇을 남기는가</a:t>
            </a:r>
          </a:p>
          <a:p xmlns:a="http://schemas.openxmlformats.org/drawingml/2006/main">
            <a:r>
              <a:t>하루를 돌아보고, 콜백싯 기준으로 피드백하고, 다음을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필드 소감 파악</a:t>
            </a:r>
          </a:p>
          <a:p xmlns:a="http://schemas.openxmlformats.org/drawingml/2006/main">
            <a:r>
              <a:t>오늘 하루 어땠는지 묻는다.</a:t>
            </a:r>
          </a:p>
          <a:p xmlns:a="http://schemas.openxmlformats.org/drawingml/2006/main">
            <a:r>
              <a:t>무엇을 배웠고, 좋았던 점과</a:t>
            </a:r>
          </a:p>
          <a:p xmlns:a="http://schemas.openxmlformats.org/drawingml/2006/main">
            <a:r>
              <a:t>아쉬운 점은 무엇이었는지.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콜백싯 기준 피드백</a:t>
            </a:r>
          </a:p>
          <a:p xmlns:a="http://schemas.openxmlformats.org/drawingml/2006/main">
            <a:r>
              <a:t>같이 필드한 사람들과 넘버를</a:t>
            </a:r>
          </a:p>
          <a:p xmlns:a="http://schemas.openxmlformats.org/drawingml/2006/main">
            <a:r>
              <a:t>비교하며, 넘버·스킬·태도의</a:t>
            </a:r>
          </a:p>
          <a:p xmlns:a="http://schemas.openxmlformats.org/drawingml/2006/main">
            <a:r>
              <a:t>보완점을 함께 이야기한다.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다음 교육 일정 안내 · 기본 5일</a:t>
            </a:r>
          </a:p>
          <a:p xmlns:a="http://schemas.openxmlformats.org/drawingml/2006/main">
            <a:r>
              <a:t>DAY 1</a:t>
            </a:r>
          </a:p>
          <a:p xmlns:a="http://schemas.openxmlformats.org/drawingml/2006/main">
            <a:r>
              <a:t>콜백싯 교육 기본 작성법</a:t>
            </a:r>
          </a:p>
          <a:p xmlns:a="http://schemas.openxmlformats.org/drawingml/2006/main">
            <a:r>
              <a:t>DAY 2</a:t>
            </a:r>
          </a:p>
          <a:p xmlns:a="http://schemas.openxmlformats.org/drawingml/2006/main">
            <a:r>
              <a:t>콜백싯 교육 분석 · Contact to Stop &amp; 부스 컨트롤</a:t>
            </a:r>
          </a:p>
          <a:p xmlns:a="http://schemas.openxmlformats.org/drawingml/2006/main">
            <a:r>
              <a:t>DAY 3</a:t>
            </a:r>
          </a:p>
          <a:p xmlns:a="http://schemas.openxmlformats.org/drawingml/2006/main">
            <a:r>
              <a:t>5 Steps</a:t>
            </a:r>
          </a:p>
          <a:p xmlns:a="http://schemas.openxmlformats.org/drawingml/2006/main">
            <a:r>
              <a:t>DAY 4</a:t>
            </a:r>
          </a:p>
          <a:p xmlns:a="http://schemas.openxmlformats.org/drawingml/2006/main">
            <a:r>
              <a:t>Closing</a:t>
            </a:r>
          </a:p>
          <a:p xmlns:a="http://schemas.openxmlformats.org/drawingml/2006/main">
            <a:r>
              <a:t>DAY 5</a:t>
            </a:r>
          </a:p>
          <a:p xmlns:a="http://schemas.openxmlformats.org/drawingml/2006/main">
            <a:r>
              <a:t>약정서 &amp; 리해쉬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17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CAUTION</a:t>
            </a:r>
          </a:p>
          <a:p xmlns:a="http://schemas.openxmlformats.org/drawingml/2006/main">
            <a:r>
              <a:t>피드백할 때 주의사항</a:t>
            </a:r>
          </a:p>
          <a:p xmlns:a="http://schemas.openxmlformats.org/drawingml/2006/main">
            <a:r>
              <a:t>좋은 의도라도 방식이 틀리면 독이 된다. 다섯 가지를 기억한다.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감정·느낌이 아닌 기준으로</a:t>
            </a:r>
          </a:p>
          <a:p xmlns:a="http://schemas.openxmlformats.org/drawingml/2006/main">
            <a:r>
              <a:t>넘버·스킬·태도 모두 콜백싯 기준으로 피드백한다.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내 말이 아닌, 상대에게 필요한 말인가 (매우 중요)</a:t>
            </a:r>
          </a:p>
          <a:p xmlns:a="http://schemas.openxmlformats.org/drawingml/2006/main">
            <a:r>
              <a:t>하고 싶은 말보다 상대에게 정말 필요한 말인지 먼저 고민한다.</a:t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KISS — 간단·명료·눈높이</a:t>
            </a:r>
          </a:p>
          <a:p xmlns:a="http://schemas.openxmlformats.org/drawingml/2006/main">
            <a:r>
              <a:t>상대가 공감하기 좋은 예시로 쉽게 이해되도록 트레이닝한다.</a:t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COD 공부하기</a:t>
            </a:r>
          </a:p>
          <a:p xmlns:a="http://schemas.openxmlformats.org/drawingml/2006/main">
            <a:r>
              <a:t>올바른 정보인지 확인하고 피드백. 긴가민가한 이야기는 하지 않는다.</a:t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타이밍을 정해두기</a:t>
            </a:r>
          </a:p>
          <a:p xmlns:a="http://schemas.openxmlformats.org/drawingml/2006/main">
            <a:r>
              <a:t>꼭 필요한 상황 외엔 2시간에 1번. 그 사이엔 개인 목표 달성에 집중한다.</a:t>
            </a:r>
          </a:p>
          <a:p xmlns:a="http://schemas.openxmlformats.org/drawingml/2006/main">
            <a:r>
              <a:t>TIP   피드백 수용이 빠른 신입, 주거테리·유동이 적은 B패턴에는 전략적으로 피드백을 활용하면 좋다.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18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CAUTION</a:t>
            </a:r>
          </a:p>
          <a:p xmlns:a="http://schemas.openxmlformats.org/drawingml/2006/main">
            <a:r>
              <a:t>피드백할 때 주의사항</a:t>
            </a:r>
          </a:p>
          <a:p xmlns:a="http://schemas.openxmlformats.org/drawingml/2006/main">
            <a:r>
              <a:t>좋은 의도라도 방식이 틀리면 독이 된다. 다섯 가지를 기억한다.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감정·느낌이 아닌 기준으로</a:t>
            </a:r>
          </a:p>
          <a:p xmlns:a="http://schemas.openxmlformats.org/drawingml/2006/main">
            <a:r>
              <a:t>넘버·스킬·태도 모두 콜백싯 기준으로 피드백한다.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내 말이 아닌, 상대에게 필요한 말인가 (매우 중요)</a:t>
            </a:r>
          </a:p>
          <a:p xmlns:a="http://schemas.openxmlformats.org/drawingml/2006/main">
            <a:r>
              <a:t>하고 싶은 말보다 상대에게 정말 필요한 말인지 먼저 고민한다.</a:t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KISS — 간단·명료·눈높이</a:t>
            </a:r>
          </a:p>
          <a:p xmlns:a="http://schemas.openxmlformats.org/drawingml/2006/main">
            <a:r>
              <a:t>상대가 공감하기 좋은 예시로 쉽게 이해되도록 트레이닝한다.</a:t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COD 공부하기</a:t>
            </a:r>
          </a:p>
          <a:p xmlns:a="http://schemas.openxmlformats.org/drawingml/2006/main">
            <a:r>
              <a:t>올바른 정보인지 확인하고 피드백. 긴가민가한 이야기는 하지 않는다.</a:t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타이밍을 정해두기</a:t>
            </a:r>
          </a:p>
          <a:p xmlns:a="http://schemas.openxmlformats.org/drawingml/2006/main">
            <a:r>
              <a:t>꼭 필요한 상황 외엔 2시간에 1번. 그 사이엔 개인 목표 달성에 집중한다.</a:t>
            </a:r>
          </a:p>
          <a:p xmlns:a="http://schemas.openxmlformats.org/drawingml/2006/main">
            <a:r>
              <a:t>TIP   피드백 수용이 빠른 신입, 주거테리·유동이 적은 B패턴에는 전략적으로 피드백을 활용하면 좋다.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18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MODELS</a:t>
            </a:r>
          </a:p>
          <a:p xmlns:a="http://schemas.openxmlformats.org/drawingml/2006/main">
            <a:r>
              <a:t>사용 중인 피드백 모델</a:t>
            </a:r>
          </a:p>
          <a:p xmlns:a="http://schemas.openxmlformats.org/drawingml/2006/main">
            <a:r>
              <a:t>상황에 맞게 골라 쓰는 세 가지 피드백 프레임.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샌드위치 기법</a:t>
            </a:r>
          </a:p>
          <a:p xmlns:a="http://schemas.openxmlformats.org/drawingml/2006/main">
            <a:r>
              <a:t>“우쮸쮸..!”</a:t>
            </a:r>
          </a:p>
          <a:p xmlns:a="http://schemas.openxmlformats.org/drawingml/2006/main">
            <a:r>
              <a:t>긍정 → 개선점 → 긍정</a:t>
            </a:r>
          </a:p>
          <a:p xmlns:a="http://schemas.openxmlformats.org/drawingml/2006/main">
            <a:r>
              <a:t>긍정적인 피드백으로 시작해 개선점을 짚고, 다시 긍정으로 마무리한다.</a:t>
            </a:r>
          </a:p>
          <a:p xmlns:a="http://schemas.openxmlformats.org/drawingml/2006/main">
            <a:r>
              <a:t>“이것도 저것도 좋았는데, 이 부분만 이렇게 바꿔보면 어떨까요?”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SBI 모델</a:t>
            </a:r>
          </a:p>
          <a:p xmlns:a="http://schemas.openxmlformats.org/drawingml/2006/main">
            <a:r>
              <a:t>“직관적!”</a:t>
            </a:r>
          </a:p>
          <a:p xmlns:a="http://schemas.openxmlformats.org/drawingml/2006/main">
            <a:r>
              <a:t>상황 → 행동 → 영향</a:t>
            </a:r>
          </a:p>
          <a:p xmlns:a="http://schemas.openxmlformats.org/drawingml/2006/main">
            <a:r>
              <a:t>상황(Situation)</a:t>
            </a:r>
          </a:p>
          <a:p xmlns:a="http://schemas.openxmlformats.org/drawingml/2006/main">
            <a:r>
              <a:t>행동(Behavior)</a:t>
            </a:r>
          </a:p>
          <a:p xmlns:a="http://schemas.openxmlformats.org/drawingml/2006/main">
            <a:r>
              <a:t>영향(Impact)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“이럴 땐(상황) 이렇게(행동) 하면 이런 장점(영향)이 있어요!”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5R 코칭법</a:t>
            </a:r>
          </a:p>
          <a:p xmlns:a="http://schemas.openxmlformats.org/drawingml/2006/main">
            <a:r>
              <a:t>“디테일한 발전을 위해”</a:t>
            </a:r>
          </a:p>
          <a:p xmlns:a="http://schemas.openxmlformats.org/drawingml/2006/main">
            <a:r>
              <a:t>Relation · Refocus · Reality</a:t>
            </a:r>
          </a:p>
          <a:p xmlns:a="http://schemas.openxmlformats.org/drawingml/2006/main">
            <a:r>
              <a:t>Resources · Responsibility</a:t>
            </a:r>
          </a:p>
          <a:p xmlns:a="http://schemas.openxmlformats.org/drawingml/2006/main">
            <a:r>
              <a:t>관계형성 → 목표설정 → 현실 장애물 → 해결자원 → 책임지기.</a:t>
            </a:r>
          </a:p>
          <a:p xmlns:a="http://schemas.openxmlformats.org/drawingml/2006/main">
            <a:r>
              <a:t>목표는? 장애물은? 그럼에도 해결할 방법은? 언제까지 무엇을 할지 약속하고 지키게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19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MODELS</a:t>
            </a:r>
          </a:p>
          <a:p xmlns:a="http://schemas.openxmlformats.org/drawingml/2006/main">
            <a:r>
              <a:t>사용 중인 피드백 모델</a:t>
            </a:r>
          </a:p>
          <a:p xmlns:a="http://schemas.openxmlformats.org/drawingml/2006/main">
            <a:r>
              <a:t>상황에 맞게 골라 쓰는 세 가지 피드백 프레임.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샌드위치 기법</a:t>
            </a:r>
          </a:p>
          <a:p xmlns:a="http://schemas.openxmlformats.org/drawingml/2006/main">
            <a:r>
              <a:t>“우쮸쮸..!”</a:t>
            </a:r>
          </a:p>
          <a:p xmlns:a="http://schemas.openxmlformats.org/drawingml/2006/main">
            <a:r>
              <a:t>긍정 → 개선점 → 긍정</a:t>
            </a:r>
          </a:p>
          <a:p xmlns:a="http://schemas.openxmlformats.org/drawingml/2006/main">
            <a:r>
              <a:t>긍정적인 피드백으로 시작해 개선점을 짚고, 다시 긍정으로 마무리한다.</a:t>
            </a:r>
          </a:p>
          <a:p xmlns:a="http://schemas.openxmlformats.org/drawingml/2006/main">
            <a:r>
              <a:t>“이것도 저것도 좋았는데, 이 부분만 이렇게 바꿔보면 어떨까요?”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SBI 모델</a:t>
            </a:r>
          </a:p>
          <a:p xmlns:a="http://schemas.openxmlformats.org/drawingml/2006/main">
            <a:r>
              <a:t>“직관적!”</a:t>
            </a:r>
          </a:p>
          <a:p xmlns:a="http://schemas.openxmlformats.org/drawingml/2006/main">
            <a:r>
              <a:t>상황 → 행동 → 영향</a:t>
            </a:r>
          </a:p>
          <a:p xmlns:a="http://schemas.openxmlformats.org/drawingml/2006/main">
            <a:r>
              <a:t>상황(Situation)</a:t>
            </a:r>
          </a:p>
          <a:p xmlns:a="http://schemas.openxmlformats.org/drawingml/2006/main">
            <a:r>
              <a:t>행동(Behavior)</a:t>
            </a:r>
          </a:p>
          <a:p xmlns:a="http://schemas.openxmlformats.org/drawingml/2006/main">
            <a:r>
              <a:t>영향(Impact)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“이럴 땐(상황) 이렇게(행동) 하면 이런 장점(영향)이 있어요!”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5R 코칭법</a:t>
            </a:r>
          </a:p>
          <a:p xmlns:a="http://schemas.openxmlformats.org/drawingml/2006/main">
            <a:r>
              <a:t>“디테일한 발전을 위해”</a:t>
            </a:r>
          </a:p>
          <a:p xmlns:a="http://schemas.openxmlformats.org/drawingml/2006/main">
            <a:r>
              <a:t>Relation · Refocus · Reality</a:t>
            </a:r>
          </a:p>
          <a:p xmlns:a="http://schemas.openxmlformats.org/drawingml/2006/main">
            <a:r>
              <a:t>Resources · Responsibility</a:t>
            </a:r>
          </a:p>
          <a:p xmlns:a="http://schemas.openxmlformats.org/drawingml/2006/main">
            <a:r>
              <a:t>관계형성 → 목표설정 → 현실 장애물 → 해결자원 → 책임지기.</a:t>
            </a:r>
          </a:p>
          <a:p xmlns:a="http://schemas.openxmlformats.org/drawingml/2006/main">
            <a:r>
              <a:t>목표는? 장애물은? 그럼에도 해결할 방법은? 언제까지 무엇을 할지 약속하고 지키게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19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MODELS</a:t>
            </a:r>
          </a:p>
          <a:p xmlns:a="http://schemas.openxmlformats.org/drawingml/2006/main">
            <a:r>
              <a:t>사용 중인 피드백 모델</a:t>
            </a:r>
          </a:p>
          <a:p xmlns:a="http://schemas.openxmlformats.org/drawingml/2006/main">
            <a:r>
              <a:t>상황에 맞게 골라 쓰는 세 가지 피드백 프레임.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샌드위치 기법</a:t>
            </a:r>
          </a:p>
          <a:p xmlns:a="http://schemas.openxmlformats.org/drawingml/2006/main">
            <a:r>
              <a:t>“우쮸쮸..!”</a:t>
            </a:r>
          </a:p>
          <a:p xmlns:a="http://schemas.openxmlformats.org/drawingml/2006/main">
            <a:r>
              <a:t>긍정 → 개선점 → 긍정</a:t>
            </a:r>
          </a:p>
          <a:p xmlns:a="http://schemas.openxmlformats.org/drawingml/2006/main">
            <a:r>
              <a:t>긍정적인 피드백으로 시작해 개선점을 짚고, 다시 긍정으로 마무리한다.</a:t>
            </a:r>
          </a:p>
          <a:p xmlns:a="http://schemas.openxmlformats.org/drawingml/2006/main">
            <a:r>
              <a:t>“이것도 저것도 좋았는데, 이 부분만 이렇게 바꿔보면 어떨까요?”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SBI 모델</a:t>
            </a:r>
          </a:p>
          <a:p xmlns:a="http://schemas.openxmlformats.org/drawingml/2006/main">
            <a:r>
              <a:t>“직관적!”</a:t>
            </a:r>
          </a:p>
          <a:p xmlns:a="http://schemas.openxmlformats.org/drawingml/2006/main">
            <a:r>
              <a:t>상황 → 행동 → 영향</a:t>
            </a:r>
          </a:p>
          <a:p xmlns:a="http://schemas.openxmlformats.org/drawingml/2006/main">
            <a:r>
              <a:t>상황(Situation)</a:t>
            </a:r>
          </a:p>
          <a:p xmlns:a="http://schemas.openxmlformats.org/drawingml/2006/main">
            <a:r>
              <a:t>행동(Behavior)</a:t>
            </a:r>
          </a:p>
          <a:p xmlns:a="http://schemas.openxmlformats.org/drawingml/2006/main">
            <a:r>
              <a:t>영향(Impact)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“이럴 땐(상황) 이렇게(행동) 하면 이런 장점(영향)이 있어요!”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5R 코칭법</a:t>
            </a:r>
          </a:p>
          <a:p xmlns:a="http://schemas.openxmlformats.org/drawingml/2006/main">
            <a:r>
              <a:t>“디테일한 발전을 위해”</a:t>
            </a:r>
          </a:p>
          <a:p xmlns:a="http://schemas.openxmlformats.org/drawingml/2006/main">
            <a:r>
              <a:t>Relation · Refocus · Reality</a:t>
            </a:r>
          </a:p>
          <a:p xmlns:a="http://schemas.openxmlformats.org/drawingml/2006/main">
            <a:r>
              <a:t>Resources · Responsibility</a:t>
            </a:r>
          </a:p>
          <a:p xmlns:a="http://schemas.openxmlformats.org/drawingml/2006/main">
            <a:r>
              <a:t>관계형성 → 목표설정 → 현실 장애물 → 해결자원 → 책임지기.</a:t>
            </a:r>
          </a:p>
          <a:p xmlns:a="http://schemas.openxmlformats.org/drawingml/2006/main">
            <a:r>
              <a:t>목표는? 장애물은? 그럼에도 해결할 방법은? 언제까지 무엇을 할지 약속하고 지키게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19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트레이너도 콜백싯을 쓴다</a:t>
            </a:r>
          </a:p>
          <a:p xmlns:a="http://schemas.openxmlformats.org/drawingml/2006/main">
            <a:r>
              <a:t>신입이 필드 콜백싯으로 하루를 점검하듯, 트레이너는 같은 3축으로 '내가 신입을 위해 무엇을 챙겼는가'를 매일 점검한다.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Number</a:t>
            </a:r>
          </a:p>
          <a:p xmlns:a="http://schemas.openxmlformats.org/drawingml/2006/main">
            <a:r>
              <a:t>넘버를 쌓게 했는가</a:t>
            </a:r>
          </a:p>
          <a:p xmlns:a="http://schemas.openxmlformats.org/drawingml/2006/main">
            <a:r>
              <a:t>넘버를 쌓을 수 있는 사이트를 준비했는가</a:t>
            </a:r>
          </a:p>
          <a:p xmlns:a="http://schemas.openxmlformats.org/drawingml/2006/main">
            <a:r>
              <a:t>시도하도록 만드는 피드백을 했는가</a:t>
            </a:r>
          </a:p>
          <a:p xmlns:a="http://schemas.openxmlformats.org/drawingml/2006/main">
            <a:r>
              <a:t>거절 없는 시도 횟수를 끌어냈는가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Pitch · Skill</a:t>
            </a:r>
          </a:p>
          <a:p xmlns:a="http://schemas.openxmlformats.org/drawingml/2006/main">
            <a:r>
              <a:t>스킬을 보강했는가</a:t>
            </a:r>
          </a:p>
          <a:p xmlns:a="http://schemas.openxmlformats.org/drawingml/2006/main">
            <a:r>
              <a:t>약한 부분을 필드에서 바로 교육했는가</a:t>
            </a:r>
          </a:p>
          <a:p xmlns:a="http://schemas.openxmlformats.org/drawingml/2006/main">
            <a:r>
              <a:t>어떤 스킬이든 보강하도록 도왔는가</a:t>
            </a:r>
          </a:p>
          <a:p xmlns:a="http://schemas.openxmlformats.org/drawingml/2006/main">
            <a:r>
              <a:t>내일 바로 쓸 수 있게 알려줬는가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Attitude · Mental</a:t>
            </a:r>
          </a:p>
          <a:p xmlns:a="http://schemas.openxmlformats.org/drawingml/2006/main">
            <a:r>
              <a:t>멘탈을 지켜줬는가</a:t>
            </a:r>
          </a:p>
          <a:p xmlns:a="http://schemas.openxmlformats.org/drawingml/2006/main">
            <a:r>
              <a:t>불안·두려움 요소를 제거했는가</a:t>
            </a:r>
          </a:p>
          <a:p xmlns:a="http://schemas.openxmlformats.org/drawingml/2006/main">
            <a:r>
              <a:t>필드에 방해되는 마음을 케어했는가</a:t>
            </a:r>
          </a:p>
          <a:p xmlns:a="http://schemas.openxmlformats.org/drawingml/2006/main">
            <a:r>
              <a:t>필드에 온전히 집중하게 해줬는가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매일 반복</a:t>
            </a:r>
          </a:p>
          <a:p xmlns:a="http://schemas.openxmlformats.org/drawingml/2006/main">
            <a:r>
              <a:t>이 세 가지를 매일 점검하면, 트레이닝이 성장한다.  신입의 콜백싯이 신입을 키우듯, 트레이너의 콜백싯이 트레이너를 키운다.</a:t>
            </a:r>
          </a:p>
          <a:p xmlns:a="http://schemas.openxmlformats.org/drawingml/2006/main">
            <a:r>
              <a:t>14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20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자립을 위한 6주 전략</a:t>
            </a:r>
          </a:p>
          <a:p xmlns:a="http://schemas.openxmlformats.org/drawingml/2006/main">
            <a:r>
              <a:t>신입이 필드에 완전히 적응하기까지 약 6주. 이 기간 동안 전략적인 스케줄 관리와 필드 시간 확보가 자립의 핵심이다.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리더힛, 2주 이내</a:t>
            </a:r>
          </a:p>
          <a:p xmlns:a="http://schemas.openxmlformats.org/drawingml/2006/main">
            <a:r>
              <a:t>리더힛은 2주 이내 달성이 이상적. 전략적으로 스케줄과 필드 시간을 확보하고, 신입의 성장 속도에 맞춰 목표를 설정한다.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6주 필드 적응</a:t>
            </a:r>
          </a:p>
          <a:p xmlns:a="http://schemas.openxmlformats.org/drawingml/2006/main">
            <a:r>
              <a:t>필드 적응에는 약 6주가 소요. 3–5주차에 로드트립을 적극 활용하며 단계별 성장 과정을 모니터링한다.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Self 세일즈 준비</a:t>
            </a:r>
          </a:p>
          <a:p xmlns:a="http://schemas.openxmlformats.org/drawingml/2006/main">
            <a:r>
              <a:t>혼자 세일즈해야 하는 시점을 미리 안내하고 프리엠티브한다. 심리적 준비와 실전 역량을 동시에 강화한다.</a:t>
            </a:r>
          </a:p>
          <a:p xmlns:a="http://schemas.openxmlformats.org/drawingml/2006/main">
            <a:r>
              <a:t>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21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자립을 위한 6주 전략</a:t>
            </a:r>
          </a:p>
          <a:p xmlns:a="http://schemas.openxmlformats.org/drawingml/2006/main">
            <a:r>
              <a:t>신입이 필드에 완전히 적응하기까지 약 6주. 이 기간 동안 전략적인 스케줄 관리와 필드 시간 확보가 자립의 핵심이다.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리더힛, 2주 이내</a:t>
            </a:r>
          </a:p>
          <a:p xmlns:a="http://schemas.openxmlformats.org/drawingml/2006/main">
            <a:r>
              <a:t>리더힛은 2주 이내 달성이 이상적. 전략적으로 스케줄과 필드 시간을 확보하고, 신입의 성장 속도에 맞춰 목표를 설정한다.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6주 필드 적응</a:t>
            </a:r>
          </a:p>
          <a:p xmlns:a="http://schemas.openxmlformats.org/drawingml/2006/main">
            <a:r>
              <a:t>필드 적응에는 약 6주가 소요. 3–5주차에 로드트립을 적극 활용하며 단계별 성장 과정을 모니터링한다.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Self 세일즈 준비</a:t>
            </a:r>
          </a:p>
          <a:p xmlns:a="http://schemas.openxmlformats.org/drawingml/2006/main">
            <a:r>
              <a:t>혼자 세일즈해야 하는 시점을 미리 안내하고 프리엠티브한다. 심리적 준비와 실전 역량을 동시에 강화한다.</a:t>
            </a:r>
          </a:p>
          <a:p xmlns:a="http://schemas.openxmlformats.org/drawingml/2006/main">
            <a:r>
              <a:t>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21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트레이너의 3가지 핵심 역할</a:t>
            </a:r>
          </a:p>
          <a:p xmlns:a="http://schemas.openxmlformats.org/drawingml/2006/main">
            <a:r>
              <a:t>신입이 '자발적으로' 성장하는 환경을 만드는 세 개의 레버.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성취감 제공</a:t>
            </a:r>
          </a:p>
          <a:p xmlns:a="http://schemas.openxmlformats.org/drawingml/2006/main">
            <a:r>
              <a:t>'내가 직접 해냈다'를 느끼게 한다.</a:t>
            </a:r>
          </a:p>
          <a:p xmlns:a="http://schemas.openxmlformats.org/drawingml/2006/main">
            <a:r>
              <a:t>두려워하면 돕고, 아니면 혼자 하게.</a:t>
            </a:r>
          </a:p>
          <a:p xmlns:a="http://schemas.openxmlformats.org/drawingml/2006/main">
            <a:r>
              <a:t>두려움 수준 파악이 판단 기준.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두려움 제거</a:t>
            </a:r>
          </a:p>
          <a:p xmlns:a="http://schemas.openxmlformats.org/drawingml/2006/main">
            <a:r>
              <a:t>초기엔 충분한 서포트를 제공.</a:t>
            </a:r>
          </a:p>
          <a:p xmlns:a="http://schemas.openxmlformats.org/drawingml/2006/main">
            <a:r>
              <a:t>점진적으로 독립성을 부여.</a:t>
            </a:r>
          </a:p>
          <a:p xmlns:a="http://schemas.openxmlformats.org/drawingml/2006/main">
            <a:r>
              <a:t>안전한 환경에서 도전하게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인정과 칭찬</a:t>
            </a:r>
          </a:p>
          <a:p xmlns:a="http://schemas.openxmlformats.org/drawingml/2006/main">
            <a:r>
              <a:t>인정·칭찬을 아끼지 않는다.</a:t>
            </a:r>
          </a:p>
          <a:p xmlns:a="http://schemas.openxmlformats.org/drawingml/2006/main">
            <a:r>
              <a:t>사람은 인정받을 때 주도적이 된다.</a:t>
            </a:r>
          </a:p>
          <a:p xmlns:a="http://schemas.openxmlformats.org/drawingml/2006/main">
            <a:r>
              <a:t>혼냄은 효과 없음 — 스스로 깨닫게.</a:t>
            </a:r>
          </a:p>
          <a:p xmlns:a="http://schemas.openxmlformats.org/drawingml/2006/main">
            <a:r>
              <a:t>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22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캔슬 관리 &amp; 그로스 집중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캔슬은 '그로스(Gross)'에만 집중하는 것이 옳은 방향. 캔슬에 대한 두려움은 오히려 세일즈에 대한 확신을 떨어뜨린다.</a:t>
            </a:r>
          </a:p>
          <a:p xmlns:a="http://schemas.openxmlformats.org/drawingml/2006/main">
            <a:r>
              <a:t>다만 리젝은 자연스러운 것 + 수치(20-30%)만큼 발생할 수 있다는 심리적 준비가 되도록 건강한 매니징 필요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매니지먼트 영역</a:t>
            </a:r>
          </a:p>
          <a:p xmlns:a="http://schemas.openxmlformats.org/drawingml/2006/main">
            <a:r>
              <a:t>캔슬은 지점 차원에서 관리. IC 개인이 과도하게 신경 쓸 부분이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BEP 대비 타겟 조정</a:t>
            </a:r>
          </a:p>
          <a:p xmlns:a="http://schemas.openxmlformats.org/drawingml/2006/main">
            <a:r>
              <a:t>손익분기점(BEP) 대비 세일즈 타겟을 분명히. 최종 + 수익이 얼마인가가 중요.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그로스(Gross) 집중</a:t>
            </a:r>
          </a:p>
          <a:p xmlns:a="http://schemas.openxmlformats.org/drawingml/2006/main">
            <a:r>
              <a:t>캔슬을 두려워하면 세일즈 Drop으로 이어진다. 총매출에만 집중한다.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하이롤러 리젝 대응</a:t>
            </a:r>
          </a:p>
          <a:p xmlns:a="http://schemas.openxmlformats.org/drawingml/2006/main">
            <a:r>
              <a:t>하이롤러는 1일 1건 리젝 리스크. 사전 프리엠티브가 핵심 </a:t>
            </a:r>
          </a:p>
          <a:p xmlns:a="http://schemas.openxmlformats.org/drawingml/2006/main">
            <a:r>
              <a:t>(주 10세일즈+).</a:t>
            </a:r>
          </a:p>
          <a:p xmlns:a="http://schemas.openxmlformats.org/drawingml/2006/main">
            <a:r>
              <a:t>17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23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매슬로우 5단계 욕구</a:t>
            </a:r>
          </a:p>
          <a:p xmlns:a="http://schemas.openxmlformats.org/drawingml/2006/main">
            <a:r>
              <a:t>사람은 아래 욕구가 채워지면 더 높은 욕구를 향한다. 트레이너는 신입을 단계마다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자아실현  Self-Actualization</a:t>
            </a:r>
          </a:p>
          <a:p xmlns:a="http://schemas.openxmlformats.org/drawingml/2006/main">
            <a:r>
              <a:t>더 큰 목표·성장. 스스로 리더로 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>존중  Esteem</a:t>
            </a:r>
          </a:p>
          <a:p xmlns:a="http://schemas.openxmlformats.org/drawingml/2006/main">
            <a:r>
              <a:t>인정과 칭찬. 성취를 알아준다.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소속·애정  Love &amp; Belonging</a:t>
            </a:r>
          </a:p>
          <a:p xmlns:a="http://schemas.openxmlformats.org/drawingml/2006/main">
            <a:r>
              <a:t>팀의 일원이라는 소속감을 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안전  Safety</a:t>
            </a:r>
          </a:p>
          <a:p xmlns:a="http://schemas.openxmlformats.org/drawingml/2006/main">
            <a:r>
              <a:t>두려움 제거. 안전한 환경에서 도전.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생리적 욕구  Physiological</a:t>
            </a:r>
          </a:p>
          <a:p xmlns:a="http://schemas.openxmlformats.org/drawingml/2006/main">
            <a:r>
              <a:t>기본 생계·수입. 가장 먼저 채워질 토대.</a:t>
            </a:r>
          </a:p>
          <a:p xmlns:a="http://schemas.openxmlformats.org/drawingml/2006/main">
            <a:r>
              <a:t>18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24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WRAP-UP</a:t>
            </a:r>
          </a:p>
          <a:p xmlns:a="http://schemas.openxmlformats.org/drawingml/2006/main">
            <a:r>
              <a:t>결과 판단 &amp; 마무리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50%  트레이너의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50%  신입의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STAY</a:t>
            </a:r>
          </a:p>
          <a:p xmlns:a="http://schemas.openxmlformats.org/drawingml/2006/main">
            <a:r>
              <a:t>결과가 좋거나 기준 도달 확신이 있으면 — 머무르게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QUALIFYING</a:t>
            </a:r>
          </a:p>
          <a:p xmlns:a="http://schemas.openxmlformats.org/drawingml/2006/main">
            <a:r>
              <a:t>최소 기준 도달이 어렵고 확신이 없으면 — 과감하게 결정한다.</a:t>
            </a:r>
          </a:p>
          <a:p xmlns:a="http://schemas.openxmlformats.org/drawingml/2006/main">
            <a:r>
              <a:t>실제 트레이닝은 Case by Case. 명확한 기준과 일관된 원칙을 유지하되, 개별 상황의 특수성을 고려해 최선의 결정을 내린다.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25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WRAP-UP</a:t>
            </a:r>
          </a:p>
          <a:p xmlns:a="http://schemas.openxmlformats.org/drawingml/2006/main">
            <a:r>
              <a:t>결과 판단 &amp; 마무리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50%  트레이너의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50%  신입의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STAY</a:t>
            </a:r>
          </a:p>
          <a:p xmlns:a="http://schemas.openxmlformats.org/drawingml/2006/main">
            <a:r>
              <a:t>결과가 좋거나 기준 도달 확신이 있으면 — 머무르게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QUALIFYING</a:t>
            </a:r>
          </a:p>
          <a:p xmlns:a="http://schemas.openxmlformats.org/drawingml/2006/main">
            <a:r>
              <a:t>최소 기준 도달이 어렵고 확신이 없으면 — 과감하게 결정한다.</a:t>
            </a:r>
          </a:p>
          <a:p xmlns:a="http://schemas.openxmlformats.org/drawingml/2006/main">
            <a:r>
              <a:t>실제 트레이닝은 Case by Case. 명확한 기준과 일관된 원칙을 유지하되, 개별 상황의 특수성을 고려해 최선의 결정을 내린다.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25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INSIGHT  ·  ON HUMAN &amp; EDUCATION</a:t>
            </a:r>
          </a:p>
          <a:p xmlns:a="http://schemas.openxmlformats.org/drawingml/2006/main">
            <a:r>
              <a:t>장 자크 루소, 『에밀』에서</a:t>
            </a:r>
          </a:p>
          <a:p xmlns:a="http://schemas.openxmlformats.org/drawingml/2006/main">
            <a:r>
              <a:t>"진리를 가르치는 것보다, 알고 싶고 배우고 싶은 욕구를 일으키는</a:t>
            </a:r>
          </a:p>
          <a:p xmlns:a="http://schemas.openxmlformats.org/drawingml/2006/main">
            <a:r>
              <a:t>방법이 더 중요하다. 교육자는 결코 </a:t>
            </a:r>
          </a:p>
          <a:p xmlns:a="http://schemas.openxmlformats.org/drawingml/2006/main">
            <a:r>
              <a:t>아이보다 앞서서는 안 된다."</a:t>
            </a:r>
          </a:p>
          <a:p xmlns:a="http://schemas.openxmlformats.org/drawingml/2006/main">
            <a:r>
              <a:t>— 장 자크 루소, 『에밀』 (1762)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우리의 트레이닝과 닿아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먼저 배우고 싶게</a:t>
            </a:r>
          </a:p>
          <a:p xmlns:a="http://schemas.openxmlformats.org/drawingml/2006/main">
            <a:r>
              <a:t>지식을 밀어넣기 전에 호기심과 욕구를 켠다 — 루소의 '욕구가 먼저'와 같은 출발점.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앞서지 말고 관찰하라</a:t>
            </a:r>
          </a:p>
          <a:p xmlns:a="http://schemas.openxmlformats.org/drawingml/2006/main">
            <a:r>
              <a:t>스스로 깨닫게 두되 꼭 필요할 때 최소한만. 관찰·경청이 피드백을 앞선다.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경험이 곧 배움</a:t>
            </a:r>
          </a:p>
          <a:p xmlns:a="http://schemas.openxmlformats.org/drawingml/2006/main">
            <a:r>
              <a:t>위험과 어려움은 위기가 아니라 기회. 필드의 경험으로 신입은 자란다.</a:t>
            </a:r>
          </a:p>
          <a:p xmlns:a="http://schemas.openxmlformats.org/drawingml/2006/main">
            <a:r>
              <a:t>결국 신입에게 답이 있다 — 트레이너는 그 답이 피어나도록 돕는 사람이다.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26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INSIGHT  ·  ON HUMAN &amp; EDUCATION</a:t>
            </a:r>
          </a:p>
          <a:p xmlns:a="http://schemas.openxmlformats.org/drawingml/2006/main">
            <a:r>
              <a:t>장 자크 루소, 『에밀』에서</a:t>
            </a:r>
          </a:p>
          <a:p xmlns:a="http://schemas.openxmlformats.org/drawingml/2006/main">
            <a:r>
              <a:t>"진리를 가르치는 것보다, 알고 싶고 배우고 싶은 욕구를 일으키는</a:t>
            </a:r>
          </a:p>
          <a:p xmlns:a="http://schemas.openxmlformats.org/drawingml/2006/main">
            <a:r>
              <a:t>방법이 더 중요하다. 교육자는 결코 </a:t>
            </a:r>
          </a:p>
          <a:p xmlns:a="http://schemas.openxmlformats.org/drawingml/2006/main">
            <a:r>
              <a:t>아이보다 앞서서는 안 된다."</a:t>
            </a:r>
          </a:p>
          <a:p xmlns:a="http://schemas.openxmlformats.org/drawingml/2006/main">
            <a:r>
              <a:t>— 장 자크 루소, 『에밀』 (1762)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우리의 트레이닝과 닿아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먼저 배우고 싶게</a:t>
            </a:r>
          </a:p>
          <a:p xmlns:a="http://schemas.openxmlformats.org/drawingml/2006/main">
            <a:r>
              <a:t>지식을 밀어넣기 전에 호기심과 욕구를 켠다 — 루소의 '욕구가 먼저'와 같은 출발점.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앞서지 말고 관찰하라</a:t>
            </a:r>
          </a:p>
          <a:p xmlns:a="http://schemas.openxmlformats.org/drawingml/2006/main">
            <a:r>
              <a:t>스스로 깨닫게 두되 꼭 필요할 때 최소한만. 관찰·경청이 피드백을 앞선다.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경험이 곧 배움</a:t>
            </a:r>
          </a:p>
          <a:p xmlns:a="http://schemas.openxmlformats.org/drawingml/2006/main">
            <a:r>
              <a:t>위험과 어려움은 위기가 아니라 기회. 필드의 경험으로 신입은 자란다.</a:t>
            </a:r>
          </a:p>
          <a:p xmlns:a="http://schemas.openxmlformats.org/drawingml/2006/main">
            <a:r>
              <a:t>결국 신입에게 답이 있다 — 트레이너는 그 답이 피어나도록 돕는 사람이다.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26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WHY I WANTED TO LEAD · 리더가 되고 싶었던 이유</a:t>
            </a:r>
          </a:p>
          <a:p xmlns:a="http://schemas.openxmlformats.org/drawingml/2006/main">
            <a:r>
              <a:t>내가 리더가 되고 싶었던 10가지 이유</a:t>
            </a:r>
          </a:p>
          <a:p xmlns:a="http://schemas.openxmlformats.org/drawingml/2006/main">
            <a:r>
              <a:t>루소가 말한 '아이보다 앞서지 않는' 교육처럼 — 딱 한 걸음 앞서 기다리는 리더가 되고 싶었다.</a:t>
            </a:r>
          </a:p>
          <a:p xmlns:a="http://schemas.openxmlformats.org/drawingml/2006/main">
            <a:r>
              <a:t>01   세일즈웍스의 첫 번째 목표여서</a:t>
            </a:r>
          </a:p>
          <a:p xmlns:a="http://schemas.openxmlformats.org/drawingml/2006/main">
            <a:r>
              <a:t>02   내 가치관이 담긴 팀을 만들 수 있어서</a:t>
            </a:r>
          </a:p>
          <a:p xmlns:a="http://schemas.openxmlformats.org/drawingml/2006/main">
            <a:r>
              <a:t>03   누군가의 리더가 된다는 것이 기뻐서</a:t>
            </a:r>
          </a:p>
          <a:p xmlns:a="http://schemas.openxmlformats.org/drawingml/2006/main">
            <a:r>
              <a:t>04   'OO리'라 불리는 친근함이 좋아서</a:t>
            </a:r>
          </a:p>
          <a:p xmlns:a="http://schemas.openxmlformats.org/drawingml/2006/main">
            <a:r>
              <a:t>05   조끼·피치카드·사물함을 쓸 수 있어서</a:t>
            </a:r>
          </a:p>
          <a:p xmlns:a="http://schemas.openxmlformats.org/drawingml/2006/main">
            <a:r>
              <a:t>06   리더라는 위치가 동기부여가 되어서</a:t>
            </a:r>
          </a:p>
          <a:p xmlns:a="http://schemas.openxmlformats.org/drawingml/2006/main">
            <a:r>
              <a:t>07   상위 프로모션에 도전할 수 있어서</a:t>
            </a:r>
          </a:p>
          <a:p xmlns:a="http://schemas.openxmlformats.org/drawingml/2006/main">
            <a:r>
              <a:t>08   리더힛 부담이 아닌 더 큰 비전으로</a:t>
            </a:r>
          </a:p>
          <a:p xmlns:a="http://schemas.openxmlformats.org/drawingml/2006/main">
            <a:r>
              <a:t>09   섬기고 돕는 자리에서만 배울 수 있어서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10</a:t>
            </a:r>
          </a:p>
          <a:p xmlns:a="http://schemas.openxmlformats.org/drawingml/2006/main">
            <a:r>
              <a:t>이런 리더가 되고 싶어서</a:t>
            </a:r>
          </a:p>
          <a:p xmlns:a="http://schemas.openxmlformats.org/drawingml/2006/main">
            <a:r>
              <a:t>아주 먼 곳까지 내다보되, 앞서 달음박질하지 않고</a:t>
            </a:r>
          </a:p>
          <a:p xmlns:a="http://schemas.openxmlformats.org/drawingml/2006/main">
            <a:r>
              <a:t>언제든 따라올 수 있도록 딱 한 걸음 앞서 기다릴 줄 아는 리더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27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WHY I WANTED TO LEAD · 리더가 되고 싶었던 이유</a:t>
            </a:r>
          </a:p>
          <a:p xmlns:a="http://schemas.openxmlformats.org/drawingml/2006/main">
            <a:r>
              <a:t>내가 리더가 되고 싶었던 10가지 이유</a:t>
            </a:r>
          </a:p>
          <a:p xmlns:a="http://schemas.openxmlformats.org/drawingml/2006/main">
            <a:r>
              <a:t>루소가 말한 '아이보다 앞서지 않는' 교육처럼 — 딱 한 걸음 앞서 기다리는 리더가 되고 싶었다.</a:t>
            </a:r>
          </a:p>
          <a:p xmlns:a="http://schemas.openxmlformats.org/drawingml/2006/main">
            <a:r>
              <a:t>01   세일즈웍스의 첫 번째 목표여서</a:t>
            </a:r>
          </a:p>
          <a:p xmlns:a="http://schemas.openxmlformats.org/drawingml/2006/main">
            <a:r>
              <a:t>02   내 가치관이 담긴 팀을 만들 수 있어서</a:t>
            </a:r>
          </a:p>
          <a:p xmlns:a="http://schemas.openxmlformats.org/drawingml/2006/main">
            <a:r>
              <a:t>03   누군가의 리더가 된다는 것이 기뻐서</a:t>
            </a:r>
          </a:p>
          <a:p xmlns:a="http://schemas.openxmlformats.org/drawingml/2006/main">
            <a:r>
              <a:t>04   'OO리'라 불리는 친근함이 좋아서</a:t>
            </a:r>
          </a:p>
          <a:p xmlns:a="http://schemas.openxmlformats.org/drawingml/2006/main">
            <a:r>
              <a:t>05   조끼·피치카드·사물함을 쓸 수 있어서</a:t>
            </a:r>
          </a:p>
          <a:p xmlns:a="http://schemas.openxmlformats.org/drawingml/2006/main">
            <a:r>
              <a:t>06   리더라는 위치가 동기부여가 되어서</a:t>
            </a:r>
          </a:p>
          <a:p xmlns:a="http://schemas.openxmlformats.org/drawingml/2006/main">
            <a:r>
              <a:t>07   상위 프로모션에 도전할 수 있어서</a:t>
            </a:r>
          </a:p>
          <a:p xmlns:a="http://schemas.openxmlformats.org/drawingml/2006/main">
            <a:r>
              <a:t>08   리더힛 부담이 아닌 더 큰 비전으로</a:t>
            </a:r>
          </a:p>
          <a:p xmlns:a="http://schemas.openxmlformats.org/drawingml/2006/main">
            <a:r>
              <a:t>09   섬기고 돕는 자리에서만 배울 수 있어서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10</a:t>
            </a:r>
          </a:p>
          <a:p xmlns:a="http://schemas.openxmlformats.org/drawingml/2006/main">
            <a:r>
              <a:t>이런 리더가 되고 싶어서</a:t>
            </a:r>
          </a:p>
          <a:p xmlns:a="http://schemas.openxmlformats.org/drawingml/2006/main">
            <a:r>
              <a:t>아주 먼 곳까지 내다보되, 앞서 달음박질하지 않고</a:t>
            </a:r>
          </a:p>
          <a:p xmlns:a="http://schemas.openxmlformats.org/drawingml/2006/main">
            <a:r>
              <a:t>언제든 따라올 수 있도록 딱 한 걸음 앞서 기다릴 줄 아는 리더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27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ONE-PAGE GUIDE</a:t>
            </a:r>
          </a:p>
          <a:p xmlns:a="http://schemas.openxmlformats.org/drawingml/2006/main">
            <a:r>
              <a:t>신입 트레이닝 1–3일, 한 장 요약</a:t>
            </a:r>
          </a:p>
          <a:p xmlns:a="http://schemas.openxmlformats.org/drawingml/2006/main">
            <a:r>
              <a:t>나가면 반드시 세일즈하는 신입으로</a:t>
            </a:r>
          </a:p>
          <a:p xmlns:a="http://schemas.openxmlformats.org/drawingml/2006/main">
            <a:r>
              <a:t>DAY별 필수 액션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 1</a:t>
            </a:r>
          </a:p>
          <a:p xmlns:a="http://schemas.openxmlformats.org/drawingml/2006/main">
            <a:r>
              <a:t>경험</a:t>
            </a:r>
          </a:p>
          <a:p xmlns:a="http://schemas.openxmlformats.org/drawingml/2006/main">
            <a:r>
              <a:t>2시간 뛰게 한 뒤 반응·태도 관찰</a:t>
            </a:r>
          </a:p>
          <a:p xmlns:a="http://schemas.openxmlformats.org/drawingml/2006/main">
            <a:r>
              <a:t>트레이너가 직접 쇼잉</a:t>
            </a:r>
          </a:p>
          <a:p xmlns:a="http://schemas.openxmlformats.org/drawingml/2006/main">
            <a:r>
              <a:t>두려움 제거 · 프리엠티브</a:t>
            </a:r>
          </a:p>
          <a:p xmlns:a="http://schemas.openxmlformats.org/drawingml/2006/main">
            <a:r>
              <a:t>제로 방지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 2</a:t>
            </a:r>
          </a:p>
          <a:p xmlns:a="http://schemas.openxmlformats.org/drawingml/2006/main">
            <a:r>
              <a:t>학습</a:t>
            </a:r>
          </a:p>
          <a:p xmlns:a="http://schemas.openxmlformats.org/drawingml/2006/main">
            <a:r>
              <a:t>첫 세일즈 1개 함께 달성(필수)</a:t>
            </a:r>
          </a:p>
          <a:p xmlns:a="http://schemas.openxmlformats.org/drawingml/2006/main">
            <a:r>
              <a:t>학습력 · 성장성 체크</a:t>
            </a:r>
          </a:p>
          <a:p xmlns:a="http://schemas.openxmlformats.org/drawingml/2006/main">
            <a:r>
              <a:t>첫날 대비 개선점 피드백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 3</a:t>
            </a:r>
          </a:p>
          <a:p xmlns:a="http://schemas.openxmlformats.org/drawingml/2006/main">
            <a:r>
              <a:t>판단</a:t>
            </a:r>
          </a:p>
          <a:p xmlns:a="http://schemas.openxmlformats.org/drawingml/2006/main">
            <a:r>
              <a:t>전략적 사이트 선택</a:t>
            </a:r>
          </a:p>
          <a:p xmlns:a="http://schemas.openxmlformats.org/drawingml/2006/main">
            <a:r>
              <a:t>3일 성과 패턴으로 판단</a:t>
            </a:r>
          </a:p>
          <a:p xmlns:a="http://schemas.openxmlformats.org/drawingml/2006/main">
            <a:r>
              <a:t>Stay / Qualifying 결정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가져야 할 태도</a:t>
            </a:r>
          </a:p>
          <a:p xmlns:a="http://schemas.openxmlformats.org/drawingml/2006/main">
            <a:r>
              <a:t>성취감 제공 · 인정과 칭찬</a:t>
            </a:r>
          </a:p>
          <a:p xmlns:a="http://schemas.openxmlformats.org/drawingml/2006/main">
            <a:r>
              <a:t>혼냄보다 스스로 깨닫게 (앞서지 않기)</a:t>
            </a:r>
          </a:p>
          <a:p xmlns:a="http://schemas.openxmlformats.org/drawingml/2006/main">
            <a:r>
              <a:t>불안·두려움을 케어해 필드에 집중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갖춰야 할 스킬</a:t>
            </a:r>
          </a:p>
          <a:p xmlns:a="http://schemas.openxmlformats.org/drawingml/2006/main">
            <a:r>
              <a:t>5 Step : Intro·Short Story·Presentation·Closing·Rehash</a:t>
            </a:r>
          </a:p>
          <a:p xmlns:a="http://schemas.openxmlformats.org/drawingml/2006/main">
            <a:r>
              <a:t>TAAIS 클로징 · 쿠션 멘트</a:t>
            </a:r>
          </a:p>
          <a:p xmlns:a="http://schemas.openxmlformats.org/drawingml/2006/main">
            <a:r>
              <a:t>약점별 보강 : 리액션·스트릿·클로징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매일 점검 체크리스트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사이트를 준비해 넘버를 쌓게 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약한 스킬을 필드에서 바로 보강했는가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두려움을 제거해 집중하게 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신입의 콜백싯을 함께 점검했는가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28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Presence Team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Thank you</a:t>
            </a:r>
          </a:p>
          <a:p xmlns:a="http://schemas.openxmlformats.org/drawingml/2006/main">
            <a:r>
              <a:t>후원의 기쁨과 가치를 전할 수 있는 곳이라면 어디든 가는 사람</a:t>
            </a:r>
          </a:p>
          <a:p xmlns:a="http://schemas.openxmlformats.org/drawingml/2006/main">
            <a:r>
              <a:t>임재영 AOP</a:t>
            </a:r>
          </a:p>
          <a:p xmlns:a="http://schemas.openxmlformats.org/drawingml/2006/main">
            <a:r>
              <a:t>☎  Tel : 010-5178-1713        ✉  e-mail : jaeyoung5178@naver.com</a:t>
            </a:r>
          </a:p>
          <a:p xmlns:a="http://schemas.openxmlformats.org/drawingml/2006/main">
            <a:r>
              <a:t>기타 궁금하거나 질문이 있으시면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29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e7bb694d62465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a55d77073a428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d4febb6de2456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16d7610d2643b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7b95ef80954fc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b321fc7a114af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F96A0BD-D0B3-4878-A47C-D5A3D1FA5DE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F86ACC2-1A57-4C74-967A-2B47B9EE6F2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38C482A-D5AE-4F50-A999-4E71624C46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E642C36-6DF8-4ECF-9795-25E65E1E81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05B2620-F7A9-420F-9386-E6BD359B0A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F99EC7D-302E-4626-BD45-24DFDC8BBA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9058E5C-82A6-4B79-A3B6-BB4C2DB26B0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BBC8C0F-3B1F-4F27-AF19-9C2AEF47A7A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DA18B98-F606-4DB0-9FEB-75D37D8B7B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2E41B3B-869C-46DB-BB1F-2CC1A383D16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9bc13df0a5c425b" /><Relationship Type="http://schemas.openxmlformats.org/officeDocument/2006/relationships/slideLayout" Target="/ppt/slideLayouts/slideLayout1.xml" Id="Rdf93542cd4d6471e" /><Relationship Type="http://schemas.openxmlformats.org/officeDocument/2006/relationships/slideLayout" Target="/ppt/slideLayouts/slideLayout2.xml" Id="Rb6deea3ab39a4fa2" /><Relationship Type="http://schemas.openxmlformats.org/officeDocument/2006/relationships/slideLayout" Target="/ppt/slideLayouts/slideLayout3.xml" Id="Re455b4ac97af40ec" /><Relationship Type="http://schemas.openxmlformats.org/officeDocument/2006/relationships/slideLayout" Target="/ppt/slideLayouts/slideLayout4.xml" Id="R72673a02fdcf4ce3" /><Relationship Type="http://schemas.openxmlformats.org/officeDocument/2006/relationships/slideLayout" Target="/ppt/slideLayouts/slideLayout5.xml" Id="Rcca82899a47148e3" /><Relationship Type="http://schemas.openxmlformats.org/officeDocument/2006/relationships/slideLayout" Target="/ppt/slideLayouts/slideLayout6.xml" Id="Rd87f5fd28e1c436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f93542cd4d6471e"/>
    <p:sldLayoutId xmlns:r="http://schemas.openxmlformats.org/officeDocument/2006/relationships" id="2147483650" r:id="Rb6deea3ab39a4fa2"/>
    <p:sldLayoutId xmlns:r="http://schemas.openxmlformats.org/officeDocument/2006/relationships" id="2147483651" r:id="Re455b4ac97af40ec"/>
    <p:sldLayoutId xmlns:r="http://schemas.openxmlformats.org/officeDocument/2006/relationships" id="2147483652" r:id="R72673a02fdcf4ce3"/>
    <p:sldLayoutId xmlns:r="http://schemas.openxmlformats.org/officeDocument/2006/relationships" id="2147483653" r:id="Rcca82899a47148e3"/>
    <p:sldLayoutId xmlns:r="http://schemas.openxmlformats.org/officeDocument/2006/relationships" id="2147483654" r:id="Rd87f5fd28e1c436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0585ddbcd04266" /><Relationship Type="http://schemas.openxmlformats.org/officeDocument/2006/relationships/image" Target="/ppt/media/image.jpeg" Id="Raed8217baadc4fa8" /><Relationship Type="http://schemas.openxmlformats.org/officeDocument/2006/relationships/notesSlide" Target="/ppt/notesSlides/notesSlide1.xml" Id="R9508b79164a74eb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055a88062648a5" /><Relationship Type="http://schemas.openxmlformats.org/officeDocument/2006/relationships/notesSlide" Target="/ppt/notesSlides/notesSlide2.xml" Id="R10086cfff7a0434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994751e0074ba1" /><Relationship Type="http://schemas.openxmlformats.org/officeDocument/2006/relationships/notesSlide" Target="/ppt/notesSlides/notesSlide3.xml" Id="Re87b5a377209440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8e8f322c9634197" /><Relationship Type="http://schemas.openxmlformats.org/officeDocument/2006/relationships/image" Target="/ppt/media/image2.jpeg" Id="Re5c2be62132d409e" /><Relationship Type="http://schemas.openxmlformats.org/officeDocument/2006/relationships/notesSlide" Target="/ppt/notesSlides/notesSlide4.xml" Id="Rdb4904835a49452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186684f0bb41b4" /><Relationship Type="http://schemas.openxmlformats.org/officeDocument/2006/relationships/notesSlide" Target="/ppt/notesSlides/notesSlide5.xml" Id="Re93ca8a15fb741f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fff507d5994d12" /><Relationship Type="http://schemas.openxmlformats.org/officeDocument/2006/relationships/image" Target="/ppt/media/image3.jpeg" Id="R702e0d4e2346438a" /><Relationship Type="http://schemas.openxmlformats.org/officeDocument/2006/relationships/notesSlide" Target="/ppt/notesSlides/notesSlide6.xml" Id="R5616eb1f23a0453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ae4e906fba4a47" /><Relationship Type="http://schemas.openxmlformats.org/officeDocument/2006/relationships/image" Target="/ppt/media/image.png" Id="Rd9e611d3e8f94c57" /><Relationship Type="http://schemas.openxmlformats.org/officeDocument/2006/relationships/image" Target="/ppt/media/image2.png" Id="Rc9cd19860deb487f" /><Relationship Type="http://schemas.openxmlformats.org/officeDocument/2006/relationships/image" Target="/ppt/media/image3.png" Id="R0381012e7a534a4b" /><Relationship Type="http://schemas.openxmlformats.org/officeDocument/2006/relationships/notesSlide" Target="/ppt/notesSlides/notesSlide7.xml" Id="R9efc0493e91d4cd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9ae0f9d990484e" /><Relationship Type="http://schemas.openxmlformats.org/officeDocument/2006/relationships/image" Target="/ppt/media/image4.jpeg" Id="R9e6f8f7ce4054d8b" /><Relationship Type="http://schemas.openxmlformats.org/officeDocument/2006/relationships/notesSlide" Target="/ppt/notesSlides/notesSlide8.xml" Id="R9fbd750376e848e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5f3e348b4f14197" /><Relationship Type="http://schemas.openxmlformats.org/officeDocument/2006/relationships/image" Target="/ppt/media/image4.png" Id="R519198f4be2e4ee9" /><Relationship Type="http://schemas.openxmlformats.org/officeDocument/2006/relationships/image" Target="/ppt/media/image5.png" Id="R753bf0953be14bfc" /><Relationship Type="http://schemas.openxmlformats.org/officeDocument/2006/relationships/image" Target="/ppt/media/image6.png" Id="R196937cc815f4289" /><Relationship Type="http://schemas.openxmlformats.org/officeDocument/2006/relationships/image" Target="/ppt/media/image7.png" Id="R3dba6c4c0a47475e" /><Relationship Type="http://schemas.openxmlformats.org/officeDocument/2006/relationships/notesSlide" Target="/ppt/notesSlides/notesSlide9.xml" Id="R4805c866c7c149a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abb1badbe094936" /><Relationship Type="http://schemas.openxmlformats.org/officeDocument/2006/relationships/notesSlide" Target="/ppt/notesSlides/notesSlide10.xml" Id="R2c23fadf2a7a419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bacce7197f41a6" /><Relationship Type="http://schemas.openxmlformats.org/officeDocument/2006/relationships/notesSlide" Target="/ppt/notesSlides/notesSlide11.xml" Id="R38eb443a4e704ee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40bc48019d48e8" /><Relationship Type="http://schemas.openxmlformats.org/officeDocument/2006/relationships/image" Target="/ppt/media/image5.jpeg" Id="R80a6bf259b77465f" /><Relationship Type="http://schemas.openxmlformats.org/officeDocument/2006/relationships/notesSlide" Target="/ppt/notesSlides/notesSlide12.xml" Id="R384f02b3602648d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77b0d0112154a2a" /><Relationship Type="http://schemas.openxmlformats.org/officeDocument/2006/relationships/image" Target="/ppt/media/image8.png" Id="Rbbddbb0d11c7417f" /><Relationship Type="http://schemas.openxmlformats.org/officeDocument/2006/relationships/image" Target="/ppt/media/image9.png" Id="Rccd88d4326f54a18" /><Relationship Type="http://schemas.openxmlformats.org/officeDocument/2006/relationships/notesSlide" Target="/ppt/notesSlides/notesSlide13.xml" Id="R9f3ef9257f83459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2952461fe94ae1" /><Relationship Type="http://schemas.openxmlformats.org/officeDocument/2006/relationships/image" Target="/ppt/media/image6.jpeg" Id="R9b18a05ce60447f9" /><Relationship Type="http://schemas.openxmlformats.org/officeDocument/2006/relationships/notesSlide" Target="/ppt/notesSlides/notesSlide14.xml" Id="R18f201440ec24b6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14d3b16efa46b4" /><Relationship Type="http://schemas.openxmlformats.org/officeDocument/2006/relationships/image" Target="/ppt/media/image7.jpeg" Id="Rcafd68d6fb8b4d1d" /><Relationship Type="http://schemas.openxmlformats.org/officeDocument/2006/relationships/notesSlide" Target="/ppt/notesSlides/notesSlide15.xml" Id="R1e8430930b48467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93cbafc0664503" /><Relationship Type="http://schemas.openxmlformats.org/officeDocument/2006/relationships/image" Target="/ppt/media/image10.png" Id="Rc7e0ae14f1754f89" /><Relationship Type="http://schemas.openxmlformats.org/officeDocument/2006/relationships/image" Target="/ppt/media/image11.png" Id="Re6ffcf216f49405e" /><Relationship Type="http://schemas.openxmlformats.org/officeDocument/2006/relationships/image" Target="/ppt/media/image12.png" Id="Rf92e7a8060ad4b31" /><Relationship Type="http://schemas.openxmlformats.org/officeDocument/2006/relationships/image" Target="/ppt/media/image13.png" Id="R801ab27999d04c76" /><Relationship Type="http://schemas.openxmlformats.org/officeDocument/2006/relationships/notesSlide" Target="/ppt/notesSlides/notesSlide16.xml" Id="Rfa27dc5729d24bb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339cfef78e4a47" /><Relationship Type="http://schemas.openxmlformats.org/officeDocument/2006/relationships/image" Target="/ppt/media/image8.jpeg" Id="R6b21baf85e38400e" /><Relationship Type="http://schemas.openxmlformats.org/officeDocument/2006/relationships/notesSlide" Target="/ppt/notesSlides/notesSlide17.xml" Id="Rfd78b5735bad4b6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f2774fa4744675" /><Relationship Type="http://schemas.openxmlformats.org/officeDocument/2006/relationships/image" Target="/ppt/media/image14.png" Id="R541176a5541c461e" /><Relationship Type="http://schemas.openxmlformats.org/officeDocument/2006/relationships/image" Target="/ppt/media/image15.png" Id="R64890813170d4cb0" /><Relationship Type="http://schemas.openxmlformats.org/officeDocument/2006/relationships/image" Target="/ppt/media/image16.png" Id="Rfeb8a5f62b994657" /><Relationship Type="http://schemas.openxmlformats.org/officeDocument/2006/relationships/notesSlide" Target="/ppt/notesSlides/notesSlide18.xml" Id="Rd97878d646eb492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30d03a63644e1c" /><Relationship Type="http://schemas.openxmlformats.org/officeDocument/2006/relationships/notesSlide" Target="/ppt/notesSlides/notesSlide19.xml" Id="R4fede958c8b3462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93db11fc254273" /><Relationship Type="http://schemas.openxmlformats.org/officeDocument/2006/relationships/image" Target="/ppt/media/image17.png" Id="Re4ddd443822a46fb" /><Relationship Type="http://schemas.openxmlformats.org/officeDocument/2006/relationships/image" Target="/ppt/media/image18.png" Id="Rd30f5e260e3440e2" /><Relationship Type="http://schemas.openxmlformats.org/officeDocument/2006/relationships/notesSlide" Target="/ppt/notesSlides/notesSlide20.xml" Id="R55e6fe862e314d2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6fe0133c9e4014" /><Relationship Type="http://schemas.openxmlformats.org/officeDocument/2006/relationships/notesSlide" Target="/ppt/notesSlides/notesSlide21.xml" Id="Rb22eff40f3734b9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1df08e52a0143c8" /><Relationship Type="http://schemas.openxmlformats.org/officeDocument/2006/relationships/image" Target="/ppt/media/image19.png" Id="R33f31b3cbbec4d4d" /><Relationship Type="http://schemas.openxmlformats.org/officeDocument/2006/relationships/image" Target="/ppt/media/image20.png" Id="Rff39fb1a77ab4611" /><Relationship Type="http://schemas.openxmlformats.org/officeDocument/2006/relationships/notesSlide" Target="/ppt/notesSlides/notesSlide22.xml" Id="R967e5fcbb9834dd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286e50e4904a08" /><Relationship Type="http://schemas.openxmlformats.org/officeDocument/2006/relationships/image" Target="/ppt/media/image21.png" Id="R61f630ed5e044265" /><Relationship Type="http://schemas.openxmlformats.org/officeDocument/2006/relationships/image" Target="/ppt/media/image22.png" Id="R3864f1b945e24df6" /><Relationship Type="http://schemas.openxmlformats.org/officeDocument/2006/relationships/notesSlide" Target="/ppt/notesSlides/notesSlide23.xml" Id="Rb5db970b15b247bd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5f54c249604ec8" /><Relationship Type="http://schemas.openxmlformats.org/officeDocument/2006/relationships/notesSlide" Target="/ppt/notesSlides/notesSlide24.xml" Id="Rc3687c3ccc6d4cb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8d59e63f9f4a62" /><Relationship Type="http://schemas.openxmlformats.org/officeDocument/2006/relationships/notesSlide" Target="/ppt/notesSlides/notesSlide25.xml" Id="R283f6c9dcc3149ca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e95f43e9af4c85" /><Relationship Type="http://schemas.openxmlformats.org/officeDocument/2006/relationships/image" Target="/ppt/media/image23.png" Id="Rac72b3337e7848eb" /><Relationship Type="http://schemas.openxmlformats.org/officeDocument/2006/relationships/image" Target="/ppt/media/image24.png" Id="R0548159119064fd1" /><Relationship Type="http://schemas.openxmlformats.org/officeDocument/2006/relationships/image" Target="/ppt/media/image25.png" Id="R52b57d5cae644b90" /><Relationship Type="http://schemas.openxmlformats.org/officeDocument/2006/relationships/image" Target="/ppt/media/image26.png" Id="R0f81807cd563405e" /><Relationship Type="http://schemas.openxmlformats.org/officeDocument/2006/relationships/notesSlide" Target="/ppt/notesSlides/notesSlide26.xml" Id="Rf1a0d36f4fb64392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7cf74830694b16" /><Relationship Type="http://schemas.openxmlformats.org/officeDocument/2006/relationships/notesSlide" Target="/ppt/notesSlides/notesSlide27.xml" Id="Rb310e826240a4f42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e0e8ee21bd40c5" /><Relationship Type="http://schemas.openxmlformats.org/officeDocument/2006/relationships/image" Target="/ppt/media/image27.png" Id="R827577b830954a05" /><Relationship Type="http://schemas.openxmlformats.org/officeDocument/2006/relationships/image" Target="/ppt/media/image28.png" Id="Rf93b8303c8ef4a2c" /><Relationship Type="http://schemas.openxmlformats.org/officeDocument/2006/relationships/image" Target="/ppt/media/image29.png" Id="Rbb0bdbc2c9084869" /><Relationship Type="http://schemas.openxmlformats.org/officeDocument/2006/relationships/image" Target="/ppt/media/image30.png" Id="Rf41d1caca1534fc0" /><Relationship Type="http://schemas.openxmlformats.org/officeDocument/2006/relationships/image" Target="/ppt/media/image31.png" Id="R13024d467b544d4a" /><Relationship Type="http://schemas.openxmlformats.org/officeDocument/2006/relationships/image" Target="/ppt/media/image32.png" Id="R25b3a993e7994e19" /><Relationship Type="http://schemas.openxmlformats.org/officeDocument/2006/relationships/notesSlide" Target="/ppt/notesSlides/notesSlide28.xml" Id="Rb44955b85067483a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c84e3e043df4b89" /><Relationship Type="http://schemas.openxmlformats.org/officeDocument/2006/relationships/image" Target="/ppt/media/image33.png" Id="Re2670df969654721" /><Relationship Type="http://schemas.openxmlformats.org/officeDocument/2006/relationships/image" Target="/ppt/media/image34.png" Id="R64bdb6cfcfc24743" /><Relationship Type="http://schemas.openxmlformats.org/officeDocument/2006/relationships/image" Target="/ppt/media/image35.png" Id="Rd4d6ee6058fe4bf8" /><Relationship Type="http://schemas.openxmlformats.org/officeDocument/2006/relationships/image" Target="/ppt/media/image36.png" Id="R2dd55bac66124638" /><Relationship Type="http://schemas.openxmlformats.org/officeDocument/2006/relationships/image" Target="/ppt/media/image37.png" Id="R073df7e4efa04dbb" /><Relationship Type="http://schemas.openxmlformats.org/officeDocument/2006/relationships/image" Target="/ppt/media/image38.png" Id="R3fdd2d83eac4450f" /><Relationship Type="http://schemas.openxmlformats.org/officeDocument/2006/relationships/notesSlide" Target="/ppt/notesSlides/notesSlide29.xml" Id="R3f0372b3d8444677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4683fc4a204fc8" /><Relationship Type="http://schemas.openxmlformats.org/officeDocument/2006/relationships/image" Target="/ppt/media/image9.jpeg" Id="Ra9f96333b3e040af" /><Relationship Type="http://schemas.openxmlformats.org/officeDocument/2006/relationships/image" Target="/ppt/media/image39.png" Id="Re0de8103433f42e7" /><Relationship Type="http://schemas.openxmlformats.org/officeDocument/2006/relationships/image" Target="/ppt/media/image40.png" Id="R0d3783bb437348f5" /><Relationship Type="http://schemas.openxmlformats.org/officeDocument/2006/relationships/notesSlide" Target="/ppt/notesSlides/notesSlide30.xml" Id="R090256b603ca46a0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e1522229f74ff5" /><Relationship Type="http://schemas.openxmlformats.org/officeDocument/2006/relationships/notesSlide" Target="/ppt/notesSlides/notesSlide31.xml" Id="Rb0aad928ed524c6b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dcabd9862d40f9" /><Relationship Type="http://schemas.openxmlformats.org/officeDocument/2006/relationships/image" Target="/ppt/media/image10.jpeg" Id="R6fc5184690fd452e" /><Relationship Type="http://schemas.openxmlformats.org/officeDocument/2006/relationships/notesSlide" Target="/ppt/notesSlides/notesSlide32.xml" Id="R0b0cd99509644fca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913c51d7be4fda" /><Relationship Type="http://schemas.openxmlformats.org/officeDocument/2006/relationships/image" Target="/ppt/media/image41.png" Id="Rc8988a9c1ea44164" /><Relationship Type="http://schemas.openxmlformats.org/officeDocument/2006/relationships/image" Target="/ppt/media/image42.png" Id="R8c9c43c8a13c4c0c" /><Relationship Type="http://schemas.openxmlformats.org/officeDocument/2006/relationships/image" Target="/ppt/media/image43.png" Id="Rac614905a5714ac9" /><Relationship Type="http://schemas.openxmlformats.org/officeDocument/2006/relationships/image" Target="/ppt/media/image44.png" Id="R699b7f92676d430b" /><Relationship Type="http://schemas.openxmlformats.org/officeDocument/2006/relationships/image" Target="/ppt/media/image45.png" Id="Rd3cb3b93141f4415" /><Relationship Type="http://schemas.openxmlformats.org/officeDocument/2006/relationships/notesSlide" Target="/ppt/notesSlides/notesSlide33.xml" Id="R8a9a192e61ed4cae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9af0a077b2457d" /><Relationship Type="http://schemas.openxmlformats.org/officeDocument/2006/relationships/image" Target="/ppt/media/image46.png" Id="R494367aebc9f4a51" /><Relationship Type="http://schemas.openxmlformats.org/officeDocument/2006/relationships/notesSlide" Target="/ppt/notesSlides/notesSlide34.xml" Id="Rb71231e2482d4183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7cbf8f0ea743ad" /><Relationship Type="http://schemas.openxmlformats.org/officeDocument/2006/relationships/notesSlide" Target="/ppt/notesSlides/notesSlide35.xml" Id="Ra6dc45328bb64f06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b860a25e30439e" /><Relationship Type="http://schemas.openxmlformats.org/officeDocument/2006/relationships/notesSlide" Target="/ppt/notesSlides/notesSlide36.xml" Id="Reb096a964def4c87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b089648f514079" /><Relationship Type="http://schemas.openxmlformats.org/officeDocument/2006/relationships/notesSlide" Target="/ppt/notesSlides/notesSlide37.xml" Id="Ra51f884d190e490e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34beec0a704955" /><Relationship Type="http://schemas.openxmlformats.org/officeDocument/2006/relationships/image" Target="/ppt/media/image11.jpeg" Id="Rc0ee5997442b4743" /><Relationship Type="http://schemas.openxmlformats.org/officeDocument/2006/relationships/notesSlide" Target="/ppt/notesSlides/notesSlide38.xml" Id="R786c2d1e927a473d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596dccf99646ff" /><Relationship Type="http://schemas.openxmlformats.org/officeDocument/2006/relationships/image" Target="/ppt/media/image12.jpeg" Id="R24b97bbcdcd84ba4" /><Relationship Type="http://schemas.openxmlformats.org/officeDocument/2006/relationships/notesSlide" Target="/ppt/notesSlides/notesSlide39.xml" Id="Red48a6ae380543af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b4391af30245f8" /><Relationship Type="http://schemas.openxmlformats.org/officeDocument/2006/relationships/image" Target="/ppt/media/image47.png" Id="R91036d5183834faf" /><Relationship Type="http://schemas.openxmlformats.org/officeDocument/2006/relationships/image" Target="/ppt/media/image48.png" Id="Rc57ac056f1d64d4c" /><Relationship Type="http://schemas.openxmlformats.org/officeDocument/2006/relationships/image" Target="/ppt/media/image49.png" Id="R2dcffc66c59a44c9" /><Relationship Type="http://schemas.openxmlformats.org/officeDocument/2006/relationships/notesSlide" Target="/ppt/notesSlides/notesSlide40.xml" Id="R02d1e2c1e3ba4077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a5b0cfe3f341b5" /><Relationship Type="http://schemas.openxmlformats.org/officeDocument/2006/relationships/image" Target="/ppt/media/image50.png" Id="R5948ba3664ad470f" /><Relationship Type="http://schemas.openxmlformats.org/officeDocument/2006/relationships/image" Target="/ppt/media/image51.png" Id="Rd6007065aac34b3d" /><Relationship Type="http://schemas.openxmlformats.org/officeDocument/2006/relationships/notesSlide" Target="/ppt/notesSlides/notesSlide41.xml" Id="R79a8d0fb40294fac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0ef4f14925446b" /><Relationship Type="http://schemas.openxmlformats.org/officeDocument/2006/relationships/notesSlide" Target="/ppt/notesSlides/notesSlide42.xml" Id="R5e0b074cd64d4a47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9fff19f5034e6f" /><Relationship Type="http://schemas.openxmlformats.org/officeDocument/2006/relationships/notesSlide" Target="/ppt/notesSlides/notesSlide43.xml" Id="R5f7ef3c3a2f149f7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b2f733ded84928" /><Relationship Type="http://schemas.openxmlformats.org/officeDocument/2006/relationships/image" Target="/ppt/media/image52.png" Id="R16c4fc4cc18b45be" /><Relationship Type="http://schemas.openxmlformats.org/officeDocument/2006/relationships/image" Target="/ppt/media/image53.png" Id="Rd67e88f4456e4811" /><Relationship Type="http://schemas.openxmlformats.org/officeDocument/2006/relationships/notesSlide" Target="/ppt/notesSlides/notesSlide44.xml" Id="Rd49523f5b30f4e8b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83161ee475a4573" /><Relationship Type="http://schemas.openxmlformats.org/officeDocument/2006/relationships/image" Target="/ppt/media/image13.jpeg" Id="R74e8ea5eb3aa4164" /><Relationship Type="http://schemas.openxmlformats.org/officeDocument/2006/relationships/notesSlide" Target="/ppt/notesSlides/notesSlide45.xml" Id="Rb2c0b8d22c024a4a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21413f1bbb46b7" /><Relationship Type="http://schemas.openxmlformats.org/officeDocument/2006/relationships/notesSlide" Target="/ppt/notesSlides/notesSlide46.xml" Id="R5d0d7d6dbd65400d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22249927db43e3" /><Relationship Type="http://schemas.openxmlformats.org/officeDocument/2006/relationships/notesSlide" Target="/ppt/notesSlides/notesSlide47.xml" Id="Re071de131c5b49e6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0ed0d5df96d4084" /><Relationship Type="http://schemas.openxmlformats.org/officeDocument/2006/relationships/image" Target="/ppt/media/image14.jpeg" Id="Refeb01edf44449cd" /><Relationship Type="http://schemas.openxmlformats.org/officeDocument/2006/relationships/notesSlide" Target="/ppt/notesSlides/notesSlide48.xml" Id="R397e55c48fba4b3b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e89dd0a4a2473f" /><Relationship Type="http://schemas.openxmlformats.org/officeDocument/2006/relationships/notesSlide" Target="/ppt/notesSlides/notesSlide49.xml" Id="R245ea2df878e47ca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c8b9a05d724a9a" /><Relationship Type="http://schemas.openxmlformats.org/officeDocument/2006/relationships/image" Target="/ppt/media/image15.jpeg" Id="R9f579e3695e34e68" /><Relationship Type="http://schemas.openxmlformats.org/officeDocument/2006/relationships/notesSlide" Target="/ppt/notesSlides/notesSlide50.xml" Id="R45bd2114ce62423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75D884-F640-477B-8933-1CC31992325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d8217baadc4fa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8EF77E-D124-480E-BFA8-094293912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임재영 AOP · PRESENCE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F3A93F-7F69-4939-9F03-8405CCDA3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92392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2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2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2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딱 한 걸음 앞서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D575C9-3649-441C-BD58-B6BD2E10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38475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 IC 트레이닝 가이드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F1F513-E251-4262-AC6A-71C24123A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905250"/>
            <a:ext cx="7620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먼저 배우고 싶게 만들라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피드백 전에 관찰하라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38F10A-470D-48D4-9F57-186F1E833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81675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임재영 AOP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1CA7D7-479E-43B8-B2BE-6CA9207A7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01 / 50</a:t>
            </a:r>
          </a:p>
        </p:txBody>
      </p:sp>
    </p:spTree>
    <p:extLst>
      <p:ext uri="{BB962C8B-B14F-4D97-AF65-F5344CB8AC3E}">
        <p14:creationId xmlns:p14="http://schemas.microsoft.com/office/powerpoint/2010/main" val="99470991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1E7E16-78D3-49E9-A1C7-C50955AEC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INTRO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FB542D-F8AF-4AA1-A35C-2EA8663D5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다음 중 관련 있는 분야는?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2B9557-6F2C-4848-9BFC-445FBEFDA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잠시, 함께 생각해 봅시다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C848C6-22D6-472E-AB9D-09E73A091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7AF2E4-89F7-49CB-8A8F-A5270A674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14625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자동차운전면허증(1종)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33A30F-82FA-44B8-9B6C-C0452FC4A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14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DEB49F-2D7D-4CAE-B282-882CA01D7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714625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대형면허 자격증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3C937E-7CAA-4EAD-AAC1-E0B3445BF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48063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EBCD08-0AE3-4C79-9FC8-51BD14525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48063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복어조리기능사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A2CF82-6253-4C89-B504-C2AC950DA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48063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3F4D3A-F8CE-4474-88A5-31964DC39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548063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제빵기능사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ADB056-D98F-49FD-A832-BF3205760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0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4D7060-4355-41AF-A2E9-F7AE0AD27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381500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지게차 운전기능사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0E99B8-2C10-4FD8-A596-307DDC6E3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81500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4A8044-5B2E-4064-812E-0514EE3B5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381500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코칭(다문화)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993F8D-4BAD-4620-8DD0-D61868495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4938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07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7561CC-2704-43AF-A66F-5630CACB7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14938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용접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18FE9D-8564-4B1E-90DD-E803F8B53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4938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DCBA3F-3E7B-42EC-8722-A19424B8C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5214938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신학 석사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82CE58-158B-4267-ACC3-3558C7995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02 / 50</a:t>
            </a:r>
          </a:p>
        </p:txBody>
      </p:sp>
    </p:spTree>
    <p:extLst>
      <p:ext uri="{BB962C8B-B14F-4D97-AF65-F5344CB8AC3E}">
        <p14:creationId xmlns:p14="http://schemas.microsoft.com/office/powerpoint/2010/main" val="192389810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C597B1-BD30-4E64-AA8A-89D6B90C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INTRO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314947-EE91-4361-B1A6-13F8313E3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트레이닝의 전체 흐름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A7DF5B-232D-48F8-BF47-CA1C13EF2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동기를 만들고, 관찰하고, 자립을 설계한다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39A904-26AA-4B16-94F7-63954B49C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326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47ECA6-214C-4E50-AD60-B6F68E162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76575"/>
            <a:ext cx="3263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철학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057887-7C58-4371-9E82-91EF65B0B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43300"/>
            <a:ext cx="3263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동기와 관찰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B13269-5FCA-485B-BB56-A3DF9A664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714625"/>
            <a:ext cx="326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D55191-4BE7-431A-A0FD-08C96AB68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3076575"/>
            <a:ext cx="3263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전제 조건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8507F1-5D05-4AD7-B727-8CA997152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3543300"/>
            <a:ext cx="3263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쇼잉과 스탠다드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13A373-8A20-4627-8B34-A4D1AA6D0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714625"/>
            <a:ext cx="326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A3B128-6E00-40C2-96E8-E414CE003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076575"/>
            <a:ext cx="3263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첫 3일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7E26E6-278F-4270-994D-C3024BF40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543300"/>
            <a:ext cx="3263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경험 · 학습 · 판단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B7DA1A-6B3C-4A66-BF7F-A787FE864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29125"/>
            <a:ext cx="326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DD4F7-E78E-48F0-ACAA-143AA9B1B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91075"/>
            <a:ext cx="3263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스킬과 피드백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E72020-0C06-499C-BBEC-8988C4EE9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57800"/>
            <a:ext cx="3263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5 Step · 타이밍 · 모델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8FA265-0528-476D-ADC8-4573A400C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4429125"/>
            <a:ext cx="326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A50302-F2E1-47F8-83DE-D723AE4F3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4791075"/>
            <a:ext cx="3263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6주 전략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421935-1AF0-427D-B3B6-FDB3B7BFB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5257800"/>
            <a:ext cx="3263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리더힛 · 로드트립 · Self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F4A383-8B74-4590-BA48-2D5772163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4429125"/>
            <a:ext cx="326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CA8655-DA01-4E94-BA4B-DA7763A96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4791075"/>
            <a:ext cx="3263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리더의 역할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58097E-521A-458C-9FEF-E2586FDA9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5257800"/>
            <a:ext cx="3263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성취 · 인정 · 결과 판단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C00368-9BC3-4F64-8101-07A08F28C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03 / 50</a:t>
            </a:r>
          </a:p>
        </p:txBody>
      </p:sp>
    </p:spTree>
    <p:extLst>
      <p:ext uri="{BB962C8B-B14F-4D97-AF65-F5344CB8AC3E}">
        <p14:creationId xmlns:p14="http://schemas.microsoft.com/office/powerpoint/2010/main" val="74417761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716360-B63F-40D8-8D36-430BE988609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c2be62132d409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B6716B-2637-4151-8A16-155AC0E97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철학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2D6F8D-AEA2-4605-B0CC-BEF48859C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먼저,</a:t>
            </a:r>
          </a:p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배우고 싶게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DD6615-818D-4B8C-ADE4-4A14A44BF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How to teach보다 먼저, Why they want to 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B06F45-AB51-49FC-837B-C197ABD7B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04 / 50</a:t>
            </a:r>
          </a:p>
        </p:txBody>
      </p:sp>
    </p:spTree>
    <p:extLst>
      <p:ext uri="{BB962C8B-B14F-4D97-AF65-F5344CB8AC3E}">
        <p14:creationId xmlns:p14="http://schemas.microsoft.com/office/powerpoint/2010/main" val="4948041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27D85C-9194-406E-9B92-A9B934F36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철학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03A7C9-F345-4B43-A8A5-6C2DC8DF6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배우고 싶은 마음이 생기는 과정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A5D542-8EBB-42BC-9EA8-DB067BB75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가르침은 그 의지 위에 얹는다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D68961-A4DB-4A9D-823D-5CEFD09DE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동기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175F81-9DAF-4F66-9921-D5FA3AD73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지식 전에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하고 싶다는 마음을 켠다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AFA67E-6277-4673-8CE1-C4F8EF54D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A80E57-2A69-4956-B378-E42F1242B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쇼잉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14C2AF-1EB4-441D-A867-395B77DF3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직접 보여줘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나도 저렇게 되고 싶게 한다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9AEC45-0CCE-44F0-A3BD-DCC6AE3B9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CC3D8A-442F-4E6E-A0CA-AF1E76DD7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작은 성공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944A41-2600-4914-BBC7-2C4C0D3F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스스로 해낸 성취감이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다음 학습 의지를 만든다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28439F-F68B-4C51-B779-0DFDBDDBA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5EC024-0ED1-462E-B9F4-BE5543EFA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05 / 50</a:t>
            </a:r>
          </a:p>
        </p:txBody>
      </p:sp>
    </p:spTree>
    <p:extLst>
      <p:ext uri="{BB962C8B-B14F-4D97-AF65-F5344CB8AC3E}">
        <p14:creationId xmlns:p14="http://schemas.microsoft.com/office/powerpoint/2010/main" val="163569065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1756CB-16E2-4700-A0DF-80114BD7FF6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2e0d4e2346438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96A040-0EB2-459C-8812-6869C78B3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장 자크 루소 · 『에밀』 제2권 · 원본 수록 번역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5F3374-A438-4A1F-A611-B081AA4EC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104775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시간을 잃어라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0C297C-CB02-4FF2-9E9A-3199ECA1E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24225"/>
            <a:ext cx="704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가장 유용한 교육 규칙은 시간을 버는 것이 아니라, 시간을 잃는 것이다.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F94524-B5EA-47F6-AF24-7199062CF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06 / 50</a:t>
            </a:r>
          </a:p>
        </p:txBody>
      </p:sp>
    </p:spTree>
    <p:extLst>
      <p:ext uri="{BB962C8B-B14F-4D97-AF65-F5344CB8AC3E}">
        <p14:creationId xmlns:p14="http://schemas.microsoft.com/office/powerpoint/2010/main" val="108761637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6EFDC7-3725-49C2-BF46-9321FC5A8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철학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32A0D0-6FB0-4CA1-8CE0-E96743FD1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가르치기 전에, 관찰하기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7A96D8-63B6-4AE7-92E3-CB6C7C47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소극적 교육 · Negative Education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DFA730-D323-4F19-B659-25F27E57B62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e611d3e8f94c57"/>
          <a:stretch xmlns:a="http://schemas.openxmlformats.org/drawingml/2006/main"/>
        </p:blipFill>
        <p:spPr>
          <a:xfrm xmlns:a="http://schemas.openxmlformats.org/drawingml/2006/main">
            <a:off x="828675" y="2743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52B44A-8C31-4FF1-B485-B865D8FFC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146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조급함이 가장 큰 위험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253ABE-ED70-4014-A11A-9DC036C2D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124200"/>
            <a:ext cx="100203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준비되지 않은 신입에게 주입하면 텅 빈 암기에 그치고 진짜 이해를 방해한다.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FA8C95-E4D0-4A88-8DDF-2A87042381D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cd19860deb487f"/>
          <a:stretch xmlns:a="http://schemas.openxmlformats.org/drawingml/2006/main"/>
        </p:blipFill>
        <p:spPr>
          <a:xfrm xmlns:a="http://schemas.openxmlformats.org/drawingml/2006/main">
            <a:off x="828675" y="38481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8DA2F9-8EA4-4337-B076-96E3BD017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8195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먼저, 이해한 만큼을 관찰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A73B25-5713-4D14-948D-CC295EE93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229100"/>
            <a:ext cx="100203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무엇을 어디까지 이해하고 있는지 관찰한다. 그 위에 필요한 것을 얹는다.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E11756-34FC-42BF-AA17-45662DC1CAD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81012e7a534a4b"/>
          <a:stretch xmlns:a="http://schemas.openxmlformats.org/drawingml/2006/main"/>
        </p:blipFill>
        <p:spPr>
          <a:xfrm xmlns:a="http://schemas.openxmlformats.org/drawingml/2006/main">
            <a:off x="828675" y="49530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5EA183-D134-41D4-92DB-80E82FE0F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9244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기다림이 가장 빠른 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C0069B-DE33-4D94-B681-180307E5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334000"/>
            <a:ext cx="100203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스스로 경험하고 성숙할 시간을 허락한다.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7DEE41-F2DD-47E6-BCA4-4F9C0B066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07 / 50</a:t>
            </a:r>
          </a:p>
        </p:txBody>
      </p:sp>
    </p:spTree>
    <p:extLst>
      <p:ext uri="{BB962C8B-B14F-4D97-AF65-F5344CB8AC3E}">
        <p14:creationId xmlns:p14="http://schemas.microsoft.com/office/powerpoint/2010/main" val="30223165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6E9D0E-7A14-412E-8AE7-2F7FBD13382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6f8f7ce4054d8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1E3583-9BE7-466A-BFC9-AD8878033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철학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D8B824-0A2B-4458-93C6-F6E4EAFB4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피드백 전에,</a:t>
            </a:r>
          </a:p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먼저 관찰하라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54E989-9C8F-4BED-887B-8C3A9BC59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같은 피드백도 사람에 따라 독이 되고 약이 된다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4E0D1C-31BB-424E-94C7-42C736C06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08 / 50</a:t>
            </a:r>
          </a:p>
        </p:txBody>
      </p:sp>
    </p:spTree>
    <p:extLst>
      <p:ext uri="{BB962C8B-B14F-4D97-AF65-F5344CB8AC3E}">
        <p14:creationId xmlns:p14="http://schemas.microsoft.com/office/powerpoint/2010/main" val="106290505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86C0CB-7961-469C-9B9C-E27EE3B12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철학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3832D0-DFB9-4AAC-BD11-25794B8F9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관찰해야 할 네 가지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0FB65C-FC68-45F5-B56F-20EA2B983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관찰한 뒤 진단하고, 그 사람에게 맞춰 피드백한다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A14102-331A-41F0-943F-A339625AF2E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9198f4be2e4ee9"/>
          <a:stretch xmlns:a="http://schemas.openxmlformats.org/drawingml/2006/main"/>
        </p:blipFill>
        <p:spPr>
          <a:xfrm xmlns:a="http://schemas.openxmlformats.org/drawingml/2006/main">
            <a:off x="819150" y="27908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084629-FCF8-463D-988D-B74365CA3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62250"/>
            <a:ext cx="4286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반응과 태도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986AE1-5F73-4312-906F-7B19CEACD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76625"/>
            <a:ext cx="4953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2시간쯤 뛰게 한 뒤 할 만한지 확인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804EE6-BB24-4A98-ABCA-895601EC137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3bf0953be14bfc"/>
          <a:stretch xmlns:a="http://schemas.openxmlformats.org/drawingml/2006/main"/>
        </p:blipFill>
        <p:spPr>
          <a:xfrm xmlns:a="http://schemas.openxmlformats.org/drawingml/2006/main">
            <a:off x="6534150" y="27908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E8E19F-BC90-4200-830F-27614B5A5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762250"/>
            <a:ext cx="4286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두려움의 위치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600D3C-118A-48C0-8D75-600C6AC02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76625"/>
            <a:ext cx="4953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접근 · 피치 · 클로징, 어디서 멈칫하는가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5902BB-44E8-4714-A50A-3D92900E282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6937cc815f4289"/>
          <a:stretch xmlns:a="http://schemas.openxmlformats.org/drawingml/2006/main"/>
        </p:blipFill>
        <p:spPr>
          <a:xfrm xmlns:a="http://schemas.openxmlformats.org/drawingml/2006/main">
            <a:off x="819150" y="4410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43746E-6517-4CEF-A4C2-0A7421E9E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381500"/>
            <a:ext cx="4286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학습 속도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C0E0E8-167C-4113-9CEE-8FB9D4021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95875"/>
            <a:ext cx="4953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어제의 피드백을 오늘 반영하는가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BC47FB-FCC4-48DB-9FEC-EB463532C90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ba6c4c0a47475e"/>
          <a:stretch xmlns:a="http://schemas.openxmlformats.org/drawingml/2006/main"/>
        </p:blipFill>
        <p:spPr>
          <a:xfrm xmlns:a="http://schemas.openxmlformats.org/drawingml/2006/main">
            <a:off x="6534150" y="4410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6C9F83-B98C-4705-93AC-D47A77DB4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381500"/>
            <a:ext cx="4286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강점과 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74BEED-D340-4318-B32E-E83F74946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095875"/>
            <a:ext cx="4953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리액션형인가, 논리형인가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34D438-1091-4033-A8A8-E0F5DEE12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09 / 50</a:t>
            </a:r>
          </a:p>
        </p:txBody>
      </p:sp>
    </p:spTree>
    <p:extLst>
      <p:ext uri="{BB962C8B-B14F-4D97-AF65-F5344CB8AC3E}">
        <p14:creationId xmlns:p14="http://schemas.microsoft.com/office/powerpoint/2010/main" val="168383400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DE40CA-DE75-47DC-ACCA-AAEDD12F6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철학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0F3381-E1D2-4F58-850A-BCF41FCA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이전부터 시작되는 관찰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E0DB88-F87E-44CC-A43F-085568705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사람이 다르면, 트레이닝도 달라야 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329510-42EA-40CA-94E6-356D6ED7B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이력서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DC5356-F683-4B91-BB0A-54E40A3C2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경력과 이전 직무에서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성향과 강점의 단서를 읽는다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64A3D2-BD12-41B9-AC0D-B2A5E0E1A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07CB0D-BF6D-4EEB-818A-474A7CF69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주변 피드백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1B9A2E-88E1-419E-A0C5-57059673C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오너 · 클라이언트 · 교육자에게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어떤 사람이었는지 묻는다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B02848-BECA-40D1-8E23-064CEEC62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1447DE-2C19-4482-B98E-747BBE24C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트레이닝 설계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3E0EA0-C785-4085-8EA8-6C4B3A2E4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무엇을 어떻게 가르칠지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필드 전에 미리 고민한다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4F8168-CF59-47C8-A4DF-572F7D36F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7485E0-60EF-4DEB-9437-B980739A5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10 / 50</a:t>
            </a:r>
          </a:p>
        </p:txBody>
      </p:sp>
    </p:spTree>
    <p:extLst>
      <p:ext uri="{BB962C8B-B14F-4D97-AF65-F5344CB8AC3E}">
        <p14:creationId xmlns:p14="http://schemas.microsoft.com/office/powerpoint/2010/main" val="34197494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0884B7-6779-45C0-9403-10530C9C4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철학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C834DD-459E-437C-866B-B975CD77C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신입에게 답이 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09803D-FF30-4491-9DC4-2BBD94C58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현장의 어려움은 현장에서 답을 찾는다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4F1EA6-C30B-47CA-81D7-039B5CC46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포착하기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3D81B3-D6BD-4753-9AE5-416958F97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이해하지 못하거나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머뭇거리는 순간을 찾는다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AC5366-C9C2-47CE-B47C-A83A18022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7592F8-5886-4ED0-B409-C333A2EBA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먼저 묻기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2EC12F-D8C1-4B42-83D1-BB2D9859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왜 그 부분이 어려운지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입으로 듣는다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C30FFA-6D21-4371-91F4-3FDCDF2ED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621F67-5727-447B-BE64-638AB6B50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함께 찾기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B6FBF8-EF9A-45FF-A52B-76A562A28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들은 내용을 바탕으로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솔직하게 피드백한다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170F64-DAC5-4474-ABF1-22BF2D78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0405F6-2228-4868-B0A8-33B3D0BE9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11 / 50</a:t>
            </a:r>
          </a:p>
        </p:txBody>
      </p:sp>
    </p:spTree>
    <p:extLst>
      <p:ext uri="{BB962C8B-B14F-4D97-AF65-F5344CB8AC3E}">
        <p14:creationId xmlns:p14="http://schemas.microsoft.com/office/powerpoint/2010/main" val="80072339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4F243B-B726-4B12-85E0-C431ADA1124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a6bf259b77465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64733A-E12F-48F6-82FD-ED68DDEC0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 전제 조건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8675F2-86F7-4F93-A658-8C3E990AF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트레이너가 먼저 증명하는 실력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945313-7F5D-43D8-9AE1-3FC44EAA8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직접 쇼잉할 수 있는 실전 능력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2ED608-EAD4-4629-B393-6E9207C6A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666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4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주 1회 이상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CDC598-73A0-4238-8A07-3F672822C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00450"/>
            <a:ext cx="666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벨-공 세일즈 증명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D5D882-0641-4823-AEA1-815D186DF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43375"/>
            <a:ext cx="666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4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4시간 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BFFF84-50B7-4FFE-9C00-A54552C1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81575"/>
            <a:ext cx="666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세일즈 가능한 실력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3E0DBA-7DF0-485D-99C8-49EAA44C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12 / 50</a:t>
            </a:r>
          </a:p>
        </p:txBody>
      </p:sp>
    </p:spTree>
    <p:extLst>
      <p:ext uri="{BB962C8B-B14F-4D97-AF65-F5344CB8AC3E}">
        <p14:creationId xmlns:p14="http://schemas.microsoft.com/office/powerpoint/2010/main" val="197740149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1CE99E-674B-4E63-8A9B-07796098A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 전제 조건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5854EB-7F92-47EA-A560-99F61135D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쇼잉과 스탠다드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AD2655-D86D-4955-905E-E16AF6D16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교육의 질은 트레이너의 실전 역량에서 시작된다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D124CC-10AF-4D8C-85A0-6143E37E01A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ddbb0d11c7417f"/>
          <a:stretch xmlns:a="http://schemas.openxmlformats.org/drawingml/2006/main"/>
        </p:blipFill>
        <p:spPr>
          <a:xfrm xmlns:a="http://schemas.openxmlformats.org/drawingml/2006/main">
            <a:off x="838200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83798E-DAB4-4796-8965-FD6D2D409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SHOWING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47D7BF-A2D9-42CB-A994-D16A45CD6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가장 효과적인 교육은 직접 보여주기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신입은 실제 과정을 관찰하며 학습한다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626BC8-1D10-491C-907B-E4FCED3F9EF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d88d4326f54a18"/>
          <a:stretch xmlns:a="http://schemas.openxmlformats.org/drawingml/2006/main"/>
        </p:blipFill>
        <p:spPr>
          <a:xfrm xmlns:a="http://schemas.openxmlformats.org/drawingml/2006/main">
            <a:off x="6372225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C237E5-130A-4F93-89A1-6E6BF308B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STANDARD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40CE87-EF3D-4A62-A1B0-0236390D7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일관된 기본 패턴을 모든 신입에게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나가면 반드시 세일즈 가능한 기본기를 만든다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9E986C-18F7-45F6-B446-1EB2A6C4F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13 / 50</a:t>
            </a:r>
          </a:p>
        </p:txBody>
      </p:sp>
    </p:spTree>
    <p:extLst>
      <p:ext uri="{BB962C8B-B14F-4D97-AF65-F5344CB8AC3E}">
        <p14:creationId xmlns:p14="http://schemas.microsoft.com/office/powerpoint/2010/main" val="23136017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C163F8-0853-4889-8D99-8694D311E0A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18a05ce60447f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A24BB9-3866-4CB7-BF3A-118A2235D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AC3C0B-51EC-4063-842A-CD663FB4F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첫 3일의 설계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B094C2-8A20-4D33-AB22-4E92EAC4B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신입이 각 단계에서 이렇게 느끼도록 돕는다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DD8755-4F90-4956-B2EE-1309DE2D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B75DA4-8BF0-4929-9091-D4876BFC0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경험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8CF849-AEB7-4169-8B1F-EF39CDC98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필드가 할 만하다고 느끼게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824840-B537-4B2E-A522-6DD477209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47625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8E14C6-D15C-41E0-BD5A-ACC14C1DE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2197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학습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319DF8-7696-4E76-B1E6-4EE1217E9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6769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잘 배우고 성장하면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할 수 있다고 느끼게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BF258D-A1A5-431E-9316-AD7315AC1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625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C42EA2-8DF2-4123-A1BB-7CCAE79F9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2197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판단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9320CF-3DAB-4BC3-9D68-93B67076D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6769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스스로 가능성이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있다고 느끼게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859827-8D62-4E8B-9DD9-BB96F6D2B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14 / 50</a:t>
            </a:r>
          </a:p>
        </p:txBody>
      </p:sp>
    </p:spTree>
    <p:extLst>
      <p:ext uri="{BB962C8B-B14F-4D97-AF65-F5344CB8AC3E}">
        <p14:creationId xmlns:p14="http://schemas.microsoft.com/office/powerpoint/2010/main" val="47875424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00F295-0466-43EA-B0D7-275BD01E89C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fd68d6fb8b4d1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02E1CB-5250-4994-8B28-C9B19AA18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DAY 1 · 경험의 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7984F9-138E-47A1-89FF-66E34473D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첫날의 리더는</a:t>
            </a:r>
          </a:p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안전벨트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9A13E7-EA9B-41FF-BEA5-AA39560BC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신입이 마음껏 시도하게 해주는 리더십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F3B0FA-6AFA-49DA-91FF-A213AADEC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15 / 50</a:t>
            </a:r>
          </a:p>
        </p:txBody>
      </p:sp>
    </p:spTree>
    <p:extLst>
      <p:ext uri="{BB962C8B-B14F-4D97-AF65-F5344CB8AC3E}">
        <p14:creationId xmlns:p14="http://schemas.microsoft.com/office/powerpoint/2010/main" val="44651112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4C2B5D-BA7C-4B5C-A611-F78C3117B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AC18D9-AA06-40B0-81AF-8A5970520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1 · 긍정적인 첫 경험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297E83-6B02-41E9-A3F2-5095F692E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성과보다 적응과 관찰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28F193-10EC-4A1A-BC2C-B7F66E84BF6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e0ae14f1754f89"/>
          <a:stretch xmlns:a="http://schemas.openxmlformats.org/drawingml/2006/main"/>
        </p:blipFill>
        <p:spPr>
          <a:xfrm xmlns:a="http://schemas.openxmlformats.org/drawingml/2006/main">
            <a:off x="828675" y="2743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7D7E23-B067-43B2-B7A0-ED9C469B7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146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반응과 태도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C3DF73-2F29-4CB4-B27B-6F3D84C82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124200"/>
            <a:ext cx="1002030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2시간쯤 뛰게 한 뒤 할 만한지 확인하고 기본 자세와 의지를 파악한다.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03B410-09DC-4960-98AB-427248DD2CB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ffcf216f49405e"/>
          <a:stretch xmlns:a="http://schemas.openxmlformats.org/drawingml/2006/main"/>
        </p:blipFill>
        <p:spPr>
          <a:xfrm xmlns:a="http://schemas.openxmlformats.org/drawingml/2006/main">
            <a:off x="828675" y="3576638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33341B-9186-4D0D-88F5-E229E649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548063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트레이너의 쇼잉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213DAF-32B9-4F6B-AAFF-68D1EA6F1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957638"/>
            <a:ext cx="1002030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자신의 세일즈에 집중해 실제 과정을 직접 보여준다.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19E7E6-B53E-455F-A8DF-4547E19A1F9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2e7a8060ad4b31"/>
          <a:stretch xmlns:a="http://schemas.openxmlformats.org/drawingml/2006/main"/>
        </p:blipFill>
        <p:spPr>
          <a:xfrm xmlns:a="http://schemas.openxmlformats.org/drawingml/2006/main">
            <a:off x="828675" y="4410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DA31CE-35E3-4E4C-80F7-5026AB673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381500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두려움 제거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F8B1DC-5512-4C86-AC2A-23FC2F843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791075"/>
            <a:ext cx="1002030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프리엠티브를 충분히 제공한다. 재미있고 해볼 만하다고 느끼게 한다.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B69B04-A436-43C6-9E86-EA375C95743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1ab27999d04c76"/>
          <a:stretch xmlns:a="http://schemas.openxmlformats.org/drawingml/2006/main"/>
        </p:blipFill>
        <p:spPr>
          <a:xfrm xmlns:a="http://schemas.openxmlformats.org/drawingml/2006/main">
            <a:off x="828675" y="5243513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0C9765-8CEC-4065-A391-D31C16ADB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214938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다음 날의 준비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26BE2B-7706-43F9-B932-581FF3C03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624513"/>
            <a:ext cx="1002030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결과 압박 대신 환경 적응을 돕고 심리적 준비를 만든다.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5F4E2D-8A49-466E-A35E-E4173301A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16 / 50</a:t>
            </a:r>
          </a:p>
        </p:txBody>
      </p:sp>
    </p:spTree>
    <p:extLst>
      <p:ext uri="{BB962C8B-B14F-4D97-AF65-F5344CB8AC3E}">
        <p14:creationId xmlns:p14="http://schemas.microsoft.com/office/powerpoint/2010/main" val="21313525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E9838D-F66C-452D-93D1-878EF44AAF9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21baf85e38400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73FC21-C6C1-40F6-9E5B-A06F84B0B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DAY 2 · 학습의 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4BE66D-3F73-4ED5-8DE9-CD16C43BF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첫 성공은,</a:t>
            </a:r>
          </a:p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함께 만든다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E38DD9-7FED-4A37-B82A-0D8E7D811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둘째 날, 반드시 세일즈 1개 이상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4D38D3-E10E-4C24-A0B4-FF975AD1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17 / 50</a:t>
            </a:r>
          </a:p>
        </p:txBody>
      </p:sp>
    </p:spTree>
    <p:extLst>
      <p:ext uri="{BB962C8B-B14F-4D97-AF65-F5344CB8AC3E}">
        <p14:creationId xmlns:p14="http://schemas.microsoft.com/office/powerpoint/2010/main" val="95867856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CE1BDE-D10D-4476-B7E3-3CB2760B5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EE1572-D32A-4086-9E85-8A39365F2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2 · 결과로 배우는 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8912C6-B187-48E6-B874-21C85B2A6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실질 역량을 가늠하는 시점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925EDA-5C72-4D5C-96AD-9D048BEAADA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1176a5541c461e"/>
          <a:stretch xmlns:a="http://schemas.openxmlformats.org/drawingml/2006/main"/>
        </p:blipFill>
        <p:spPr>
          <a:xfrm xmlns:a="http://schemas.openxmlformats.org/drawingml/2006/main">
            <a:off x="828675" y="2743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506805-712C-4FBD-92D8-98FCC9DED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146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첫 세일즈 1개 이상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440A42-C45A-46F1-861E-BCBADB784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124200"/>
            <a:ext cx="100203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반드시 함께 만들어낸다. 신입이 직접 성공을 체감하게 한다.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AD7442-7790-4FB9-84FC-6F738B36551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890813170d4cb0"/>
          <a:stretch xmlns:a="http://schemas.openxmlformats.org/drawingml/2006/main"/>
        </p:blipFill>
        <p:spPr>
          <a:xfrm xmlns:a="http://schemas.openxmlformats.org/drawingml/2006/main">
            <a:off x="828675" y="38481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77EC54-4B67-485B-A26B-D09D4B49A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8195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학습력과 성장성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05E671-4701-4D64-8FE1-380E3CAA3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229100"/>
            <a:ext cx="100203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첫날 대비 개선점을 짚고 학습 능력과 성장 가능성을 본다.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922322-5E48-45E3-9809-097EF132854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b8a5f62b994657"/>
          <a:stretch xmlns:a="http://schemas.openxmlformats.org/drawingml/2006/main"/>
        </p:blipFill>
        <p:spPr>
          <a:xfrm xmlns:a="http://schemas.openxmlformats.org/drawingml/2006/main">
            <a:off x="828675" y="49530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6D1C89-B508-4BA1-8EEC-84891BD5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9244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트레이너와 신입의 균형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288AEE-A116-4789-8CE2-10FB6B6D0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334000"/>
            <a:ext cx="100203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세일즈가 우선이며, 트레이너도 함께 성과를 낸다.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D14BB3-7D19-4894-850E-0B79BE08B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18 / 50</a:t>
            </a:r>
          </a:p>
        </p:txBody>
      </p:sp>
    </p:spTree>
    <p:extLst>
      <p:ext uri="{BB962C8B-B14F-4D97-AF65-F5344CB8AC3E}">
        <p14:creationId xmlns:p14="http://schemas.microsoft.com/office/powerpoint/2010/main" val="61118544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9E167A-1221-4284-8D15-F2A438B3A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8FD0A3-1CCE-4BA9-90A0-1D0F39E7D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3 · 성과의 패턴 읽기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3E42A1-DCF8-44AA-AEC3-9C55CEDD7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Stay / Qualifying은 반드시 오너와 상의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9FF8DF-BF86-4B07-9064-DAFA49DAD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5000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 · 1 ·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152B41-CCD3-4170-BE44-770CC680F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86150"/>
            <a:ext cx="5000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가장 이상적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리더로 육성 가능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921CCE-D012-4595-A206-E19913460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14625"/>
            <a:ext cx="5000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3일간 2개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F14983-2194-4FE7-B85E-BE8141F0B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86150"/>
            <a:ext cx="5000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로드트립 제안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97B889-1FA8-4936-8C41-ED5B81D57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0"/>
            <a:ext cx="5000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3일간 3개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07DCDF-5663-4141-85AE-9435C6180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53025"/>
            <a:ext cx="5000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의지와 센스 모두 보유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43D2AD-FD7A-4616-AA50-38951B709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381500"/>
            <a:ext cx="5000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 · 0 · 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5E9547-1888-495F-B54F-36E8DB044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153025"/>
            <a:ext cx="5000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빠른 Qualifying 검토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3391AC-0326-4D7A-9AD4-9EF07789A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모든 판단은 Case by Case. 기준 위에서 유연하게.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1A8E53-AFF0-4BAD-B474-B9038DC4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19 / 50</a:t>
            </a:r>
          </a:p>
        </p:txBody>
      </p:sp>
    </p:spTree>
    <p:extLst>
      <p:ext uri="{BB962C8B-B14F-4D97-AF65-F5344CB8AC3E}">
        <p14:creationId xmlns:p14="http://schemas.microsoft.com/office/powerpoint/2010/main" val="107214189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928FBF-5B02-4244-A359-45EA46CE0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C80D95-6C71-46FA-94EF-641693EC1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판단 전에 확보할 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A33D82-3BB2-4B54-88FB-A3458F4A2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제로 방지를 위한 전략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A08D01-EF0C-4133-88BC-995FB2FF9D5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ddd443822a46fb"/>
          <a:stretch xmlns:a="http://schemas.openxmlformats.org/drawingml/2006/main"/>
        </p:blipFill>
        <p:spPr>
          <a:xfrm xmlns:a="http://schemas.openxmlformats.org/drawingml/2006/main">
            <a:off x="838200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6E7CD6-402B-4F83-A8C9-F5DAEF2B8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사이트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EBF868-BE39-4079-B318-8EEB949DB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신입이 벨을 칠 수 있는 사이트를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전략적으로 고른다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FCC9E0-F295-439C-9C83-4B28E6FDEE7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0f5e260e3440e2"/>
          <a:stretch xmlns:a="http://schemas.openxmlformats.org/drawingml/2006/main"/>
        </p:blipFill>
        <p:spPr>
          <a:xfrm xmlns:a="http://schemas.openxmlformats.org/drawingml/2006/main">
            <a:off x="6372225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A9FC3E-67BF-439D-BD6B-F1BF44256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시간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B1F510-26EE-49CC-B5BB-8163B50E4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미리 스케줄을 짜고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성공 가능성 높은 필드에서 시간을 확보한다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838FB5-655E-4435-A218-650BBBF59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개별 상황을 고려해, 반드시 오너와 상의한다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B25394-B365-4806-AF99-39D5528FA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20 / 50</a:t>
            </a:r>
          </a:p>
        </p:txBody>
      </p:sp>
    </p:spTree>
    <p:extLst>
      <p:ext uri="{BB962C8B-B14F-4D97-AF65-F5344CB8AC3E}">
        <p14:creationId xmlns:p14="http://schemas.microsoft.com/office/powerpoint/2010/main" val="202593811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BFA4880-9D58-4754-BF67-90DD58070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31D31C-FBC7-42F7-BB75-DFE6DA4FD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5 Step 트레이닝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5BA3E9-EFA8-419C-B2C0-A25E510C7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주목부터 거래정보 재확인까지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778D25-7616-4A46-B5FC-ABA932907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300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639D7C-370A-44FD-8F21-2A7AC34AF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300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747299-1A9A-4A07-8FDC-4AE02F360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Intro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D1FCC4-C017-4B12-879D-06818FC78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주목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2932CC-1790-47E7-9830-8B8D3B669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410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F9C91A-C52D-4227-89CE-C6F89974B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6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E21E8E-E18A-4E89-922F-2FD193BD2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6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F9F7B2-2C1A-4C4F-B2D1-1E0489DB2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846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Short Story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0038DA-633D-4960-8CF7-7E0404938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846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짧은 피치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BE1B03-6F9A-4A54-AFFA-5C9E1FFE2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866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6D79D6-929F-4A48-911C-0F9B7688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7EDEBD-7A3B-47AB-A47B-45747DFB9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E0E2F5-52E6-4AF8-9698-C5174840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02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Presentation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D0A60F-8345-40FC-927C-6DCB1ADA6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02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해결책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E304CD-1BC3-4A1D-A214-33F063A79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8BFA15-0CF8-4E58-8301-EB10F7C1F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668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4754D7-2E92-403B-AA04-5A725D165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668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99E66B-9028-42DA-9CC4-90D8AB468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58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Closing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3ED2EC-26F0-4E12-82D9-AEF95BE78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58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TAAIS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C36CBB-0C69-4054-BF3D-A66CB619C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778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4DA682-9AC1-47DA-83E7-9A10AC39F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124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BABF20-854E-4E64-8446-3E1C4FECA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124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FEF912-9F8C-413E-91FB-7367AA921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214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Rehash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E38B48-E4A6-4BA7-92A4-60A1302B7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214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재확인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D8E716E-1FD0-43FF-B383-D78EDEDB5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21 / 50</a:t>
            </a:r>
          </a:p>
        </p:txBody>
      </p:sp>
    </p:spTree>
    <p:extLst>
      <p:ext uri="{BB962C8B-B14F-4D97-AF65-F5344CB8AC3E}">
        <p14:creationId xmlns:p14="http://schemas.microsoft.com/office/powerpoint/2010/main" val="50845099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5A741B-BDDC-49E2-B28F-2B5248376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25FE60-D832-4D60-BA96-51F004D10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대화하고 싶은 분위기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BBD3C4-0F0F-4FCE-8F7C-97FC87D43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Intro와 Short Story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A8DED2-BFFB-4089-925E-770C610F429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f31b3cbbec4d4d"/>
          <a:stretch xmlns:a="http://schemas.openxmlformats.org/drawingml/2006/main"/>
        </p:blipFill>
        <p:spPr>
          <a:xfrm xmlns:a="http://schemas.openxmlformats.org/drawingml/2006/main">
            <a:off x="838200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9A8E6F-F767-415F-91EF-5C566102A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 INTRO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CD29A2-9D3C-4246-B44D-1C9C7C6E3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시선과 발걸음을 멈춰 세운다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적극적인 리액션과 아이스브레이크로 경계심을 푼다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3E0AA4-EC0C-491C-938B-5EC2B7C0925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39fb1a77ab4611"/>
          <a:stretch xmlns:a="http://schemas.openxmlformats.org/drawingml/2006/main"/>
        </p:blipFill>
        <p:spPr>
          <a:xfrm xmlns:a="http://schemas.openxmlformats.org/drawingml/2006/main">
            <a:off x="6372225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1F4D8D-BAD9-4DE6-B965-646FDFD2F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  SHORT STORY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803F2D-F678-4D7C-BAB5-56D582BC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짧은 피치와 Yes Question으로 긍정 응답을 만든다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WOW 포인트, Tone of Voice, Body Language를 활용한다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95FC91-CA38-4024-8FD5-217BC882F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22 / 50</a:t>
            </a:r>
          </a:p>
        </p:txBody>
      </p:sp>
    </p:spTree>
    <p:extLst>
      <p:ext uri="{BB962C8B-B14F-4D97-AF65-F5344CB8AC3E}">
        <p14:creationId xmlns:p14="http://schemas.microsoft.com/office/powerpoint/2010/main" val="35578391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8154BE-D33E-4B8F-BCA4-32F3E21F9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2BECEC-7096-41FC-9EDA-91BE845F8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해결책 제시와 거래정보 재확인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F28046-3CBE-4274-AEFA-674758B6F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Presentation과 Rehash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53914F-30D9-492E-A258-5ED11EE4227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f630ed5e044265"/>
          <a:stretch xmlns:a="http://schemas.openxmlformats.org/drawingml/2006/main"/>
        </p:blipFill>
        <p:spPr>
          <a:xfrm xmlns:a="http://schemas.openxmlformats.org/drawingml/2006/main">
            <a:off x="838200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75D06A-E417-4D8F-931F-E32B4A188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 PRESENTATION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5C4754-C54D-4E3E-B231-FABDF8F07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해결책으로 구호물품을 직접 보여준다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구매 욕구를 최대치로 끌어올린다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D9E021-1BF7-481F-8B2C-8CAD9430A3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64f1b945e24df6"/>
          <a:stretch xmlns:a="http://schemas.openxmlformats.org/drawingml/2006/main"/>
        </p:blipFill>
        <p:spPr>
          <a:xfrm xmlns:a="http://schemas.openxmlformats.org/drawingml/2006/main">
            <a:off x="6372225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C2ED32-16B0-493F-8668-A92932D5D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  REHASH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9B4250-8E69-4723-9177-EDAF00340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거래 정보를 다시 확인한다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취소율을 낮추고 구매 만족도를 한 번 더 높인다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0DCEFF-1964-43B7-A901-894B926FC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23 / 50</a:t>
            </a:r>
          </a:p>
        </p:txBody>
      </p:sp>
    </p:spTree>
    <p:extLst>
      <p:ext uri="{BB962C8B-B14F-4D97-AF65-F5344CB8AC3E}">
        <p14:creationId xmlns:p14="http://schemas.microsoft.com/office/powerpoint/2010/main" val="83080664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68961A-0D0A-4BF1-A4DB-FC33A9477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5615A4-20FA-49AA-BE33-6BEF19146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Closing · TAAIS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C8E337-2F91-4D3A-AE72-F0C17E6C3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구매를 전제로 대화하고, 선택권과 침묵을 활용한다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C8EA51-6D3A-4649-99BB-B14D23BC7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2C6187-7033-40B9-BF76-8BA4F8FD8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Trial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7E627C-91F8-4984-9CE2-8C82ED62E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항상 시도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DA1778-AAF4-4030-B650-3F010714F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687061-FB59-46B3-8957-EC3D8679D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Assumptive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33E223-4438-47A2-A9EB-1A10289F5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구매 전제 대화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B10B4F-F035-4068-BCD9-066EA2560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417F5B-F995-4AF1-91BB-944BC139B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Alternative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36E657-E142-4F3F-8E79-273846488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대안 제시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53B912-8BC4-4E18-BCBA-CAD0A67BE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85CE33-7C63-4E35-9064-8BCC9B5CD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Indifference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0D8EF8-7DA9-4135-A33F-F01E24B12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선택권 부여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8DE387-D48A-46CC-AFA0-ACB43E12D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763788-98C4-4D81-852A-9465E0E71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Silence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352310-C0E2-4065-A7B8-6A3C3A178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침묵 활용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147FDC-D27A-427A-B33D-5F849C027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24 / 50</a:t>
            </a:r>
          </a:p>
        </p:txBody>
      </p:sp>
    </p:spTree>
    <p:extLst>
      <p:ext uri="{BB962C8B-B14F-4D97-AF65-F5344CB8AC3E}">
        <p14:creationId xmlns:p14="http://schemas.microsoft.com/office/powerpoint/2010/main" val="9445331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F1D1F1-61A2-4900-9412-A34493AE8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5 STEP 외 · 거절 확률을 낮추는 언어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05C7EB-1606-4869-B6C7-1724A6D05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10477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“바쁘시니까”</a:t>
            </a:r>
          </a:p>
          <a:p xmlns:a="http://schemas.openxmlformats.org/drawingml/2006/main">
            <a: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“이미 좋은 일 많이 하시겠지만”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2A8E51-F231-4F21-B9E2-69025F24B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48125"/>
            <a:ext cx="704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쿠션 멘트는 피치 전반에 꼭 필요한 핵심 요소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0A0EA3-929A-4105-B41C-B682E81C7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25 / 50</a:t>
            </a:r>
          </a:p>
        </p:txBody>
      </p:sp>
    </p:spTree>
    <p:extLst>
      <p:ext uri="{BB962C8B-B14F-4D97-AF65-F5344CB8AC3E}">
        <p14:creationId xmlns:p14="http://schemas.microsoft.com/office/powerpoint/2010/main" val="1499341274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5D64F0-8098-4CBE-A268-C6925691A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D91E84-BB42-4731-B37B-4F611C936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관찰에 맞춘 피드백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C36A38-42E6-4D0D-B424-2FA438211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사람의 약점에 따라 처방을 달리한다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89C1FE-28B7-402B-9533-B97EA46845D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72b3337e7848eb"/>
          <a:stretch xmlns:a="http://schemas.openxmlformats.org/drawingml/2006/main"/>
        </p:blipFill>
        <p:spPr>
          <a:xfrm xmlns:a="http://schemas.openxmlformats.org/drawingml/2006/main">
            <a:off x="809625" y="2743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16E02E-6B13-4E6F-B76C-32E2CBAC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14625"/>
            <a:ext cx="4467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리액션이 약하다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260657-2AB1-4F83-8678-C85EC05A6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76575"/>
            <a:ext cx="44672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리액션 강화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9A08B2-F819-4F4E-BCF3-90C1B197F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43300"/>
            <a:ext cx="44672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표정·제스처 / 즉각 대응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임펄스·바디랭귀지 / 롤플레이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18E0AB-EE0E-41C6-973E-7F2E0FCCDB2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48159119064fd1"/>
          <a:stretch xmlns:a="http://schemas.openxmlformats.org/drawingml/2006/main"/>
        </p:blipFill>
        <p:spPr>
          <a:xfrm xmlns:a="http://schemas.openxmlformats.org/drawingml/2006/main">
            <a:off x="6419850" y="2743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83EDD3-57B3-4F3A-B2EA-5B3E3457A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714625"/>
            <a:ext cx="4467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부스 연결이 약하다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13BC4F-C57F-4420-8F1B-0E1A80F09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076575"/>
            <a:ext cx="44672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스트릿 스킬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AF3071-DA7D-4AAB-902A-3FB46AD6C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543300"/>
            <a:ext cx="44672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접근 방법 / 첫인상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거절 극복 / 고객 유형별 접근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E93EF0-FCDE-49CB-BD4F-B29BD5E6545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b57d5cae644b90"/>
          <a:stretch xmlns:a="http://schemas.openxmlformats.org/drawingml/2006/main"/>
        </p:blipFill>
        <p:spPr>
          <a:xfrm xmlns:a="http://schemas.openxmlformats.org/drawingml/2006/main">
            <a:off x="809625" y="44577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F3AC5C-C81E-4011-A9F5-A0966460E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429125"/>
            <a:ext cx="4467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클로징이 약하다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C626F7-BBB7-4369-9917-7C73B6F3C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791075"/>
            <a:ext cx="44672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클로징 강화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2B8DEB-F9EC-4F33-AFEB-A0555DB7E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257800"/>
            <a:ext cx="44672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TAAIS / Buying sign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침묵·대안 / 클로징 타이밍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7FED58-7856-4C90-B1E8-EC4070EE106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81807cd563405e"/>
          <a:stretch xmlns:a="http://schemas.openxmlformats.org/drawingml/2006/main"/>
        </p:blipFill>
        <p:spPr>
          <a:xfrm xmlns:a="http://schemas.openxmlformats.org/drawingml/2006/main">
            <a:off x="6419850" y="44577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A7A32D-BA84-4F08-B0A0-2AE42CD96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429125"/>
            <a:ext cx="4467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이미 잘한다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C72FB2-4889-4B42-91A2-21A5BCDB1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791075"/>
            <a:ext cx="44672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목표 상향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E87B0F-A78D-45BA-9DA6-43CB3D699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257800"/>
            <a:ext cx="44672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높은 목표 / 자기주도 성장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리더십·멘토링 / 커리어 설계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DB1431-4A8D-4BF9-A04A-5BD331CD5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26 / 50</a:t>
            </a:r>
          </a:p>
        </p:txBody>
      </p:sp>
    </p:spTree>
    <p:extLst>
      <p:ext uri="{BB962C8B-B14F-4D97-AF65-F5344CB8AC3E}">
        <p14:creationId xmlns:p14="http://schemas.microsoft.com/office/powerpoint/2010/main" val="66595762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6BA5E6-F396-4B8E-82B0-77854FDBA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52508A-EA81-46EB-B3EB-B07B803AD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피드백의 세 가지 시간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8C4595-0A3D-4AC2-A17C-C69BB8FA5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필드 전, 필드 중, 필드 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5C1B65-49A4-4C6F-9174-04A2A3823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336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WHAT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F23F23-0E31-4C07-8508-F4463E98B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48050"/>
            <a:ext cx="3365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F8393C-A487-4B5D-A8C8-EEF3F110B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48125"/>
            <a:ext cx="3365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점검하고 설계한다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CA8445-4210-4570-9986-D7E131816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857500"/>
            <a:ext cx="336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HOW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7FCB32-6703-4D0E-97C1-2A7F49C0F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448050"/>
            <a:ext cx="3365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68FEFE-C12B-47EF-B097-9FAD23B49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048125"/>
            <a:ext cx="3365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관찰하고 보여준다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17C5E6-EB2E-4824-B5AB-B1907D59F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857500"/>
            <a:ext cx="336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WHY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16DA10-CA62-40B2-B7CC-F32D583FE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3448050"/>
            <a:ext cx="3365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55B469-35FC-4C98-AF8E-B7EDFB5C5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4048125"/>
            <a:ext cx="3365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돌아보고 다음을 설계한다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DEB426-9F74-44A6-A20E-DD05E07BC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27 / 50</a:t>
            </a:r>
          </a:p>
        </p:txBody>
      </p:sp>
    </p:spTree>
    <p:extLst>
      <p:ext uri="{BB962C8B-B14F-4D97-AF65-F5344CB8AC3E}">
        <p14:creationId xmlns:p14="http://schemas.microsoft.com/office/powerpoint/2010/main" val="776827552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8E3B44-F1EB-454A-A8CD-845E86CE8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D126A5-298F-401B-9958-BEAB59987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전 · 함께 준비하는 여섯 가지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125AD7-31BC-4660-805B-6BAFD4C0C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무엇을 배울지와 어떻게 시도할지를 함께 설계한다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09CD1F-5814-416D-AF30-331C3C75754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7577b830954a05"/>
          <a:stretch xmlns:a="http://schemas.openxmlformats.org/drawingml/2006/main"/>
        </p:blipFill>
        <p:spPr>
          <a:xfrm xmlns:a="http://schemas.openxmlformats.org/drawingml/2006/main">
            <a:off x="828675" y="2743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2B0F83-89FB-43BE-8265-2B6C217F3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146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피치 점검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85BC81-4419-4889-ADFE-99B992312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1242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피치 숙지 · 클로즈 · 약정서 핸들링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CC9AB0-AFAA-40AE-B97E-0D0FCC665B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3b8303c8ef4a2c"/>
          <a:stretch xmlns:a="http://schemas.openxmlformats.org/drawingml/2006/main"/>
        </p:blipFill>
        <p:spPr>
          <a:xfrm xmlns:a="http://schemas.openxmlformats.org/drawingml/2006/main">
            <a:off x="6438900" y="2743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121B85-E16A-4854-AD7C-E63A0568A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7146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니즈 파악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9B2825-DF91-4E35-ACDA-95F2ADF17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31242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내일 필드에서 배우고 싶은 것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874C57-5EA8-4BC9-B461-ABFC72C88C6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0bdbc2c9084869"/>
          <a:stretch xmlns:a="http://schemas.openxmlformats.org/drawingml/2006/main"/>
        </p:blipFill>
        <p:spPr>
          <a:xfrm xmlns:a="http://schemas.openxmlformats.org/drawingml/2006/main">
            <a:off x="828675" y="38481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1E614C-6D1D-4F61-A7BF-A6CE34DBE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8195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목표 설정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EFD23C-0337-4E40-ACC8-8A2D0A25D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2291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필드시간 · 리해쉬 · 클로즈 · 개인+섹터 AVG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768238-0BE1-45A9-99BD-5A907310F78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1d1caca1534fc0"/>
          <a:stretch xmlns:a="http://schemas.openxmlformats.org/drawingml/2006/main"/>
        </p:blipFill>
        <p:spPr>
          <a:xfrm xmlns:a="http://schemas.openxmlformats.org/drawingml/2006/main">
            <a:off x="6438900" y="38481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597784-BCF1-4168-832F-2A127086D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38195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사이트 전략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6AB8D3-887F-4A2C-8FFA-017F2D642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2291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사이트를 익숙하게 하고 할 수 있다는 기대 만들기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4B4926-4EBB-44F0-A4AE-C5EAC9259AA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024d467b544d4a"/>
          <a:stretch xmlns:a="http://schemas.openxmlformats.org/drawingml/2006/main"/>
        </p:blipFill>
        <p:spPr>
          <a:xfrm xmlns:a="http://schemas.openxmlformats.org/drawingml/2006/main">
            <a:off x="828675" y="49530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C6A075-0A2B-4957-8FE9-F3496BED4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9244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프리엠티브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F04187-0342-4B93-B28D-50D9AA406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3340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타 에이전시 · 우천 등 네거티브 요소 사전 안내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49E6A1-E273-4B47-B9D3-BE11AAE1E25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b3a993e7994e19"/>
          <a:stretch xmlns:a="http://schemas.openxmlformats.org/drawingml/2006/main"/>
        </p:blipFill>
        <p:spPr>
          <a:xfrm xmlns:a="http://schemas.openxmlformats.org/drawingml/2006/main">
            <a:off x="6438900" y="49530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D9EA76-D814-4128-B139-90D68FD19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9244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물품과 복장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94510D-E441-427A-BDEB-13A900727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53340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콜백싯 · 조끼 · ID카드 · 태블릿 · 부스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8A349E-682A-4CA1-9C20-D7EFC8B21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28 / 50</a:t>
            </a:r>
          </a:p>
        </p:txBody>
      </p:sp>
    </p:spTree>
    <p:extLst>
      <p:ext uri="{BB962C8B-B14F-4D97-AF65-F5344CB8AC3E}">
        <p14:creationId xmlns:p14="http://schemas.microsoft.com/office/powerpoint/2010/main" val="1306671495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B618A2-5729-4E91-B499-4439CEA8A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DBF2D0-C3F1-4967-A5EE-07EBD0980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중 · 실시간으로 끌어가는 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7BA1DE-7A64-4AE0-85B4-03E4CD111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관찰하고, 보여주고, 케어한다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9D1F9C-70AD-409A-9F1D-3FC07BC877E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670df969654721"/>
          <a:stretch xmlns:a="http://schemas.openxmlformats.org/drawingml/2006/main"/>
        </p:blipFill>
        <p:spPr>
          <a:xfrm xmlns:a="http://schemas.openxmlformats.org/drawingml/2006/main">
            <a:off x="828675" y="2743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00D6EF-683F-44E1-9B07-5341034C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146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대상 파악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E4C6D6-7E4B-4312-B08A-6E0A77E9D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1242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유형과 이해도를 파악한다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E3E2CA-B483-4B99-A75C-01EA0D2B8F9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bdb6cfcfc24743"/>
          <a:stretch xmlns:a="http://schemas.openxmlformats.org/drawingml/2006/main"/>
        </p:blipFill>
        <p:spPr>
          <a:xfrm xmlns:a="http://schemas.openxmlformats.org/drawingml/2006/main">
            <a:off x="6438900" y="2743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C8880B-774F-4CE8-8335-535C9218C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7146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집중과 계속 시도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D71E31-8A42-4E8B-82CE-D35767FDB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31242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계속된 시도로 객관적 데이터를 쌓는다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B80446-A622-43A1-9056-EDF9B3C4268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d6ee6058fe4bf8"/>
          <a:stretch xmlns:a="http://schemas.openxmlformats.org/drawingml/2006/main"/>
        </p:blipFill>
        <p:spPr>
          <a:xfrm xmlns:a="http://schemas.openxmlformats.org/drawingml/2006/main">
            <a:off x="828675" y="38481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D1650F-405A-43A6-926C-3E11079B2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8195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상황에 맞는 피드백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C61CB6-E8BB-4901-8B6A-9779E3FC3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2291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칭찬 · 즉시 CS · 넘버 피드백 / 2시간마다 콜백싯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582A35-E8F2-4436-9FED-2BE2F0EA729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d55bac66124638"/>
          <a:stretch xmlns:a="http://schemas.openxmlformats.org/drawingml/2006/main"/>
        </p:blipFill>
        <p:spPr>
          <a:xfrm xmlns:a="http://schemas.openxmlformats.org/drawingml/2006/main">
            <a:off x="6438900" y="38481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99285E-254A-44D1-A4B4-17FEF1C76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38195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Showing Is The Best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8F6187-CEA2-49D1-A8D0-61A4F6D41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2291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쉽고 빠른 벨로 직접 보여준다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B25CB8-F50A-44F1-9728-4C75AD960E5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3df7e4efa04dbb"/>
          <a:stretch xmlns:a="http://schemas.openxmlformats.org/drawingml/2006/main"/>
        </p:blipFill>
        <p:spPr>
          <a:xfrm xmlns:a="http://schemas.openxmlformats.org/drawingml/2006/main">
            <a:off x="828675" y="49530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EEC248-DA53-4464-BFB0-F90E44E3C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9244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네거티브 파악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339EAC-3A62-4EE6-B51C-3235AEC98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3340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빠르게 해결하고 멘탈을 케어한다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02852B-3524-432C-9E72-2B333089B24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dd2d83eac4450f"/>
          <a:stretch xmlns:a="http://schemas.openxmlformats.org/drawingml/2006/main"/>
        </p:blipFill>
        <p:spPr>
          <a:xfrm xmlns:a="http://schemas.openxmlformats.org/drawingml/2006/main">
            <a:off x="6438900" y="49530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B199B6-20E5-458A-90AC-1EB98A7DF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9244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좋은 소식 공유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2D494D-759D-4417-9C1C-7755F3A8E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53340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시민의 응원과 후원자가 남긴 후원 사유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927929-BA4D-4E11-9B36-E74073838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29 / 50</a:t>
            </a:r>
          </a:p>
        </p:txBody>
      </p:sp>
    </p:spTree>
    <p:extLst>
      <p:ext uri="{BB962C8B-B14F-4D97-AF65-F5344CB8AC3E}">
        <p14:creationId xmlns:p14="http://schemas.microsoft.com/office/powerpoint/2010/main" val="1455736170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F3407E-7BA8-48D0-8764-F6FD4A7DAFA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f96333b3e040a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10250" y="0"/>
            <a:ext cx="63817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B05378-747F-4D75-876A-2B0EF1637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0A0B68-5009-458C-A4C4-E69B6652C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후 · 하루를 남기는 대화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0E3A01-9396-48A7-916E-B43375711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오늘을 복기하고 내일을 설계한다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C66573-8328-4BA0-9556-8173DA056CE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de8103433f42e7"/>
          <a:stretch xmlns:a="http://schemas.openxmlformats.org/drawingml/2006/main"/>
        </p:blipFill>
        <p:spPr>
          <a:xfrm xmlns:a="http://schemas.openxmlformats.org/drawingml/2006/main">
            <a:off x="723900" y="26765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60249A-59D8-48E3-8B6A-47ECCFA55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47950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필드 소감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0CD7B8-3E12-40D4-B30A-69E59390E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00400"/>
            <a:ext cx="514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오늘 어땠는가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무엇을 배웠고, 무엇이 좋고 아쉬웠는가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A61D9C-5F55-4733-B468-008BE686320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3783bb437348f5"/>
          <a:stretch xmlns:a="http://schemas.openxmlformats.org/drawingml/2006/main"/>
        </p:blipFill>
        <p:spPr>
          <a:xfrm xmlns:a="http://schemas.openxmlformats.org/drawingml/2006/main">
            <a:off x="723900" y="41529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0959E1-3263-4CB4-9D0A-35BA7ABC4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124325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콜백싯 기준 피드백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A88AAD-608E-449F-9D18-6C2499226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76775"/>
            <a:ext cx="514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함께 필드한 사람들의 넘버를 비교한다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넘버 · 스킬 · 태도의 보완점을 이야기한다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32C601-8BF1-4D4A-AA5C-C9F48497C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30 / 50</a:t>
            </a:r>
          </a:p>
        </p:txBody>
      </p:sp>
    </p:spTree>
    <p:extLst>
      <p:ext uri="{BB962C8B-B14F-4D97-AF65-F5344CB8AC3E}">
        <p14:creationId xmlns:p14="http://schemas.microsoft.com/office/powerpoint/2010/main" val="759534700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9F9C5E-7E5B-4EF9-BDE5-4210BE8EB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6E7755-7281-458A-87CF-5B79299E4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기본 5일 교육 일정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8D56A9-A2A8-4ED2-A0AB-8E43AA18B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다음 교육 일정을 미리 안내한다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DEAC1F-074F-4612-B56B-0ED814817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300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08282A-6B46-401A-81E6-2E8E285F3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300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1806AC-A354-4809-9115-EE6AC4BCD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콜백싯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1AC95F-1C0D-4B04-A10C-D40934FBA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기본 작성법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4297B2-B5AA-4BF2-B960-C1CA86B11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410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053C5B-7724-499E-A244-7B6702491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6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65B171-F642-4077-B355-7F60A892E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6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C2B98A-E6EE-46CA-9872-23796576D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846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분석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A16013-9E7E-45D3-91C5-A9A3C1A75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846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Contact to Stop</a:t>
            </a:r>
          </a:p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부스 컨트롤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B04967-24E6-46C6-BAA2-F759D5292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866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1F83FA-BECB-4904-9335-E009BF40C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D2233F-367A-41C5-B1DF-E9A9A592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616297-114D-4F69-A5FB-F9E44F3F7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02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5 Steps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015039-E803-4E77-AD02-F1C1C1A00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02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표준 흐름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507610-FC7A-486A-A369-0CFB091E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79BAE7-F578-4885-8D17-3D13FCA8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668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F49B34-B886-453A-8CC2-D96A5AB07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668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571FC1-9237-4054-8616-8CC8855F5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58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Closing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F098E6-FA85-4D83-904F-06CCD4E68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58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클로징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7835F8-63C1-4FBD-B76C-7490BD50C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778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BDFAC2-DD6E-4ADE-BEFC-BA983A1D1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124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B32A24-B2A9-4102-9FB6-CAB86116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124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CBB209-ED22-4E73-A6E5-48363CE69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214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약정서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010AD3-7F06-47B5-8C23-656392338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214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리해쉬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ED3B604-EA83-489D-8B91-5038045F1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31 / 50</a:t>
            </a:r>
          </a:p>
        </p:txBody>
      </p:sp>
    </p:spTree>
    <p:extLst>
      <p:ext uri="{BB962C8B-B14F-4D97-AF65-F5344CB8AC3E}">
        <p14:creationId xmlns:p14="http://schemas.microsoft.com/office/powerpoint/2010/main" val="581375922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969627-3DE8-45C9-8678-4CD96F897A8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c5184690fd452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DC075D-16F1-4F62-BAB5-81B8A6DB4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0FD93D-D9C1-4B0C-BE3C-D1F3BE0B7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상대에게</a:t>
            </a:r>
          </a:p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필요한 말인가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8882C5-8528-4EE2-A300-4DCD6FE3B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하고 싶은 말보다, 상대에게 정말 필요한 말인지 먼저 고민한다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D7B8B6-2C67-4AE5-A85B-0230E673B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32 / 50</a:t>
            </a:r>
          </a:p>
        </p:txBody>
      </p:sp>
    </p:spTree>
    <p:extLst>
      <p:ext uri="{BB962C8B-B14F-4D97-AF65-F5344CB8AC3E}">
        <p14:creationId xmlns:p14="http://schemas.microsoft.com/office/powerpoint/2010/main" val="82026124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C2612A-CF92-4C65-8800-3BA3A1ED0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145CBD-FB91-4B9A-A04E-8F56EC28B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피드백의 다섯 가지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158C78-3F56-4AC6-A9A3-CA39EB61A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좋은 의도만으로는 충분하지 않다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67931A-5698-49B8-807A-0E73E236219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988a9c1ea44164"/>
          <a:stretch xmlns:a="http://schemas.openxmlformats.org/drawingml/2006/main"/>
        </p:blipFill>
        <p:spPr>
          <a:xfrm xmlns:a="http://schemas.openxmlformats.org/drawingml/2006/main">
            <a:off x="762000" y="27146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F4F546-A818-43DE-A242-D17E2EF3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71462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콜백싯 기준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FE3558-2010-4B91-A8CD-98F7C5910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71462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감정·느낌 대신 넘버 · 스킬 · 태도를 기준으로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FA6088-768E-496C-9AA4-8221503BA70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9c43c8a13c4c0c"/>
          <a:stretch xmlns:a="http://schemas.openxmlformats.org/drawingml/2006/main"/>
        </p:blipFill>
        <p:spPr>
          <a:xfrm xmlns:a="http://schemas.openxmlformats.org/drawingml/2006/main">
            <a:off x="762000" y="33813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99A572-8816-4A4B-9730-3122CD65E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8137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상대에게 필요한 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DEDE16-5741-4021-92EE-F25749887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38137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내가 하고 싶은 말인지 먼저 점검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405D2B-1103-4A14-A301-D1A1740D601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614905a5714ac9"/>
          <a:stretch xmlns:a="http://schemas.openxmlformats.org/drawingml/2006/main"/>
        </p:blipFill>
        <p:spPr>
          <a:xfrm xmlns:a="http://schemas.openxmlformats.org/drawingml/2006/main">
            <a:off x="762000" y="40481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EC6F2F-ECA1-4DEA-A073-A0FB77C9C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4812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KISS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88FC07-BFE6-4D47-A13D-27353BDB0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04812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간단 · 명료 · 눈높이, 공감할 수 있는 예시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3802A2-D503-4B81-802C-DEBE356BE29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9b7f92676d430b"/>
          <a:stretch xmlns:a="http://schemas.openxmlformats.org/drawingml/2006/main"/>
        </p:blipFill>
        <p:spPr>
          <a:xfrm xmlns:a="http://schemas.openxmlformats.org/drawingml/2006/main">
            <a:off x="762000" y="47148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21E921-67EB-4F26-80F3-C3E01F47A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71487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COD 공부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E98057-7EDA-4B82-B2E0-4923FD06B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71487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올바른 정보인지 확인, 긴가민가한 말은 하지 않기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A8DEC5-1C87-4098-B019-657929E03A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cb3b93141f4415"/>
          <a:stretch xmlns:a="http://schemas.openxmlformats.org/drawingml/2006/main"/>
        </p:blipFill>
        <p:spPr>
          <a:xfrm xmlns:a="http://schemas.openxmlformats.org/drawingml/2006/main">
            <a:off x="762000" y="53816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CC28C5-89AB-489E-ABF8-185F22963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38162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타이밍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D08896-4712-46B4-9678-46957E203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38162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필수 상황 외에는 2시간에 1번, 그 사이는 개인 목표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1505E2-7DDF-4563-A8AB-6CDE3F114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피드백 수용이 빠른 신입, 주거테리·유동이 적은 B패턴에는 전략적으로 활용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85EFB5-7B93-4632-B862-1A8257300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33 / 50</a:t>
            </a:r>
          </a:p>
        </p:txBody>
      </p:sp>
    </p:spTree>
    <p:extLst>
      <p:ext uri="{BB962C8B-B14F-4D97-AF65-F5344CB8AC3E}">
        <p14:creationId xmlns:p14="http://schemas.microsoft.com/office/powerpoint/2010/main" val="1540571026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E09128-DDDA-4590-9AF9-7210DBA1F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FEEDBACK MODEL 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B49C7B-3A7C-44FC-A03F-81F867732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샌드위치 기법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C0FFDE-9EA4-4917-8896-F643E2BF3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긍정으로 시작하고, 개선점을 전하고, 다시 긍정으로 마무리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4A2A58-C56C-4229-9A0F-50318D1948F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4367aebc9f4a51"/>
          <a:stretch xmlns:a="http://schemas.openxmlformats.org/drawingml/2006/main"/>
        </p:blipFill>
        <p:spPr>
          <a:xfrm xmlns:a="http://schemas.openxmlformats.org/drawingml/2006/main">
            <a:off x="7715250" y="2905125"/>
            <a:ext cx="2857500" cy="2857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6D129B-0978-4802-8E9F-1B63DEA9C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95550"/>
            <a:ext cx="5048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긍정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B24CCC-F0CF-41F9-B38A-8A3CD5D2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76575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좋았던 행동을 구체적으로 인정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E3668E-24FB-41A0-9253-54EA33EFB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62350"/>
            <a:ext cx="5048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25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925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rPr>
              <a:t>개선점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946ABC-A954-4436-93CB-27D8A5F1D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43375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바꿔볼 한 가지를 제안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268001-9E7F-4797-8B37-5B12C2C83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5048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긍정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46A1B6-C20B-48AB-9905-790F6C883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0175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잘할 수 있다는 믿음으로 마무리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94F1A1-AC34-4725-9211-59AEBB7AD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293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“이것도 저것도 좋았는데, 이 부분만 이렇게 바꿔보면 어떨까요?”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51BAF7-F278-413B-96AC-A5703AD92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34 / 50</a:t>
            </a:r>
          </a:p>
        </p:txBody>
      </p:sp>
    </p:spTree>
    <p:extLst>
      <p:ext uri="{BB962C8B-B14F-4D97-AF65-F5344CB8AC3E}">
        <p14:creationId xmlns:p14="http://schemas.microsoft.com/office/powerpoint/2010/main" val="1064329640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A14345-D676-40DE-85F4-C12E21763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FEEDBACK MODEL 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F253B7-F7DA-42E2-9E70-D18FF45B5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SBI 모델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8F6952-7750-4481-81E9-3D92C9ABD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상황 · 행동 · 영향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A478D5-A61B-436C-A78A-D5FD16E3E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3048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1701AE-5ADF-4F90-8ADE-89C970B4B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57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Situation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44F779-83D7-4FCF-8B6F-D57FCA544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1485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상황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421C5D-5F50-42E4-B05F-40B31CBE2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29225"/>
            <a:ext cx="304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이럴 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133396-73FC-4C99-8DAF-9046FD91A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762250"/>
            <a:ext cx="3048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427248-9DD0-4339-AFEA-C767B2178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0957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Behavior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C1FFB9-5D76-4019-9225-FD3DA9418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51485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행동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951B5B-DD09-4C10-94F9-A2EB6DF92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229225"/>
            <a:ext cx="304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이렇게 하면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D66B8D-A303-49AB-B756-D00A90EE2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762250"/>
            <a:ext cx="3048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00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00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00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rPr>
              <a:t>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BCDA1B-4748-4FF3-996D-F7A0C43EA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0957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Impact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B4F5BF-D7A8-4E87-B5D7-2EB2C71FB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51485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영향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0287DA-6AFF-4985-A391-4C392BC0B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229225"/>
            <a:ext cx="304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이런 장점이 있어요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60B844-ABE7-4633-8EDC-BC22DD914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293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“이럴 땐 이렇게 하면 이런 장점이 있어요!”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4F79CF-C01E-4934-8F16-4013CAA47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35 / 50</a:t>
            </a:r>
          </a:p>
        </p:txBody>
      </p:sp>
    </p:spTree>
    <p:extLst>
      <p:ext uri="{BB962C8B-B14F-4D97-AF65-F5344CB8AC3E}">
        <p14:creationId xmlns:p14="http://schemas.microsoft.com/office/powerpoint/2010/main" val="693949339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5C1A0D-C828-4CD7-A9BE-C90B46E99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FEEDBACK MODEL 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F315A2-9164-451F-9BE2-FC06F4448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5R 코칭법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9F9E38-6A8F-4EAF-B43B-3F27762F1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디테일한 발전을 위한 대화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A5B125-3BAE-457D-9B4F-1E891F9E5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188976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Relation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F38C2F-614A-4188-A9AF-FC2283DB2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188976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관계형성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EB2825-E354-47C5-A46F-473F9BF58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2857500"/>
            <a:ext cx="188976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Refocus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72C994-6D07-472D-BFA8-CF7F5A681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3905250"/>
            <a:ext cx="188976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목표설정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64C43A-DB73-48A0-9F67-A1E3FB0EA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2857500"/>
            <a:ext cx="188976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Reality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BC6FAF-EFB8-4EB3-AF44-2225008D4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3905250"/>
            <a:ext cx="188976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현실 장애물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CA57E7-E914-4A69-A56D-4EC9E9258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2857500"/>
            <a:ext cx="188976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Resources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046B6D-81A8-4926-BCDA-5D28477F7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3905250"/>
            <a:ext cx="188976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해결자원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738E68-C5F0-4275-8706-BBF2E6932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2857500"/>
            <a:ext cx="188976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Responsibility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72D358-D4F3-4EB6-8338-66C8101D5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3905250"/>
            <a:ext cx="188976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책임지기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786758-F354-45DE-8382-36B6A419D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9592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목표는? 장애물은? 그럼에도 해결할 방법은? 언제까지 무엇을 할지 약속하고 지킨다.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839726-56A1-4419-A9EA-EF1EF8845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36 / 50</a:t>
            </a:r>
          </a:p>
        </p:txBody>
      </p:sp>
    </p:spTree>
    <p:extLst>
      <p:ext uri="{BB962C8B-B14F-4D97-AF65-F5344CB8AC3E}">
        <p14:creationId xmlns:p14="http://schemas.microsoft.com/office/powerpoint/2010/main" val="1276898739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B6827C-8265-4630-8C8F-D902DCF54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364D7A-4052-4249-B220-644C70F51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트레이너도 콜백싯을 쓴다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54AEE4-D30C-4773-B638-FC44C995B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내가 신입을 위해 무엇을 챙겼는가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B8F4E0-BFF4-4B8C-BAC0-02469B042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31908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47DB34-8C4E-4237-8726-00CBEC78D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71825"/>
            <a:ext cx="3190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Number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C775F8-32EF-4F8D-94C8-81FB0D402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14750"/>
            <a:ext cx="3190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넘버를 쌓게 했는가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223A9C-5110-4F29-B072-DE240630A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319087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사이트 준비 / 시도하게 하는 피드백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거절 없는 시도 횟수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30145C-BB6C-424A-979E-FB5ABE5E3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57500"/>
            <a:ext cx="31908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FE8367-89F4-494C-B131-D8B8ABFCB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171825"/>
            <a:ext cx="3190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Pitch · Skill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E7B1A4-FB19-4049-A638-FF912822F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714750"/>
            <a:ext cx="3190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스킬을 보강했는가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5589BD-D6D8-449D-A085-07406ECC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572000"/>
            <a:ext cx="319087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약한 부분 즉시 교육 / 어떤 스킬이든 보강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내일 바로 쓸 수 있게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3FCF03-B1B8-46E7-8B21-F896D72BB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857500"/>
            <a:ext cx="31908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4CA6DE-E300-4642-B149-F44470A28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71825"/>
            <a:ext cx="3190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rPr>
              <a:t>Attitude · Mental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F2DD49-8594-42BA-9D25-C41787CF0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714750"/>
            <a:ext cx="3190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멘탈을 지켜줬는가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D55408-57CD-4251-8C7F-18A1D3671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572000"/>
            <a:ext cx="319087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불안·두려움 제거 / 방해되는 마음 케어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필드에 온전히 집중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F3FAFC-A506-4374-9B7E-93A111B5C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콜백싯이 신입을 키우듯, 트레이너의 콜백싯이 트레이너를 키운다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ECE65C-BE4D-4BD5-BC0A-AE3AB3549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37 / 50</a:t>
            </a:r>
          </a:p>
        </p:txBody>
      </p:sp>
    </p:spTree>
    <p:extLst>
      <p:ext uri="{BB962C8B-B14F-4D97-AF65-F5344CB8AC3E}">
        <p14:creationId xmlns:p14="http://schemas.microsoft.com/office/powerpoint/2010/main" val="556965256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2283A9-83BF-45A8-860E-7367D40C4F0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ee5997442b474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223A83-F5CD-4469-ABD6-61A66F992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 자립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C38069-4AD3-4C34-BF6E-C66B9213E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혼자 설 수 있는</a:t>
            </a:r>
          </a:p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6주를 설계한다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FE4D3B-804A-4429-9E11-12FA5A1F3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전략적인 스케줄과 필드 시간 확보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0830D2-A842-4B0B-8321-9E916E442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38 / 50</a:t>
            </a:r>
          </a:p>
        </p:txBody>
      </p:sp>
    </p:spTree>
    <p:extLst>
      <p:ext uri="{BB962C8B-B14F-4D97-AF65-F5344CB8AC3E}">
        <p14:creationId xmlns:p14="http://schemas.microsoft.com/office/powerpoint/2010/main" val="78289933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5D9548-72AF-4B7C-81EB-00FD8962A58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b97bbcdcd84ba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E261F6-9F91-4A17-A393-BD1059B5E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 자립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94AD68-4ABC-4BDB-A3E7-595E76AB2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자립을 위한 6주 전략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278FAF-0734-4A9F-98F8-D25A77E5F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성장 속도에 맞춰, 단계별로 모니터링한다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F76960-CF30-4345-AA67-E5213EBEA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482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1–2주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AA2D90-8114-4DD7-93FA-0C149BA55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054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리더힛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EE2292-42E6-40A8-871F-CCB834264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626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2주 이내 달성이 이상적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스케줄과 필드 시간 확보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76C9E3-5FE2-4169-82DA-EA8C37601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46482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3–5주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8756F4-D33C-4679-9FAA-153792BB0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1054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로드트립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FCDDA0-1BBE-474A-9627-3D8E374C2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5626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적극 활용하며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성장 과정을 모니터링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44993-37D9-4630-B3F6-D74CB812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6482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약 6주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DCEB22-138C-4D55-9732-545A4916F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1054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적응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B3BAAF-91E8-41CF-8701-A7BF8C7A4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5626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Self 시점 사전 안내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심리적 준비와 실전 역량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DA7026-7E2B-4919-8A7A-9A9DEEB3C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6주는 원본의 트레이닝 운영 기준이며, 개인별 적응 속도를 고려한다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CB31AE-AEDC-4869-B6B9-4B429870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39 / 50</a:t>
            </a:r>
          </a:p>
        </p:txBody>
      </p:sp>
    </p:spTree>
    <p:extLst>
      <p:ext uri="{BB962C8B-B14F-4D97-AF65-F5344CB8AC3E}">
        <p14:creationId xmlns:p14="http://schemas.microsoft.com/office/powerpoint/2010/main" val="2070879464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205A10-54BF-4AF7-B2B0-8731C4122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 리더의 역할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8061A9-478C-4ECB-95CF-0D52BD865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트레이너의 세 가지 핵심 역할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E2E1D9-B045-4D3A-BE4B-83817A3E0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신입이 자발적으로 성장할 수 있는 환경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CF0CC6-0DC7-4533-910A-16B51E87CBF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036d5183834faf"/>
          <a:stretch xmlns:a="http://schemas.openxmlformats.org/drawingml/2006/main"/>
        </p:blipFill>
        <p:spPr>
          <a:xfrm xmlns:a="http://schemas.openxmlformats.org/drawingml/2006/main">
            <a:off x="819150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F38D56-01FB-48DC-889F-DF659B5B5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857500"/>
            <a:ext cx="269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성취감 제공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A53F19-C52F-41CD-9F03-DD111E7E4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71875"/>
            <a:ext cx="336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내가 직접 해냈다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44EB95-9342-48EB-9410-A2A1EB13A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3365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두려워하면 돕고, 아니면 혼자 하게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두려움의 수준을 먼저 파악한다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A4C537-1420-40D5-8250-2A6B0A3F388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7ac056f1d64d4c"/>
          <a:stretch xmlns:a="http://schemas.openxmlformats.org/drawingml/2006/main"/>
        </p:blipFill>
        <p:spPr>
          <a:xfrm xmlns:a="http://schemas.openxmlformats.org/drawingml/2006/main">
            <a:off x="4508500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66610A-C51C-4F0D-B996-30B740D2C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0" y="2857500"/>
            <a:ext cx="269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두려움 제거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E588BB-1EE6-4E03-8C8C-338515134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571875"/>
            <a:ext cx="336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안전하게 도전한다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DA57E5-F3AD-4C39-A935-CCBB0C17D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286250"/>
            <a:ext cx="3365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초기에 충분한 서포트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점진적으로 독립성을 부여한다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922F13-B7B8-4E7E-A0E0-FF3AE299C3C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cffc66c59a44c9"/>
          <a:stretch xmlns:a="http://schemas.openxmlformats.org/drawingml/2006/main"/>
        </p:blipFill>
        <p:spPr>
          <a:xfrm xmlns:a="http://schemas.openxmlformats.org/drawingml/2006/main">
            <a:off x="8197850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0D1CAD-C348-405C-92FA-03DC50780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9350" y="2857500"/>
            <a:ext cx="269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인정과 칭찬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B01311-9F1D-4A93-A48D-390C3666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3571875"/>
            <a:ext cx="336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스스로 깨닫게 한다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F50C99-18DB-4150-8C67-1107EC6C3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4286250"/>
            <a:ext cx="3365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인정받을 때 주도적이 된다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혼냄보다 인정과 칭찬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23F3A4-AC9A-4C2D-9BC0-57D60E008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40 / 50</a:t>
            </a:r>
          </a:p>
        </p:txBody>
      </p:sp>
    </p:spTree>
    <p:extLst>
      <p:ext uri="{BB962C8B-B14F-4D97-AF65-F5344CB8AC3E}">
        <p14:creationId xmlns:p14="http://schemas.microsoft.com/office/powerpoint/2010/main" val="99240352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7D3D52-D1B8-4AD0-A3EF-3B81AB309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 리더의 역할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8D05F9-1AEB-470A-B852-AA7686369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캔슬 관리와 그로스 집중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C94392-3870-4F24-9B67-57E4213F7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두려움이 세일즈 확신을 떨어뜨리지 않도록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CF9248-5680-456B-AF02-5B20652DAAE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48ba3664ad470f"/>
          <a:stretch xmlns:a="http://schemas.openxmlformats.org/drawingml/2006/main"/>
        </p:blipFill>
        <p:spPr>
          <a:xfrm xmlns:a="http://schemas.openxmlformats.org/drawingml/2006/main">
            <a:off x="838200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6D8813-14F5-4978-92EC-35810A76F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MANAGEMENT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E1FACE-DB1A-4159-9C75-AD8BAFE29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캔슬은 지점 차원에서 관리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BEP 대비 세일즈 타겟과 최종 수익을 분명히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8BF752-2934-4577-8432-D7092CD0DC3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007065aac34b3d"/>
          <a:stretch xmlns:a="http://schemas.openxmlformats.org/drawingml/2006/main"/>
        </p:blipFill>
        <p:spPr>
          <a:xfrm xmlns:a="http://schemas.openxmlformats.org/drawingml/2006/main">
            <a:off x="6372225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1A3659-2440-4F6C-808D-38184F1F5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58CBD7-AEDD-4259-A46C-CF1D510C4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그로스(Gross)에 집중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리젝을 자연스러운 일로 받아들일 심리적 준비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09AA27-C630-459A-B6F0-4C430D9B5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원본의 안내 기준: 리젝 20–30% 가능성 / 하이롤러 1일 1건 리젝 리스크, 주 10세일즈+ 사전 프리엠티브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CB8B1B-8D54-4928-868A-E7E67D8B9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41 / 50</a:t>
            </a:r>
          </a:p>
        </p:txBody>
      </p:sp>
    </p:spTree>
    <p:extLst>
      <p:ext uri="{BB962C8B-B14F-4D97-AF65-F5344CB8AC3E}">
        <p14:creationId xmlns:p14="http://schemas.microsoft.com/office/powerpoint/2010/main" val="670718130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8DD551-8007-4FFA-A9E3-BB85F2AFD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 리더의 역할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710CC1-79D1-4832-A218-1A652713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매슬로우 5단계 욕구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9DB88E-146B-481B-9083-8AE25CC85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신입이 다음 단계로 나아가도록 돕는다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71C387-40C4-4F6A-87A7-1AC9A3F99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90DF6D-1DC0-4DD6-9746-D362CF323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생리적 욕구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AFDB46-2C75-4364-AA04-48D72CBB5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76875"/>
            <a:ext cx="18897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기본 생계와 수입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EFD21B-8730-43A6-A5F9-827B94B0C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38862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BD2ACD-8092-4531-A5CF-F9C56E6B6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4476750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안전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63E09E-C81B-4813-BD26-6FF53748C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5076825"/>
            <a:ext cx="18897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두려움 제거, 안전한 도전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510A67-6C1D-41D3-BA01-75DB7642E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348615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DBEDCB-8071-4587-A0FD-1DB574453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4076700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소속·애정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CEFDF0-84CC-4394-91DA-869302D99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4676775"/>
            <a:ext cx="18897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팀의 일원이라는 소속감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947ACD-DF39-47E4-8003-481F79C37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30861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8CD42B-C25A-4A54-B47E-47B86142C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3676650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존중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FA979C-7F67-48C5-B1D9-8F34A3084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4276725"/>
            <a:ext cx="18897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인정과 칭찬, 성취를 알아주기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85ECD9-1678-41B1-BB2B-3C2B86944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268605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327E35-F6F5-4E54-B6BD-01AC100E7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3276600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자아실현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9FF2D8-C1A6-4727-8105-905458E88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3876675"/>
            <a:ext cx="18897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더 큰 목표, 스스로 리더로 성장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894A42-23E8-4D29-ABD6-D53E30664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원본에서 제시한 트레이닝 해석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AEBA2E-3622-476C-B32A-12CB595E4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42 / 50</a:t>
            </a:r>
          </a:p>
        </p:txBody>
      </p:sp>
    </p:spTree>
    <p:extLst>
      <p:ext uri="{BB962C8B-B14F-4D97-AF65-F5344CB8AC3E}">
        <p14:creationId xmlns:p14="http://schemas.microsoft.com/office/powerpoint/2010/main" val="241932888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73A95B-69B9-4FD3-B6BF-4D2144EC0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 리더의 역할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B3FFAA-EC07-446E-AC70-CB7EE9A2F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결과를 함께 책임진다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DEFBA0-95E8-4246-BD5E-E22F157B3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명확한 기준과 일관된 원칙, 그리고 Case by Case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6A0B8B-4893-4734-B145-039B8F583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5143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3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3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3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50%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0DC9E6-D051-44D1-93B3-AE762B335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762500"/>
            <a:ext cx="5048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트레이너의 책임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3CD51F-651D-4C74-B974-E0C31FFA9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57500"/>
            <a:ext cx="5143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350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350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350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rPr>
              <a:t>50%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15A2D3-CF4D-433A-AEFA-178A0A150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762500"/>
            <a:ext cx="5048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책임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A76661-17D9-4C9C-8B89-79B37C2CD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43 / 50</a:t>
            </a:r>
          </a:p>
        </p:txBody>
      </p:sp>
    </p:spTree>
    <p:extLst>
      <p:ext uri="{BB962C8B-B14F-4D97-AF65-F5344CB8AC3E}">
        <p14:creationId xmlns:p14="http://schemas.microsoft.com/office/powerpoint/2010/main" val="1243776454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F89C17-D6B8-45C2-8535-210C4142C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 리더의 역할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7A8A9A-FAAF-4A12-9FEF-A7035C6B2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Stay / Qualifying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CEE785-08D2-4F49-B68D-5D2A57C92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반드시 오너와 상의하고 개별 상황을 고려한다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A0B5B2-ED8A-4D6E-B7E6-66B6934812A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c4fc4cc18b45be"/>
          <a:stretch xmlns:a="http://schemas.openxmlformats.org/drawingml/2006/main"/>
        </p:blipFill>
        <p:spPr>
          <a:xfrm xmlns:a="http://schemas.openxmlformats.org/drawingml/2006/main">
            <a:off x="838200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F3F3A1-6E07-4C53-82AE-1E4E4FD0C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STAY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14E4F1-A1B8-4DED-BD1D-E23D95E57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결과가 좋거나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기준 도달에 확신이 있을 때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4AB193-0F0A-4D10-A602-F405E77FB46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7e88f4456e4811"/>
          <a:stretch xmlns:a="http://schemas.openxmlformats.org/drawingml/2006/main"/>
        </p:blipFill>
        <p:spPr>
          <a:xfrm xmlns:a="http://schemas.openxmlformats.org/drawingml/2006/main">
            <a:off x="6372225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F5150D-82DF-4441-AC55-8398154B7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QUALIFYING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106B3D-2BFF-42BB-9030-1F35A6DF7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최소 기준 도달이 어렵고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확신이 없을 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AE6B31-24E4-44AB-9CB1-5E0ABD32D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명확한 기준과 일관된 원칙 위에서, 개별 상황에 맞춰 최선의 결정을 내린다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0646F8-FAD5-4EEB-8E76-21F8D9013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44 / 50</a:t>
            </a:r>
          </a:p>
        </p:txBody>
      </p:sp>
    </p:spTree>
    <p:extLst>
      <p:ext uri="{BB962C8B-B14F-4D97-AF65-F5344CB8AC3E}">
        <p14:creationId xmlns:p14="http://schemas.microsoft.com/office/powerpoint/2010/main" val="719056604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B2D211-DE18-4572-B2DD-2DF1F392AC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e8ea5eb3aa416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A9BCE6-2AC7-4575-9A76-87FD7F4B1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『에밀』에 관한 원본 강의자의 해석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AA259D-8EDB-4CA7-A967-0E64D9D7C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10477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알고 싶고,</a:t>
            </a:r>
          </a:p>
          <a:p xmlns:a="http://schemas.openxmlformats.org/drawingml/2006/main">
            <a: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배우고 싶은 욕구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D69C9E-0C62-4434-B582-A9932414B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48125"/>
            <a:ext cx="704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가르침보다 먼저 마음이 움직이게 한다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E7C161-15BA-4438-80AC-FCED3C78D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45 / 50</a:t>
            </a:r>
          </a:p>
        </p:txBody>
      </p:sp>
    </p:spTree>
    <p:extLst>
      <p:ext uri="{BB962C8B-B14F-4D97-AF65-F5344CB8AC3E}">
        <p14:creationId xmlns:p14="http://schemas.microsoft.com/office/powerpoint/2010/main" val="2035326258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EC3C12-6A02-4342-BB15-E4DE82DD1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EPILOGUE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ED3340-7C93-45E4-8F4A-10781D810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우리의 트레이닝과 닿아 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C85AD8-A712-418B-88F8-228638FB1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결국 신입에게 답이 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7BDE3C-A973-40E9-B73B-7401F3688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먼저 배우고 싶게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7B09AF-DFA8-4D70-807B-4F2722936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지식보다 먼저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호기심과 욕구를 켠다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5F10A6-D169-452D-9BD8-1524273A2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ADB375-4C39-4F94-9E15-85084E022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앞서지 말고 관찰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A160FE-F60A-4440-99AA-9D32A16AC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스스로 깨닫게 두고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필요할 때 돕는다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E3E152-B563-4782-8FAE-376767943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73783A-FEDB-4F1B-9759-78DF2125A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경험이 곧 배움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C8A66E-FDF9-42EC-BC63-A09FF0D23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어려움 속의 경험으로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신입은 자란다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FC261F-6CCC-4107-B0CD-D9BD8FCC8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E9BE61-BFFE-41B9-BEA8-E175BA9FE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46 / 50</a:t>
            </a:r>
          </a:p>
        </p:txBody>
      </p:sp>
    </p:spTree>
    <p:extLst>
      <p:ext uri="{BB962C8B-B14F-4D97-AF65-F5344CB8AC3E}">
        <p14:creationId xmlns:p14="http://schemas.microsoft.com/office/powerpoint/2010/main" val="1045418459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4F55C3-BBD3-49D6-B264-1E9E1BCE7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EPILOGUE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BF1B80-222B-490D-AE7E-8FF6B9BE1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내가 리더가 되고 싶었던 이유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D37F40-8F44-484A-8746-5BEA24793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임재영 AOP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B97626-64CA-4B9B-BFDB-2BBCBE033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A737E3-98CA-4AB5-9577-68E2EF9C5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1462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세일즈웍스의 첫 번째 목표여서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B31831-3121-4378-8D36-CB37E465F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14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2059DF-6775-41BF-86E4-A5E1F3FA4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71462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내 가치관이 담긴 팀을 만들 수 있어서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BBC183-5D16-4BEA-83D9-A7DCCC4EB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8137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27467E-80CF-4B62-8573-6ED470F7F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38137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누군가의 리더가 된다는 것이 기뻐서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279B72-A46A-4380-9A46-C2174F38B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38137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794FB7-79F3-460D-ACDE-3318EF85A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38137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‘OO리’라 불리는 친근함이 좋아서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DD9DA5-AB1C-4F78-8606-F980AC470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481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692EFB-FA6D-4764-A7D6-46E8109C9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4812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조끼·피치카드·사물함을 쓸 수 있어서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0CC576-5618-491A-A7A3-14F04EB29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481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D62372-B0B5-4E10-A66C-E9BE3EB4F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04812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리더라는 위치가 동기부여가 되어서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C37E0D-824D-4492-9E9E-3CB23AD52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1487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07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763A2D-8287-47A5-A017-977B7428F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1487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상위 프로모션에 도전할 수 있어서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8CBA6A-3D4B-4103-ACEE-BEBD7CB15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71487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988AF4-2E90-47F1-813E-5AB1AD405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71487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리더힛 부담이 아닌 더 큰 비전으로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9A016C-1CB9-410C-AAB3-31D6B8567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81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09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BABC63-EE0B-4724-8F0D-9F3746FB6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38162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섬기고 돕는 자리에서만 배울 수 있어서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7B9230-8C18-4A6F-8486-E5C8A9A8A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47 / 50</a:t>
            </a:r>
          </a:p>
        </p:txBody>
      </p:sp>
    </p:spTree>
    <p:extLst>
      <p:ext uri="{BB962C8B-B14F-4D97-AF65-F5344CB8AC3E}">
        <p14:creationId xmlns:p14="http://schemas.microsoft.com/office/powerpoint/2010/main" val="696582876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DC5C96-8071-4BA4-B650-C45FA3A6590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eb01edf44449c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83E470-734C-4B94-AB5D-7A3D5AC4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내가 리더가 되고 싶었던 열 번째 이유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389BD2-D4A6-4C69-AD9B-08BFC1658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딱 한 걸음 앞서</a:t>
            </a:r>
          </a:p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기다릴 줄 아는 리더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EDAF9C-BE3E-4E5B-8E26-4DBC019DB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아주 먼 곳까지 내다보되, 앞서 달음박질하지 않고</a:t>
            </a:r>
          </a:p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언제든 따라올 수 있도록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D59668-F414-4565-9DB5-36FC35564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48 / 50</a:t>
            </a:r>
          </a:p>
        </p:txBody>
      </p:sp>
    </p:spTree>
    <p:extLst>
      <p:ext uri="{BB962C8B-B14F-4D97-AF65-F5344CB8AC3E}">
        <p14:creationId xmlns:p14="http://schemas.microsoft.com/office/powerpoint/2010/main" val="1429791877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C3F3CE-8056-4530-B496-FEAFC9EB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TAKEAWAY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3DBE43-1DAF-40B0-A3A3-56FAEB222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신입 트레이닝, 한 장 요약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7D4CA7-197B-40AB-9A4A-386FDE3A9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나가면 반드시 세일즈하는 신입으로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019266-0419-4692-8462-122E87971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B5EA18-D356-4B5D-81E2-153F5A164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14625"/>
            <a:ext cx="46767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1 · 경험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D4EF60-8EF7-4425-91A5-68AC3EAFE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124200"/>
            <a:ext cx="46767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2시간 후 반응·태도 관찰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쇼잉 / 두려움 제거 / 프리엠티브 / 제로 방지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934B67-5EB4-462A-A77B-58C6E3CF8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14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C93A19-66AC-4DFC-83CC-BAC80E15A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714625"/>
            <a:ext cx="46767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2 · 학습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B895C9-59BD-46A3-9616-3461DD48B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124200"/>
            <a:ext cx="46767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첫 세일즈 1개 함께 달성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학습력·성장성 / 개선점 피드백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CE1628-83A0-4833-B903-F7DDDB332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95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DCAB81-BC80-4E84-A91D-436DEC8EC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19525"/>
            <a:ext cx="46767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3 · 판단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A5CFEE-59DD-45F7-B504-E8A172816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29100"/>
            <a:ext cx="46767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전략적 사이트 선택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성과 패턴 / 오너와 Stay·Qualifying 판단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F36FD8-0B85-4792-BB93-7A69405F1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8195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3A5F97-7AA8-47EA-BE9C-ED7E141E6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819525"/>
            <a:ext cx="46767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태도와 스킬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B975E0-F39E-4653-9997-AEE5EB783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229100"/>
            <a:ext cx="46767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성취감 / 인정과 칭찬 / 스스로 깨닫게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5 Step / TAAIS / 쿠션 멘트 / 약점별 보강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9F407D-D1FE-4670-BBB5-88AD8AF00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매일: 사이트와 넘버 / 약한 스킬 보강 / 두려움 제거 / 신입 콜백싯 함께 점검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A75E78-84DE-4B27-BDD7-2D35972FE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49 / 50</a:t>
            </a:r>
          </a:p>
        </p:txBody>
      </p:sp>
    </p:spTree>
    <p:extLst>
      <p:ext uri="{BB962C8B-B14F-4D97-AF65-F5344CB8AC3E}">
        <p14:creationId xmlns:p14="http://schemas.microsoft.com/office/powerpoint/2010/main" val="1070068102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E28185-DD39-4463-A2C7-61FDC6FA81F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579e3695e34e6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F8B981-D3E0-496F-9985-8BDEC1BE2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임재영 AOP · Presence Team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99BBF4-4FE1-4637-913A-924B92C58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5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후원의 기쁨과</a:t>
            </a:r>
          </a:p>
          <a:p xmlns:a="http://schemas.openxmlformats.org/drawingml/2006/main">
            <a:pPr algn="l">
              <a:defRPr sz="5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가치를 전하는 사람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EAFDD8-FCDD-4DC6-AA38-4840A3CAC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그곳이 어디든 가는 사람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BB25F9-AE3B-4CA5-B4D2-B67686144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72125"/>
            <a:ext cx="9048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임재영 AOP · Presence Team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010-5178-1713 · jaeyoung5178@naver.com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209D9C-72DE-4BAC-B90D-4FA3158B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50 / 50</a:t>
            </a:r>
          </a:p>
        </p:txBody>
      </p:sp>
    </p:spTree>
    <p:extLst>
      <p:ext uri="{BB962C8B-B14F-4D97-AF65-F5344CB8AC3E}">
        <p14:creationId xmlns:p14="http://schemas.microsoft.com/office/powerpoint/2010/main" val="150971786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2026-10-25T03:46:49.2330000Z</dcterms:created>
  <dcterms:modified xsi:type="dcterms:W3CDTF">2026-10-25T03:46:49.2340000Z</dcterms:modified>
</coreProperties>
</file>