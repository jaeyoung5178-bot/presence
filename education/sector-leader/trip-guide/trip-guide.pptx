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1ac1af0dc894929" /><Relationship Type="http://schemas.openxmlformats.org/officeDocument/2006/relationships/extended-properties" Target="/docProps/app.xml" Id="R7142bb1e49544592" /><Relationship Type="http://schemas.openxmlformats.org/officeDocument/2006/relationships/officeDocument" Target="/ppt/presentation.xml" Id="R8804680f23664700" /></Relationships>
</file>

<file path=ppt/presentation.xml><?xml version="1.0" encoding="utf-8"?>
<p:presentation xmlns:p="http://schemas.openxmlformats.org/presentationml/2006/main">
  <p:sldMasterIdLst>
    <p:sldMasterId xmlns:r="http://schemas.openxmlformats.org/officeDocument/2006/relationships" id="2147483648" r:id="R9547bf8419d446cc"/>
  </p:sldMasterIdLst>
  <p:notesMasterIdLst>
    <p:notesMasterId xmlns:r="http://schemas.openxmlformats.org/officeDocument/2006/relationships" r:id="R3e53c0c49d3c422b"/>
  </p:notesMasterIdLst>
  <p:sldIdLst>
    <p:sldId xmlns:r="http://schemas.openxmlformats.org/officeDocument/2006/relationships" id="256" r:id="Rac269fcaca2d4824"/>
    <p:sldId xmlns:r="http://schemas.openxmlformats.org/officeDocument/2006/relationships" id="257" r:id="Rb229552994084d79"/>
    <p:sldId xmlns:r="http://schemas.openxmlformats.org/officeDocument/2006/relationships" id="258" r:id="Ra239f8ce6d4b45a7"/>
    <p:sldId xmlns:r="http://schemas.openxmlformats.org/officeDocument/2006/relationships" id="259" r:id="R6bfe5c9aa8b3493e"/>
    <p:sldId xmlns:r="http://schemas.openxmlformats.org/officeDocument/2006/relationships" id="260" r:id="R1b1bb3314fe74d09"/>
    <p:sldId xmlns:r="http://schemas.openxmlformats.org/officeDocument/2006/relationships" id="261" r:id="Reaf53968e99a4285"/>
    <p:sldId xmlns:r="http://schemas.openxmlformats.org/officeDocument/2006/relationships" id="262" r:id="Rc219d6af442e4e85"/>
    <p:sldId xmlns:r="http://schemas.openxmlformats.org/officeDocument/2006/relationships" id="263" r:id="Rafd4e27e3a2041c4"/>
    <p:sldId xmlns:r="http://schemas.openxmlformats.org/officeDocument/2006/relationships" id="264" r:id="Rb3121763f04949c6"/>
    <p:sldId xmlns:r="http://schemas.openxmlformats.org/officeDocument/2006/relationships" id="265" r:id="R61e840ad51f44aa7"/>
    <p:sldId xmlns:r="http://schemas.openxmlformats.org/officeDocument/2006/relationships" id="266" r:id="Rbf759cc4055c4f68"/>
    <p:sldId xmlns:r="http://schemas.openxmlformats.org/officeDocument/2006/relationships" id="267" r:id="R90a725ba0c504e3d"/>
    <p:sldId xmlns:r="http://schemas.openxmlformats.org/officeDocument/2006/relationships" id="268" r:id="Radf04d5aae7442f7"/>
    <p:sldId xmlns:r="http://schemas.openxmlformats.org/officeDocument/2006/relationships" id="269" r:id="R54a55d5cedfd4daf"/>
    <p:sldId xmlns:r="http://schemas.openxmlformats.org/officeDocument/2006/relationships" id="270" r:id="Rf7aa42e0087c46d3"/>
    <p:sldId xmlns:r="http://schemas.openxmlformats.org/officeDocument/2006/relationships" id="271" r:id="Re1adadbbfe1f47cf"/>
    <p:sldId xmlns:r="http://schemas.openxmlformats.org/officeDocument/2006/relationships" id="272" r:id="Rd5fc066c144c4ccc"/>
    <p:sldId xmlns:r="http://schemas.openxmlformats.org/officeDocument/2006/relationships" id="273" r:id="Rff8c613290f54e93"/>
    <p:sldId xmlns:r="http://schemas.openxmlformats.org/officeDocument/2006/relationships" id="274" r:id="R2daf34e13c9f435e"/>
    <p:sldId xmlns:r="http://schemas.openxmlformats.org/officeDocument/2006/relationships" id="275" r:id="R604d3f2f28a042a2"/>
    <p:sldId xmlns:r="http://schemas.openxmlformats.org/officeDocument/2006/relationships" id="276" r:id="R42e1a3be65594792"/>
    <p:sldId xmlns:r="http://schemas.openxmlformats.org/officeDocument/2006/relationships" id="277" r:id="R5253e7439da54443"/>
    <p:sldId xmlns:r="http://schemas.openxmlformats.org/officeDocument/2006/relationships" id="278" r:id="R40c8c39dee2d4247"/>
    <p:sldId xmlns:r="http://schemas.openxmlformats.org/officeDocument/2006/relationships" id="279" r:id="Rb4cb48befe9447fa"/>
    <p:sldId xmlns:r="http://schemas.openxmlformats.org/officeDocument/2006/relationships" id="280" r:id="Rcd96df1308d9477f"/>
    <p:sldId xmlns:r="http://schemas.openxmlformats.org/officeDocument/2006/relationships" id="281" r:id="Rb60e80dda2dc43e0"/>
    <p:sldId xmlns:r="http://schemas.openxmlformats.org/officeDocument/2006/relationships" id="282" r:id="R0b19906a8ecd4b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3c16ba8d1584c2b" /><Relationship Type="http://schemas.openxmlformats.org/officeDocument/2006/relationships/slideMaster" Target="/ppt/slideMasters/slideMaster1.xml" Id="R9547bf8419d446cc" /><Relationship Type="http://schemas.openxmlformats.org/officeDocument/2006/relationships/notesMaster" Target="/ppt/notesMasters/notesMaster1.xml" Id="R3e53c0c49d3c422b" /><Relationship Type="http://schemas.openxmlformats.org/officeDocument/2006/relationships/presProps" Target="/ppt/presProps.xml" Id="Rec00e6dfc8644bdc" /><Relationship Type="http://schemas.openxmlformats.org/officeDocument/2006/relationships/tableStyles" Target="/ppt/tableStyles.xml" Id="R5d99b272ed424f6a" /><Relationship Type="http://schemas.openxmlformats.org/officeDocument/2006/relationships/slide" Target="/ppt/slides/slide1.xml" Id="Rac269fcaca2d4824" /><Relationship Type="http://schemas.openxmlformats.org/officeDocument/2006/relationships/slide" Target="/ppt/slides/slide2.xml" Id="Rb229552994084d79" /><Relationship Type="http://schemas.openxmlformats.org/officeDocument/2006/relationships/slide" Target="/ppt/slides/slide3.xml" Id="Ra239f8ce6d4b45a7" /><Relationship Type="http://schemas.openxmlformats.org/officeDocument/2006/relationships/slide" Target="/ppt/slides/slide4.xml" Id="R6bfe5c9aa8b3493e" /><Relationship Type="http://schemas.openxmlformats.org/officeDocument/2006/relationships/slide" Target="/ppt/slides/slide5.xml" Id="R1b1bb3314fe74d09" /><Relationship Type="http://schemas.openxmlformats.org/officeDocument/2006/relationships/slide" Target="/ppt/slides/slide6.xml" Id="Reaf53968e99a4285" /><Relationship Type="http://schemas.openxmlformats.org/officeDocument/2006/relationships/slide" Target="/ppt/slides/slide7.xml" Id="Rc219d6af442e4e85" /><Relationship Type="http://schemas.openxmlformats.org/officeDocument/2006/relationships/slide" Target="/ppt/slides/slide8.xml" Id="Rafd4e27e3a2041c4" /><Relationship Type="http://schemas.openxmlformats.org/officeDocument/2006/relationships/slide" Target="/ppt/slides/slide9.xml" Id="Rb3121763f04949c6" /><Relationship Type="http://schemas.openxmlformats.org/officeDocument/2006/relationships/slide" Target="/ppt/slides/slide10.xml" Id="R61e840ad51f44aa7" /><Relationship Type="http://schemas.openxmlformats.org/officeDocument/2006/relationships/slide" Target="/ppt/slides/slide11.xml" Id="Rbf759cc4055c4f68" /><Relationship Type="http://schemas.openxmlformats.org/officeDocument/2006/relationships/slide" Target="/ppt/slides/slide12.xml" Id="R90a725ba0c504e3d" /><Relationship Type="http://schemas.openxmlformats.org/officeDocument/2006/relationships/slide" Target="/ppt/slides/slide13.xml" Id="Radf04d5aae7442f7" /><Relationship Type="http://schemas.openxmlformats.org/officeDocument/2006/relationships/slide" Target="/ppt/slides/slide14.xml" Id="R54a55d5cedfd4daf" /><Relationship Type="http://schemas.openxmlformats.org/officeDocument/2006/relationships/slide" Target="/ppt/slides/slide15.xml" Id="Rf7aa42e0087c46d3" /><Relationship Type="http://schemas.openxmlformats.org/officeDocument/2006/relationships/slide" Target="/ppt/slides/slide16.xml" Id="Re1adadbbfe1f47cf" /><Relationship Type="http://schemas.openxmlformats.org/officeDocument/2006/relationships/slide" Target="/ppt/slides/slide17.xml" Id="Rd5fc066c144c4ccc" /><Relationship Type="http://schemas.openxmlformats.org/officeDocument/2006/relationships/slide" Target="/ppt/slides/slide18.xml" Id="Rff8c613290f54e93" /><Relationship Type="http://schemas.openxmlformats.org/officeDocument/2006/relationships/slide" Target="/ppt/slides/slide19.xml" Id="R2daf34e13c9f435e" /><Relationship Type="http://schemas.openxmlformats.org/officeDocument/2006/relationships/slide" Target="/ppt/slides/slide20.xml" Id="R604d3f2f28a042a2" /><Relationship Type="http://schemas.openxmlformats.org/officeDocument/2006/relationships/slide" Target="/ppt/slides/slide21.xml" Id="R42e1a3be65594792" /><Relationship Type="http://schemas.openxmlformats.org/officeDocument/2006/relationships/slide" Target="/ppt/slides/slide22.xml" Id="R5253e7439da54443" /><Relationship Type="http://schemas.openxmlformats.org/officeDocument/2006/relationships/slide" Target="/ppt/slides/slide23.xml" Id="R40c8c39dee2d4247" /><Relationship Type="http://schemas.openxmlformats.org/officeDocument/2006/relationships/slide" Target="/ppt/slides/slide24.xml" Id="Rb4cb48befe9447fa" /><Relationship Type="http://schemas.openxmlformats.org/officeDocument/2006/relationships/slide" Target="/ppt/slides/slide25.xml" Id="Rcd96df1308d9477f" /><Relationship Type="http://schemas.openxmlformats.org/officeDocument/2006/relationships/slide" Target="/ppt/slides/slide26.xml" Id="Rb60e80dda2dc43e0" /><Relationship Type="http://schemas.openxmlformats.org/officeDocument/2006/relationships/slide" Target="/ppt/slides/slide27.xml" Id="R0b19906a8ecd4b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ed34e4e4a0a43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02bfb37be645c2" /><Relationship Type="http://schemas.openxmlformats.org/officeDocument/2006/relationships/notesMaster" Target="/ppt/notesMasters/notesMaster1.xml" Id="R61fe7a53cda74e6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3612cbce2d4d72" /><Relationship Type="http://schemas.openxmlformats.org/officeDocument/2006/relationships/notesMaster" Target="/ppt/notesMasters/notesMaster1.xml" Id="R8099dcfd6f8442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d0419988c94e70" /><Relationship Type="http://schemas.openxmlformats.org/officeDocument/2006/relationships/notesMaster" Target="/ppt/notesMasters/notesMaster1.xml" Id="R74f4dbe19190475e" /></Relationships>
</file>

<file path=ppt/notesSlides/_rels/notesSlide4.xml.rels>&#65279;<?xml version="1.0" encoding="utf-8"?><Relationships xmlns="http://schemas.openxmlformats.org/package/2006/relationships"><Relationship Type="http://schemas.openxmlformats.org/officeDocument/2006/relationships/slide" Target="/ppt/slides/slide4.xml" Id="Rce82df897273448b" /><Relationship Type="http://schemas.openxmlformats.org/officeDocument/2006/relationships/notesMaster" Target="/ppt/notesMasters/notesMaster1.xml" Id="R71e72b7a218140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d2714c388f4f76" /><Relationship Type="http://schemas.openxmlformats.org/officeDocument/2006/relationships/notesMaster" Target="/ppt/notesMasters/notesMaster1.xml" Id="R64320d4f64ab4b3c" /></Relationships>
</file>

<file path=ppt/notesSlides/_rels/notesSlide6.xml.rels>&#65279;<?xml version="1.0" encoding="utf-8"?><Relationships xmlns="http://schemas.openxmlformats.org/package/2006/relationships"><Relationship Type="http://schemas.openxmlformats.org/officeDocument/2006/relationships/slide" Target="/ppt/slides/slide6.xml" Id="R219c3fdbd969480c" /><Relationship Type="http://schemas.openxmlformats.org/officeDocument/2006/relationships/notesMaster" Target="/ppt/notesMasters/notesMaster1.xml" Id="R7b92606225b6438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7c420dac02e4cf5" /><Relationship Type="http://schemas.openxmlformats.org/officeDocument/2006/relationships/notesMaster" Target="/ppt/notesMasters/notesMaster1.xml" Id="R0a1a1d9bfd6543c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0ed516b7774beb" /><Relationship Type="http://schemas.openxmlformats.org/officeDocument/2006/relationships/notesMaster" Target="/ppt/notesMasters/notesMaster1.xml" Id="R4d40fd5284cb42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54e99b81cd406e" /><Relationship Type="http://schemas.openxmlformats.org/officeDocument/2006/relationships/notesMaster" Target="/ppt/notesMasters/notesMaster1.xml" Id="R50ccbb1affbb48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040a6d3c68b4d4e" /><Relationship Type="http://schemas.openxmlformats.org/officeDocument/2006/relationships/notesMaster" Target="/ppt/notesMasters/notesMaster1.xml" Id="R70f6fa6bd3f04b2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8fe393becd43d2" /><Relationship Type="http://schemas.openxmlformats.org/officeDocument/2006/relationships/notesMaster" Target="/ppt/notesMasters/notesMaster1.xml" Id="Rd830ef1543164ab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e8b08027c54f26" /><Relationship Type="http://schemas.openxmlformats.org/officeDocument/2006/relationships/notesMaster" Target="/ppt/notesMasters/notesMaster1.xml" Id="R29042d1edeef49f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6121f2e58cf4217" /><Relationship Type="http://schemas.openxmlformats.org/officeDocument/2006/relationships/notesMaster" Target="/ppt/notesMasters/notesMaster1.xml" Id="R3e1adc6fc49844f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ba9fffdbaaf455c" /><Relationship Type="http://schemas.openxmlformats.org/officeDocument/2006/relationships/notesMaster" Target="/ppt/notesMasters/notesMaster1.xml" Id="Rb23fa4905e50491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2a5dc5245ed41de" /><Relationship Type="http://schemas.openxmlformats.org/officeDocument/2006/relationships/notesMaster" Target="/ppt/notesMasters/notesMaster1.xml" Id="R9e95ed2afc804a7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0134b9f24d473d" /><Relationship Type="http://schemas.openxmlformats.org/officeDocument/2006/relationships/notesMaster" Target="/ppt/notesMasters/notesMaster1.xml" Id="R0be3f32dde1d460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4d7bbd65d0e40fb" /><Relationship Type="http://schemas.openxmlformats.org/officeDocument/2006/relationships/notesMaster" Target="/ppt/notesMasters/notesMaster1.xml" Id="R8912cae1c6ff44c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65831f72ff14530" /><Relationship Type="http://schemas.openxmlformats.org/officeDocument/2006/relationships/notesMaster" Target="/ppt/notesMasters/notesMaster1.xml" Id="Rbabe2241e86a440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b4247275ec842bb" /><Relationship Type="http://schemas.openxmlformats.org/officeDocument/2006/relationships/notesMaster" Target="/ppt/notesMasters/notesMaster1.xml" Id="R8c9d61accf6449e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2323f6d512b47bf" /><Relationship Type="http://schemas.openxmlformats.org/officeDocument/2006/relationships/notesMaster" Target="/ppt/notesMasters/notesMaster1.xml" Id="R6e4caf9a57514f3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4b9855ada8f45e1" /><Relationship Type="http://schemas.openxmlformats.org/officeDocument/2006/relationships/notesMaster" Target="/ppt/notesMasters/notesMaster1.xml" Id="R617c0b17a30748e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31bb4bbc534a3d" /><Relationship Type="http://schemas.openxmlformats.org/officeDocument/2006/relationships/notesMaster" Target="/ppt/notesMasters/notesMaster1.xml" Id="Ra4365f0c5fcc4d0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51850e47ec4472a" /><Relationship Type="http://schemas.openxmlformats.org/officeDocument/2006/relationships/notesMaster" Target="/ppt/notesMasters/notesMaster1.xml" Id="R271dba31d6bc42d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41630afda0b4014" /><Relationship Type="http://schemas.openxmlformats.org/officeDocument/2006/relationships/notesMaster" Target="/ppt/notesMasters/notesMaster1.xml" Id="Rbfcf6ec445c94f1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40be79f987a4536" /><Relationship Type="http://schemas.openxmlformats.org/officeDocument/2006/relationships/notesMaster" Target="/ppt/notesMasters/notesMaster1.xml" Id="Rcddbe98586324ac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075be285ae6445f" /><Relationship Type="http://schemas.openxmlformats.org/officeDocument/2006/relationships/notesMaster" Target="/ppt/notesMasters/notesMaster1.xml" Id="Ra6774d5de4cd466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e38279068324ded" /><Relationship Type="http://schemas.openxmlformats.org/officeDocument/2006/relationships/notesMaster" Target="/ppt/notesMasters/notesMaster1.xml" Id="Rb6970225ac7240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 운영 가이드</a:t>
            </a:r>
          </a:p>
          <a:p xmlns:a="http://schemas.openxmlformats.org/drawingml/2006/main">
            <a:r>
              <a:t/>
            </a:r>
          </a:p>
          <a:p xmlns:a="http://schemas.openxmlformats.org/drawingml/2006/main">
            <a:r>
              <a:t>지역 선정부터 개인 계획, 테마 운영과 회고까지</a:t>
            </a:r>
          </a:p>
          <a:p xmlns:a="http://schemas.openxmlformats.org/drawingml/2006/main">
            <a:r>
              <a:t/>
            </a:r>
          </a:p>
          <a:p xmlns:a="http://schemas.openxmlformats.org/drawingml/2006/main">
            <a:r>
              <a:t>Presence · Sector Leader Education</a:t>
            </a:r>
          </a:p>
          <a:p xmlns:a="http://schemas.openxmlformats.org/drawingml/2006/main">
            <a:r>
              <a:t>지역 선정, 자료 요청, 지도 확인, 테리토리 확보와 목·금·토·일 운영 계획을 함께 살펴봅니다.</a:t>
            </a:r>
          </a:p>
          <a:p xmlns:a="http://schemas.openxmlformats.org/drawingml/2006/main">
            <a:r>
              <a:t/>
            </a:r>
          </a:p>
          <a:p xmlns:a="http://schemas.openxmlformats.org/drawingml/2006/main">
            <a:r>
              <a:t>사용자 제공 트립사진공유 앨범: IMG_6737</a:t>
            </a:r>
          </a:p>
          <a:p xmlns:a="http://schemas.openxmlformats.org/drawingml/2006/main">
            <a:r>
              <a:t>사진별 지역과 참가자를 임의로 특정하지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트립의 목적</a:t>
            </a:r>
          </a:p>
          <a:p xmlns:a="http://schemas.openxmlformats.org/drawingml/2006/main">
            <a:r>
              <a:t/>
            </a:r>
          </a:p>
          <a:p xmlns:a="http://schemas.openxmlformats.org/drawingml/2006/main">
            <a:r>
              <a:t>인컴 극대화와 몰입 · 배움의 기회 · 새로운 환경에서의 리프레시</a:t>
            </a:r>
          </a:p>
          <a:p xmlns:a="http://schemas.openxmlformats.org/drawingml/2006/main">
            <a:r>
              <a:t/>
            </a:r>
          </a:p>
          <a:p xmlns:a="http://schemas.openxmlformats.org/drawingml/2006/main">
            <a:r>
              <a:t>1. 인컴 극대화와 몰입</a:t>
            </a:r>
          </a:p>
          <a:p xmlns:a="http://schemas.openxmlformats.org/drawingml/2006/main">
            <a:r>
              <a:t/>
            </a:r>
          </a:p>
          <a:p xmlns:a="http://schemas.openxmlformats.org/drawingml/2006/main">
            <a:r>
              <a:t>필드 시간을 충분히 확보하고 일에 몰입할 수 있는 환경을 만듭니다. 집중도 높은 활동을 통해 성과와 인컴을 극대화하는 것이 목적입니다.</a:t>
            </a:r>
          </a:p>
          <a:p xmlns:a="http://schemas.openxmlformats.org/drawingml/2006/main">
            <a:r>
              <a:t/>
            </a:r>
          </a:p>
          <a:p xmlns:a="http://schemas.openxmlformats.org/drawingml/2006/main">
            <a:r>
              <a:t>2. 잘하는 사람의 A to Z를 배우는 기회</a:t>
            </a:r>
          </a:p>
          <a:p xmlns:a="http://schemas.openxmlformats.org/drawingml/2006/main">
            <a:r>
              <a:t/>
            </a:r>
          </a:p>
          <a:p xmlns:a="http://schemas.openxmlformats.org/drawingml/2006/main">
            <a:r>
              <a:t>잘하는 사람과 함께 이동하고 일하고 생활하며 하루의 준비부터 마무리까지 배웁니다. 루틴과 세일즈 방식은 물론 네트워킹, 토픽 교류, 트립만의 오피스 운영을 경험합니다. 현장에서 문제가 생겼을 때의 해결 과정과 판단 기준·직관, B2B 세일즈 방법도 가까이에서 관찰하고 직접 적용해 봅니다.</a:t>
            </a:r>
          </a:p>
          <a:p xmlns:a="http://schemas.openxmlformats.org/drawingml/2006/main">
            <a:r>
              <a:t/>
            </a:r>
          </a:p>
          <a:p xmlns:a="http://schemas.openxmlformats.org/drawingml/2006/main">
            <a:r>
              <a:t>3. 새로운 환경에서의 리프레시</a:t>
            </a:r>
          </a:p>
          <a:p xmlns:a="http://schemas.openxmlformats.org/drawingml/2006/main">
            <a:r>
              <a:t/>
            </a:r>
          </a:p>
          <a:p xmlns:a="http://schemas.openxmlformats.org/drawingml/2006/main">
            <a:r>
              <a:t>익숙한 일상을 벗어나 완전히 다른 장소를 경험합니다. 일을 위한 이동이지만 장거리 이동에서 여행 같은 기분 전환을 느끼고, 함께 숙박하며 보내는 시간 속에서 새로운 에너지를 얻습니다. 일에 집중하기 좋은 여건과 새로운 사이트에서 받는 긍정적인 자극도 트립의 가치입니다.</a:t>
            </a:r>
          </a:p>
          <a:p xmlns:a="http://schemas.openxmlformats.org/drawingml/2006/main">
            <a:r>
              <a:t/>
            </a:r>
          </a:p>
          <a:p xmlns:a="http://schemas.openxmlformats.org/drawingml/2006/main">
            <a:r>
              <a:t>목적을 계획으로 연결하기</a:t>
            </a:r>
          </a:p>
          <a:p xmlns:a="http://schemas.openxmlformats.org/drawingml/2006/main">
            <a:r>
              <a:t/>
            </a:r>
          </a:p>
          <a:p xmlns:a="http://schemas.openxmlformats.org/drawingml/2006/main">
            <a:r>
              <a:t>세 가지 목적을 Profit·Progress·People 계획에 담고, 각 목표를 Best / Good / Minimum으로 구체화합니다.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 준비의 순서</a:t>
            </a:r>
          </a:p>
          <a:p xmlns:a="http://schemas.openxmlformats.org/drawingml/2006/main">
            <a:r>
              <a:t/>
            </a:r>
          </a:p>
          <a:p xmlns:a="http://schemas.openxmlformats.org/drawingml/2006/main">
            <a:r>
              <a:t>확인한 정보를 바탕으로 준비의 다음 단계를 결정합니다.</a:t>
            </a:r>
          </a:p>
          <a:p xmlns:a="http://schemas.openxmlformats.org/drawingml/2006/main">
            <a:r>
              <a:t/>
            </a:r>
          </a:p>
          <a:p xmlns:a="http://schemas.openxmlformats.org/drawingml/2006/main">
            <a:r>
              <a:t>지역 검토: 팀의 목적과 가능한 날짜를 정합니다.</a:t>
            </a:r>
          </a:p>
          <a:p xmlns:a="http://schemas.openxmlformats.org/drawingml/2006/main">
            <a:r>
              <a:t/>
            </a:r>
          </a:p>
          <a:p xmlns:a="http://schemas.openxmlformats.org/drawingml/2006/main">
            <a:r>
              <a:t>동료·CTM 자료 요청: 최근 기록과 시행착오를 받습니다.</a:t>
            </a:r>
          </a:p>
          <a:p xmlns:a="http://schemas.openxmlformats.org/drawingml/2006/main">
            <a:r>
              <a:t/>
            </a:r>
          </a:p>
          <a:p xmlns:a="http://schemas.openxmlformats.org/drawingml/2006/main">
            <a:r>
              <a:t>지도·사이트 확인: 장소명, 위치와 촬영일을 확인합니다.</a:t>
            </a:r>
          </a:p>
          <a:p xmlns:a="http://schemas.openxmlformats.org/drawingml/2006/main">
            <a:r>
              <a:t/>
            </a:r>
          </a:p>
          <a:p xmlns:a="http://schemas.openxmlformats.org/drawingml/2006/main">
            <a:r>
              <a:t>테리토리 확보: 주요·예비 자리의 사용 가능 여부를 확인합니다.</a:t>
            </a:r>
          </a:p>
          <a:p xmlns:a="http://schemas.openxmlformats.org/drawingml/2006/main">
            <a:r>
              <a:t/>
            </a:r>
          </a:p>
          <a:p xmlns:a="http://schemas.openxmlformats.org/drawingml/2006/main">
            <a:r>
              <a:t>운영 확정: 인원·이동·숙소·역할을 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지역 선정의 다섯 가지 기준</a:t>
            </a:r>
          </a:p>
          <a:p xmlns:a="http://schemas.openxmlformats.org/drawingml/2006/main">
            <a:r>
              <a:t/>
            </a:r>
          </a:p>
          <a:p xmlns:a="http://schemas.openxmlformats.org/drawingml/2006/main">
            <a:r>
              <a:t>현장 기회가 우리 팀의 목적과 운영 조건에 맞는지 비교합니다.</a:t>
            </a:r>
          </a:p>
          <a:p xmlns:a="http://schemas.openxmlformats.org/drawingml/2006/main">
            <a:r>
              <a:t/>
            </a:r>
          </a:p>
          <a:p xmlns:a="http://schemas.openxmlformats.org/drawingml/2006/main">
            <a:r>
              <a:t>지역 비교</a:t>
            </a:r>
          </a:p>
          <a:p xmlns:a="http://schemas.openxmlformats.org/drawingml/2006/main">
            <a:r>
              <a:t/>
            </a:r>
          </a:p>
          <a:p xmlns:a="http://schemas.openxmlformats.org/drawingml/2006/main">
            <a:r>
              <a:t>검토 항목 / 확인할 내용</a:t>
            </a:r>
          </a:p>
          <a:p xmlns:a="http://schemas.openxmlformats.org/drawingml/2006/main">
            <a:r>
              <a:t/>
            </a:r>
          </a:p>
          <a:p xmlns:a="http://schemas.openxmlformats.org/drawingml/2006/main">
            <a:r>
              <a:t>사이트와 운영 이력 / 실제로 사용 가능한 자리, 최근 운영 기록</a:t>
            </a:r>
          </a:p>
          <a:p xmlns:a="http://schemas.openxmlformats.org/drawingml/2006/main">
            <a:r>
              <a:t/>
            </a:r>
          </a:p>
          <a:p xmlns:a="http://schemas.openxmlformats.org/drawingml/2006/main">
            <a:r>
              <a:t>팀 경험과 배울 스킬 / 개인별 경험과 이번에 연습할 스킬</a:t>
            </a:r>
          </a:p>
          <a:p xmlns:a="http://schemas.openxmlformats.org/drawingml/2006/main">
            <a:r>
              <a:t/>
            </a:r>
          </a:p>
          <a:p xmlns:a="http://schemas.openxmlformats.org/drawingml/2006/main">
            <a:r>
              <a:t>이동과 체력 / 이동 거리, 숙소에서 현장까지 동선, 운전자 휴식</a:t>
            </a:r>
          </a:p>
          <a:p xmlns:a="http://schemas.openxmlformats.org/drawingml/2006/main">
            <a:r>
              <a:t/>
            </a:r>
          </a:p>
          <a:p xmlns:a="http://schemas.openxmlformats.org/drawingml/2006/main">
            <a:r>
              <a:t>우천 대안과 사용 조건 / 대체할 자리와 운영 조건</a:t>
            </a:r>
          </a:p>
          <a:p xmlns:a="http://schemas.openxmlformats.org/drawingml/2006/main">
            <a:r>
              <a:t/>
            </a:r>
          </a:p>
          <a:p xmlns:a="http://schemas.openxmlformats.org/drawingml/2006/main">
            <a:r>
              <a:t>숙박·교통 비용 / 예상 비용과 팀 내 부담 기준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동료와 CTM에게 요청할 자료</a:t>
            </a:r>
          </a:p>
          <a:p xmlns:a="http://schemas.openxmlformats.org/drawingml/2006/main">
            <a:r>
              <a:t/>
            </a:r>
          </a:p>
          <a:p xmlns:a="http://schemas.openxmlformats.org/drawingml/2006/main">
            <a:r>
              <a:t>최근 운영 날짜와 현장 조건을 함께 받습니다.</a:t>
            </a:r>
          </a:p>
          <a:p xmlns:a="http://schemas.openxmlformats.org/drawingml/2006/main">
            <a:r>
              <a:t/>
            </a:r>
          </a:p>
          <a:p xmlns:a="http://schemas.openxmlformats.org/drawingml/2006/main">
            <a:r>
              <a:t>카카오맵 기준 사이트명과 링크, 정확한 셋업 위치 사진</a:t>
            </a:r>
          </a:p>
          <a:p xmlns:a="http://schemas.openxmlformats.org/drawingml/2006/main">
            <a:r>
              <a:t/>
            </a:r>
          </a:p>
          <a:p xmlns:a="http://schemas.openxmlformats.org/drawingml/2006/main">
            <a:r>
              <a:t>최근 운영 날짜·요일·시간과 참여 인원</a:t>
            </a:r>
          </a:p>
          <a:p xmlns:a="http://schemas.openxmlformats.org/drawingml/2006/main">
            <a:r>
              <a:t/>
            </a:r>
          </a:p>
          <a:p xmlns:a="http://schemas.openxmlformats.org/drawingml/2006/main">
            <a:r>
              <a:t>운영 결과와 실제 활동일, 콜백싯, 효과적인 접근 방식</a:t>
            </a:r>
          </a:p>
          <a:p xmlns:a="http://schemas.openxmlformats.org/drawingml/2006/main">
            <a:r>
              <a:t/>
            </a:r>
          </a:p>
          <a:p xmlns:a="http://schemas.openxmlformats.org/drawingml/2006/main">
            <a:r>
              <a:t>주의할 점과 예비 사이트 정보</a:t>
            </a:r>
          </a:p>
          <a:p xmlns:a="http://schemas.openxmlformats.org/drawingml/2006/main">
            <a:r>
              <a:t/>
            </a:r>
          </a:p>
          <a:p xmlns:a="http://schemas.openxmlformats.org/drawingml/2006/main">
            <a:r>
              <a:t>자료 요청 예시</a:t>
            </a:r>
          </a:p>
          <a:p xmlns:a="http://schemas.openxmlformats.org/drawingml/2006/main">
            <a:r>
              <a:t/>
            </a:r>
          </a:p>
          <a:p xmlns:a="http://schemas.openxmlformats.org/drawingml/2006/main">
            <a:r>
              <a:t>안녕하세요. [날짜]에 [지역] 트립을 준비하고 있습니다. 최근 사이트명과 지도 링크, 셋업 위치 사진, 운영 날짜·시간과 참여 인원·결과 기록을 공유받을 수 있을까요? 잘 통했던 방식이나 주의할 점, 예비 자리도 함께 알려주시면 계획에 반영하겠습니다.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지도 활용의 원칙</a:t>
            </a:r>
          </a:p>
          <a:p xmlns:a="http://schemas.openxmlformats.org/drawingml/2006/main">
            <a:r>
              <a:t/>
            </a:r>
          </a:p>
          <a:p xmlns:a="http://schemas.openxmlformats.org/drawingml/2006/main">
            <a:r>
              <a:t>사이트명은 카카오맵 기준, 도로뷰는 네이버지도를 먼저 확인합니다.</a:t>
            </a:r>
          </a:p>
          <a:p xmlns:a="http://schemas.openxmlformats.org/drawingml/2006/main">
            <a:r>
              <a:t/>
            </a:r>
          </a:p>
          <a:p xmlns:a="http://schemas.openxmlformats.org/drawingml/2006/main">
            <a:r>
              <a:t>카카오맵</a:t>
            </a:r>
          </a:p>
          <a:p xmlns:a="http://schemas.openxmlformats.org/drawingml/2006/main">
            <a:r>
              <a:t/>
            </a:r>
          </a:p>
          <a:p xmlns:a="http://schemas.openxmlformats.org/drawingml/2006/main">
            <a:r>
              <a:t>표시 장소명·지점명으로 사이트 이름을 통일합니다. 주소와 링크를 기록하고 정확한 셋업 위치는 별도 설명을 붙입니다.</a:t>
            </a:r>
          </a:p>
          <a:p xmlns:a="http://schemas.openxmlformats.org/drawingml/2006/main">
            <a:r>
              <a:t/>
            </a:r>
          </a:p>
          <a:p xmlns:a="http://schemas.openxmlformats.org/drawingml/2006/main">
            <a:r>
              <a:t>네이버지도</a:t>
            </a:r>
          </a:p>
          <a:p xmlns:a="http://schemas.openxmlformats.org/drawingml/2006/main">
            <a:r>
              <a:t/>
            </a:r>
          </a:p>
          <a:p xmlns:a="http://schemas.openxmlformats.org/drawingml/2006/main">
            <a:r>
              <a:t>도로뷰를 먼저 확인한 후 카카오맵 로드뷰와 촬영 날짜를 비교합니다. 출입구·보도폭·공사·이동 동선을 살펴봅니다.</a:t>
            </a:r>
          </a:p>
          <a:p xmlns:a="http://schemas.openxmlformats.org/drawingml/2006/main">
            <a:r>
              <a:t/>
            </a:r>
          </a:p>
          <a:p xmlns:a="http://schemas.openxmlformats.org/drawingml/2006/main">
            <a:r>
              <a:t>현장 확인</a:t>
            </a:r>
          </a:p>
          <a:p xmlns:a="http://schemas.openxmlformats.org/drawingml/2006/main">
            <a:r>
              <a:t/>
            </a:r>
          </a:p>
          <a:p xmlns:a="http://schemas.openxmlformats.org/drawingml/2006/main">
            <a:r>
              <a:t>더 최근 촬영본과 현장 정보를 함께 활용합니다. 네이버가 모든 지역에서 더 최신인 것은 아니며, 공간이 보이는 것과 사용 가능한 것은 다르므로 사용 가능 여부를 별도로 확인합니다.</a:t>
            </a:r>
          </a:p>
          <a:p xmlns:a="http://schemas.openxmlformats.org/drawingml/2006/main">
            <a:r>
              <a:t/>
            </a:r>
          </a:p>
          <a:p xmlns:a="http://schemas.openxmlformats.org/drawingml/2006/main">
            <a:r>
              <a:t>지도 활용 순서는 Presence의 요청된 운영 기준입니다.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캠페인 운영 가능 여부</a:t>
            </a:r>
          </a:p>
          <a:p xmlns:a="http://schemas.openxmlformats.org/drawingml/2006/main">
            <a:r>
              <a:t/>
            </a:r>
          </a:p>
          <a:p xmlns:a="http://schemas.openxmlformats.org/drawingml/2006/main">
            <a:r>
              <a:t>셋업 사진과 실제 운영 조건을 함께 확인합니다.</a:t>
            </a:r>
          </a:p>
          <a:p xmlns:a="http://schemas.openxmlformats.org/drawingml/2006/main">
            <a:r>
              <a:t/>
            </a:r>
          </a:p>
          <a:p xmlns:a="http://schemas.openxmlformats.org/drawingml/2006/main">
            <a:r>
              <a:t>공간</a:t>
            </a:r>
          </a:p>
          <a:p xmlns:a="http://schemas.openxmlformats.org/drawingml/2006/main">
            <a:r>
              <a:t/>
            </a:r>
          </a:p>
          <a:p xmlns:a="http://schemas.openxmlformats.org/drawingml/2006/main">
            <a:r>
              <a:t>부스·배너를 놓을 자리와 보행 동선, 출입구 간섭을 확인합니다.</a:t>
            </a:r>
          </a:p>
          <a:p xmlns:a="http://schemas.openxmlformats.org/drawingml/2006/main">
            <a:r>
              <a:t/>
            </a:r>
          </a:p>
          <a:p xmlns:a="http://schemas.openxmlformats.org/drawingml/2006/main">
            <a:r>
              <a:t>운영 조건</a:t>
            </a:r>
          </a:p>
          <a:p xmlns:a="http://schemas.openxmlformats.org/drawingml/2006/main">
            <a:r>
              <a:t/>
            </a:r>
          </a:p>
          <a:p xmlns:a="http://schemas.openxmlformats.org/drawingml/2006/main">
            <a:r>
              <a:t>운영 날짜·시간·인원과 장소의 사용 가능 여부를 확인합니다.</a:t>
            </a:r>
          </a:p>
          <a:p xmlns:a="http://schemas.openxmlformats.org/drawingml/2006/main">
            <a:r>
              <a:t/>
            </a:r>
          </a:p>
          <a:p xmlns:a="http://schemas.openxmlformats.org/drawingml/2006/main">
            <a:r>
              <a:t>대안</a:t>
            </a:r>
          </a:p>
          <a:p xmlns:a="http://schemas.openxmlformats.org/drawingml/2006/main">
            <a:r>
              <a:t/>
            </a:r>
          </a:p>
          <a:p xmlns:a="http://schemas.openxmlformats.org/drawingml/2006/main">
            <a:r>
              <a:t>우천·공사·현장 변화에 대응할 예비 자리를 준비합니다.</a:t>
            </a:r>
          </a:p>
          <a:p xmlns:a="http://schemas.openxmlformats.org/drawingml/2006/main">
            <a:r>
              <a:t/>
            </a:r>
          </a:p>
          <a:p xmlns:a="http://schemas.openxmlformats.org/drawingml/2006/main">
            <a:r>
              <a:t>사진은 실제 캠페인 셋업의 참고 자료입니다. 과거에 운영한 사진만으로 다음 사용 가능 여부를 확정하지 않습니다.</a:t>
            </a:r>
          </a:p>
          <a:p xmlns:a="http://schemas.openxmlformats.org/drawingml/2006/main">
            <a:r>
              <a:t/>
            </a:r>
          </a:p>
          <a:p xmlns:a="http://schemas.openxmlformats.org/drawingml/2006/main">
            <a:r>
              <a:t>사용자 제공 트립사진공유 앨범: IMG_9909, IMG_9921</a:t>
            </a:r>
          </a:p>
          <a:p xmlns:a="http://schemas.openxmlformats.org/drawingml/2006/main">
            <a:r>
              <a:t>사진별 지역과 참가자를 임의로 특정하지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사이트 기록표 작성</a:t>
            </a:r>
          </a:p>
          <a:p xmlns:a="http://schemas.openxmlformats.org/drawingml/2006/main">
            <a:r>
              <a:t/>
            </a:r>
          </a:p>
          <a:p xmlns:a="http://schemas.openxmlformats.org/drawingml/2006/main">
            <a:r>
              <a:t>다른 리더도 같은 자리를 찾고 준비할 수 있도록 기록합니다.</a:t>
            </a:r>
          </a:p>
          <a:p xmlns:a="http://schemas.openxmlformats.org/drawingml/2006/main">
            <a:r>
              <a:t/>
            </a:r>
          </a:p>
          <a:p xmlns:a="http://schemas.openxmlformats.org/drawingml/2006/main">
            <a:r>
              <a:t>기록 항목</a:t>
            </a:r>
          </a:p>
          <a:p xmlns:a="http://schemas.openxmlformats.org/drawingml/2006/main">
            <a:r>
              <a:t/>
            </a:r>
          </a:p>
          <a:p xmlns:a="http://schemas.openxmlformats.org/drawingml/2006/main">
            <a:r>
              <a:t>항목 / 내용</a:t>
            </a:r>
          </a:p>
          <a:p xmlns:a="http://schemas.openxmlformats.org/drawingml/2006/main">
            <a:r>
              <a:t/>
            </a:r>
          </a:p>
          <a:p xmlns:a="http://schemas.openxmlformats.org/drawingml/2006/main">
            <a:r>
              <a:t>사이트명 / 카카오맵 표시 장소명·지점명</a:t>
            </a:r>
          </a:p>
          <a:p xmlns:a="http://schemas.openxmlformats.org/drawingml/2006/main">
            <a:r>
              <a:t/>
            </a:r>
          </a:p>
          <a:p xmlns:a="http://schemas.openxmlformats.org/drawingml/2006/main">
            <a:r>
              <a:t>주소·지도 링크·셋업 위치 / 정확한 위치 설명과 셋업 사진</a:t>
            </a:r>
          </a:p>
          <a:p xmlns:a="http://schemas.openxmlformats.org/drawingml/2006/main">
            <a:r>
              <a:t/>
            </a:r>
          </a:p>
          <a:p xmlns:a="http://schemas.openxmlformats.org/drawingml/2006/main">
            <a:r>
              <a:t>확인 날짜·도로뷰 촬영일 / 정보의 시점을 기록</a:t>
            </a:r>
          </a:p>
          <a:p xmlns:a="http://schemas.openxmlformats.org/drawingml/2006/main">
            <a:r>
              <a:t/>
            </a:r>
          </a:p>
          <a:p xmlns:a="http://schemas.openxmlformats.org/drawingml/2006/main">
            <a:r>
              <a:t>운영 요일과 피드백 / 언제 운영했고 어떤 결과였는지</a:t>
            </a:r>
          </a:p>
          <a:p xmlns:a="http://schemas.openxmlformats.org/drawingml/2006/main">
            <a:r>
              <a:t/>
            </a:r>
          </a:p>
          <a:p xmlns:a="http://schemas.openxmlformats.org/drawingml/2006/main">
            <a:r>
              <a:t>사용 상태 / 확인 중 / 사용 가능 확인 / 예비</a:t>
            </a:r>
          </a:p>
          <a:p xmlns:a="http://schemas.openxmlformats.org/drawingml/2006/main">
            <a:r>
              <a:t/>
            </a:r>
          </a:p>
          <a:p xmlns:a="http://schemas.openxmlformats.org/drawingml/2006/main">
            <a:r>
              <a:t>담당자 / 누가 확인하고 다음 점검을 맡는지</a:t>
            </a:r>
          </a:p>
          <a:p xmlns:a="http://schemas.openxmlformats.org/drawingml/2006/main">
            <a:r>
              <a:t/>
            </a:r>
          </a:p>
          <a:p xmlns:a="http://schemas.openxmlformats.org/drawingml/2006/main">
            <a:r>
              <a:t>후보 사이트와 실제로 사용 가능한 자리를 구분해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테리토리 확보의 목표</a:t>
            </a:r>
          </a:p>
          <a:p xmlns:a="http://schemas.openxmlformats.org/drawingml/2006/main">
            <a:r>
              <a:t/>
            </a:r>
          </a:p>
          <a:p xmlns:a="http://schemas.openxmlformats.org/drawingml/2006/main">
            <a:r>
              <a:t>교육용 예시 · 운영 단위 한 팀 기준</a:t>
            </a:r>
          </a:p>
          <a:p xmlns:a="http://schemas.openxmlformats.org/drawingml/2006/main">
            <a:r>
              <a:t/>
            </a:r>
          </a:p>
          <a:p xmlns:a="http://schemas.openxmlformats.org/drawingml/2006/main">
            <a:r>
              <a:t>Best / Good / Minimum</a:t>
            </a:r>
          </a:p>
          <a:p xmlns:a="http://schemas.openxmlformats.org/drawingml/2006/main">
            <a:r>
              <a:t/>
            </a:r>
          </a:p>
          <a:p xmlns:a="http://schemas.openxmlformats.org/drawingml/2006/main">
            <a:r>
              <a:t>수준 / 주요 사이트 / 예비 사이트</a:t>
            </a:r>
          </a:p>
          <a:p xmlns:a="http://schemas.openxmlformats.org/drawingml/2006/main">
            <a:r>
              <a:t/>
            </a:r>
          </a:p>
          <a:p xmlns:a="http://schemas.openxmlformats.org/drawingml/2006/main">
            <a:r>
              <a:t>Best / 2곳 / 2곳</a:t>
            </a:r>
          </a:p>
          <a:p xmlns:a="http://schemas.openxmlformats.org/drawingml/2006/main">
            <a:r>
              <a:t/>
            </a:r>
          </a:p>
          <a:p xmlns:a="http://schemas.openxmlformats.org/drawingml/2006/main">
            <a:r>
              <a:t>Good / 1곳 / 2곳</a:t>
            </a:r>
          </a:p>
          <a:p xmlns:a="http://schemas.openxmlformats.org/drawingml/2006/main">
            <a:r>
              <a:t/>
            </a:r>
          </a:p>
          <a:p xmlns:a="http://schemas.openxmlformats.org/drawingml/2006/main">
            <a:r>
              <a:t>Minimum / 1곳 / 1곳</a:t>
            </a:r>
          </a:p>
          <a:p xmlns:a="http://schemas.openxmlformats.org/drawingml/2006/main">
            <a:r>
              <a:t/>
            </a:r>
          </a:p>
          <a:p xmlns:a="http://schemas.openxmlformats.org/drawingml/2006/main">
            <a:r>
              <a:t>각 사이트의 날짜·시간·인원에 맞는 사용 가능 확인을 완료해야 확보로 기록합니다. 여러 팀이 동시에 운영하면 운영 단위별로 필요한 자리를 다시 계산합니다.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Profit · 인컴 극대화와 몰입</a:t>
            </a:r>
          </a:p>
          <a:p xmlns:a="http://schemas.openxmlformats.org/drawingml/2006/main">
            <a:r>
              <a:t/>
            </a:r>
          </a:p>
          <a:p xmlns:a="http://schemas.openxmlformats.org/drawingml/2006/main">
            <a:r>
              <a:t>필드 시간을 확보하고 일에 몰입해 성과와 인컴을 높입니다.</a:t>
            </a:r>
          </a:p>
          <a:p xmlns:a="http://schemas.openxmlformats.org/drawingml/2006/main">
            <a:r>
              <a:t/>
            </a:r>
          </a:p>
          <a:p xmlns:a="http://schemas.openxmlformats.org/drawingml/2006/main">
            <a:r>
              <a:t>세 단계 목표</a:t>
            </a:r>
          </a:p>
          <a:p xmlns:a="http://schemas.openxmlformats.org/drawingml/2006/main">
            <a:r>
              <a:t/>
            </a:r>
          </a:p>
          <a:p xmlns:a="http://schemas.openxmlformats.org/drawingml/2006/main">
            <a:r>
              <a:t>Best는 최고의 결과, Good은 좋은 결과, Minimum은 최소한 달성해야 할 결과입니다.</a:t>
            </a:r>
          </a:p>
          <a:p xmlns:a="http://schemas.openxmlformats.org/drawingml/2006/main">
            <a:r>
              <a:t/>
            </a:r>
          </a:p>
          <a:p xmlns:a="http://schemas.openxmlformats.org/drawingml/2006/main">
            <a:r>
              <a:t>같은 기준으로 비교</a:t>
            </a:r>
          </a:p>
          <a:p xmlns:a="http://schemas.openxmlformats.org/drawingml/2006/main">
            <a:r>
              <a:t/>
            </a:r>
          </a:p>
          <a:p xmlns:a="http://schemas.openxmlformats.org/drawingml/2006/main">
            <a:r>
              <a:t>세 수준은 같은 기간·같은 기준으로 비교합니다. 담당자와 점검 시점을 정하고, 개인별 목표 합계를 팀 목표와 맞춥니다.</a:t>
            </a:r>
          </a:p>
          <a:p xmlns:a="http://schemas.openxmlformats.org/drawingml/2006/main">
            <a:r>
              <a:t/>
            </a:r>
          </a:p>
          <a:p xmlns:a="http://schemas.openxmlformats.org/drawingml/2006/main">
            <a:r>
              <a:t>교육용 목표 예시</a:t>
            </a:r>
          </a:p>
          <a:p xmlns:a="http://schemas.openxmlformats.org/drawingml/2006/main">
            <a:r>
              <a:t/>
            </a:r>
          </a:p>
          <a:p xmlns:a="http://schemas.openxmlformats.org/drawingml/2006/main">
            <a:r>
              <a:t>수준 / 팀 AVG / 목표 건수</a:t>
            </a:r>
          </a:p>
          <a:p xmlns:a="http://schemas.openxmlformats.org/drawingml/2006/main">
            <a:r>
              <a:t/>
            </a:r>
          </a:p>
          <a:p xmlns:a="http://schemas.openxmlformats.org/drawingml/2006/main">
            <a:r>
              <a:t>Best / 2.0 / 32건</a:t>
            </a:r>
          </a:p>
          <a:p xmlns:a="http://schemas.openxmlformats.org/drawingml/2006/main">
            <a:r>
              <a:t/>
            </a:r>
          </a:p>
          <a:p xmlns:a="http://schemas.openxmlformats.org/drawingml/2006/main">
            <a:r>
              <a:t>Good / 1.5 / 24건</a:t>
            </a:r>
          </a:p>
          <a:p xmlns:a="http://schemas.openxmlformats.org/drawingml/2006/main">
            <a:r>
              <a:t/>
            </a:r>
          </a:p>
          <a:p xmlns:a="http://schemas.openxmlformats.org/drawingml/2006/main">
            <a:r>
              <a:t>Minimum / 1.0 / 16건</a:t>
            </a:r>
          </a:p>
          <a:p xmlns:a="http://schemas.openxmlformats.org/drawingml/2006/main">
            <a:r>
              <a:t/>
            </a:r>
          </a:p>
          <a:p xmlns:a="http://schemas.openxmlformats.org/drawingml/2006/main">
            <a:r>
              <a:t>4명이 4일 모두 활동해 계획 활동일 합계가 16인일인 경우입니다. 목표 건수 = 목표 AVG × 계획 인일. 군산 트립의 실제 사전 목표가 아닌 설명용 가정입니다.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Progress · 잘하는 사람의 A to Z</a:t>
            </a:r>
          </a:p>
          <a:p xmlns:a="http://schemas.openxmlformats.org/drawingml/2006/main">
            <a:r>
              <a:t/>
            </a:r>
          </a:p>
          <a:p xmlns:a="http://schemas.openxmlformats.org/drawingml/2006/main">
            <a:r>
              <a:t>함께 보내는 시간이 배움의 시간입니다. 관찰한 방식을 직접 적용하고 재현합니다.</a:t>
            </a:r>
          </a:p>
          <a:p xmlns:a="http://schemas.openxmlformats.org/drawingml/2006/main">
            <a:r>
              <a:t/>
            </a:r>
          </a:p>
          <a:p xmlns:a="http://schemas.openxmlformats.org/drawingml/2006/main">
            <a:r>
              <a:t>관찰하고 적용하며 재현하기</a:t>
            </a:r>
          </a:p>
          <a:p xmlns:a="http://schemas.openxmlformats.org/drawingml/2006/main">
            <a:r>
              <a:t/>
            </a:r>
          </a:p>
          <a:p xmlns:a="http://schemas.openxmlformats.org/drawingml/2006/main">
            <a:r>
              <a:t>수준 / 달성 기준</a:t>
            </a:r>
          </a:p>
          <a:p xmlns:a="http://schemas.openxmlformats.org/drawingml/2006/main">
            <a:r>
              <a:t/>
            </a:r>
          </a:p>
          <a:p xmlns:a="http://schemas.openxmlformats.org/drawingml/2006/main">
            <a:r>
              <a:t>Best / Good을 충족하고 동료에게 설명·시연해 피드백 받기</a:t>
            </a:r>
          </a:p>
          <a:p xmlns:a="http://schemas.openxmlformats.org/drawingml/2006/main">
            <a:r>
              <a:t/>
            </a:r>
          </a:p>
          <a:p xmlns:a="http://schemas.openxmlformats.org/drawingml/2006/main">
            <a:r>
              <a:t>Good / Minimum을 충족하고 현장에 적용한 사례 1개 기록</a:t>
            </a:r>
          </a:p>
          <a:p xmlns:a="http://schemas.openxmlformats.org/drawingml/2006/main">
            <a:r>
              <a:t/>
            </a:r>
          </a:p>
          <a:p xmlns:a="http://schemas.openxmlformats.org/drawingml/2006/main">
            <a:r>
              <a:t>Minimum / 배울 루틴·스킬 1개 관찰, 질문·피드백 1회, 다음 행동 1개 기록</a:t>
            </a:r>
          </a:p>
          <a:p xmlns:a="http://schemas.openxmlformats.org/drawingml/2006/main">
            <a:r>
              <a:t/>
            </a:r>
          </a:p>
          <a:p xmlns:a="http://schemas.openxmlformats.org/drawingml/2006/main">
            <a:r>
              <a:t>무엇을 배울 것인가</a:t>
            </a:r>
          </a:p>
          <a:p xmlns:a="http://schemas.openxmlformats.org/drawingml/2006/main">
            <a:r>
              <a:t/>
            </a:r>
          </a:p>
          <a:p xmlns:a="http://schemas.openxmlformats.org/drawingml/2006/main">
            <a:r>
              <a:t>하루의 준비·활동·마무리 루틴, 네트워킹과 토픽 교류, 트립 오피스 운영을 배웁니다. 문제 해결 과정과 현장 판단·직관, B2B 세일즈 방법도 관찰합니다. 니즈파악 질문·설명·오브젝션 대응 등 개인에게 필요한 스킬을 선택해 연습합니다.</a:t>
            </a:r>
          </a:p>
          <a:p xmlns:a="http://schemas.openxmlformats.org/drawingml/2006/main">
            <a:r>
              <a:t/>
            </a:r>
          </a:p>
          <a:p xmlns:a="http://schemas.openxmlformats.org/drawingml/2006/main">
            <a:r>
              <a:t>교육용 예시 · 트립 전체, 개인별 기준입니다.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 함께 리프레시하기</a:t>
            </a:r>
          </a:p>
          <a:p xmlns:a="http://schemas.openxmlformats.org/drawingml/2006/main">
            <a:r>
              <a:t/>
            </a:r>
          </a:p>
          <a:p xmlns:a="http://schemas.openxmlformats.org/drawingml/2006/main">
            <a:r>
              <a:t>새로운 장소에서 함께 생활하며 기분을 전환하고 함께 기억할 시간을 만듭니다.</a:t>
            </a:r>
          </a:p>
          <a:p xmlns:a="http://schemas.openxmlformats.org/drawingml/2006/main">
            <a:r>
              <a:t/>
            </a:r>
          </a:p>
          <a:p xmlns:a="http://schemas.openxmlformats.org/drawingml/2006/main">
            <a:r>
              <a:t>Best / Good / Minimum</a:t>
            </a:r>
          </a:p>
          <a:p xmlns:a="http://schemas.openxmlformats.org/drawingml/2006/main">
            <a:r>
              <a:t/>
            </a:r>
          </a:p>
          <a:p xmlns:a="http://schemas.openxmlformats.org/drawingml/2006/main">
            <a:r>
              <a:t>수준 / 달성 기준</a:t>
            </a:r>
          </a:p>
          <a:p xmlns:a="http://schemas.openxmlformats.org/drawingml/2006/main">
            <a:r>
              <a:t/>
            </a:r>
          </a:p>
          <a:p xmlns:a="http://schemas.openxmlformats.org/drawingml/2006/main">
            <a:r>
              <a:t>Best / Good을 충족하고 전원의 사진·한 줄 후기를 앨범으로 정리</a:t>
            </a:r>
          </a:p>
          <a:p xmlns:a="http://schemas.openxmlformats.org/drawingml/2006/main">
            <a:r>
              <a:t/>
            </a:r>
          </a:p>
          <a:p xmlns:a="http://schemas.openxmlformats.org/drawingml/2006/main">
            <a:r>
              <a:t>Good / Minimum을 충족하고 함께하는 식사·산책 등 활동 1회</a:t>
            </a:r>
          </a:p>
          <a:p xmlns:a="http://schemas.openxmlformats.org/drawingml/2006/main">
            <a:r>
              <a:t/>
            </a:r>
          </a:p>
          <a:p xmlns:a="http://schemas.openxmlformats.org/drawingml/2006/main">
            <a:r>
              <a:t>Minimum / 팀 기념사진 1장과 서로에게 감사 한마디</a:t>
            </a:r>
          </a:p>
          <a:p xmlns:a="http://schemas.openxmlformats.org/drawingml/2006/main">
            <a:r>
              <a:t/>
            </a:r>
          </a:p>
          <a:p xmlns:a="http://schemas.openxmlformats.org/drawingml/2006/main">
            <a:r>
              <a:t>낯선 장소로의 이동에서 여행 같은 기분 전환을 느끼고, 함께 숙박하며 대화하는 시간을 보냅니다. 새로운 환경과 사이트에서 긍정적인 자극을 얻되, 체력과 개인의 편안함을 고려해 활동을 선택합니다. 교육용 목표 예시는 트립 전체, 팀 기준입니다.</a:t>
            </a:r>
          </a:p>
          <a:p xmlns:a="http://schemas.openxmlformats.org/drawingml/2006/main">
            <a:r>
              <a:t/>
            </a:r>
          </a:p>
          <a:p xmlns:a="http://schemas.openxmlformats.org/drawingml/2006/main">
            <a:r>
              <a:t>사용자 제공 트립사진공유 앨범: IMG_4605, IMG_4845</a:t>
            </a:r>
          </a:p>
          <a:p xmlns:a="http://schemas.openxmlformats.org/drawingml/2006/main">
            <a:r>
              <a:t>사진별 지역과 참가자를 임의로 특정하지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OO 트립운영 계획 (04.13~04.17)</a:t>
            </a:r>
          </a:p>
          <a:p xmlns:a="http://schemas.openxmlformats.org/drawingml/2006/main">
            <a:r>
              <a:t/>
            </a:r>
          </a:p>
          <a:p xmlns:a="http://schemas.openxmlformats.org/drawingml/2006/main">
            <a:r>
              <a:t>임재영 · 테마: BEP 넘기고 오기, PB 찍고 가기</a:t>
            </a:r>
          </a:p>
          <a:p xmlns:a="http://schemas.openxmlformats.org/drawingml/2006/main">
            <a:r>
              <a:t/>
            </a:r>
          </a:p>
          <a:p xmlns:a="http://schemas.openxmlformats.org/drawingml/2006/main">
            <a:r>
              <a:t>개인 목표와 보상</a:t>
            </a:r>
          </a:p>
          <a:p xmlns:a="http://schemas.openxmlformats.org/drawingml/2006/main">
            <a:r>
              <a:t/>
            </a:r>
          </a:p>
          <a:p xmlns:a="http://schemas.openxmlformats.org/drawingml/2006/main">
            <a:r>
              <a:t>구분 / A · Best / B · Good / C · At least</a:t>
            </a:r>
          </a:p>
          <a:p xmlns:a="http://schemas.openxmlformats.org/drawingml/2006/main">
            <a:r>
              <a:t/>
            </a:r>
          </a:p>
          <a:p xmlns:a="http://schemas.openxmlformats.org/drawingml/2006/main">
            <a:r>
              <a:t>스코어 / 25 / 15 / 10</a:t>
            </a:r>
          </a:p>
          <a:p xmlns:a="http://schemas.openxmlformats.org/drawingml/2006/main">
            <a:r>
              <a:t/>
            </a:r>
          </a:p>
          <a:p xmlns:a="http://schemas.openxmlformats.org/drawingml/2006/main">
            <a:r>
              <a:t>클로즈 / 125 / 75 / 50</a:t>
            </a:r>
          </a:p>
          <a:p xmlns:a="http://schemas.openxmlformats.org/drawingml/2006/main">
            <a:r>
              <a:t/>
            </a:r>
          </a:p>
          <a:p xmlns:a="http://schemas.openxmlformats.org/drawingml/2006/main">
            <a:r>
              <a:t>보상 / 무선 청소기 / 야구 유니폼 / 맛집 탐방</a:t>
            </a:r>
          </a:p>
          <a:p xmlns:a="http://schemas.openxmlformats.org/drawingml/2006/main">
            <a:r>
              <a:t/>
            </a:r>
          </a:p>
          <a:p xmlns:a="http://schemas.openxmlformats.org/drawingml/2006/main">
            <a:r>
              <a:t>A는 최고의 결과, B는 좋은 결과, C는 최소한 달성할 결과입니다. C · At least는 Minimum과 같은 의미입니다.</a:t>
            </a:r>
          </a:p>
          <a:p xmlns:a="http://schemas.openxmlformats.org/drawingml/2006/main">
            <a:r>
              <a:t/>
            </a:r>
          </a:p>
          <a:p xmlns:a="http://schemas.openxmlformats.org/drawingml/2006/main">
            <a:r>
              <a:t>사용자가 제공한 개인 트립 계획 예시. 군산 트립 실적과 별개의 예시입니다.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배우고 싶은 것</a:t>
            </a:r>
          </a:p>
          <a:p xmlns:a="http://schemas.openxmlformats.org/drawingml/2006/main">
            <a:r>
              <a:t/>
            </a:r>
          </a:p>
          <a:p xmlns:a="http://schemas.openxmlformats.org/drawingml/2006/main">
            <a:r>
              <a:t>임재영의 개인 계획 예시</a:t>
            </a:r>
          </a:p>
          <a:p xmlns:a="http://schemas.openxmlformats.org/drawingml/2006/main">
            <a:r>
              <a:t/>
            </a:r>
          </a:p>
          <a:p xmlns:a="http://schemas.openxmlformats.org/drawingml/2006/main">
            <a:r>
              <a:t>1. 3STEP 컨텍법</a:t>
            </a:r>
          </a:p>
          <a:p xmlns:a="http://schemas.openxmlformats.org/drawingml/2006/main">
            <a:r>
              <a:t/>
            </a:r>
          </a:p>
          <a:p xmlns:a="http://schemas.openxmlformats.org/drawingml/2006/main">
            <a:r>
              <a:t>윤경리의 마음을 활짝 열게 하는 3STEP 컨텍법</a:t>
            </a:r>
          </a:p>
          <a:p xmlns:a="http://schemas.openxmlformats.org/drawingml/2006/main">
            <a:r>
              <a:t/>
            </a:r>
          </a:p>
          <a:p xmlns:a="http://schemas.openxmlformats.org/drawingml/2006/main">
            <a:r>
              <a:t>2. 목표를 이뤄내는 STP</a:t>
            </a:r>
          </a:p>
          <a:p xmlns:a="http://schemas.openxmlformats.org/drawingml/2006/main">
            <a:r>
              <a:t/>
            </a:r>
          </a:p>
          <a:p xmlns:a="http://schemas.openxmlformats.org/drawingml/2006/main">
            <a:r>
              <a:t>채영리의 시작부터 집중해 목표를 이뤄내는 STP</a:t>
            </a:r>
          </a:p>
          <a:p xmlns:a="http://schemas.openxmlformats.org/drawingml/2006/main">
            <a:r>
              <a:t/>
            </a:r>
          </a:p>
          <a:p xmlns:a="http://schemas.openxmlformats.org/drawingml/2006/main">
            <a:r>
              <a:t>3. 체계적인 트립 운영</a:t>
            </a:r>
          </a:p>
          <a:p xmlns:a="http://schemas.openxmlformats.org/drawingml/2006/main">
            <a:r>
              <a:t/>
            </a:r>
          </a:p>
          <a:p xmlns:a="http://schemas.openxmlformats.org/drawingml/2006/main">
            <a:r>
              <a:t>트립을 안정적으로 운영할 수 있는 체계적인 방법</a:t>
            </a:r>
          </a:p>
          <a:p xmlns:a="http://schemas.openxmlformats.org/drawingml/2006/main">
            <a:r>
              <a:t/>
            </a:r>
          </a:p>
          <a:p xmlns:a="http://schemas.openxmlformats.org/drawingml/2006/main">
            <a:r>
              <a:t>사용자가 제공한 개인 트립 계획 예시. 내부 용어와 호칭을 유지했습니다.</a:t>
            </a:r>
          </a:p>
          <a:p xmlns:a="http://schemas.openxmlformats.org/drawingml/2006/main">
            <a:r>
              <a:t/>
            </a:r>
          </a:p>
          <a:p xmlns:a="http://schemas.openxmlformats.org/drawingml/2006/main">
            <a:r>
              <a:t>사용자 제공 트립사진공유 앨범: IMG_4963</a:t>
            </a:r>
          </a:p>
          <a:p xmlns:a="http://schemas.openxmlformats.org/drawingml/2006/main">
            <a:r>
              <a:t>사진별 지역과 참가자를 임의로 특정하지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이것만큼은 지키겠다</a:t>
            </a:r>
          </a:p>
          <a:p xmlns:a="http://schemas.openxmlformats.org/drawingml/2006/main">
            <a:r>
              <a:t/>
            </a:r>
          </a:p>
          <a:p xmlns:a="http://schemas.openxmlformats.org/drawingml/2006/main">
            <a:r>
              <a:t>임재영의 개인 계획 예시 · 필드의 기준과 함께하는 태도</a:t>
            </a:r>
          </a:p>
          <a:p xmlns:a="http://schemas.openxmlformats.org/drawingml/2006/main">
            <a:r>
              <a:t/>
            </a:r>
          </a:p>
          <a:p xmlns:a="http://schemas.openxmlformats.org/drawingml/2006/main">
            <a:r>
              <a:t>1. 필드 기준</a:t>
            </a:r>
          </a:p>
          <a:p xmlns:a="http://schemas.openxmlformats.org/drawingml/2006/main">
            <a:r>
              <a:t/>
            </a:r>
          </a:p>
          <a:p xmlns:a="http://schemas.openxmlformats.org/drawingml/2006/main">
            <a:r>
              <a:t>데일리 15클로즈, 최소 9시간 이상 실 필드시간 준수</a:t>
            </a:r>
          </a:p>
          <a:p xmlns:a="http://schemas.openxmlformats.org/drawingml/2006/main">
            <a:r>
              <a:t/>
            </a:r>
          </a:p>
          <a:p xmlns:a="http://schemas.openxmlformats.org/drawingml/2006/main">
            <a:r>
              <a:t>2. 수면 루틴</a:t>
            </a:r>
          </a:p>
          <a:p xmlns:a="http://schemas.openxmlformats.org/drawingml/2006/main">
            <a:r>
              <a:t/>
            </a:r>
          </a:p>
          <a:p xmlns:a="http://schemas.openxmlformats.org/drawingml/2006/main">
            <a:r>
              <a:t>밤 12시에 자고 아침 7시 30분에 일어나기</a:t>
            </a:r>
          </a:p>
          <a:p xmlns:a="http://schemas.openxmlformats.org/drawingml/2006/main">
            <a:r>
              <a:t/>
            </a:r>
          </a:p>
          <a:p xmlns:a="http://schemas.openxmlformats.org/drawingml/2006/main">
            <a:r>
              <a:t>3. 감사하는 마음</a:t>
            </a:r>
          </a:p>
          <a:p xmlns:a="http://schemas.openxmlformats.org/drawingml/2006/main">
            <a:r>
              <a:t/>
            </a:r>
          </a:p>
          <a:p xmlns:a="http://schemas.openxmlformats.org/drawingml/2006/main">
            <a:r>
              <a:t>함께하는 트립 팀원과 함께할 수 있음에 감사하며 필드에 임하기</a:t>
            </a:r>
          </a:p>
          <a:p xmlns:a="http://schemas.openxmlformats.org/drawingml/2006/main">
            <a:r>
              <a:t/>
            </a:r>
          </a:p>
          <a:p xmlns:a="http://schemas.openxmlformats.org/drawingml/2006/main">
            <a:r>
              <a:t>4. 신뢰와 응원</a:t>
            </a:r>
          </a:p>
          <a:p xmlns:a="http://schemas.openxmlformats.org/drawingml/2006/main">
            <a:r>
              <a:t/>
            </a:r>
          </a:p>
          <a:p xmlns:a="http://schemas.openxmlformats.org/drawingml/2006/main">
            <a:r>
              <a:t>어렵고 힘든 일이 생겨도 서로를 신뢰하고 끝까지 응원하기</a:t>
            </a:r>
          </a:p>
          <a:p xmlns:a="http://schemas.openxmlformats.org/drawingml/2006/main">
            <a:r>
              <a:t/>
            </a:r>
          </a:p>
          <a:p xmlns:a="http://schemas.openxmlformats.org/drawingml/2006/main">
            <a:r>
              <a:t>사용자가 제공한 개인 트립 계획 예시.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월요일과 화요일의 테마</a:t>
            </a:r>
          </a:p>
          <a:p xmlns:a="http://schemas.openxmlformats.org/drawingml/2006/main">
            <a:r>
              <a:t/>
            </a:r>
          </a:p>
          <a:p xmlns:a="http://schemas.openxmlformats.org/drawingml/2006/main">
            <a:r>
              <a:t>Presence식 테마 세팅 · 월~금 트립 기준</a:t>
            </a:r>
          </a:p>
          <a:p xmlns:a="http://schemas.openxmlformats.org/drawingml/2006/main">
            <a:r>
              <a:t/>
            </a:r>
          </a:p>
          <a:p xmlns:a="http://schemas.openxmlformats.org/drawingml/2006/main">
            <a:r>
              <a:t>월요일 · 기강 Day</a:t>
            </a:r>
          </a:p>
          <a:p xmlns:a="http://schemas.openxmlformats.org/drawingml/2006/main">
            <a:r>
              <a:t/>
            </a:r>
          </a:p>
          <a:p xmlns:a="http://schemas.openxmlformats.org/drawingml/2006/main">
            <a:r>
              <a:t>트립 전체의 A패턴을 만드는 날입니다. 첫째 날이 가장 부담이 덜한 만큼 가장 집중해서 많은 성과를 내려고 노력합니다. 첫날의 성과로 이후 운영을 안정적으로 만듭니다.</a:t>
            </a:r>
          </a:p>
          <a:p xmlns:a="http://schemas.openxmlformats.org/drawingml/2006/main">
            <a:r>
              <a:t/>
            </a:r>
          </a:p>
          <a:p xmlns:a="http://schemas.openxmlformats.org/drawingml/2006/main">
            <a:r>
              <a:t>화요일 · 태도유지 Day</a:t>
            </a:r>
          </a:p>
          <a:p xmlns:a="http://schemas.openxmlformats.org/drawingml/2006/main">
            <a:r>
              <a:t/>
            </a:r>
          </a:p>
          <a:p xmlns:a="http://schemas.openxmlformats.org/drawingml/2006/main">
            <a:r>
              <a:t>월요일의 “처음이니 잘해보자”라는 마음과 태도, 넘버를 적어도 화요일까지 유지합니다. 월요일 결과가 나오지 않았더라도 화요일의 결과와 분위기 전환을 노립니다.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수요일 · 액티비티 Day</a:t>
            </a:r>
          </a:p>
          <a:p xmlns:a="http://schemas.openxmlformats.org/drawingml/2006/main">
            <a:r>
              <a:t/>
            </a:r>
          </a:p>
          <a:p xmlns:a="http://schemas.openxmlformats.org/drawingml/2006/main">
            <a:r>
              <a:t>월·화의 집중을 함께 보내는 시간으로 연결합니다.</a:t>
            </a:r>
          </a:p>
          <a:p xmlns:a="http://schemas.openxmlformats.org/drawingml/2006/main">
            <a:r>
              <a:t/>
            </a:r>
          </a:p>
          <a:p xmlns:a="http://schemas.openxmlformats.org/drawingml/2006/main">
            <a:r>
              <a:t>진행 기준</a:t>
            </a:r>
          </a:p>
          <a:p xmlns:a="http://schemas.openxmlformats.org/drawingml/2006/main">
            <a:r>
              <a:t/>
            </a:r>
          </a:p>
          <a:p xmlns:a="http://schemas.openxmlformats.org/drawingml/2006/main">
            <a:r>
              <a:t>월·화 합산 팀 AVG 1.5 이상 달성 시 진행합니다. 팀 AVG = 월·화 총 세일즈 ÷ 월·화 실제 활동일 합계.</a:t>
            </a:r>
          </a:p>
          <a:p xmlns:a="http://schemas.openxmlformats.org/drawingml/2006/main">
            <a:r>
              <a:t/>
            </a:r>
          </a:p>
          <a:p xmlns:a="http://schemas.openxmlformats.org/drawingml/2006/main">
            <a:r>
              <a:t>필드 종료</a:t>
            </a:r>
          </a:p>
          <a:p xmlns:a="http://schemas.openxmlformats.org/drawingml/2006/main">
            <a:r>
              <a:t/>
            </a:r>
          </a:p>
          <a:p xmlns:a="http://schemas.openxmlformats.org/drawingml/2006/main">
            <a:r>
              <a:t>18시에 빠르게 필드를 종료합니다.</a:t>
            </a:r>
          </a:p>
          <a:p xmlns:a="http://schemas.openxmlformats.org/drawingml/2006/main">
            <a:r>
              <a:t/>
            </a:r>
          </a:p>
          <a:p xmlns:a="http://schemas.openxmlformats.org/drawingml/2006/main">
            <a:r>
              <a:t>함께 보내는 시간</a:t>
            </a:r>
          </a:p>
          <a:p xmlns:a="http://schemas.openxmlformats.org/drawingml/2006/main">
            <a:r>
              <a:t/>
            </a:r>
          </a:p>
          <a:p xmlns:a="http://schemas.openxmlformats.org/drawingml/2006/main">
            <a:r>
              <a:t>함께 식사하거나 바다 구경, 스포츠 등의 액티비티를 즐깁니다. 너무 무리하지 않는 범위에서 시간을 보내고 충분히 쉽니다.</a:t>
            </a:r>
          </a:p>
          <a:p xmlns:a="http://schemas.openxmlformats.org/drawingml/2006/main">
            <a:r>
              <a:t/>
            </a:r>
          </a:p>
          <a:p xmlns:a="http://schemas.openxmlformats.org/drawingml/2006/main">
            <a:r>
              <a:t>사용자가 확인한 기준: 월·화 합산 팀 AVG 1.5 이상.</a:t>
            </a:r>
          </a:p>
          <a:p xmlns:a="http://schemas.openxmlformats.org/drawingml/2006/main">
            <a:r>
              <a:t/>
            </a:r>
          </a:p>
          <a:p xmlns:a="http://schemas.openxmlformats.org/drawingml/2006/main">
            <a:r>
              <a:t>사용자 제공 트립사진공유 앨범: IMG_4567</a:t>
            </a:r>
          </a:p>
          <a:p xmlns:a="http://schemas.openxmlformats.org/drawingml/2006/main">
            <a:r>
              <a:t>사진별 지역과 참가자를 임의로 특정하지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목요일과 금요일의 테마</a:t>
            </a:r>
          </a:p>
          <a:p xmlns:a="http://schemas.openxmlformats.org/drawingml/2006/main">
            <a:r>
              <a:t/>
            </a:r>
          </a:p>
          <a:p xmlns:a="http://schemas.openxmlformats.org/drawingml/2006/main">
            <a:r>
              <a:t>PB 도전과 빠른 마무리를 각각 계획합니다.</a:t>
            </a:r>
          </a:p>
          <a:p xmlns:a="http://schemas.openxmlformats.org/drawingml/2006/main">
            <a:r>
              <a:t/>
            </a:r>
          </a:p>
          <a:p xmlns:a="http://schemas.openxmlformats.org/drawingml/2006/main">
            <a:r>
              <a:t>목요일 · PB 달성 Day</a:t>
            </a:r>
          </a:p>
          <a:p xmlns:a="http://schemas.openxmlformats.org/drawingml/2006/main">
            <a:r>
              <a:t/>
            </a:r>
          </a:p>
          <a:p xmlns:a="http://schemas.openxmlformats.org/drawingml/2006/main">
            <a:r>
              <a:t>수요일에 즐겁게 보내고 푹 쉬었다면, 모든 에너지를 집중해 가장 많은 결과를 내도록 세팅합니다.</a:t>
            </a:r>
          </a:p>
          <a:p xmlns:a="http://schemas.openxmlformats.org/drawingml/2006/main">
            <a:r>
              <a:t/>
            </a:r>
          </a:p>
          <a:p xmlns:a="http://schemas.openxmlformats.org/drawingml/2006/main">
            <a:r>
              <a:t>금요일 · 빠벨 Day</a:t>
            </a:r>
          </a:p>
          <a:p xmlns:a="http://schemas.openxmlformats.org/drawingml/2006/main">
            <a:r>
              <a:t/>
            </a:r>
          </a:p>
          <a:p xmlns:a="http://schemas.openxmlformats.org/drawingml/2006/main">
            <a:r>
              <a:t>빠르게 벨을 치고 귀가할 수 있도록 오후 2~3시 필드 종료를 목표로 세팅합니다. 단, 0건인 팀원이 있으면 복귀하지 않습니다.</a:t>
            </a:r>
          </a:p>
          <a:p xmlns:a="http://schemas.openxmlformats.org/drawingml/2006/main">
            <a:r>
              <a:t/>
            </a:r>
          </a:p>
          <a:p xmlns:a="http://schemas.openxmlformats.org/drawingml/2006/main">
            <a:r>
              <a:t>사용자 확인: 금요일 0건인 팀원이 있으면 복귀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3일 트립의 테마</a:t>
            </a:r>
          </a:p>
          <a:p xmlns:a="http://schemas.openxmlformats.org/drawingml/2006/main">
            <a:r>
              <a:t/>
            </a:r>
          </a:p>
          <a:p xmlns:a="http://schemas.openxmlformats.org/drawingml/2006/main">
            <a:r>
              <a:t>월·화·수처럼 A·B·C의 흐름으로 생각합니다.</a:t>
            </a:r>
          </a:p>
          <a:p xmlns:a="http://schemas.openxmlformats.org/drawingml/2006/main">
            <a:r>
              <a:t/>
            </a:r>
          </a:p>
          <a:p xmlns:a="http://schemas.openxmlformats.org/drawingml/2006/main">
            <a:r>
              <a:t>추천 구성</a:t>
            </a:r>
          </a:p>
          <a:p xmlns:a="http://schemas.openxmlformats.org/drawingml/2006/main">
            <a:r>
              <a:t/>
            </a:r>
          </a:p>
          <a:p xmlns:a="http://schemas.openxmlformats.org/drawingml/2006/main">
            <a:r>
              <a:t>순서 / 테마 / 운영 초점</a:t>
            </a:r>
          </a:p>
          <a:p xmlns:a="http://schemas.openxmlformats.org/drawingml/2006/main">
            <a:r>
              <a:t/>
            </a:r>
          </a:p>
          <a:p xmlns:a="http://schemas.openxmlformats.org/drawingml/2006/main">
            <a:r>
              <a:t>A · 1일차 / 기강 Day / 초반 집중으로 운영의 기초 만들기</a:t>
            </a:r>
          </a:p>
          <a:p xmlns:a="http://schemas.openxmlformats.org/drawingml/2006/main">
            <a:r>
              <a:t/>
            </a:r>
          </a:p>
          <a:p xmlns:a="http://schemas.openxmlformats.org/drawingml/2006/main">
            <a:r>
              <a:t>B · 2일차 / 액티비티 Day / 함께 시간을 보내고 리프레시하기</a:t>
            </a:r>
          </a:p>
          <a:p xmlns:a="http://schemas.openxmlformats.org/drawingml/2006/main">
            <a:r>
              <a:t/>
            </a:r>
          </a:p>
          <a:p xmlns:a="http://schemas.openxmlformats.org/drawingml/2006/main">
            <a:r>
              <a:t>C · 3일차 / PB Day / 모든 에너지를 모아 최고 결과에 도전</a:t>
            </a:r>
          </a:p>
          <a:p xmlns:a="http://schemas.openxmlformats.org/drawingml/2006/main">
            <a:r>
              <a:t/>
            </a:r>
          </a:p>
          <a:p xmlns:a="http://schemas.openxmlformats.org/drawingml/2006/main">
            <a:r>
              <a:t>여기의 A·B·C는 트립의 날짜 순서입니다. 개인 목표의 Best / Good / At least와 구분해 사용합니다. 짧은 일정의 액티비티 기준과 복귀 시각은 출발 전에 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하루 운영 루틴</a:t>
            </a:r>
          </a:p>
          <a:p xmlns:a="http://schemas.openxmlformats.org/drawingml/2006/main">
            <a:r>
              <a:t/>
            </a:r>
          </a:p>
          <a:p xmlns:a="http://schemas.openxmlformats.org/drawingml/2006/main">
            <a:r>
              <a:t>트립에서도 작은 오피스를 운영하며 잘하는 사람의 루틴과 판단 기준을 배웁니다.</a:t>
            </a:r>
          </a:p>
          <a:p xmlns:a="http://schemas.openxmlformats.org/drawingml/2006/main">
            <a:r>
              <a:t/>
            </a:r>
          </a:p>
          <a:p xmlns:a="http://schemas.openxmlformats.org/drawingml/2006/main">
            <a:r>
              <a:t>시작 전</a:t>
            </a:r>
          </a:p>
          <a:p xmlns:a="http://schemas.openxmlformats.org/drawingml/2006/main">
            <a:r>
              <a:t/>
            </a:r>
          </a:p>
          <a:p xmlns:a="http://schemas.openxmlformats.org/drawingml/2006/main">
            <a:r>
              <a:t>짧은 목표 미팅과 토픽으로 하루를 시작합니다. 개인별 Best / Good / Minimum, 배울 루틴·스킬, 주요·예비 동선을 함께 확인합니다.</a:t>
            </a:r>
          </a:p>
          <a:p xmlns:a="http://schemas.openxmlformats.org/drawingml/2006/main">
            <a:r>
              <a:t/>
            </a:r>
          </a:p>
          <a:p xmlns:a="http://schemas.openxmlformats.org/drawingml/2006/main">
            <a:r>
              <a:t>운영 중</a:t>
            </a:r>
          </a:p>
          <a:p xmlns:a="http://schemas.openxmlformats.org/drawingml/2006/main">
            <a:r>
              <a:t/>
            </a:r>
          </a:p>
          <a:p xmlns:a="http://schemas.openxmlformats.org/drawingml/2006/main">
            <a:r>
              <a:t>현장 반응에 맞춰 자리·접근 방식·도움을 조정합니다. 문제를 함께 해결하고, 판단 이유와 피드백을 나눕니다. 휴식과 복귀 기준도 지킵니다.</a:t>
            </a:r>
          </a:p>
          <a:p xmlns:a="http://schemas.openxmlformats.org/drawingml/2006/main">
            <a:r>
              <a:t/>
            </a:r>
          </a:p>
          <a:p xmlns:a="http://schemas.openxmlformats.org/drawingml/2006/main">
            <a:r>
              <a:t>종료 후</a:t>
            </a:r>
          </a:p>
          <a:p xmlns:a="http://schemas.openxmlformats.org/drawingml/2006/main">
            <a:r>
              <a:t/>
            </a:r>
          </a:p>
          <a:p xmlns:a="http://schemas.openxmlformats.org/drawingml/2006/main">
            <a:r>
              <a:t>실적과 활동 여부를 기록합니다. 배운 방식과 리프레시한 순간을 공유하고 다음 날 바꿀 행동을 한 가지 정합니다.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군산 트립 사례</a:t>
            </a:r>
          </a:p>
          <a:p xmlns:a="http://schemas.openxmlformats.org/drawingml/2006/main">
            <a:r>
              <a:t/>
            </a:r>
          </a:p>
          <a:p xmlns:a="http://schemas.openxmlformats.org/drawingml/2006/main">
            <a:r>
              <a:t>목·금·토·일, 4명의 참가자</a:t>
            </a:r>
          </a:p>
          <a:p xmlns:a="http://schemas.openxmlformats.org/drawingml/2006/main">
            <a:r>
              <a:t/>
            </a:r>
          </a:p>
          <a:p xmlns:a="http://schemas.openxmlformats.org/drawingml/2006/main">
            <a:r>
              <a:t>참가자</a:t>
            </a:r>
          </a:p>
          <a:p xmlns:a="http://schemas.openxmlformats.org/drawingml/2006/main">
            <a:r>
              <a:t/>
            </a:r>
          </a:p>
          <a:p xmlns:a="http://schemas.openxmlformats.org/drawingml/2006/main">
            <a:r>
              <a:t>임재영 · 윤채영 · 민병준 · 황혜진</a:t>
            </a:r>
          </a:p>
          <a:p xmlns:a="http://schemas.openxmlformats.org/drawingml/2006/main">
            <a:r>
              <a:t/>
            </a:r>
          </a:p>
          <a:p xmlns:a="http://schemas.openxmlformats.org/drawingml/2006/main">
            <a:r>
              <a:t>군산 사례 기록</a:t>
            </a:r>
          </a:p>
          <a:p xmlns:a="http://schemas.openxmlformats.org/drawingml/2006/main">
            <a:r>
              <a:t/>
            </a:r>
          </a:p>
          <a:p xmlns:a="http://schemas.openxmlformats.org/drawingml/2006/main">
            <a:r>
              <a:t>개인별 활동 일정과 결과를 구분해 실적을 정리합니다.</a:t>
            </a:r>
          </a:p>
          <a:p xmlns:a="http://schemas.openxmlformats.org/drawingml/2006/main">
            <a:r>
              <a:t/>
            </a:r>
          </a:p>
          <a:p xmlns:a="http://schemas.openxmlformats.org/drawingml/2006/main">
            <a:r>
              <a:t>참가자는 사용자 확인. 사진은 사용자가 제공한 여러 지역의 트립사진공유 앨범.</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군산 실적 기록</a:t>
            </a:r>
          </a:p>
          <a:p xmlns:a="http://schemas.openxmlformats.org/drawingml/2006/main">
            <a:r>
              <a:t/>
            </a:r>
          </a:p>
          <a:p xmlns:a="http://schemas.openxmlformats.org/drawingml/2006/main">
            <a:r>
              <a:t>현재 입력된 실적 합계 31건</a:t>
            </a:r>
          </a:p>
          <a:p xmlns:a="http://schemas.openxmlformats.org/drawingml/2006/main">
            <a:r>
              <a:t/>
            </a:r>
          </a:p>
          <a:p xmlns:a="http://schemas.openxmlformats.org/drawingml/2006/main">
            <a:r>
              <a:t>팀원별 일일 성과</a:t>
            </a:r>
          </a:p>
          <a:p xmlns:a="http://schemas.openxmlformats.org/drawingml/2006/main">
            <a:r>
              <a:t/>
            </a:r>
          </a:p>
          <a:p xmlns:a="http://schemas.openxmlformats.org/drawingml/2006/main">
            <a:r>
              <a:t>팀원 / 목 9/10 / 금 9/11 / 토 9/12 / 일 9/13 / 기록 합계</a:t>
            </a:r>
          </a:p>
          <a:p xmlns:a="http://schemas.openxmlformats.org/drawingml/2006/main">
            <a:r>
              <a:t/>
            </a:r>
          </a:p>
          <a:p xmlns:a="http://schemas.openxmlformats.org/drawingml/2006/main">
            <a:r>
              <a:t>임재영 / 3 / 3 / 3 / 1 / 10건</a:t>
            </a:r>
          </a:p>
          <a:p xmlns:a="http://schemas.openxmlformats.org/drawingml/2006/main">
            <a:r>
              <a:t/>
            </a:r>
          </a:p>
          <a:p xmlns:a="http://schemas.openxmlformats.org/drawingml/2006/main">
            <a:r>
              <a:t>윤채영 / 2 / 5 / 2 / 1 / 10건</a:t>
            </a:r>
          </a:p>
          <a:p xmlns:a="http://schemas.openxmlformats.org/drawingml/2006/main">
            <a:r>
              <a:t/>
            </a:r>
          </a:p>
          <a:p xmlns:a="http://schemas.openxmlformats.org/drawingml/2006/main">
            <a:r>
              <a:t>민병준 / 1 / 2 / 2 / 미입력 / 5건</a:t>
            </a:r>
          </a:p>
          <a:p xmlns:a="http://schemas.openxmlformats.org/drawingml/2006/main">
            <a:r>
              <a:t/>
            </a:r>
          </a:p>
          <a:p xmlns:a="http://schemas.openxmlformats.org/drawingml/2006/main">
            <a:r>
              <a:t>황혜진 / 2 / 2 / 2 / 0 / 6건</a:t>
            </a:r>
          </a:p>
          <a:p xmlns:a="http://schemas.openxmlformats.org/drawingml/2006/main">
            <a:r>
              <a:t/>
            </a:r>
          </a:p>
          <a:p xmlns:a="http://schemas.openxmlformats.org/drawingml/2006/main">
            <a:r>
              <a:t>집계 상태</a:t>
            </a:r>
          </a:p>
          <a:p xmlns:a="http://schemas.openxmlformats.org/drawingml/2006/main">
            <a:r>
              <a:t/>
            </a:r>
          </a:p>
          <a:p xmlns:a="http://schemas.openxmlformats.org/drawingml/2006/main">
            <a:r>
              <a:t>민병준님의 일요일 활동 여부와 결과 확인 전이므로 최종 팀 AVG는 확정하지 않았습니다. 미입력은 0건이나 휴무로 임의 처리하지 않습니다.</a:t>
            </a:r>
          </a:p>
          <a:p xmlns:a="http://schemas.openxmlformats.org/drawingml/2006/main">
            <a:r>
              <a:t/>
            </a:r>
          </a:p>
          <a:p xmlns:a="http://schemas.openxmlformats.org/drawingml/2006/main">
            <a:r>
              <a:t>출처: Presence Profit · 일일 결과, 2026년 9월 14일 조회. 9월 10~13일 참가자 기록만 사용.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AVG와 회고 기준</a:t>
            </a:r>
          </a:p>
          <a:p xmlns:a="http://schemas.openxmlformats.org/drawingml/2006/main">
            <a:r>
              <a:t/>
            </a:r>
          </a:p>
          <a:p xmlns:a="http://schemas.openxmlformats.org/drawingml/2006/main">
            <a:r>
              <a:t>팀 AVG = 총 세일즈 ÷ 실제 활동일 합계</a:t>
            </a:r>
          </a:p>
          <a:p xmlns:a="http://schemas.openxmlformats.org/drawingml/2006/main">
            <a:r>
              <a:t/>
            </a:r>
          </a:p>
          <a:p xmlns:a="http://schemas.openxmlformats.org/drawingml/2006/main">
            <a:r>
              <a:t>집계 원칙</a:t>
            </a:r>
          </a:p>
          <a:p xmlns:a="http://schemas.openxmlformats.org/drawingml/2006/main">
            <a:r>
              <a:t/>
            </a:r>
          </a:p>
          <a:p xmlns:a="http://schemas.openxmlformats.org/drawingml/2006/main">
            <a:r>
              <a:t>실제 활동한 0건은 분모에 포함합니다.</a:t>
            </a:r>
          </a:p>
          <a:p xmlns:a="http://schemas.openxmlformats.org/drawingml/2006/main">
            <a:r>
              <a:t/>
            </a:r>
          </a:p>
          <a:p xmlns:a="http://schemas.openxmlformats.org/drawingml/2006/main">
            <a:r>
              <a:t>휴무는 분모에서 제외합니다.</a:t>
            </a:r>
          </a:p>
          <a:p xmlns:a="http://schemas.openxmlformats.org/drawingml/2006/main">
            <a:r>
              <a:t/>
            </a:r>
          </a:p>
          <a:p xmlns:a="http://schemas.openxmlformats.org/drawingml/2006/main">
            <a:r>
              <a:t>미입력은 활동 여부와 결과를 확인합니다.</a:t>
            </a:r>
          </a:p>
          <a:p xmlns:a="http://schemas.openxmlformats.org/drawingml/2006/main">
            <a:r>
              <a:t/>
            </a:r>
          </a:p>
          <a:p xmlns:a="http://schemas.openxmlformats.org/drawingml/2006/main">
            <a:r>
              <a:t>일정의 일부만 참석한 팀원은 실제 참여한 날짜만 포함합니다.</a:t>
            </a:r>
          </a:p>
          <a:p xmlns:a="http://schemas.openxmlformats.org/drawingml/2006/main">
            <a:r>
              <a:t/>
            </a:r>
          </a:p>
          <a:p xmlns:a="http://schemas.openxmlformats.org/drawingml/2006/main">
            <a:r>
              <a:t>함께 돌아볼 내용</a:t>
            </a:r>
          </a:p>
          <a:p xmlns:a="http://schemas.openxmlformats.org/drawingml/2006/main">
            <a:r>
              <a:t/>
            </a:r>
          </a:p>
          <a:p xmlns:a="http://schemas.openxmlformats.org/drawingml/2006/main">
            <a:r>
              <a:t>Profit: 성과와 필드 시간, 몰입할 수 있는 여건은 어땠는가?</a:t>
            </a:r>
          </a:p>
          <a:p xmlns:a="http://schemas.openxmlformats.org/drawingml/2006/main">
            <a:r>
              <a:t/>
            </a:r>
          </a:p>
          <a:p xmlns:a="http://schemas.openxmlformats.org/drawingml/2006/main">
            <a:r>
              <a:t>Progress: 루틴·문제 해결·현장 판단·B2B에서 무엇을 배웠고 다음에도 재현할 수 있는가?</a:t>
            </a:r>
          </a:p>
          <a:p xmlns:a="http://schemas.openxmlformats.org/drawingml/2006/main">
            <a:r>
              <a:t/>
            </a:r>
          </a:p>
          <a:p xmlns:a="http://schemas.openxmlformats.org/drawingml/2006/main">
            <a:r>
              <a:t>People: 리프레시한 순간, 새롭게 받은 자극과 고마웠던 행동은 무엇인가?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트립 장면들</a:t>
            </a:r>
          </a:p>
          <a:p xmlns:a="http://schemas.openxmlformats.org/drawingml/2006/main">
            <a:r>
              <a:t/>
            </a:r>
          </a:p>
          <a:p xmlns:a="http://schemas.openxmlformats.org/drawingml/2006/main">
            <a:r>
              <a:t>함께 일하고, 함께 쉬고, 함께 기억한 순간들</a:t>
            </a:r>
          </a:p>
          <a:p xmlns:a="http://schemas.openxmlformats.org/drawingml/2006/main">
            <a:r>
              <a:t/>
            </a:r>
          </a:p>
          <a:p xmlns:a="http://schemas.openxmlformats.org/drawingml/2006/main">
            <a:r>
              <a:t>51개의 트립 장면</a:t>
            </a:r>
          </a:p>
          <a:p xmlns:a="http://schemas.openxmlformats.org/drawingml/2006/main">
            <a:r>
              <a:t/>
            </a:r>
          </a:p>
          <a:p xmlns:a="http://schemas.openxmlformats.org/drawingml/2006/main">
            <a:r>
              <a:t>사진 49장과 영상 2개가 세 줄로 흐릅니다. 장면을 누르면 크게 볼 수 있습니다.</a:t>
            </a:r>
          </a:p>
          <a:p xmlns:a="http://schemas.openxmlformats.org/drawingml/2006/main">
            <a:r>
              <a:t/>
            </a:r>
          </a:p>
          <a:p xmlns:a="http://schemas.openxmlformats.org/drawingml/2006/main">
            <a:r>
              <a:t>트립 장면보기</a:t>
            </a:r>
          </a:p>
          <a:p xmlns:a="http://schemas.openxmlformats.org/drawingml/2006/main">
            <a:r>
              <a:t/>
            </a:r>
          </a:p>
          <a:p xmlns:a="http://schemas.openxmlformats.org/drawingml/2006/main">
            <a:r>
              <a:t>https://hub.presence.co.kr/education/sector-leader/trip-guide/scenes/</a:t>
            </a:r>
          </a:p>
          <a:p xmlns:a="http://schemas.openxmlformats.org/drawingml/2006/main">
            <a:r>
              <a:t/>
            </a:r>
          </a:p>
          <a:p xmlns:a="http://schemas.openxmlformats.org/drawingml/2006/main">
            <a:r>
              <a:t>철원, 강릉, 거제·통영, 원주 등 여러 지역의 트립 기록입니다. 개별 사진을 군산 사례로 단정하지 않습니다.</a:t>
            </a:r>
          </a:p>
          <a:p xmlns:a="http://schemas.openxmlformats.org/drawingml/2006/main">
            <a:r>
              <a:t/>
            </a:r>
          </a:p>
          <a:p xmlns:a="http://schemas.openxmlformats.org/drawingml/2006/main">
            <a:r>
              <a:t>사용자가 제공한 트립사진공유 앨범 전체.</a:t>
            </a:r>
          </a:p>
          <a:p xmlns:a="http://schemas.openxmlformats.org/drawingml/2006/main">
            <a:r>
              <a:t/>
            </a:r>
          </a:p>
          <a:p xmlns:a="http://schemas.openxmlformats.org/drawingml/2006/main">
            <a:r>
              <a:t>사용자 제공 트립사진공유 앨범: IMG_5534, IMG_4935, IMG_6724</a:t>
            </a:r>
          </a:p>
          <a:p xmlns:a="http://schemas.openxmlformats.org/drawingml/2006/main">
            <a:r>
              <a:t>사진별 지역과 참가자를 임의로 특정하지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출발 전 체크리스트</a:t>
            </a:r>
          </a:p>
          <a:p xmlns:a="http://schemas.openxmlformats.org/drawingml/2006/main">
            <a:r>
              <a:t/>
            </a:r>
          </a:p>
          <a:p xmlns:a="http://schemas.openxmlformats.org/drawingml/2006/main">
            <a:r>
              <a:t>출발 전, 담당자와 함께 준비 상태를 확인합니다.</a:t>
            </a:r>
          </a:p>
          <a:p xmlns:a="http://schemas.openxmlformats.org/drawingml/2006/main">
            <a:r>
              <a:t/>
            </a:r>
          </a:p>
          <a:p xmlns:a="http://schemas.openxmlformats.org/drawingml/2006/main">
            <a:r>
              <a:t>지역·날짜·개인별 일정 확정, 동료·CTM 자료 수집</a:t>
            </a:r>
          </a:p>
          <a:p xmlns:a="http://schemas.openxmlformats.org/drawingml/2006/main">
            <a:r>
              <a:t/>
            </a:r>
          </a:p>
          <a:p xmlns:a="http://schemas.openxmlformats.org/drawingml/2006/main">
            <a:r>
              <a:t>카카오맵 기준 사이트명·도로뷰 확인, 주요·예비 자리 확보</a:t>
            </a:r>
          </a:p>
          <a:p xmlns:a="http://schemas.openxmlformats.org/drawingml/2006/main">
            <a:r>
              <a:t/>
            </a:r>
          </a:p>
          <a:p xmlns:a="http://schemas.openxmlformats.org/drawingml/2006/main">
            <a:r>
              <a:t>스코어·클로즈·보상의 A / B / C 목표 설정</a:t>
            </a:r>
          </a:p>
          <a:p xmlns:a="http://schemas.openxmlformats.org/drawingml/2006/main">
            <a:r>
              <a:t/>
            </a:r>
          </a:p>
          <a:p xmlns:a="http://schemas.openxmlformats.org/drawingml/2006/main">
            <a:r>
              <a:t>배우고 싶은 것과 이것만큼은 지킬 약속</a:t>
            </a:r>
          </a:p>
          <a:p xmlns:a="http://schemas.openxmlformats.org/drawingml/2006/main">
            <a:r>
              <a:t/>
            </a:r>
          </a:p>
          <a:p xmlns:a="http://schemas.openxmlformats.org/drawingml/2006/main">
            <a:r>
              <a:t>날짜별 테마와 액티비티·복귀 기준 합의</a:t>
            </a:r>
          </a:p>
          <a:p xmlns:a="http://schemas.openxmlformats.org/drawingml/2006/main">
            <a:r>
              <a:t/>
            </a:r>
          </a:p>
          <a:p xmlns:a="http://schemas.openxmlformats.org/drawingml/2006/main">
            <a:r>
              <a:t>교통·숙소·비용·장비·휴식 계획과 기록 담당자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트립 계획서</a:t>
            </a:r>
          </a:p>
          <a:p xmlns:a="http://schemas.openxmlformats.org/drawingml/2006/main">
            <a:r>
              <a:t/>
            </a:r>
          </a:p>
          <a:p xmlns:a="http://schemas.openxmlformats.org/drawingml/2006/main">
            <a:r>
              <a:t>지역 ______  날짜 ______  이름 ______</a:t>
            </a:r>
          </a:p>
          <a:p xmlns:a="http://schemas.openxmlformats.org/drawingml/2006/main">
            <a:r>
              <a:t/>
            </a:r>
          </a:p>
          <a:p xmlns:a="http://schemas.openxmlformats.org/drawingml/2006/main">
            <a:r>
              <a:t>나의 목표</a:t>
            </a:r>
          </a:p>
          <a:p xmlns:a="http://schemas.openxmlformats.org/drawingml/2006/main">
            <a:r>
              <a:t/>
            </a:r>
          </a:p>
          <a:p xmlns:a="http://schemas.openxmlformats.org/drawingml/2006/main">
            <a:r>
              <a:t>항목 / A · Best / B · Good / C · At least</a:t>
            </a:r>
          </a:p>
          <a:p xmlns:a="http://schemas.openxmlformats.org/drawingml/2006/main">
            <a:r>
              <a:t/>
            </a:r>
          </a:p>
          <a:p xmlns:a="http://schemas.openxmlformats.org/drawingml/2006/main">
            <a:r>
              <a:t>스코어 / ______ / ______ / ______</a:t>
            </a:r>
          </a:p>
          <a:p xmlns:a="http://schemas.openxmlformats.org/drawingml/2006/main">
            <a:r>
              <a:t/>
            </a:r>
          </a:p>
          <a:p xmlns:a="http://schemas.openxmlformats.org/drawingml/2006/main">
            <a:r>
              <a:t>클로즈 / ______ / ______ / ______</a:t>
            </a:r>
          </a:p>
          <a:p xmlns:a="http://schemas.openxmlformats.org/drawingml/2006/main">
            <a:r>
              <a:t/>
            </a:r>
          </a:p>
          <a:p xmlns:a="http://schemas.openxmlformats.org/drawingml/2006/main">
            <a:r>
              <a:t>보상 / ______ / ______ / ______</a:t>
            </a:r>
          </a:p>
          <a:p xmlns:a="http://schemas.openxmlformats.org/drawingml/2006/main">
            <a:r>
              <a:t/>
            </a:r>
          </a:p>
          <a:p xmlns:a="http://schemas.openxmlformats.org/drawingml/2006/main">
            <a:r>
              <a:t>테마 ______</a:t>
            </a:r>
          </a:p>
          <a:p xmlns:a="http://schemas.openxmlformats.org/drawingml/2006/main">
            <a:r>
              <a:t>배우고 싶은 것 ______</a:t>
            </a:r>
          </a:p>
          <a:p xmlns:a="http://schemas.openxmlformats.org/drawingml/2006/main">
            <a:r>
              <a:t>이것만큼은 지키겠다 ______</a:t>
            </a:r>
          </a:p>
          <a:p xmlns:a="http://schemas.openxmlformats.org/drawingml/2006/main">
            <a:r>
              <a:t>날짜별 테마 ______ / 주요·예비 사이트 ______</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리더를 위한 기록</a:t>
            </a:r>
          </a:p>
          <a:p xmlns:a="http://schemas.openxmlformats.org/drawingml/2006/main">
            <a:r>
              <a:t/>
            </a:r>
          </a:p>
          <a:p xmlns:a="http://schemas.openxmlformats.org/drawingml/2006/main">
            <a:r>
              <a:t>트립에서 얻은 정보를 다음 팀이 바로 쓸 수 있게 남깁니다.</a:t>
            </a:r>
          </a:p>
          <a:p xmlns:a="http://schemas.openxmlformats.org/drawingml/2006/main">
            <a:r>
              <a:t/>
            </a:r>
          </a:p>
          <a:p xmlns:a="http://schemas.openxmlformats.org/drawingml/2006/main">
            <a:r>
              <a:t>사이트 정보</a:t>
            </a:r>
          </a:p>
          <a:p xmlns:a="http://schemas.openxmlformats.org/drawingml/2006/main">
            <a:r>
              <a:t/>
            </a:r>
          </a:p>
          <a:p xmlns:a="http://schemas.openxmlformats.org/drawingml/2006/main">
            <a:r>
              <a:t>카카오맵 기준 이름, 정확한 셋업 위치, 사용 조건, 최근 운영 피드백을 함께 정리합니다.</a:t>
            </a:r>
          </a:p>
          <a:p xmlns:a="http://schemas.openxmlformats.org/drawingml/2006/main">
            <a:r>
              <a:t/>
            </a:r>
          </a:p>
          <a:p xmlns:a="http://schemas.openxmlformats.org/drawingml/2006/main">
            <a:r>
              <a:t>성과와 배움</a:t>
            </a:r>
          </a:p>
          <a:p xmlns:a="http://schemas.openxmlformats.org/drawingml/2006/main">
            <a:r>
              <a:t/>
            </a:r>
          </a:p>
          <a:p xmlns:a="http://schemas.openxmlformats.org/drawingml/2006/main">
            <a:r>
              <a:t>활동일과 실적을 확인하고 효과가 있었던 접근과 다음에 바꿀 행동을 남깁니다.</a:t>
            </a:r>
          </a:p>
          <a:p xmlns:a="http://schemas.openxmlformats.org/drawingml/2006/main">
            <a:r>
              <a:t/>
            </a:r>
          </a:p>
          <a:p xmlns:a="http://schemas.openxmlformats.org/drawingml/2006/main">
            <a:r>
              <a:t>추억과 공유</a:t>
            </a:r>
          </a:p>
          <a:p xmlns:a="http://schemas.openxmlformats.org/drawingml/2006/main">
            <a:r>
              <a:t/>
            </a:r>
          </a:p>
          <a:p xmlns:a="http://schemas.openxmlformats.org/drawingml/2006/main">
            <a:r>
              <a:t>사진·한 줄 후기를 앨범에 모으고 동료·CTM에게 유용한 운영 자료를 정리합니다.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c862f478d74d9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3fe24dc91f34776" /><Relationship Type="http://schemas.openxmlformats.org/officeDocument/2006/relationships/slideLayout" Target="/ppt/slideLayouts/slideLayout1.xml" Id="Rc86bd32d72e54e6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86bd32d72e54e6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9223616ef347f6" /><Relationship Type="http://schemas.openxmlformats.org/officeDocument/2006/relationships/image" Target="/ppt/media/image.jpeg" Id="R19fd197daa124e9b" /><Relationship Type="http://schemas.openxmlformats.org/officeDocument/2006/relationships/notesSlide" Target="/ppt/notesSlides/notesSlide1.xml" Id="R70dae1df3dd346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c89a38ace9b49a0" /><Relationship Type="http://schemas.openxmlformats.org/officeDocument/2006/relationships/notesSlide" Target="/ppt/notesSlides/notesSlide2.xml" Id="R2a893caca2164b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9a62c92c9b142e2" /><Relationship Type="http://schemas.openxmlformats.org/officeDocument/2006/relationships/notesSlide" Target="/ppt/notesSlides/notesSlide3.xml" Id="R2768d14ae6da46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d00bcc9f6c34884" /><Relationship Type="http://schemas.openxmlformats.org/officeDocument/2006/relationships/notesSlide" Target="/ppt/notesSlides/notesSlide4.xml" Id="R16a21baaa9474a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850d10562c8449f" /><Relationship Type="http://schemas.openxmlformats.org/officeDocument/2006/relationships/notesSlide" Target="/ppt/notesSlides/notesSlide5.xml" Id="Reda8adc35e0e4c3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247c7839058420d" /><Relationship Type="http://schemas.openxmlformats.org/officeDocument/2006/relationships/notesSlide" Target="/ppt/notesSlides/notesSlide6.xml" Id="R22acd5bf3a3f49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eee6dc864af4531" /><Relationship Type="http://schemas.openxmlformats.org/officeDocument/2006/relationships/image" Target="/ppt/media/image2.jpeg" Id="R0939989b48304243" /><Relationship Type="http://schemas.openxmlformats.org/officeDocument/2006/relationships/image" Target="/ppt/media/image3.jpeg" Id="Rd7a9b590e6b74b77" /><Relationship Type="http://schemas.openxmlformats.org/officeDocument/2006/relationships/notesSlide" Target="/ppt/notesSlides/notesSlide7.xml" Id="R1f1fffc2df464f4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fc4eb9f79c4bd3" /><Relationship Type="http://schemas.openxmlformats.org/officeDocument/2006/relationships/notesSlide" Target="/ppt/notesSlides/notesSlide8.xml" Id="Ra18bb9ad2966405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39810ebcfd64299" /><Relationship Type="http://schemas.openxmlformats.org/officeDocument/2006/relationships/notesSlide" Target="/ppt/notesSlides/notesSlide9.xml" Id="R7e5b6afc885f408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8adcb53f51547d6" /><Relationship Type="http://schemas.openxmlformats.org/officeDocument/2006/relationships/chart" Target="/ppt/slides/charts/chart1.xml" Id="Rf9910856cbe0419b" /><Relationship Type="http://schemas.openxmlformats.org/officeDocument/2006/relationships/notesSlide" Target="/ppt/notesSlides/notesSlide10.xml" Id="R04861ede99fe43b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fff649966ae4b13" /><Relationship Type="http://schemas.openxmlformats.org/officeDocument/2006/relationships/notesSlide" Target="/ppt/notesSlides/notesSlide11.xml" Id="R5fe2894dca7b40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e6998be19ec4b10" /><Relationship Type="http://schemas.openxmlformats.org/officeDocument/2006/relationships/image" Target="/ppt/media/image4.jpeg" Id="R2da6cc2ac0854ff3" /><Relationship Type="http://schemas.openxmlformats.org/officeDocument/2006/relationships/image" Target="/ppt/media/image5.jpeg" Id="Redb9e8b5113649de" /><Relationship Type="http://schemas.openxmlformats.org/officeDocument/2006/relationships/notesSlide" Target="/ppt/notesSlides/notesSlide12.xml" Id="Rd177f851a65946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ff300209d804367" /><Relationship Type="http://schemas.openxmlformats.org/officeDocument/2006/relationships/notesSlide" Target="/ppt/notesSlides/notesSlide13.xml" Id="R80538aa0d524428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52703319c7f49d1" /><Relationship Type="http://schemas.openxmlformats.org/officeDocument/2006/relationships/image" Target="/ppt/media/image6.jpeg" Id="Re9318d7a3b214e94" /><Relationship Type="http://schemas.openxmlformats.org/officeDocument/2006/relationships/notesSlide" Target="/ppt/notesSlides/notesSlide14.xml" Id="R1177286c57604ef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9e5fd59bb4e4ea8" /><Relationship Type="http://schemas.openxmlformats.org/officeDocument/2006/relationships/notesSlide" Target="/ppt/notesSlides/notesSlide15.xml" Id="Red6af949a8cd48b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c2e73ce17b74bd0" /><Relationship Type="http://schemas.openxmlformats.org/officeDocument/2006/relationships/notesSlide" Target="/ppt/notesSlides/notesSlide16.xml" Id="R21ea9b3bd2f040f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d5827fb4b9b4275" /><Relationship Type="http://schemas.openxmlformats.org/officeDocument/2006/relationships/image" Target="/ppt/media/image7.jpeg" Id="R62234b7de3f94665" /><Relationship Type="http://schemas.openxmlformats.org/officeDocument/2006/relationships/notesSlide" Target="/ppt/notesSlides/notesSlide17.xml" Id="Rfbc108d65051427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00f5a8dca94499a" /><Relationship Type="http://schemas.openxmlformats.org/officeDocument/2006/relationships/notesSlide" Target="/ppt/notesSlides/notesSlide18.xml" Id="R5f923e0ee498458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da78f7923ca424d" /><Relationship Type="http://schemas.openxmlformats.org/officeDocument/2006/relationships/notesSlide" Target="/ppt/notesSlides/notesSlide19.xml" Id="R41f903399c86432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cae2f72b9a243f8" /><Relationship Type="http://schemas.openxmlformats.org/officeDocument/2006/relationships/notesSlide" Target="/ppt/notesSlides/notesSlide20.xml" Id="R7008c77b0b4e4bb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45b07f2c6fd45d6" /><Relationship Type="http://schemas.openxmlformats.org/officeDocument/2006/relationships/notesSlide" Target="/ppt/notesSlides/notesSlide21.xml" Id="Rd783349c6b2e4e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f2ca9787c8b4bd2" /><Relationship Type="http://schemas.openxmlformats.org/officeDocument/2006/relationships/notesSlide" Target="/ppt/notesSlides/notesSlide22.xml" Id="Rda81e4a9d8c64ec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457a84002584016" /><Relationship Type="http://schemas.openxmlformats.org/officeDocument/2006/relationships/notesSlide" Target="/ppt/notesSlides/notesSlide23.xml" Id="R8897b4d201ef46f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975d6f6ad064b30" /><Relationship Type="http://schemas.openxmlformats.org/officeDocument/2006/relationships/image" Target="/ppt/media/image8.jpeg" Id="R8660a445a81e45b0" /><Relationship Type="http://schemas.openxmlformats.org/officeDocument/2006/relationships/image" Target="/ppt/media/image9.jpeg" Id="R969ec3b143f74b80" /><Relationship Type="http://schemas.openxmlformats.org/officeDocument/2006/relationships/image" Target="/ppt/media/image10.jpeg" Id="Raf2d8e96bc114a5d" /><Relationship Type="http://schemas.openxmlformats.org/officeDocument/2006/relationships/hyperlink" Target="https://hub.presence.co.kr/education/sector-leader/trip-guide/scenes/" TargetMode="External" Id="R2fc852b5ba0c445e" /><Relationship Type="http://schemas.openxmlformats.org/officeDocument/2006/relationships/notesSlide" Target="/ppt/notesSlides/notesSlide24.xml" Id="R0addc35cd94542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c659fa64e4f41e4" /><Relationship Type="http://schemas.openxmlformats.org/officeDocument/2006/relationships/notesSlide" Target="/ppt/notesSlides/notesSlide25.xml" Id="R95f1439a006a434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0c8501b56424208" /><Relationship Type="http://schemas.openxmlformats.org/officeDocument/2006/relationships/notesSlide" Target="/ppt/notesSlides/notesSlide26.xml" Id="Rf4f8c32ff2a34cf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11e71bc2e414148" /><Relationship Type="http://schemas.openxmlformats.org/officeDocument/2006/relationships/notesSlide" Target="/ppt/notesSlides/notesSlide27.xml" Id="Reaadc3060b024632"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목표 건수</c:v>
          </c:tx>
          <c:spPr>
            <a:solidFill xmlns:a="http://schemas.openxmlformats.org/drawingml/2006/main">
              <a:srgbClr val="6B865C"/>
            </a:solidFill>
          </c:spPr>
          <c:dPt>
            <c:idx val="0"/>
            <c:invertIfNegative val="0"/>
            <c:spPr>
              <a:solidFill xmlns:a="http://schemas.openxmlformats.org/drawingml/2006/main">
                <a:srgbClr val="385A3B"/>
              </a:solidFill>
            </c:spPr>
          </c:dPt>
          <c:dPt>
            <c:idx val="1"/>
            <c:invertIfNegative val="0"/>
            <c:spPr>
              <a:solidFill xmlns:a="http://schemas.openxmlformats.org/drawingml/2006/main">
                <a:srgbClr val="799766"/>
              </a:solidFill>
            </c:spPr>
          </c:dPt>
          <c:dPt>
            <c:idx val="2"/>
            <c:invertIfNegative val="0"/>
            <c:spPr>
              <a:solidFill xmlns:a="http://schemas.openxmlformats.org/drawingml/2006/main">
                <a:srgbClr val="B5CB92"/>
              </a:solidFill>
            </c:spPr>
          </c:dPt>
          <c:cat>
            <c:strRef>
              <c:f>'Chart Data'!$A$2:$A$4</c:f>
              <c:strCache>
                <c:ptCount val="3"/>
                <c:pt idx="0">
                  <c:v>A · Best</c:v>
                </c:pt>
                <c:pt idx="1">
                  <c:v>B · Good</c:v>
                </c:pt>
                <c:pt idx="2">
                  <c:v>C · Minimum</c:v>
                </c:pt>
              </c:strCache>
            </c:strRef>
          </c:cat>
          <c:val>
            <c:numRef>
              <c:f>'Chart Data'!$B$2:$B$4</c:f>
              <c:numCache>
                <c:formatCode>0"건"</c:formatCode>
                <c:ptCount val="3"/>
                <c:pt idx="0">
                  <c:v>32</c:v>
                </c:pt>
                <c:pt idx="1">
                  <c:v>24</c:v>
                </c:pt>
                <c:pt idx="2">
                  <c:v>16</c:v>
                </c:pt>
              </c:numCache>
            </c:numRef>
          </c:val>
        </c:ser>
        <c:dLbls>
          <c:txPr>
            <a:bodyPr xmlns:a="http://schemas.openxmlformats.org/drawingml/2006/main" anchorCtr="1"/>
            <a:lstStyle xmlns:a="http://schemas.openxmlformats.org/drawingml/2006/main"/>
            <a:p xmlns:a="http://schemas.openxmlformats.org/drawingml/2006/main">
              <a:pPr>
                <a:defRPr sz="2175" b="1">
                  <a:solidFill>
                    <a:srgbClr val="192A20"/>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88"/>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DECE"/>
            </a:solidFill>
          </a:ln>
        </c:spPr>
        <c:txPr>
          <a:bodyPr xmlns:a="http://schemas.openxmlformats.org/drawingml/2006/main" anchorCtr="1"/>
          <a:lstStyle xmlns:a="http://schemas.openxmlformats.org/drawingml/2006/main"/>
          <a:p xmlns:a="http://schemas.openxmlformats.org/drawingml/2006/main">
            <a:pPr>
              <a:defRPr sz="1725">
                <a:solidFill>
                  <a:srgbClr val="192A20"/>
                </a:solidFill>
                <a:latin typeface="Apple SD Gothic Neo"/>
                <a:ea typeface="Apple SD Gothic Neo"/>
                <a:cs typeface="Apple SD Gothic Neo"/>
              </a:defRPr>
            </a:pPr>
          </a:p>
        </c:txPr>
        <c:crossAx val="48672768"/>
      </c:catAx>
      <c:valAx>
        <c:axId val="48672768"/>
        <c:scaling>
          <c:orientation val="minMax"/>
          <c:max val="4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pple SD Gothic Neo"/>
                <a:ea typeface="Apple SD Gothic Neo"/>
                <a:cs typeface="Apple SD Gothic Neo"/>
              </a:defRPr>
            </a:pPr>
          </a:p>
        </c:txPr>
        <c:crossAx val="48650112"/>
        <c:crossBetween val="between"/>
        <c:majorUnit val="8"/>
      </c:valAx>
      <c:spPr>
        <a:solidFill xmlns:a="http://schemas.openxmlformats.org/drawingml/2006/main">
          <a:srgbClr val="F5F3EA"/>
        </a:solidFill>
      </c:spPr>
    </c:plotArea>
    <c:plotVisOnly val="1"/>
  </c:chart>
  <c:spPr>
    <a:solidFill xmlns:a="http://schemas.openxmlformats.org/drawingml/2006/main">
      <a:srgbClr val="F5F3EA"/>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657C4E-8425-4A74-9E4C-6A7AD9349C5C}"/>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트립 운영 가이드</a:t>
            </a:r>
          </a:p>
        </p:txBody>
      </p:sp>
      <p:sp>
        <p:nvSpPr>
          <p:cNvPr id="2" name="">
            <a:extLst xmlns:a="http://schemas.openxmlformats.org/drawingml/2006/main">
              <a:ext uri="{FF2B5EF4-FFF2-40B4-BE49-F238E27FC236}">
                <a16:creationId xmlns:a16="http://schemas.microsoft.com/office/drawing/2014/main" id="{C61995AA-D81B-465A-943C-F3F4FE9ECF9A}"/>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지역 선정부터 개인 계획, 테마 운영과 회고까지</a:t>
            </a:r>
          </a:p>
        </p:txBody>
      </p:sp>
      <p:sp>
        <p:nvSpPr>
          <p:cNvPr id="3" name="">
            <a:extLst xmlns:a="http://schemas.openxmlformats.org/drawingml/2006/main">
              <a:ext uri="{FF2B5EF4-FFF2-40B4-BE49-F238E27FC236}">
                <a16:creationId xmlns:a16="http://schemas.microsoft.com/office/drawing/2014/main" id="{656064FF-8022-4B37-AFCA-6F8E033D1FF8}"/>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3A95FE48-DE35-4DE6-8704-90F19CD96F9C}"/>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01</a:t>
            </a:r>
          </a:p>
        </p:txBody>
      </p:sp>
      <p:sp>
        <p:nvSpPr>
          <p:cNvPr id="5" name="">
            <a:extLst xmlns:a="http://schemas.openxmlformats.org/drawingml/2006/main">
              <a:ext uri="{FF2B5EF4-FFF2-40B4-BE49-F238E27FC236}">
                <a16:creationId xmlns:a16="http://schemas.microsoft.com/office/drawing/2014/main" id="{D5A29275-E2DC-45D0-8FE5-94E62E3BAAC6}"/>
              </a:ext>
            </a:extLst>
          </p:cNvPr>
          <p:cNvSpPr>
            <a:spLocks xmlns:a="http://schemas.openxmlformats.org/drawingml/2006/main" noGrp="1"/>
          </p:cNvSpPr>
          <p:nvPr/>
        </p:nvSpPr>
        <p:spPr>
          <a:xfrm xmlns:a="http://schemas.openxmlformats.org/drawingml/2006/main">
            <a:off x="609600" y="2428875"/>
            <a:ext cx="466725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850" b="1">
                <a:solidFill>
                  <a:srgbClr val="DBED9C"/>
                </a:solidFill>
                <a:latin typeface="Apple SD Gothic Neo"/>
                <a:ea typeface="Apple SD Gothic Neo"/>
                <a:cs typeface="Apple SD Gothic Neo"/>
              </a:defRPr>
            </a:pPr>
            <a:r>
              <a:rPr sz="5850" b="1">
                <a:solidFill>
                  <a:srgbClr val="DBED9C"/>
                </a:solidFill>
                <a:latin typeface="Apple SD Gothic Neo"/>
                <a:ea typeface="Apple SD Gothic Neo"/>
                <a:cs typeface="Apple SD Gothic Neo"/>
              </a:rPr>
              <a:t>TRIP</a:t>
            </a:r>
          </a:p>
          <a:p xmlns:a="http://schemas.openxmlformats.org/drawingml/2006/main">
            <a:pPr algn="l">
              <a:defRPr sz="5850" b="1">
                <a:solidFill>
                  <a:srgbClr val="DBED9C"/>
                </a:solidFill>
                <a:latin typeface="Apple SD Gothic Neo"/>
                <a:ea typeface="Apple SD Gothic Neo"/>
                <a:cs typeface="Apple SD Gothic Neo"/>
              </a:defRPr>
            </a:pPr>
            <a:r>
              <a:rPr sz="5850" b="1">
                <a:solidFill>
                  <a:srgbClr val="DBED9C"/>
                </a:solidFill>
                <a:latin typeface="Apple SD Gothic Neo"/>
                <a:ea typeface="Apple SD Gothic Neo"/>
                <a:cs typeface="Apple SD Gothic Neo"/>
              </a:rPr>
              <a:t>PLAYBOOK</a:t>
            </a:r>
          </a:p>
        </p:txBody>
      </p:sp>
      <p:sp>
        <p:nvSpPr>
          <p:cNvPr id="6" name="">
            <a:extLst xmlns:a="http://schemas.openxmlformats.org/drawingml/2006/main">
              <a:ext uri="{FF2B5EF4-FFF2-40B4-BE49-F238E27FC236}">
                <a16:creationId xmlns:a16="http://schemas.microsoft.com/office/drawing/2014/main" id="{08DC723E-7CF4-4DFF-AF1D-0F621F981182}"/>
              </a:ext>
            </a:extLst>
          </p:cNvPr>
          <p:cNvSpPr>
            <a:spLocks xmlns:a="http://schemas.openxmlformats.org/drawingml/2006/main" noGrp="1"/>
          </p:cNvSpPr>
          <p:nvPr/>
        </p:nvSpPr>
        <p:spPr>
          <a:xfrm xmlns:a="http://schemas.openxmlformats.org/drawingml/2006/main">
            <a:off x="628650" y="4933950"/>
            <a:ext cx="476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F8F9F2"/>
                </a:solidFill>
                <a:latin typeface="Apple SD Gothic Neo"/>
                <a:ea typeface="Apple SD Gothic Neo"/>
                <a:cs typeface="Apple SD Gothic Neo"/>
              </a:defRPr>
            </a:pPr>
            <a:r>
              <a:rPr sz="2550" b="0">
                <a:solidFill>
                  <a:srgbClr val="F8F9F2"/>
                </a:solidFill>
                <a:latin typeface="Apple SD Gothic Neo"/>
                <a:ea typeface="Apple SD Gothic Neo"/>
                <a:cs typeface="Apple SD Gothic Neo"/>
              </a:rPr>
              <a:t>성과를 만들고</a:t>
            </a:r>
          </a:p>
          <a:p xmlns:a="http://schemas.openxmlformats.org/drawingml/2006/main">
            <a:pPr algn="l">
              <a:defRPr sz="2550" b="0">
                <a:solidFill>
                  <a:srgbClr val="F8F9F2"/>
                </a:solidFill>
                <a:latin typeface="Apple SD Gothic Neo"/>
                <a:ea typeface="Apple SD Gothic Neo"/>
                <a:cs typeface="Apple SD Gothic Neo"/>
              </a:defRPr>
            </a:pPr>
            <a:r>
              <a:rPr sz="2550" b="0">
                <a:solidFill>
                  <a:srgbClr val="F8F9F2"/>
                </a:solidFill>
                <a:latin typeface="Apple SD Gothic Neo"/>
                <a:ea typeface="Apple SD Gothic Neo"/>
                <a:cs typeface="Apple SD Gothic Neo"/>
              </a:rPr>
              <a:t>함께 배우는 트립</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9fd197daa124e9b"/>
          <a:stretch xmlns:a="http://schemas.openxmlformats.org/drawingml/2006/main"/>
        </p:blipFill>
        <p:spPr>
          <a:xfrm xmlns:a="http://schemas.openxmlformats.org/drawingml/2006/main">
            <a:off x="6188075" y="2247900"/>
            <a:ext cx="4902200" cy="3676650"/>
          </a:xfrm>
          <a:prstGeom xmlns:a="http://schemas.openxmlformats.org/drawingml/2006/main" prst="rect">
            <a:avLst/>
          </a:prstGeom>
        </p:spPr>
      </p:pic>
    </p:spTree>
    <p:extLst>
      <p:ext uri="{BB962C8B-B14F-4D97-AF65-F5344CB8AC3E}">
        <p14:creationId xmlns:p14="http://schemas.microsoft.com/office/powerpoint/2010/main" val="607219976"/>
      </p:ext>
    </p:extLst>
  </p:cSld>
</p:sld>
</file>

<file path=ppt/slides/slide2.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25AE173-B16A-417F-BC91-AC23BB24EF86}"/>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트립의 목적</a:t>
            </a:r>
          </a:p>
        </p:txBody>
      </p:sp>
      <p:sp>
        <p:nvSpPr>
          <p:cNvPr id="2" name="">
            <a:extLst xmlns:a="http://schemas.openxmlformats.org/drawingml/2006/main">
              <a:ext uri="{FF2B5EF4-FFF2-40B4-BE49-F238E27FC236}">
                <a16:creationId xmlns:a16="http://schemas.microsoft.com/office/drawing/2014/main" id="{992BB54E-722C-44FD-89E7-1DC66F528453}"/>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인컴 극대화와 몰입 · 배움의 기회 · 새로운 환경에서의 리프레시</a:t>
            </a:r>
          </a:p>
        </p:txBody>
      </p:sp>
      <p:sp>
        <p:nvSpPr>
          <p:cNvPr id="3" name="">
            <a:extLst xmlns:a="http://schemas.openxmlformats.org/drawingml/2006/main">
              <a:ext uri="{FF2B5EF4-FFF2-40B4-BE49-F238E27FC236}">
                <a16:creationId xmlns:a16="http://schemas.microsoft.com/office/drawing/2014/main" id="{17B06271-B3C1-4FA5-97F8-830DD503C5C7}"/>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742D9376-940C-448F-9864-B77F264C842B}"/>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02</a:t>
            </a:r>
          </a:p>
        </p:txBody>
      </p:sp>
      <p:sp>
        <p:nvSpPr>
          <p:cNvPr id="5" name="">
            <a:extLst xmlns:a="http://schemas.openxmlformats.org/drawingml/2006/main">
              <a:ext uri="{FF2B5EF4-FFF2-40B4-BE49-F238E27FC236}">
                <a16:creationId xmlns:a16="http://schemas.microsoft.com/office/drawing/2014/main" id="{F4186D32-9543-46AE-BBB9-DF117478341A}"/>
              </a:ext>
            </a:extLst>
          </p:cNvPr>
          <p:cNvSpPr>
            <a:spLocks xmlns:a="http://schemas.openxmlformats.org/drawingml/2006/main" noGrp="1"/>
          </p:cNvSpPr>
          <p:nvPr/>
        </p:nvSpPr>
        <p:spPr>
          <a:xfrm xmlns:a="http://schemas.openxmlformats.org/drawingml/2006/main">
            <a:off x="609600" y="2171700"/>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0">
                <a:solidFill>
                  <a:srgbClr val="6B865C"/>
                </a:solidFill>
                <a:latin typeface="Apple SD Gothic Neo"/>
                <a:ea typeface="Apple SD Gothic Neo"/>
                <a:cs typeface="Apple SD Gothic Neo"/>
              </a:defRPr>
            </a:pPr>
            <a:r>
              <a:rPr sz="5400" b="0">
                <a:solidFill>
                  <a:srgbClr val="6B865C"/>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DF1EDFF8-FC86-4EBC-8B48-26144A21EF44}"/>
              </a:ext>
            </a:extLst>
          </p:cNvPr>
          <p:cNvSpPr>
            <a:spLocks xmlns:a="http://schemas.openxmlformats.org/drawingml/2006/main" noGrp="1"/>
          </p:cNvSpPr>
          <p:nvPr/>
        </p:nvSpPr>
        <p:spPr>
          <a:xfrm xmlns:a="http://schemas.openxmlformats.org/drawingml/2006/main">
            <a:off x="609600" y="3238500"/>
            <a:ext cx="328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92A20"/>
                </a:solidFill>
                <a:latin typeface="Apple SD Gothic Neo"/>
                <a:ea typeface="Apple SD Gothic Neo"/>
                <a:cs typeface="Apple SD Gothic Neo"/>
              </a:defRPr>
            </a:pPr>
            <a:r>
              <a:rPr sz="2400" b="1">
                <a:solidFill>
                  <a:srgbClr val="192A20"/>
                </a:solidFill>
                <a:latin typeface="Apple SD Gothic Neo"/>
                <a:ea typeface="Apple SD Gothic Neo"/>
                <a:cs typeface="Apple SD Gothic Neo"/>
              </a:rPr>
              <a:t>인컴 극대화와 몰입</a:t>
            </a:r>
          </a:p>
        </p:txBody>
      </p:sp>
      <p:sp>
        <p:nvSpPr>
          <p:cNvPr id="7" name="">
            <a:extLst xmlns:a="http://schemas.openxmlformats.org/drawingml/2006/main">
              <a:ext uri="{FF2B5EF4-FFF2-40B4-BE49-F238E27FC236}">
                <a16:creationId xmlns:a16="http://schemas.microsoft.com/office/drawing/2014/main" id="{8A59FC2D-EF15-4079-B99B-42654B27D019}"/>
              </a:ext>
            </a:extLst>
          </p:cNvPr>
          <p:cNvSpPr>
            <a:spLocks xmlns:a="http://schemas.openxmlformats.org/drawingml/2006/main" noGrp="1"/>
          </p:cNvSpPr>
          <p:nvPr/>
        </p:nvSpPr>
        <p:spPr>
          <a:xfrm xmlns:a="http://schemas.openxmlformats.org/drawingml/2006/main">
            <a:off x="609600" y="4267200"/>
            <a:ext cx="32861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필드 시간을 확보하고 일에 몰입합니다. 집중할 수 있는 환경에서 성과와 인컴을 높입니다.</a:t>
            </a:r>
          </a:p>
        </p:txBody>
      </p:sp>
      <p:sp>
        <p:nvSpPr>
          <p:cNvPr id="8" name="">
            <a:extLst xmlns:a="http://schemas.openxmlformats.org/drawingml/2006/main">
              <a:ext uri="{FF2B5EF4-FFF2-40B4-BE49-F238E27FC236}">
                <a16:creationId xmlns:a16="http://schemas.microsoft.com/office/drawing/2014/main" id="{28110438-632B-4D98-8803-52AC0FC2720B}"/>
              </a:ext>
            </a:extLst>
          </p:cNvPr>
          <p:cNvSpPr>
            <a:spLocks xmlns:a="http://schemas.openxmlformats.org/drawingml/2006/main" noGrp="1"/>
          </p:cNvSpPr>
          <p:nvPr/>
        </p:nvSpPr>
        <p:spPr>
          <a:xfrm xmlns:a="http://schemas.openxmlformats.org/drawingml/2006/main">
            <a:off x="4381500" y="2171700"/>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0">
                <a:solidFill>
                  <a:srgbClr val="6B865C"/>
                </a:solidFill>
                <a:latin typeface="Apple SD Gothic Neo"/>
                <a:ea typeface="Apple SD Gothic Neo"/>
                <a:cs typeface="Apple SD Gothic Neo"/>
              </a:defRPr>
            </a:pPr>
            <a:r>
              <a:rPr sz="5400" b="0">
                <a:solidFill>
                  <a:srgbClr val="6B865C"/>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685CCB91-71CB-4019-BB78-99156EFC2291}"/>
              </a:ext>
            </a:extLst>
          </p:cNvPr>
          <p:cNvSpPr>
            <a:spLocks xmlns:a="http://schemas.openxmlformats.org/drawingml/2006/main" noGrp="1"/>
          </p:cNvSpPr>
          <p:nvPr/>
        </p:nvSpPr>
        <p:spPr>
          <a:xfrm xmlns:a="http://schemas.openxmlformats.org/drawingml/2006/main">
            <a:off x="4381500" y="3238500"/>
            <a:ext cx="328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92A20"/>
                </a:solidFill>
                <a:latin typeface="Apple SD Gothic Neo"/>
                <a:ea typeface="Apple SD Gothic Neo"/>
                <a:cs typeface="Apple SD Gothic Neo"/>
              </a:defRPr>
            </a:pPr>
            <a:r>
              <a:rPr sz="2400" b="1">
                <a:solidFill>
                  <a:srgbClr val="192A20"/>
                </a:solidFill>
                <a:latin typeface="Apple SD Gothic Neo"/>
                <a:ea typeface="Apple SD Gothic Neo"/>
                <a:cs typeface="Apple SD Gothic Neo"/>
              </a:rPr>
              <a:t>잘하는 사람의 A to Z</a:t>
            </a:r>
          </a:p>
        </p:txBody>
      </p:sp>
      <p:sp>
        <p:nvSpPr>
          <p:cNvPr id="10" name="">
            <a:extLst xmlns:a="http://schemas.openxmlformats.org/drawingml/2006/main">
              <a:ext uri="{FF2B5EF4-FFF2-40B4-BE49-F238E27FC236}">
                <a16:creationId xmlns:a16="http://schemas.microsoft.com/office/drawing/2014/main" id="{22F67C2A-E1F5-4405-AC4D-AF4451D8B5BC}"/>
              </a:ext>
            </a:extLst>
          </p:cNvPr>
          <p:cNvSpPr>
            <a:spLocks xmlns:a="http://schemas.openxmlformats.org/drawingml/2006/main" noGrp="1"/>
          </p:cNvSpPr>
          <p:nvPr/>
        </p:nvSpPr>
        <p:spPr>
          <a:xfrm xmlns:a="http://schemas.openxmlformats.org/drawingml/2006/main">
            <a:off x="4381500" y="4267200"/>
            <a:ext cx="32861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루틴, 네트워킹, 토픽 교류와 트립 오피스 운영을 배웁니다. 문제 해결과 현장 판단, B2B 방법도 관찰합니다.</a:t>
            </a:r>
          </a:p>
        </p:txBody>
      </p:sp>
      <p:sp>
        <p:nvSpPr>
          <p:cNvPr id="11" name="">
            <a:extLst xmlns:a="http://schemas.openxmlformats.org/drawingml/2006/main">
              <a:ext uri="{FF2B5EF4-FFF2-40B4-BE49-F238E27FC236}">
                <a16:creationId xmlns:a16="http://schemas.microsoft.com/office/drawing/2014/main" id="{252080F4-60B5-49B2-8C9B-0DEAE20CEB42}"/>
              </a:ext>
            </a:extLst>
          </p:cNvPr>
          <p:cNvSpPr>
            <a:spLocks xmlns:a="http://schemas.openxmlformats.org/drawingml/2006/main" noGrp="1"/>
          </p:cNvSpPr>
          <p:nvPr/>
        </p:nvSpPr>
        <p:spPr>
          <a:xfrm xmlns:a="http://schemas.openxmlformats.org/drawingml/2006/main">
            <a:off x="8153400" y="2171700"/>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0">
                <a:solidFill>
                  <a:srgbClr val="6B865C"/>
                </a:solidFill>
                <a:latin typeface="Apple SD Gothic Neo"/>
                <a:ea typeface="Apple SD Gothic Neo"/>
                <a:cs typeface="Apple SD Gothic Neo"/>
              </a:defRPr>
            </a:pPr>
            <a:r>
              <a:rPr sz="5400" b="0">
                <a:solidFill>
                  <a:srgbClr val="6B865C"/>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37025AC5-D9CE-4E3B-BFB6-B136AC74807C}"/>
              </a:ext>
            </a:extLst>
          </p:cNvPr>
          <p:cNvSpPr>
            <a:spLocks xmlns:a="http://schemas.openxmlformats.org/drawingml/2006/main" noGrp="1"/>
          </p:cNvSpPr>
          <p:nvPr/>
        </p:nvSpPr>
        <p:spPr>
          <a:xfrm xmlns:a="http://schemas.openxmlformats.org/drawingml/2006/main">
            <a:off x="8153400" y="3238500"/>
            <a:ext cx="3286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92A20"/>
                </a:solidFill>
                <a:latin typeface="Apple SD Gothic Neo"/>
                <a:ea typeface="Apple SD Gothic Neo"/>
                <a:cs typeface="Apple SD Gothic Neo"/>
              </a:defRPr>
            </a:pPr>
            <a:r>
              <a:rPr sz="2400" b="1">
                <a:solidFill>
                  <a:srgbClr val="192A20"/>
                </a:solidFill>
                <a:latin typeface="Apple SD Gothic Neo"/>
                <a:ea typeface="Apple SD Gothic Neo"/>
                <a:cs typeface="Apple SD Gothic Neo"/>
              </a:rPr>
              <a:t>새로운 환경의 리프레시</a:t>
            </a:r>
          </a:p>
        </p:txBody>
      </p:sp>
      <p:sp>
        <p:nvSpPr>
          <p:cNvPr id="13" name="">
            <a:extLst xmlns:a="http://schemas.openxmlformats.org/drawingml/2006/main">
              <a:ext uri="{FF2B5EF4-FFF2-40B4-BE49-F238E27FC236}">
                <a16:creationId xmlns:a16="http://schemas.microsoft.com/office/drawing/2014/main" id="{926DA8AD-3366-46D7-9381-7063A33DF7B3}"/>
              </a:ext>
            </a:extLst>
          </p:cNvPr>
          <p:cNvSpPr>
            <a:spLocks xmlns:a="http://schemas.openxmlformats.org/drawingml/2006/main" noGrp="1"/>
          </p:cNvSpPr>
          <p:nvPr/>
        </p:nvSpPr>
        <p:spPr>
          <a:xfrm xmlns:a="http://schemas.openxmlformats.org/drawingml/2006/main">
            <a:off x="8153400" y="4267200"/>
            <a:ext cx="3286125"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이동에서 여행 같은 전환을 느끼고, 함께 숙박하며 시간을 보냅니다. 새로운 환경과 사이트에서 자극을 얻습니다.</a:t>
            </a:r>
          </a:p>
        </p:txBody>
      </p:sp>
    </p:spTree>
    <p:extLst>
      <p:ext uri="{BB962C8B-B14F-4D97-AF65-F5344CB8AC3E}">
        <p14:creationId xmlns:p14="http://schemas.microsoft.com/office/powerpoint/2010/main" val="779844355"/>
      </p:ext>
    </p:extLst>
  </p:cSld>
</p:sld>
</file>

<file path=ppt/slides/slide3.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ECF093F-5ABB-490C-AF9A-A48115255FF1}"/>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트립 준비의 순서</a:t>
            </a:r>
          </a:p>
        </p:txBody>
      </p:sp>
      <p:sp>
        <p:nvSpPr>
          <p:cNvPr id="2" name="">
            <a:extLst xmlns:a="http://schemas.openxmlformats.org/drawingml/2006/main">
              <a:ext uri="{FF2B5EF4-FFF2-40B4-BE49-F238E27FC236}">
                <a16:creationId xmlns:a16="http://schemas.microsoft.com/office/drawing/2014/main" id="{37604EB7-916A-4694-9029-D7856816ADDA}"/>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확인한 정보를 바탕으로 준비의 다음 단계를 결정합니다.</a:t>
            </a:r>
          </a:p>
        </p:txBody>
      </p:sp>
      <p:sp>
        <p:nvSpPr>
          <p:cNvPr id="3" name="">
            <a:extLst xmlns:a="http://schemas.openxmlformats.org/drawingml/2006/main">
              <a:ext uri="{FF2B5EF4-FFF2-40B4-BE49-F238E27FC236}">
                <a16:creationId xmlns:a16="http://schemas.microsoft.com/office/drawing/2014/main" id="{7CD3244C-0C07-4961-8841-75520DC911E7}"/>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B32E886D-2D5D-48BC-8AFA-28FF01B6A9C5}"/>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03</a:t>
            </a:r>
          </a:p>
        </p:txBody>
      </p:sp>
      <p:sp>
        <p:nvSpPr>
          <p:cNvPr id="5" name="">
            <a:extLst xmlns:a="http://schemas.openxmlformats.org/drawingml/2006/main">
              <a:ext uri="{FF2B5EF4-FFF2-40B4-BE49-F238E27FC236}">
                <a16:creationId xmlns:a16="http://schemas.microsoft.com/office/drawing/2014/main" id="{9AA75D37-A742-4528-A1CC-5D23AEFBF99D}"/>
              </a:ext>
            </a:extLst>
          </p:cNvPr>
          <p:cNvSpPr>
            <a:spLocks xmlns:a="http://schemas.openxmlformats.org/drawingml/2006/main" noGrp="1"/>
          </p:cNvSpPr>
          <p:nvPr/>
        </p:nvSpPr>
        <p:spPr>
          <a:xfrm xmlns:a="http://schemas.openxmlformats.org/drawingml/2006/main">
            <a:off x="609600" y="2019300"/>
            <a:ext cx="2686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01  지역 검토</a:t>
            </a:r>
          </a:p>
        </p:txBody>
      </p:sp>
      <p:sp>
        <p:nvSpPr>
          <p:cNvPr id="6" name="">
            <a:extLst xmlns:a="http://schemas.openxmlformats.org/drawingml/2006/main">
              <a:ext uri="{FF2B5EF4-FFF2-40B4-BE49-F238E27FC236}">
                <a16:creationId xmlns:a16="http://schemas.microsoft.com/office/drawing/2014/main" id="{C446FEB9-D58E-4B5D-B8A0-FFDAD136FB67}"/>
              </a:ext>
            </a:extLst>
          </p:cNvPr>
          <p:cNvSpPr>
            <a:spLocks xmlns:a="http://schemas.openxmlformats.org/drawingml/2006/main" noGrp="1"/>
          </p:cNvSpPr>
          <p:nvPr/>
        </p:nvSpPr>
        <p:spPr>
          <a:xfrm xmlns:a="http://schemas.openxmlformats.org/drawingml/2006/main">
            <a:off x="3562350" y="2019300"/>
            <a:ext cx="8020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팀의 목적과 가능한 날짜를 정합니다.</a:t>
            </a:r>
          </a:p>
        </p:txBody>
      </p:sp>
      <p:sp>
        <p:nvSpPr>
          <p:cNvPr id="7" name="">
            <a:extLst xmlns:a="http://schemas.openxmlformats.org/drawingml/2006/main">
              <a:ext uri="{FF2B5EF4-FFF2-40B4-BE49-F238E27FC236}">
                <a16:creationId xmlns:a16="http://schemas.microsoft.com/office/drawing/2014/main" id="{0D640A69-7762-4E44-9927-D2A3C62C33CE}"/>
              </a:ext>
            </a:extLst>
          </p:cNvPr>
          <p:cNvSpPr>
            <a:spLocks xmlns:a="http://schemas.openxmlformats.org/drawingml/2006/main" noGrp="1"/>
          </p:cNvSpPr>
          <p:nvPr/>
        </p:nvSpPr>
        <p:spPr>
          <a:xfrm xmlns:a="http://schemas.openxmlformats.org/drawingml/2006/main">
            <a:off x="609600" y="2809875"/>
            <a:ext cx="2686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02  자료 요청</a:t>
            </a:r>
          </a:p>
        </p:txBody>
      </p:sp>
      <p:sp>
        <p:nvSpPr>
          <p:cNvPr id="8" name="">
            <a:extLst xmlns:a="http://schemas.openxmlformats.org/drawingml/2006/main">
              <a:ext uri="{FF2B5EF4-FFF2-40B4-BE49-F238E27FC236}">
                <a16:creationId xmlns:a16="http://schemas.microsoft.com/office/drawing/2014/main" id="{079538E3-581C-4163-ABB0-A50141050D70}"/>
              </a:ext>
            </a:extLst>
          </p:cNvPr>
          <p:cNvSpPr>
            <a:spLocks xmlns:a="http://schemas.openxmlformats.org/drawingml/2006/main" noGrp="1"/>
          </p:cNvSpPr>
          <p:nvPr/>
        </p:nvSpPr>
        <p:spPr>
          <a:xfrm xmlns:a="http://schemas.openxmlformats.org/drawingml/2006/main">
            <a:off x="3562350" y="2809875"/>
            <a:ext cx="8020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동료·CTM에게 최근 운영 기록과 시행착오를 받습니다.</a:t>
            </a:r>
          </a:p>
        </p:txBody>
      </p:sp>
      <p:sp>
        <p:nvSpPr>
          <p:cNvPr id="9" name="">
            <a:extLst xmlns:a="http://schemas.openxmlformats.org/drawingml/2006/main">
              <a:ext uri="{FF2B5EF4-FFF2-40B4-BE49-F238E27FC236}">
                <a16:creationId xmlns:a16="http://schemas.microsoft.com/office/drawing/2014/main" id="{982063EE-E421-493B-882D-F28B7BACE6B4}"/>
              </a:ext>
            </a:extLst>
          </p:cNvPr>
          <p:cNvSpPr>
            <a:spLocks xmlns:a="http://schemas.openxmlformats.org/drawingml/2006/main" noGrp="1"/>
          </p:cNvSpPr>
          <p:nvPr/>
        </p:nvSpPr>
        <p:spPr>
          <a:xfrm xmlns:a="http://schemas.openxmlformats.org/drawingml/2006/main">
            <a:off x="609600" y="3600450"/>
            <a:ext cx="2686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03  지도·사이트 확인</a:t>
            </a:r>
          </a:p>
        </p:txBody>
      </p:sp>
      <p:sp>
        <p:nvSpPr>
          <p:cNvPr id="10" name="">
            <a:extLst xmlns:a="http://schemas.openxmlformats.org/drawingml/2006/main">
              <a:ext uri="{FF2B5EF4-FFF2-40B4-BE49-F238E27FC236}">
                <a16:creationId xmlns:a16="http://schemas.microsoft.com/office/drawing/2014/main" id="{D290673D-2538-49F8-8245-686A1D758D97}"/>
              </a:ext>
            </a:extLst>
          </p:cNvPr>
          <p:cNvSpPr>
            <a:spLocks xmlns:a="http://schemas.openxmlformats.org/drawingml/2006/main" noGrp="1"/>
          </p:cNvSpPr>
          <p:nvPr/>
        </p:nvSpPr>
        <p:spPr>
          <a:xfrm xmlns:a="http://schemas.openxmlformats.org/drawingml/2006/main">
            <a:off x="3562350" y="3600450"/>
            <a:ext cx="8020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카카오맵 이름, 도로뷰 촬영일, 셋업 위치를 확인합니다.</a:t>
            </a:r>
          </a:p>
        </p:txBody>
      </p:sp>
      <p:sp>
        <p:nvSpPr>
          <p:cNvPr id="11" name="">
            <a:extLst xmlns:a="http://schemas.openxmlformats.org/drawingml/2006/main">
              <a:ext uri="{FF2B5EF4-FFF2-40B4-BE49-F238E27FC236}">
                <a16:creationId xmlns:a16="http://schemas.microsoft.com/office/drawing/2014/main" id="{4DF74A09-8F97-4D03-92BC-68725D6BB988}"/>
              </a:ext>
            </a:extLst>
          </p:cNvPr>
          <p:cNvSpPr>
            <a:spLocks xmlns:a="http://schemas.openxmlformats.org/drawingml/2006/main" noGrp="1"/>
          </p:cNvSpPr>
          <p:nvPr/>
        </p:nvSpPr>
        <p:spPr>
          <a:xfrm xmlns:a="http://schemas.openxmlformats.org/drawingml/2006/main">
            <a:off x="609600" y="4391025"/>
            <a:ext cx="2686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04  테리토리 확보</a:t>
            </a:r>
          </a:p>
        </p:txBody>
      </p:sp>
      <p:sp>
        <p:nvSpPr>
          <p:cNvPr id="12" name="">
            <a:extLst xmlns:a="http://schemas.openxmlformats.org/drawingml/2006/main">
              <a:ext uri="{FF2B5EF4-FFF2-40B4-BE49-F238E27FC236}">
                <a16:creationId xmlns:a16="http://schemas.microsoft.com/office/drawing/2014/main" id="{807AB4CC-609B-4491-B165-EB3F2A880E38}"/>
              </a:ext>
            </a:extLst>
          </p:cNvPr>
          <p:cNvSpPr>
            <a:spLocks xmlns:a="http://schemas.openxmlformats.org/drawingml/2006/main" noGrp="1"/>
          </p:cNvSpPr>
          <p:nvPr/>
        </p:nvSpPr>
        <p:spPr>
          <a:xfrm xmlns:a="http://schemas.openxmlformats.org/drawingml/2006/main">
            <a:off x="3562350" y="4391025"/>
            <a:ext cx="8020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주요·예비 자리의 사용 가능 여부를 확인합니다.</a:t>
            </a:r>
          </a:p>
        </p:txBody>
      </p:sp>
      <p:sp>
        <p:nvSpPr>
          <p:cNvPr id="13" name="">
            <a:extLst xmlns:a="http://schemas.openxmlformats.org/drawingml/2006/main">
              <a:ext uri="{FF2B5EF4-FFF2-40B4-BE49-F238E27FC236}">
                <a16:creationId xmlns:a16="http://schemas.microsoft.com/office/drawing/2014/main" id="{3EB2983C-D5A6-45F6-BD3F-04D673D4ED13}"/>
              </a:ext>
            </a:extLst>
          </p:cNvPr>
          <p:cNvSpPr>
            <a:spLocks xmlns:a="http://schemas.openxmlformats.org/drawingml/2006/main" noGrp="1"/>
          </p:cNvSpPr>
          <p:nvPr/>
        </p:nvSpPr>
        <p:spPr>
          <a:xfrm xmlns:a="http://schemas.openxmlformats.org/drawingml/2006/main">
            <a:off x="609600" y="5181600"/>
            <a:ext cx="2686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05  운영 확정</a:t>
            </a:r>
          </a:p>
        </p:txBody>
      </p:sp>
      <p:sp>
        <p:nvSpPr>
          <p:cNvPr id="14" name="">
            <a:extLst xmlns:a="http://schemas.openxmlformats.org/drawingml/2006/main">
              <a:ext uri="{FF2B5EF4-FFF2-40B4-BE49-F238E27FC236}">
                <a16:creationId xmlns:a16="http://schemas.microsoft.com/office/drawing/2014/main" id="{EF221CEA-1FC0-4C3D-90ED-1C3FB846F954}"/>
              </a:ext>
            </a:extLst>
          </p:cNvPr>
          <p:cNvSpPr>
            <a:spLocks xmlns:a="http://schemas.openxmlformats.org/drawingml/2006/main" noGrp="1"/>
          </p:cNvSpPr>
          <p:nvPr/>
        </p:nvSpPr>
        <p:spPr>
          <a:xfrm xmlns:a="http://schemas.openxmlformats.org/drawingml/2006/main">
            <a:off x="3562350" y="5181600"/>
            <a:ext cx="80200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참가자, 이동, 숙소, 역할과 개인 계획을 확정합니다.</a:t>
            </a:r>
          </a:p>
        </p:txBody>
      </p:sp>
    </p:spTree>
    <p:extLst>
      <p:ext uri="{BB962C8B-B14F-4D97-AF65-F5344CB8AC3E}">
        <p14:creationId xmlns:p14="http://schemas.microsoft.com/office/powerpoint/2010/main" val="1829925325"/>
      </p:ext>
    </p:extLst>
  </p:cSld>
</p:sld>
</file>

<file path=ppt/slides/slide4.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73023E4-B810-482F-ABA5-AC00519D3E84}"/>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지역 선정의 다섯 가지 기준</a:t>
            </a:r>
          </a:p>
        </p:txBody>
      </p:sp>
      <p:sp>
        <p:nvSpPr>
          <p:cNvPr id="2" name="">
            <a:extLst xmlns:a="http://schemas.openxmlformats.org/drawingml/2006/main">
              <a:ext uri="{FF2B5EF4-FFF2-40B4-BE49-F238E27FC236}">
                <a16:creationId xmlns:a16="http://schemas.microsoft.com/office/drawing/2014/main" id="{481D95BD-BAE8-4920-BB20-28217BF058CF}"/>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현장 기회가 우리 팀의 목적과 운영 조건에 맞는지 비교합니다.</a:t>
            </a:r>
          </a:p>
        </p:txBody>
      </p:sp>
      <p:sp>
        <p:nvSpPr>
          <p:cNvPr id="3" name="">
            <a:extLst xmlns:a="http://schemas.openxmlformats.org/drawingml/2006/main">
              <a:ext uri="{FF2B5EF4-FFF2-40B4-BE49-F238E27FC236}">
                <a16:creationId xmlns:a16="http://schemas.microsoft.com/office/drawing/2014/main" id="{37857931-B7CE-4ECB-88D9-925DDDF08EB1}"/>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B6B2434C-79E6-4497-889F-C6D62DB4332A}"/>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04</a:t>
            </a:r>
          </a:p>
        </p:txBody>
      </p:sp>
      <p:graphicFrame>
        <p:nvGraphicFramePr>
          <p:cNvPr id="10" name=""/>
          <p:cNvGraphicFramePr/>
          <p:nvPr/>
        </p:nvGraphicFramePr>
        <p:xfrm>
          <a:off xmlns:a="http://schemas.openxmlformats.org/drawingml/2006/main" x="609600" y="1962150"/>
          <a:ext xmlns:a="http://schemas.openxmlformats.org/drawingml/2006/main" cx="10972800" cy="3971925"/>
        </p:xfrm>
        <a:graphic xmlns:a="http://schemas.openxmlformats.org/drawingml/2006/main">
          <a:graphicData uri="http://schemas.openxmlformats.org/drawingml/2006/table">
            <a:tbl>
              <a:tblPr/>
              <a:tblGrid>
                <a:gridCol w="2943922"/>
                <a:gridCol w="8028878"/>
              </a:tblGrid>
              <a:tr h="661988">
                <a:tc>
                  <a:txBody>
                    <a:bodyPr/>
                    <a:lstStyle/>
                    <a:p>
                      <a:r>
                        <a:rPr sz="1950" b="1">
                          <a:solidFill>
                            <a:srgbClr val="F8F9F2"/>
                          </a:solidFill>
                          <a:latin typeface="Apple SD Gothic Neo"/>
                          <a:ea typeface="Apple SD Gothic Neo"/>
                          <a:cs typeface="Apple SD Gothic Neo"/>
                        </a:rPr>
                        <a:t>검토 항목</a:t>
                      </a:r>
                    </a:p>
                  </a:txBody>
                  <a:tcPr marL="171450" marR="133350" marT="114300" marB="114300" anchor="ctr">
                    <a:solidFill>
                      <a:srgbClr val="192A20"/>
                    </a:solidFill>
                  </a:tcPr>
                </a:tc>
                <a:tc>
                  <a:txBody>
                    <a:bodyPr/>
                    <a:lstStyle/>
                    <a:p>
                      <a:r>
                        <a:rPr sz="1950" b="1">
                          <a:solidFill>
                            <a:srgbClr val="F8F9F2"/>
                          </a:solidFill>
                          <a:latin typeface="Apple SD Gothic Neo"/>
                          <a:ea typeface="Apple SD Gothic Neo"/>
                          <a:cs typeface="Apple SD Gothic Neo"/>
                        </a:rPr>
                        <a:t>확인할 내용</a:t>
                      </a:r>
                    </a:p>
                  </a:txBody>
                  <a:tcPr marL="171450" marR="133350" marT="114300" marB="114300" anchor="ctr">
                    <a:solidFill>
                      <a:srgbClr val="192A20"/>
                    </a:solidFill>
                  </a:tcPr>
                </a:tc>
              </a:tr>
              <a:tr h="661988">
                <a:tc>
                  <a:txBody>
                    <a:bodyPr/>
                    <a:lstStyle/>
                    <a:p>
                      <a:r>
                        <a:rPr sz="1950" b="1">
                          <a:solidFill>
                            <a:srgbClr val="192A20"/>
                          </a:solidFill>
                          <a:latin typeface="Apple SD Gothic Neo"/>
                          <a:ea typeface="Apple SD Gothic Neo"/>
                          <a:cs typeface="Apple SD Gothic Neo"/>
                        </a:rPr>
                        <a:t>사이트와 운영 이력</a:t>
                      </a:r>
                    </a:p>
                  </a:txBody>
                  <a:tcPr marL="171450" marR="133350" marT="114300" marB="114300" anchor="ctr">
                    <a:solidFill>
                      <a:srgbClr val="F5F3EA"/>
                    </a:solidFill>
                  </a:tcPr>
                </a:tc>
                <a:tc>
                  <a:txBody>
                    <a:bodyPr/>
                    <a:lstStyle/>
                    <a:p>
                      <a:r>
                        <a:rPr sz="1950" b="0">
                          <a:solidFill>
                            <a:srgbClr val="192A20"/>
                          </a:solidFill>
                          <a:latin typeface="Apple SD Gothic Neo"/>
                          <a:ea typeface="Apple SD Gothic Neo"/>
                          <a:cs typeface="Apple SD Gothic Neo"/>
                        </a:rPr>
                        <a:t>실제로 사용 가능한 자리, 최근 운영 기록</a:t>
                      </a:r>
                    </a:p>
                  </a:txBody>
                  <a:tcPr marL="171450" marR="133350" marT="114300" marB="114300" anchor="ctr">
                    <a:solidFill>
                      <a:srgbClr val="F5F3EA"/>
                    </a:solidFill>
                  </a:tcPr>
                </a:tc>
              </a:tr>
              <a:tr h="661988">
                <a:tc>
                  <a:txBody>
                    <a:bodyPr/>
                    <a:lstStyle/>
                    <a:p>
                      <a:r>
                        <a:rPr sz="1950" b="1">
                          <a:solidFill>
                            <a:srgbClr val="192A20"/>
                          </a:solidFill>
                          <a:latin typeface="Apple SD Gothic Neo"/>
                          <a:ea typeface="Apple SD Gothic Neo"/>
                          <a:cs typeface="Apple SD Gothic Neo"/>
                        </a:rPr>
                        <a:t>팀 경험과 배울 스킬</a:t>
                      </a:r>
                    </a:p>
                  </a:txBody>
                  <a:tcPr marL="171450" marR="133350" marT="114300" marB="114300" anchor="ctr">
                    <a:solidFill>
                      <a:srgbClr val="E9EBDD"/>
                    </a:solidFill>
                  </a:tcPr>
                </a:tc>
                <a:tc>
                  <a:txBody>
                    <a:bodyPr/>
                    <a:lstStyle/>
                    <a:p>
                      <a:r>
                        <a:rPr sz="1950" b="0">
                          <a:solidFill>
                            <a:srgbClr val="192A20"/>
                          </a:solidFill>
                          <a:latin typeface="Apple SD Gothic Neo"/>
                          <a:ea typeface="Apple SD Gothic Neo"/>
                          <a:cs typeface="Apple SD Gothic Neo"/>
                        </a:rPr>
                        <a:t>개인별 경험과 이번에 연습할 스킬</a:t>
                      </a:r>
                    </a:p>
                  </a:txBody>
                  <a:tcPr marL="171450" marR="133350" marT="114300" marB="114300" anchor="ctr">
                    <a:solidFill>
                      <a:srgbClr val="E9EBDD"/>
                    </a:solidFill>
                  </a:tcPr>
                </a:tc>
              </a:tr>
              <a:tr h="661988">
                <a:tc>
                  <a:txBody>
                    <a:bodyPr/>
                    <a:lstStyle/>
                    <a:p>
                      <a:r>
                        <a:rPr sz="1950" b="1">
                          <a:solidFill>
                            <a:srgbClr val="192A20"/>
                          </a:solidFill>
                          <a:latin typeface="Apple SD Gothic Neo"/>
                          <a:ea typeface="Apple SD Gothic Neo"/>
                          <a:cs typeface="Apple SD Gothic Neo"/>
                        </a:rPr>
                        <a:t>이동과 체력</a:t>
                      </a:r>
                    </a:p>
                  </a:txBody>
                  <a:tcPr marL="171450" marR="133350" marT="114300" marB="114300" anchor="ctr">
                    <a:solidFill>
                      <a:srgbClr val="F5F3EA"/>
                    </a:solidFill>
                  </a:tcPr>
                </a:tc>
                <a:tc>
                  <a:txBody>
                    <a:bodyPr/>
                    <a:lstStyle/>
                    <a:p>
                      <a:r>
                        <a:rPr sz="1950" b="0">
                          <a:solidFill>
                            <a:srgbClr val="192A20"/>
                          </a:solidFill>
                          <a:latin typeface="Apple SD Gothic Neo"/>
                          <a:ea typeface="Apple SD Gothic Neo"/>
                          <a:cs typeface="Apple SD Gothic Neo"/>
                        </a:rPr>
                        <a:t>이동 거리, 숙소에서 현장까지 동선, 운전자 휴식</a:t>
                      </a:r>
                    </a:p>
                  </a:txBody>
                  <a:tcPr marL="171450" marR="133350" marT="114300" marB="114300" anchor="ctr">
                    <a:solidFill>
                      <a:srgbClr val="F5F3EA"/>
                    </a:solidFill>
                  </a:tcPr>
                </a:tc>
              </a:tr>
              <a:tr h="661988">
                <a:tc>
                  <a:txBody>
                    <a:bodyPr/>
                    <a:lstStyle/>
                    <a:p>
                      <a:r>
                        <a:rPr sz="1950" b="1">
                          <a:solidFill>
                            <a:srgbClr val="192A20"/>
                          </a:solidFill>
                          <a:latin typeface="Apple SD Gothic Neo"/>
                          <a:ea typeface="Apple SD Gothic Neo"/>
                          <a:cs typeface="Apple SD Gothic Neo"/>
                        </a:rPr>
                        <a:t>우천 대안과 사용 조건</a:t>
                      </a:r>
                    </a:p>
                  </a:txBody>
                  <a:tcPr marL="171450" marR="133350" marT="114300" marB="114300" anchor="ctr">
                    <a:solidFill>
                      <a:srgbClr val="E9EBDD"/>
                    </a:solidFill>
                  </a:tcPr>
                </a:tc>
                <a:tc>
                  <a:txBody>
                    <a:bodyPr/>
                    <a:lstStyle/>
                    <a:p>
                      <a:r>
                        <a:rPr sz="1950" b="0">
                          <a:solidFill>
                            <a:srgbClr val="192A20"/>
                          </a:solidFill>
                          <a:latin typeface="Apple SD Gothic Neo"/>
                          <a:ea typeface="Apple SD Gothic Neo"/>
                          <a:cs typeface="Apple SD Gothic Neo"/>
                        </a:rPr>
                        <a:t>대체할 자리와 운영 조건</a:t>
                      </a:r>
                    </a:p>
                  </a:txBody>
                  <a:tcPr marL="171450" marR="133350" marT="114300" marB="114300" anchor="ctr">
                    <a:solidFill>
                      <a:srgbClr val="E9EBDD"/>
                    </a:solidFill>
                  </a:tcPr>
                </a:tc>
              </a:tr>
              <a:tr h="661988">
                <a:tc>
                  <a:txBody>
                    <a:bodyPr/>
                    <a:lstStyle/>
                    <a:p>
                      <a:r>
                        <a:rPr sz="1950" b="1">
                          <a:solidFill>
                            <a:srgbClr val="192A20"/>
                          </a:solidFill>
                          <a:latin typeface="Apple SD Gothic Neo"/>
                          <a:ea typeface="Apple SD Gothic Neo"/>
                          <a:cs typeface="Apple SD Gothic Neo"/>
                        </a:rPr>
                        <a:t>숙박·교통 비용</a:t>
                      </a:r>
                    </a:p>
                  </a:txBody>
                  <a:tcPr marL="171450" marR="133350" marT="114300" marB="114300" anchor="ctr">
                    <a:solidFill>
                      <a:srgbClr val="F5F3EA"/>
                    </a:solidFill>
                  </a:tcPr>
                </a:tc>
                <a:tc>
                  <a:txBody>
                    <a:bodyPr/>
                    <a:lstStyle/>
                    <a:p>
                      <a:r>
                        <a:rPr sz="1950" b="0">
                          <a:solidFill>
                            <a:srgbClr val="192A20"/>
                          </a:solidFill>
                          <a:latin typeface="Apple SD Gothic Neo"/>
                          <a:ea typeface="Apple SD Gothic Neo"/>
                          <a:cs typeface="Apple SD Gothic Neo"/>
                        </a:rPr>
                        <a:t>예상 비용과 팀 내 부담 기준</a:t>
                      </a:r>
                    </a:p>
                  </a:txBody>
                  <a:tcPr marL="171450" marR="133350" marT="114300" marB="114300" anchor="ctr">
                    <a:solidFill>
                      <a:srgbClr val="F5F3EA"/>
                    </a:solidFill>
                  </a:tcPr>
                </a:tc>
              </a:tr>
            </a:tbl>
          </a:graphicData>
        </a:graphic>
      </p:graphicFrame>
    </p:spTree>
    <p:extLst>
      <p:ext uri="{BB962C8B-B14F-4D97-AF65-F5344CB8AC3E}">
        <p14:creationId xmlns:p14="http://schemas.microsoft.com/office/powerpoint/2010/main" val="1687607119"/>
      </p:ext>
    </p:extLst>
  </p:cSld>
</p:sld>
</file>

<file path=ppt/slides/slide5.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412396-B493-41F1-9682-BA80BA3E89D9}"/>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동료와 CTM에게 요청할 자료</a:t>
            </a:r>
          </a:p>
        </p:txBody>
      </p:sp>
      <p:sp>
        <p:nvSpPr>
          <p:cNvPr id="2" name="">
            <a:extLst xmlns:a="http://schemas.openxmlformats.org/drawingml/2006/main">
              <a:ext uri="{FF2B5EF4-FFF2-40B4-BE49-F238E27FC236}">
                <a16:creationId xmlns:a16="http://schemas.microsoft.com/office/drawing/2014/main" id="{0C802066-7EDF-4D25-8562-EAC069429A04}"/>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최근 운영 날짜와 현장 조건을 함께 받습니다.</a:t>
            </a:r>
          </a:p>
        </p:txBody>
      </p:sp>
      <p:sp>
        <p:nvSpPr>
          <p:cNvPr id="3" name="">
            <a:extLst xmlns:a="http://schemas.openxmlformats.org/drawingml/2006/main">
              <a:ext uri="{FF2B5EF4-FFF2-40B4-BE49-F238E27FC236}">
                <a16:creationId xmlns:a16="http://schemas.microsoft.com/office/drawing/2014/main" id="{55C7BE75-19B2-4C13-96ED-1A9E10AE4436}"/>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25699378-ACAC-4316-932F-A7489DA72B86}"/>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05</a:t>
            </a:r>
          </a:p>
        </p:txBody>
      </p:sp>
      <p:sp>
        <p:nvSpPr>
          <p:cNvPr id="5" name="">
            <a:extLst xmlns:a="http://schemas.openxmlformats.org/drawingml/2006/main">
              <a:ext uri="{FF2B5EF4-FFF2-40B4-BE49-F238E27FC236}">
                <a16:creationId xmlns:a16="http://schemas.microsoft.com/office/drawing/2014/main" id="{2949DD84-C535-4DB6-AFC7-4BADF34C0DDF}"/>
              </a:ext>
            </a:extLst>
          </p:cNvPr>
          <p:cNvSpPr>
            <a:spLocks xmlns:a="http://schemas.openxmlformats.org/drawingml/2006/main" noGrp="1"/>
          </p:cNvSpPr>
          <p:nvPr/>
        </p:nvSpPr>
        <p:spPr>
          <a:xfrm xmlns:a="http://schemas.openxmlformats.org/drawingml/2006/main">
            <a:off x="609600" y="2000250"/>
            <a:ext cx="2495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사이트 자료</a:t>
            </a:r>
          </a:p>
        </p:txBody>
      </p:sp>
      <p:sp>
        <p:nvSpPr>
          <p:cNvPr id="6" name="">
            <a:extLst xmlns:a="http://schemas.openxmlformats.org/drawingml/2006/main">
              <a:ext uri="{FF2B5EF4-FFF2-40B4-BE49-F238E27FC236}">
                <a16:creationId xmlns:a16="http://schemas.microsoft.com/office/drawing/2014/main" id="{4D3E2B33-371E-4BA2-9FDB-BC6EBB93E3FD}"/>
              </a:ext>
            </a:extLst>
          </p:cNvPr>
          <p:cNvSpPr>
            <a:spLocks xmlns:a="http://schemas.openxmlformats.org/drawingml/2006/main" noGrp="1"/>
          </p:cNvSpPr>
          <p:nvPr/>
        </p:nvSpPr>
        <p:spPr>
          <a:xfrm xmlns:a="http://schemas.openxmlformats.org/drawingml/2006/main">
            <a:off x="3371850" y="2000250"/>
            <a:ext cx="821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카카오맵 기준 이름·링크, 정확한 셋업 위치 사진</a:t>
            </a:r>
          </a:p>
        </p:txBody>
      </p:sp>
      <p:sp>
        <p:nvSpPr>
          <p:cNvPr id="7" name="">
            <a:extLst xmlns:a="http://schemas.openxmlformats.org/drawingml/2006/main">
              <a:ext uri="{FF2B5EF4-FFF2-40B4-BE49-F238E27FC236}">
                <a16:creationId xmlns:a16="http://schemas.microsoft.com/office/drawing/2014/main" id="{3A5A9EBE-87C6-4354-999A-4C26BF913AB8}"/>
              </a:ext>
            </a:extLst>
          </p:cNvPr>
          <p:cNvSpPr>
            <a:spLocks xmlns:a="http://schemas.openxmlformats.org/drawingml/2006/main" noGrp="1"/>
          </p:cNvSpPr>
          <p:nvPr/>
        </p:nvSpPr>
        <p:spPr>
          <a:xfrm xmlns:a="http://schemas.openxmlformats.org/drawingml/2006/main">
            <a:off x="609600" y="2952750"/>
            <a:ext cx="2495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최근 운영 정보</a:t>
            </a:r>
          </a:p>
        </p:txBody>
      </p:sp>
      <p:sp>
        <p:nvSpPr>
          <p:cNvPr id="8" name="">
            <a:extLst xmlns:a="http://schemas.openxmlformats.org/drawingml/2006/main">
              <a:ext uri="{FF2B5EF4-FFF2-40B4-BE49-F238E27FC236}">
                <a16:creationId xmlns:a16="http://schemas.microsoft.com/office/drawing/2014/main" id="{2BC42EF8-4EE5-4F29-86A6-8688BA7308B2}"/>
              </a:ext>
            </a:extLst>
          </p:cNvPr>
          <p:cNvSpPr>
            <a:spLocks xmlns:a="http://schemas.openxmlformats.org/drawingml/2006/main" noGrp="1"/>
          </p:cNvSpPr>
          <p:nvPr/>
        </p:nvSpPr>
        <p:spPr>
          <a:xfrm xmlns:a="http://schemas.openxmlformats.org/drawingml/2006/main">
            <a:off x="3371850" y="2952750"/>
            <a:ext cx="821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운영 날짜·요일·시간, 참여 인원, 활동일과 실적</a:t>
            </a:r>
          </a:p>
        </p:txBody>
      </p:sp>
      <p:sp>
        <p:nvSpPr>
          <p:cNvPr id="9" name="">
            <a:extLst xmlns:a="http://schemas.openxmlformats.org/drawingml/2006/main">
              <a:ext uri="{FF2B5EF4-FFF2-40B4-BE49-F238E27FC236}">
                <a16:creationId xmlns:a16="http://schemas.microsoft.com/office/drawing/2014/main" id="{91225572-BCFB-4139-9AF7-378EF58A9104}"/>
              </a:ext>
            </a:extLst>
          </p:cNvPr>
          <p:cNvSpPr>
            <a:spLocks xmlns:a="http://schemas.openxmlformats.org/drawingml/2006/main" noGrp="1"/>
          </p:cNvSpPr>
          <p:nvPr/>
        </p:nvSpPr>
        <p:spPr>
          <a:xfrm xmlns:a="http://schemas.openxmlformats.org/drawingml/2006/main">
            <a:off x="609600" y="3905250"/>
            <a:ext cx="2495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현장 경험</a:t>
            </a:r>
          </a:p>
        </p:txBody>
      </p:sp>
      <p:sp>
        <p:nvSpPr>
          <p:cNvPr id="10" name="">
            <a:extLst xmlns:a="http://schemas.openxmlformats.org/drawingml/2006/main">
              <a:ext uri="{FF2B5EF4-FFF2-40B4-BE49-F238E27FC236}">
                <a16:creationId xmlns:a16="http://schemas.microsoft.com/office/drawing/2014/main" id="{EA9CBE5D-6626-4487-BB52-6433E3381C1D}"/>
              </a:ext>
            </a:extLst>
          </p:cNvPr>
          <p:cNvSpPr>
            <a:spLocks xmlns:a="http://schemas.openxmlformats.org/drawingml/2006/main" noGrp="1"/>
          </p:cNvSpPr>
          <p:nvPr/>
        </p:nvSpPr>
        <p:spPr>
          <a:xfrm xmlns:a="http://schemas.openxmlformats.org/drawingml/2006/main">
            <a:off x="3371850" y="3905250"/>
            <a:ext cx="82105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콜백싯, 효과적인 접근, 주의할 점과 예비 사이트</a:t>
            </a:r>
          </a:p>
        </p:txBody>
      </p:sp>
      <p:sp>
        <p:nvSpPr>
          <p:cNvPr id="11" name="">
            <a:extLst xmlns:a="http://schemas.openxmlformats.org/drawingml/2006/main">
              <a:ext uri="{FF2B5EF4-FFF2-40B4-BE49-F238E27FC236}">
                <a16:creationId xmlns:a16="http://schemas.microsoft.com/office/drawing/2014/main" id="{C22834CF-5F6D-4EA4-A6A0-447B2592F024}"/>
              </a:ext>
            </a:extLst>
          </p:cNvPr>
          <p:cNvSpPr>
            <a:spLocks xmlns:a="http://schemas.openxmlformats.org/drawingml/2006/main" noGrp="1"/>
          </p:cNvSpPr>
          <p:nvPr/>
        </p:nvSpPr>
        <p:spPr>
          <a:xfrm xmlns:a="http://schemas.openxmlformats.org/drawingml/2006/main">
            <a:off x="609600" y="5067300"/>
            <a:ext cx="2381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6B865C"/>
                </a:solidFill>
                <a:latin typeface="Apple SD Gothic Neo"/>
                <a:ea typeface="Apple SD Gothic Neo"/>
                <a:cs typeface="Apple SD Gothic Neo"/>
              </a:defRPr>
            </a:pPr>
            <a:r>
              <a:rPr sz="1950" b="1">
                <a:solidFill>
                  <a:srgbClr val="6B865C"/>
                </a:solidFill>
                <a:latin typeface="Apple SD Gothic Neo"/>
                <a:ea typeface="Apple SD Gothic Neo"/>
                <a:cs typeface="Apple SD Gothic Neo"/>
              </a:rPr>
              <a:t>자료 요청 예시</a:t>
            </a:r>
          </a:p>
        </p:txBody>
      </p:sp>
      <p:sp>
        <p:nvSpPr>
          <p:cNvPr id="12" name="">
            <a:extLst xmlns:a="http://schemas.openxmlformats.org/drawingml/2006/main">
              <a:ext uri="{FF2B5EF4-FFF2-40B4-BE49-F238E27FC236}">
                <a16:creationId xmlns:a16="http://schemas.microsoft.com/office/drawing/2014/main" id="{0C0EE7AB-CAB4-47E3-9082-E184F3CB507B}"/>
              </a:ext>
            </a:extLst>
          </p:cNvPr>
          <p:cNvSpPr>
            <a:spLocks xmlns:a="http://schemas.openxmlformats.org/drawingml/2006/main" noGrp="1"/>
          </p:cNvSpPr>
          <p:nvPr/>
        </p:nvSpPr>
        <p:spPr>
          <a:xfrm xmlns:a="http://schemas.openxmlformats.org/drawingml/2006/main">
            <a:off x="3381375" y="5019675"/>
            <a:ext cx="7810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“[날짜] [지역] 트립을 준비합니다. 최근 운영 자료와 셋업 사진,</a:t>
            </a:r>
          </a:p>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잘 통했던 방식과 주의할 점을 공유받을 수 있을까요?”</a:t>
            </a:r>
          </a:p>
        </p:txBody>
      </p:sp>
    </p:spTree>
    <p:extLst>
      <p:ext uri="{BB962C8B-B14F-4D97-AF65-F5344CB8AC3E}">
        <p14:creationId xmlns:p14="http://schemas.microsoft.com/office/powerpoint/2010/main" val="1959677177"/>
      </p:ext>
    </p:extLst>
  </p:cSld>
</p:sld>
</file>

<file path=ppt/slides/slide6.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5E7194-2500-41BC-9FB5-1AAA080B2934}"/>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지도 활용의 원칙</a:t>
            </a:r>
          </a:p>
        </p:txBody>
      </p:sp>
      <p:sp>
        <p:nvSpPr>
          <p:cNvPr id="2" name="">
            <a:extLst xmlns:a="http://schemas.openxmlformats.org/drawingml/2006/main">
              <a:ext uri="{FF2B5EF4-FFF2-40B4-BE49-F238E27FC236}">
                <a16:creationId xmlns:a16="http://schemas.microsoft.com/office/drawing/2014/main" id="{6250FCC0-4E82-4038-80BB-C27336128609}"/>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사이트명은 카카오맵 기준, 도로뷰는 네이버지도를 먼저 확인합니다.</a:t>
            </a:r>
          </a:p>
        </p:txBody>
      </p:sp>
      <p:sp>
        <p:nvSpPr>
          <p:cNvPr id="3" name="">
            <a:extLst xmlns:a="http://schemas.openxmlformats.org/drawingml/2006/main">
              <a:ext uri="{FF2B5EF4-FFF2-40B4-BE49-F238E27FC236}">
                <a16:creationId xmlns:a16="http://schemas.microsoft.com/office/drawing/2014/main" id="{B9583B16-9959-4DD1-93A7-0C0353EB446E}"/>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63E493B4-D574-486E-88EC-769E7095F4DF}"/>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06</a:t>
            </a:r>
          </a:p>
        </p:txBody>
      </p:sp>
      <p:sp>
        <p:nvSpPr>
          <p:cNvPr id="5" name="">
            <a:extLst xmlns:a="http://schemas.openxmlformats.org/drawingml/2006/main">
              <a:ext uri="{FF2B5EF4-FFF2-40B4-BE49-F238E27FC236}">
                <a16:creationId xmlns:a16="http://schemas.microsoft.com/office/drawing/2014/main" id="{FA14A24E-C30D-4B7C-A07E-4048B01B6CC8}"/>
              </a:ext>
            </a:extLst>
          </p:cNvPr>
          <p:cNvSpPr>
            <a:spLocks xmlns:a="http://schemas.openxmlformats.org/drawingml/2006/main" noGrp="1"/>
          </p:cNvSpPr>
          <p:nvPr/>
        </p:nvSpPr>
        <p:spPr>
          <a:xfrm xmlns:a="http://schemas.openxmlformats.org/drawingml/2006/main">
            <a:off x="609600" y="2095500"/>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6B865C"/>
                </a:solidFill>
                <a:latin typeface="Apple SD Gothic Neo"/>
                <a:ea typeface="Apple SD Gothic Neo"/>
                <a:cs typeface="Apple SD Gothic Neo"/>
              </a:defRPr>
            </a:pPr>
            <a:r>
              <a:rPr sz="3600" b="1">
                <a:solidFill>
                  <a:srgbClr val="6B865C"/>
                </a:solidFill>
                <a:latin typeface="Apple SD Gothic Neo"/>
                <a:ea typeface="Apple SD Gothic Neo"/>
                <a:cs typeface="Apple SD Gothic Neo"/>
              </a:rPr>
              <a:t>KAKAO MAP</a:t>
            </a:r>
          </a:p>
        </p:txBody>
      </p:sp>
      <p:sp>
        <p:nvSpPr>
          <p:cNvPr id="6" name="">
            <a:extLst xmlns:a="http://schemas.openxmlformats.org/drawingml/2006/main">
              <a:ext uri="{FF2B5EF4-FFF2-40B4-BE49-F238E27FC236}">
                <a16:creationId xmlns:a16="http://schemas.microsoft.com/office/drawing/2014/main" id="{B31293E3-7B1B-467B-ABC9-970100814982}"/>
              </a:ext>
            </a:extLst>
          </p:cNvPr>
          <p:cNvSpPr>
            <a:spLocks xmlns:a="http://schemas.openxmlformats.org/drawingml/2006/main" noGrp="1"/>
          </p:cNvSpPr>
          <p:nvPr/>
        </p:nvSpPr>
        <p:spPr>
          <a:xfrm xmlns:a="http://schemas.openxmlformats.org/drawingml/2006/main">
            <a:off x="609600" y="29241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92A20"/>
                </a:solidFill>
                <a:latin typeface="Apple SD Gothic Neo"/>
                <a:ea typeface="Apple SD Gothic Neo"/>
                <a:cs typeface="Apple SD Gothic Neo"/>
              </a:defRPr>
            </a:pPr>
            <a:r>
              <a:rPr sz="2325" b="1">
                <a:solidFill>
                  <a:srgbClr val="192A20"/>
                </a:solidFill>
                <a:latin typeface="Apple SD Gothic Neo"/>
                <a:ea typeface="Apple SD Gothic Neo"/>
                <a:cs typeface="Apple SD Gothic Neo"/>
              </a:rPr>
              <a:t>사이트 이름의 기준</a:t>
            </a:r>
          </a:p>
        </p:txBody>
      </p:sp>
      <p:sp>
        <p:nvSpPr>
          <p:cNvPr id="7" name="">
            <a:extLst xmlns:a="http://schemas.openxmlformats.org/drawingml/2006/main">
              <a:ext uri="{FF2B5EF4-FFF2-40B4-BE49-F238E27FC236}">
                <a16:creationId xmlns:a16="http://schemas.microsoft.com/office/drawing/2014/main" id="{456BB7D4-0E79-487C-93A9-2FB619541476}"/>
              </a:ext>
            </a:extLst>
          </p:cNvPr>
          <p:cNvSpPr>
            <a:spLocks xmlns:a="http://schemas.openxmlformats.org/drawingml/2006/main" noGrp="1"/>
          </p:cNvSpPr>
          <p:nvPr/>
        </p:nvSpPr>
        <p:spPr>
          <a:xfrm xmlns:a="http://schemas.openxmlformats.org/drawingml/2006/main">
            <a:off x="609600" y="3571875"/>
            <a:ext cx="47625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표시 장소명과 지점명으로 이름을 통일합니다.</a:t>
            </a:r>
          </a:p>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주소·지도 링크를 기록하고 정확한 셋업 위치를 설명합니다.</a:t>
            </a:r>
          </a:p>
        </p:txBody>
      </p:sp>
      <p:sp>
        <p:nvSpPr>
          <p:cNvPr id="8" name="">
            <a:extLst xmlns:a="http://schemas.openxmlformats.org/drawingml/2006/main">
              <a:ext uri="{FF2B5EF4-FFF2-40B4-BE49-F238E27FC236}">
                <a16:creationId xmlns:a16="http://schemas.microsoft.com/office/drawing/2014/main" id="{C0D4B51E-C75F-4F79-B787-24C50A88E3E1}"/>
              </a:ext>
            </a:extLst>
          </p:cNvPr>
          <p:cNvSpPr>
            <a:spLocks xmlns:a="http://schemas.openxmlformats.org/drawingml/2006/main" noGrp="1"/>
          </p:cNvSpPr>
          <p:nvPr/>
        </p:nvSpPr>
        <p:spPr>
          <a:xfrm xmlns:a="http://schemas.openxmlformats.org/drawingml/2006/main">
            <a:off x="6553200" y="2095500"/>
            <a:ext cx="5029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6B865C"/>
                </a:solidFill>
                <a:latin typeface="Apple SD Gothic Neo"/>
                <a:ea typeface="Apple SD Gothic Neo"/>
                <a:cs typeface="Apple SD Gothic Neo"/>
              </a:defRPr>
            </a:pPr>
            <a:r>
              <a:rPr sz="3600" b="1">
                <a:solidFill>
                  <a:srgbClr val="6B865C"/>
                </a:solidFill>
                <a:latin typeface="Apple SD Gothic Neo"/>
                <a:ea typeface="Apple SD Gothic Neo"/>
                <a:cs typeface="Apple SD Gothic Neo"/>
              </a:rPr>
              <a:t>NAVER MAP</a:t>
            </a:r>
          </a:p>
        </p:txBody>
      </p:sp>
      <p:sp>
        <p:nvSpPr>
          <p:cNvPr id="9" name="">
            <a:extLst xmlns:a="http://schemas.openxmlformats.org/drawingml/2006/main">
              <a:ext uri="{FF2B5EF4-FFF2-40B4-BE49-F238E27FC236}">
                <a16:creationId xmlns:a16="http://schemas.microsoft.com/office/drawing/2014/main" id="{843F74B6-B1AF-4AB3-9157-3684E4C6B770}"/>
              </a:ext>
            </a:extLst>
          </p:cNvPr>
          <p:cNvSpPr>
            <a:spLocks xmlns:a="http://schemas.openxmlformats.org/drawingml/2006/main" noGrp="1"/>
          </p:cNvSpPr>
          <p:nvPr/>
        </p:nvSpPr>
        <p:spPr>
          <a:xfrm xmlns:a="http://schemas.openxmlformats.org/drawingml/2006/main">
            <a:off x="6553200" y="2924175"/>
            <a:ext cx="5029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92A20"/>
                </a:solidFill>
                <a:latin typeface="Apple SD Gothic Neo"/>
                <a:ea typeface="Apple SD Gothic Neo"/>
                <a:cs typeface="Apple SD Gothic Neo"/>
              </a:defRPr>
            </a:pPr>
            <a:r>
              <a:rPr sz="2325" b="1">
                <a:solidFill>
                  <a:srgbClr val="192A20"/>
                </a:solidFill>
                <a:latin typeface="Apple SD Gothic Neo"/>
                <a:ea typeface="Apple SD Gothic Neo"/>
                <a:cs typeface="Apple SD Gothic Neo"/>
              </a:rPr>
              <a:t>도로뷰를 먼저 확인</a:t>
            </a:r>
          </a:p>
        </p:txBody>
      </p:sp>
      <p:sp>
        <p:nvSpPr>
          <p:cNvPr id="10" name="">
            <a:extLst xmlns:a="http://schemas.openxmlformats.org/drawingml/2006/main">
              <a:ext uri="{FF2B5EF4-FFF2-40B4-BE49-F238E27FC236}">
                <a16:creationId xmlns:a16="http://schemas.microsoft.com/office/drawing/2014/main" id="{9A30B45A-693F-484B-9E16-5A19F1B3E06F}"/>
              </a:ext>
            </a:extLst>
          </p:cNvPr>
          <p:cNvSpPr>
            <a:spLocks xmlns:a="http://schemas.openxmlformats.org/drawingml/2006/main" noGrp="1"/>
          </p:cNvSpPr>
          <p:nvPr/>
        </p:nvSpPr>
        <p:spPr>
          <a:xfrm xmlns:a="http://schemas.openxmlformats.org/drawingml/2006/main">
            <a:off x="6553200" y="3571875"/>
            <a:ext cx="4857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네이버 도로뷰를 먼저 보고 카카오 로드뷰와 촬영일을 비교합니다.</a:t>
            </a:r>
          </a:p>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출입구·보도폭·공사·동선을 살펴봅니다.</a:t>
            </a:r>
          </a:p>
        </p:txBody>
      </p:sp>
      <p:sp>
        <p:nvSpPr>
          <p:cNvPr id="11" name="">
            <a:extLst xmlns:a="http://schemas.openxmlformats.org/drawingml/2006/main">
              <a:ext uri="{FF2B5EF4-FFF2-40B4-BE49-F238E27FC236}">
                <a16:creationId xmlns:a16="http://schemas.microsoft.com/office/drawing/2014/main" id="{D5F6FDEA-43CD-4D4F-BDF7-E230DC8F4784}"/>
              </a:ext>
            </a:extLst>
          </p:cNvPr>
          <p:cNvSpPr>
            <a:spLocks xmlns:a="http://schemas.openxmlformats.org/drawingml/2006/main" noGrp="1"/>
          </p:cNvSpPr>
          <p:nvPr/>
        </p:nvSpPr>
        <p:spPr>
          <a:xfrm xmlns:a="http://schemas.openxmlformats.org/drawingml/2006/main">
            <a:off x="628650" y="59150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756"/>
                </a:solidFill>
                <a:latin typeface="Apple SD Gothic Neo"/>
                <a:ea typeface="Apple SD Gothic Neo"/>
                <a:cs typeface="Apple SD Gothic Neo"/>
              </a:defRPr>
            </a:pPr>
            <a:r>
              <a:rPr sz="1425" b="0">
                <a:solidFill>
                  <a:srgbClr val="536756"/>
                </a:solidFill>
                <a:latin typeface="Apple SD Gothic Neo"/>
                <a:ea typeface="Apple SD Gothic Neo"/>
                <a:cs typeface="Apple SD Gothic Neo"/>
              </a:rPr>
              <a:t>더 최근 촬영본과 현장 정보를 함께 봅니다. 사용 가능 여부는 별도로 확인합니다.</a:t>
            </a:r>
          </a:p>
        </p:txBody>
      </p:sp>
    </p:spTree>
    <p:extLst>
      <p:ext uri="{BB962C8B-B14F-4D97-AF65-F5344CB8AC3E}">
        <p14:creationId xmlns:p14="http://schemas.microsoft.com/office/powerpoint/2010/main" val="1525025172"/>
      </p:ext>
    </p:extLst>
  </p:cSld>
</p:sld>
</file>

<file path=ppt/slides/slide7.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9042A62-B22F-40AE-8680-6AB70BDEC670}"/>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캠페인 운영 가능 여부</a:t>
            </a:r>
          </a:p>
        </p:txBody>
      </p:sp>
      <p:sp>
        <p:nvSpPr>
          <p:cNvPr id="2" name="">
            <a:extLst xmlns:a="http://schemas.openxmlformats.org/drawingml/2006/main">
              <a:ext uri="{FF2B5EF4-FFF2-40B4-BE49-F238E27FC236}">
                <a16:creationId xmlns:a16="http://schemas.microsoft.com/office/drawing/2014/main" id="{2754A64F-9208-4B3B-AB95-14D9E5A52749}"/>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셋업 사진과 실제 운영 조건을 함께 확인합니다.</a:t>
            </a:r>
          </a:p>
        </p:txBody>
      </p:sp>
      <p:sp>
        <p:nvSpPr>
          <p:cNvPr id="3" name="">
            <a:extLst xmlns:a="http://schemas.openxmlformats.org/drawingml/2006/main">
              <a:ext uri="{FF2B5EF4-FFF2-40B4-BE49-F238E27FC236}">
                <a16:creationId xmlns:a16="http://schemas.microsoft.com/office/drawing/2014/main" id="{43058C03-1E73-429D-B964-EF8057B5857B}"/>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C1A4DCB7-E59C-4FDC-95B1-A3A3389ED08F}"/>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07</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939989b48304243"/>
          <a:stretch xmlns:a="http://schemas.openxmlformats.org/drawingml/2006/main"/>
        </p:blipFill>
        <p:spPr>
          <a:xfrm xmlns:a="http://schemas.openxmlformats.org/drawingml/2006/main">
            <a:off x="609600" y="2232025"/>
            <a:ext cx="2381250" cy="3175000"/>
          </a:xfrm>
          <a:prstGeom xmlns:a="http://schemas.openxmlformats.org/drawingml/2006/main" prst="rect">
            <a:avLst/>
          </a:prstGeom>
        </p:spPr>
      </p:pic>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7a9b590e6b74b77"/>
          <a:stretch xmlns:a="http://schemas.openxmlformats.org/drawingml/2006/main"/>
        </p:blipFill>
        <p:spPr>
          <a:xfrm xmlns:a="http://schemas.openxmlformats.org/drawingml/2006/main">
            <a:off x="3200400" y="2232025"/>
            <a:ext cx="2381250" cy="3175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4E9B47D-44DC-4EB1-916D-2C78D7845939}"/>
              </a:ext>
            </a:extLst>
          </p:cNvPr>
          <p:cNvSpPr>
            <a:spLocks xmlns:a="http://schemas.openxmlformats.org/drawingml/2006/main" noGrp="1"/>
          </p:cNvSpPr>
          <p:nvPr/>
        </p:nvSpPr>
        <p:spPr>
          <a:xfrm xmlns:a="http://schemas.openxmlformats.org/drawingml/2006/main">
            <a:off x="6143625" y="2190750"/>
            <a:ext cx="8953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공간</a:t>
            </a:r>
          </a:p>
        </p:txBody>
      </p:sp>
      <p:sp>
        <p:nvSpPr>
          <p:cNvPr id="8" name="">
            <a:extLst xmlns:a="http://schemas.openxmlformats.org/drawingml/2006/main">
              <a:ext uri="{FF2B5EF4-FFF2-40B4-BE49-F238E27FC236}">
                <a16:creationId xmlns:a16="http://schemas.microsoft.com/office/drawing/2014/main" id="{94A78CD6-5AA7-4AF5-946B-8F4622F23037}"/>
              </a:ext>
            </a:extLst>
          </p:cNvPr>
          <p:cNvSpPr>
            <a:spLocks xmlns:a="http://schemas.openxmlformats.org/drawingml/2006/main" noGrp="1"/>
          </p:cNvSpPr>
          <p:nvPr/>
        </p:nvSpPr>
        <p:spPr>
          <a:xfrm xmlns:a="http://schemas.openxmlformats.org/drawingml/2006/main">
            <a:off x="7305675" y="2190750"/>
            <a:ext cx="41719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부스·배너를 놓을 자리와 보행 동선, 출입구 간섭을 확인합니다.</a:t>
            </a:r>
          </a:p>
        </p:txBody>
      </p:sp>
      <p:sp>
        <p:nvSpPr>
          <p:cNvPr id="9" name="">
            <a:extLst xmlns:a="http://schemas.openxmlformats.org/drawingml/2006/main">
              <a:ext uri="{FF2B5EF4-FFF2-40B4-BE49-F238E27FC236}">
                <a16:creationId xmlns:a16="http://schemas.microsoft.com/office/drawing/2014/main" id="{F1B00865-271A-4659-A263-F0B04A78F56B}"/>
              </a:ext>
            </a:extLst>
          </p:cNvPr>
          <p:cNvSpPr>
            <a:spLocks xmlns:a="http://schemas.openxmlformats.org/drawingml/2006/main" noGrp="1"/>
          </p:cNvSpPr>
          <p:nvPr/>
        </p:nvSpPr>
        <p:spPr>
          <a:xfrm xmlns:a="http://schemas.openxmlformats.org/drawingml/2006/main">
            <a:off x="6143625" y="3324225"/>
            <a:ext cx="8953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운영 조건</a:t>
            </a:r>
          </a:p>
        </p:txBody>
      </p:sp>
      <p:sp>
        <p:nvSpPr>
          <p:cNvPr id="10" name="">
            <a:extLst xmlns:a="http://schemas.openxmlformats.org/drawingml/2006/main">
              <a:ext uri="{FF2B5EF4-FFF2-40B4-BE49-F238E27FC236}">
                <a16:creationId xmlns:a16="http://schemas.microsoft.com/office/drawing/2014/main" id="{6172B8AA-4420-415D-BA42-BD8187690A1B}"/>
              </a:ext>
            </a:extLst>
          </p:cNvPr>
          <p:cNvSpPr>
            <a:spLocks xmlns:a="http://schemas.openxmlformats.org/drawingml/2006/main" noGrp="1"/>
          </p:cNvSpPr>
          <p:nvPr/>
        </p:nvSpPr>
        <p:spPr>
          <a:xfrm xmlns:a="http://schemas.openxmlformats.org/drawingml/2006/main">
            <a:off x="7305675" y="3324225"/>
            <a:ext cx="41719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운영 날짜·시간·인원과 장소의 사용 가능 여부를 확인합니다.</a:t>
            </a:r>
          </a:p>
        </p:txBody>
      </p:sp>
      <p:sp>
        <p:nvSpPr>
          <p:cNvPr id="11" name="">
            <a:extLst xmlns:a="http://schemas.openxmlformats.org/drawingml/2006/main">
              <a:ext uri="{FF2B5EF4-FFF2-40B4-BE49-F238E27FC236}">
                <a16:creationId xmlns:a16="http://schemas.microsoft.com/office/drawing/2014/main" id="{5562B3CB-002F-4C26-A78A-5E54B1B9A209}"/>
              </a:ext>
            </a:extLst>
          </p:cNvPr>
          <p:cNvSpPr>
            <a:spLocks xmlns:a="http://schemas.openxmlformats.org/drawingml/2006/main" noGrp="1"/>
          </p:cNvSpPr>
          <p:nvPr/>
        </p:nvSpPr>
        <p:spPr>
          <a:xfrm xmlns:a="http://schemas.openxmlformats.org/drawingml/2006/main">
            <a:off x="6143625" y="4457700"/>
            <a:ext cx="8953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대안</a:t>
            </a:r>
          </a:p>
        </p:txBody>
      </p:sp>
      <p:sp>
        <p:nvSpPr>
          <p:cNvPr id="12" name="">
            <a:extLst xmlns:a="http://schemas.openxmlformats.org/drawingml/2006/main">
              <a:ext uri="{FF2B5EF4-FFF2-40B4-BE49-F238E27FC236}">
                <a16:creationId xmlns:a16="http://schemas.microsoft.com/office/drawing/2014/main" id="{5451132D-1E72-4890-B990-2983449A38E7}"/>
              </a:ext>
            </a:extLst>
          </p:cNvPr>
          <p:cNvSpPr>
            <a:spLocks xmlns:a="http://schemas.openxmlformats.org/drawingml/2006/main" noGrp="1"/>
          </p:cNvSpPr>
          <p:nvPr/>
        </p:nvSpPr>
        <p:spPr>
          <a:xfrm xmlns:a="http://schemas.openxmlformats.org/drawingml/2006/main">
            <a:off x="7305675" y="4457700"/>
            <a:ext cx="41719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우천·공사·현장 변화에 대응할 예비 자리를 준비합니다.</a:t>
            </a:r>
          </a:p>
        </p:txBody>
      </p:sp>
      <p:sp>
        <p:nvSpPr>
          <p:cNvPr id="13" name="">
            <a:extLst xmlns:a="http://schemas.openxmlformats.org/drawingml/2006/main">
              <a:ext uri="{FF2B5EF4-FFF2-40B4-BE49-F238E27FC236}">
                <a16:creationId xmlns:a16="http://schemas.microsoft.com/office/drawing/2014/main" id="{9942D708-72BC-42B4-B731-8AB5C51B0BB1}"/>
              </a:ext>
            </a:extLst>
          </p:cNvPr>
          <p:cNvSpPr>
            <a:spLocks xmlns:a="http://schemas.openxmlformats.org/drawingml/2006/main" noGrp="1"/>
          </p:cNvSpPr>
          <p:nvPr/>
        </p:nvSpPr>
        <p:spPr>
          <a:xfrm xmlns:a="http://schemas.openxmlformats.org/drawingml/2006/main">
            <a:off x="628650" y="59150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756"/>
                </a:solidFill>
                <a:latin typeface="Apple SD Gothic Neo"/>
                <a:ea typeface="Apple SD Gothic Neo"/>
                <a:cs typeface="Apple SD Gothic Neo"/>
              </a:defRPr>
            </a:pPr>
            <a:r>
              <a:rPr sz="1425" b="0">
                <a:solidFill>
                  <a:srgbClr val="536756"/>
                </a:solidFill>
                <a:latin typeface="Apple SD Gothic Neo"/>
                <a:ea typeface="Apple SD Gothic Neo"/>
                <a:cs typeface="Apple SD Gothic Neo"/>
              </a:rPr>
              <a:t>실제 캠페인 셋업 참고 사진. 다음 사용 가능 여부는 날짜·시간·인원에 맞춰 다시 확인합니다.</a:t>
            </a:r>
          </a:p>
        </p:txBody>
      </p:sp>
    </p:spTree>
    <p:extLst>
      <p:ext uri="{BB962C8B-B14F-4D97-AF65-F5344CB8AC3E}">
        <p14:creationId xmlns:p14="http://schemas.microsoft.com/office/powerpoint/2010/main" val="1982438575"/>
      </p:ext>
    </p:extLst>
  </p:cSld>
</p:sld>
</file>

<file path=ppt/slides/slide8.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B8F5224-0B35-46BC-B28B-731F3C69AF55}"/>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사이트 기록표 작성</a:t>
            </a:r>
          </a:p>
        </p:txBody>
      </p:sp>
      <p:sp>
        <p:nvSpPr>
          <p:cNvPr id="2" name="">
            <a:extLst xmlns:a="http://schemas.openxmlformats.org/drawingml/2006/main">
              <a:ext uri="{FF2B5EF4-FFF2-40B4-BE49-F238E27FC236}">
                <a16:creationId xmlns:a16="http://schemas.microsoft.com/office/drawing/2014/main" id="{2E966AB2-118C-4195-9B6F-C720C5ADE320}"/>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다른 리더도 같은 자리를 찾고 준비할 수 있도록 기록합니다.</a:t>
            </a:r>
          </a:p>
        </p:txBody>
      </p:sp>
      <p:sp>
        <p:nvSpPr>
          <p:cNvPr id="3" name="">
            <a:extLst xmlns:a="http://schemas.openxmlformats.org/drawingml/2006/main">
              <a:ext uri="{FF2B5EF4-FFF2-40B4-BE49-F238E27FC236}">
                <a16:creationId xmlns:a16="http://schemas.microsoft.com/office/drawing/2014/main" id="{431D743A-7429-4C08-8CA3-36F47438C9BF}"/>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4CA4DAFD-011D-47C1-AEC0-C29C26487EDA}"/>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08</a:t>
            </a:r>
          </a:p>
        </p:txBody>
      </p:sp>
      <p:graphicFrame>
        <p:nvGraphicFramePr>
          <p:cNvPr id="10" name=""/>
          <p:cNvGraphicFramePr/>
          <p:nvPr/>
        </p:nvGraphicFramePr>
        <p:xfrm>
          <a:off xmlns:a="http://schemas.openxmlformats.org/drawingml/2006/main" x="609600" y="1962150"/>
          <a:ext xmlns:a="http://schemas.openxmlformats.org/drawingml/2006/main" cx="10972800" cy="4067175"/>
        </p:xfrm>
        <a:graphic xmlns:a="http://schemas.openxmlformats.org/drawingml/2006/main">
          <a:graphicData uri="http://schemas.openxmlformats.org/drawingml/2006/table">
            <a:tbl>
              <a:tblPr/>
              <a:tblGrid>
                <a:gridCol w="2873829"/>
                <a:gridCol w="8098971"/>
              </a:tblGrid>
              <a:tr h="581025">
                <a:tc>
                  <a:txBody>
                    <a:bodyPr/>
                    <a:lstStyle/>
                    <a:p>
                      <a:r>
                        <a:rPr sz="1800" b="1">
                          <a:solidFill>
                            <a:srgbClr val="F8F9F2"/>
                          </a:solidFill>
                          <a:latin typeface="Apple SD Gothic Neo"/>
                          <a:ea typeface="Apple SD Gothic Neo"/>
                          <a:cs typeface="Apple SD Gothic Neo"/>
                        </a:rPr>
                        <a:t>항목</a:t>
                      </a:r>
                    </a:p>
                  </a:txBody>
                  <a:tcPr marL="171450" marR="133350" marT="114300" marB="114300" anchor="ctr">
                    <a:solidFill>
                      <a:srgbClr val="192A20"/>
                    </a:solidFill>
                  </a:tcPr>
                </a:tc>
                <a:tc>
                  <a:txBody>
                    <a:bodyPr/>
                    <a:lstStyle/>
                    <a:p>
                      <a:r>
                        <a:rPr sz="1800" b="1">
                          <a:solidFill>
                            <a:srgbClr val="F8F9F2"/>
                          </a:solidFill>
                          <a:latin typeface="Apple SD Gothic Neo"/>
                          <a:ea typeface="Apple SD Gothic Neo"/>
                          <a:cs typeface="Apple SD Gothic Neo"/>
                        </a:rPr>
                        <a:t>내용</a:t>
                      </a:r>
                    </a:p>
                  </a:txBody>
                  <a:tcPr marL="171450" marR="133350" marT="114300" marB="114300" anchor="ctr">
                    <a:solidFill>
                      <a:srgbClr val="192A20"/>
                    </a:solidFill>
                  </a:tcPr>
                </a:tc>
              </a:tr>
              <a:tr h="581025">
                <a:tc>
                  <a:txBody>
                    <a:bodyPr/>
                    <a:lstStyle/>
                    <a:p>
                      <a:r>
                        <a:rPr sz="1800" b="1">
                          <a:solidFill>
                            <a:srgbClr val="192A20"/>
                          </a:solidFill>
                          <a:latin typeface="Apple SD Gothic Neo"/>
                          <a:ea typeface="Apple SD Gothic Neo"/>
                          <a:cs typeface="Apple SD Gothic Neo"/>
                        </a:rPr>
                        <a:t>사이트명</a:t>
                      </a:r>
                    </a:p>
                  </a:txBody>
                  <a:tcPr marL="171450" marR="133350" marT="114300" marB="114300" anchor="ctr">
                    <a:solidFill>
                      <a:srgbClr val="F5F3EA"/>
                    </a:solidFill>
                  </a:tcPr>
                </a:tc>
                <a:tc>
                  <a:txBody>
                    <a:bodyPr/>
                    <a:lstStyle/>
                    <a:p>
                      <a:r>
                        <a:rPr sz="1800" b="0">
                          <a:solidFill>
                            <a:srgbClr val="192A20"/>
                          </a:solidFill>
                          <a:latin typeface="Apple SD Gothic Neo"/>
                          <a:ea typeface="Apple SD Gothic Neo"/>
                          <a:cs typeface="Apple SD Gothic Neo"/>
                        </a:rPr>
                        <a:t>카카오맵 표시 장소명·지점명</a:t>
                      </a:r>
                    </a:p>
                  </a:txBody>
                  <a:tcPr marL="171450" marR="133350" marT="114300" marB="114300" anchor="ctr">
                    <a:solidFill>
                      <a:srgbClr val="F5F3EA"/>
                    </a:solidFill>
                  </a:tcPr>
                </a:tc>
              </a:tr>
              <a:tr h="581025">
                <a:tc>
                  <a:txBody>
                    <a:bodyPr/>
                    <a:lstStyle/>
                    <a:p>
                      <a:r>
                        <a:rPr sz="1800" b="1">
                          <a:solidFill>
                            <a:srgbClr val="192A20"/>
                          </a:solidFill>
                          <a:latin typeface="Apple SD Gothic Neo"/>
                          <a:ea typeface="Apple SD Gothic Neo"/>
                          <a:cs typeface="Apple SD Gothic Neo"/>
                        </a:rPr>
                        <a:t>주소·지도 링크·셋업 위치</a:t>
                      </a:r>
                    </a:p>
                  </a:txBody>
                  <a:tcPr marL="171450" marR="133350" marT="114300" marB="114300" anchor="ctr">
                    <a:solidFill>
                      <a:srgbClr val="E9EBDD"/>
                    </a:solidFill>
                  </a:tcPr>
                </a:tc>
                <a:tc>
                  <a:txBody>
                    <a:bodyPr/>
                    <a:lstStyle/>
                    <a:p>
                      <a:r>
                        <a:rPr sz="1800" b="0">
                          <a:solidFill>
                            <a:srgbClr val="192A20"/>
                          </a:solidFill>
                          <a:latin typeface="Apple SD Gothic Neo"/>
                          <a:ea typeface="Apple SD Gothic Neo"/>
                          <a:cs typeface="Apple SD Gothic Neo"/>
                        </a:rPr>
                        <a:t>정확한 위치 설명과 셋업 사진</a:t>
                      </a:r>
                    </a:p>
                  </a:txBody>
                  <a:tcPr marL="171450" marR="133350" marT="114300" marB="114300" anchor="ctr">
                    <a:solidFill>
                      <a:srgbClr val="E9EBDD"/>
                    </a:solidFill>
                  </a:tcPr>
                </a:tc>
              </a:tr>
              <a:tr h="581025">
                <a:tc>
                  <a:txBody>
                    <a:bodyPr/>
                    <a:lstStyle/>
                    <a:p>
                      <a:r>
                        <a:rPr sz="1800" b="1">
                          <a:solidFill>
                            <a:srgbClr val="192A20"/>
                          </a:solidFill>
                          <a:latin typeface="Apple SD Gothic Neo"/>
                          <a:ea typeface="Apple SD Gothic Neo"/>
                          <a:cs typeface="Apple SD Gothic Neo"/>
                        </a:rPr>
                        <a:t>확인 날짜·도로뷰 촬영일</a:t>
                      </a:r>
                    </a:p>
                  </a:txBody>
                  <a:tcPr marL="171450" marR="133350" marT="114300" marB="114300" anchor="ctr">
                    <a:solidFill>
                      <a:srgbClr val="F5F3EA"/>
                    </a:solidFill>
                  </a:tcPr>
                </a:tc>
                <a:tc>
                  <a:txBody>
                    <a:bodyPr/>
                    <a:lstStyle/>
                    <a:p>
                      <a:r>
                        <a:rPr sz="1800" b="0">
                          <a:solidFill>
                            <a:srgbClr val="192A20"/>
                          </a:solidFill>
                          <a:latin typeface="Apple SD Gothic Neo"/>
                          <a:ea typeface="Apple SD Gothic Neo"/>
                          <a:cs typeface="Apple SD Gothic Neo"/>
                        </a:rPr>
                        <a:t>정보의 시점을 기록</a:t>
                      </a:r>
                    </a:p>
                  </a:txBody>
                  <a:tcPr marL="171450" marR="133350" marT="114300" marB="114300" anchor="ctr">
                    <a:solidFill>
                      <a:srgbClr val="F5F3EA"/>
                    </a:solidFill>
                  </a:tcPr>
                </a:tc>
              </a:tr>
              <a:tr h="581025">
                <a:tc>
                  <a:txBody>
                    <a:bodyPr/>
                    <a:lstStyle/>
                    <a:p>
                      <a:r>
                        <a:rPr sz="1800" b="1">
                          <a:solidFill>
                            <a:srgbClr val="192A20"/>
                          </a:solidFill>
                          <a:latin typeface="Apple SD Gothic Neo"/>
                          <a:ea typeface="Apple SD Gothic Neo"/>
                          <a:cs typeface="Apple SD Gothic Neo"/>
                        </a:rPr>
                        <a:t>운영 요일과 피드백</a:t>
                      </a:r>
                    </a:p>
                  </a:txBody>
                  <a:tcPr marL="171450" marR="133350" marT="114300" marB="114300" anchor="ctr">
                    <a:solidFill>
                      <a:srgbClr val="E9EBDD"/>
                    </a:solidFill>
                  </a:tcPr>
                </a:tc>
                <a:tc>
                  <a:txBody>
                    <a:bodyPr/>
                    <a:lstStyle/>
                    <a:p>
                      <a:r>
                        <a:rPr sz="1800" b="0">
                          <a:solidFill>
                            <a:srgbClr val="192A20"/>
                          </a:solidFill>
                          <a:latin typeface="Apple SD Gothic Neo"/>
                          <a:ea typeface="Apple SD Gothic Neo"/>
                          <a:cs typeface="Apple SD Gothic Neo"/>
                        </a:rPr>
                        <a:t>언제 운영했고 어떤 결과였는지</a:t>
                      </a:r>
                    </a:p>
                  </a:txBody>
                  <a:tcPr marL="171450" marR="133350" marT="114300" marB="114300" anchor="ctr">
                    <a:solidFill>
                      <a:srgbClr val="E9EBDD"/>
                    </a:solidFill>
                  </a:tcPr>
                </a:tc>
              </a:tr>
              <a:tr h="581025">
                <a:tc>
                  <a:txBody>
                    <a:bodyPr/>
                    <a:lstStyle/>
                    <a:p>
                      <a:r>
                        <a:rPr sz="1800" b="1">
                          <a:solidFill>
                            <a:srgbClr val="192A20"/>
                          </a:solidFill>
                          <a:latin typeface="Apple SD Gothic Neo"/>
                          <a:ea typeface="Apple SD Gothic Neo"/>
                          <a:cs typeface="Apple SD Gothic Neo"/>
                        </a:rPr>
                        <a:t>사용 상태</a:t>
                      </a:r>
                    </a:p>
                  </a:txBody>
                  <a:tcPr marL="171450" marR="133350" marT="114300" marB="114300" anchor="ctr">
                    <a:solidFill>
                      <a:srgbClr val="F5F3EA"/>
                    </a:solidFill>
                  </a:tcPr>
                </a:tc>
                <a:tc>
                  <a:txBody>
                    <a:bodyPr/>
                    <a:lstStyle/>
                    <a:p>
                      <a:r>
                        <a:rPr sz="1800" b="0">
                          <a:solidFill>
                            <a:srgbClr val="192A20"/>
                          </a:solidFill>
                          <a:latin typeface="Apple SD Gothic Neo"/>
                          <a:ea typeface="Apple SD Gothic Neo"/>
                          <a:cs typeface="Apple SD Gothic Neo"/>
                        </a:rPr>
                        <a:t>확인 중 / 사용 가능 확인 / 예비</a:t>
                      </a:r>
                    </a:p>
                  </a:txBody>
                  <a:tcPr marL="171450" marR="133350" marT="114300" marB="114300" anchor="ctr">
                    <a:solidFill>
                      <a:srgbClr val="F5F3EA"/>
                    </a:solidFill>
                  </a:tcPr>
                </a:tc>
              </a:tr>
              <a:tr h="581025">
                <a:tc>
                  <a:txBody>
                    <a:bodyPr/>
                    <a:lstStyle/>
                    <a:p>
                      <a:r>
                        <a:rPr sz="1800" b="1">
                          <a:solidFill>
                            <a:srgbClr val="192A20"/>
                          </a:solidFill>
                          <a:latin typeface="Apple SD Gothic Neo"/>
                          <a:ea typeface="Apple SD Gothic Neo"/>
                          <a:cs typeface="Apple SD Gothic Neo"/>
                        </a:rPr>
                        <a:t>담당자</a:t>
                      </a:r>
                    </a:p>
                  </a:txBody>
                  <a:tcPr marL="171450" marR="133350" marT="114300" marB="114300" anchor="ctr">
                    <a:solidFill>
                      <a:srgbClr val="E9EBDD"/>
                    </a:solidFill>
                  </a:tcPr>
                </a:tc>
                <a:tc>
                  <a:txBody>
                    <a:bodyPr/>
                    <a:lstStyle/>
                    <a:p>
                      <a:r>
                        <a:rPr sz="1800" b="0">
                          <a:solidFill>
                            <a:srgbClr val="192A20"/>
                          </a:solidFill>
                          <a:latin typeface="Apple SD Gothic Neo"/>
                          <a:ea typeface="Apple SD Gothic Neo"/>
                          <a:cs typeface="Apple SD Gothic Neo"/>
                        </a:rPr>
                        <a:t>누가 확인하고 다음 점검을 맡는지</a:t>
                      </a:r>
                    </a:p>
                  </a:txBody>
                  <a:tcPr marL="171450" marR="133350" marT="114300" marB="114300" anchor="ctr">
                    <a:solidFill>
                      <a:srgbClr val="E9EBDD"/>
                    </a:solidFill>
                  </a:tcPr>
                </a:tc>
              </a:tr>
            </a:tbl>
          </a:graphicData>
        </a:graphic>
      </p:graphicFrame>
    </p:spTree>
    <p:extLst>
      <p:ext uri="{BB962C8B-B14F-4D97-AF65-F5344CB8AC3E}">
        <p14:creationId xmlns:p14="http://schemas.microsoft.com/office/powerpoint/2010/main" val="1223848903"/>
      </p:ext>
    </p:extLst>
  </p:cSld>
</p:sld>
</file>

<file path=ppt/slides/slide9.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BF8369D-ACA6-4FDB-98FE-981BD97DD59B}"/>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테리토리 확보의 목표</a:t>
            </a:r>
          </a:p>
        </p:txBody>
      </p:sp>
      <p:sp>
        <p:nvSpPr>
          <p:cNvPr id="2" name="">
            <a:extLst xmlns:a="http://schemas.openxmlformats.org/drawingml/2006/main">
              <a:ext uri="{FF2B5EF4-FFF2-40B4-BE49-F238E27FC236}">
                <a16:creationId xmlns:a16="http://schemas.microsoft.com/office/drawing/2014/main" id="{B358A62D-9AC2-4CCC-A134-9EB7BEA019C9}"/>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교육용 예시 · 운영 단위 한 팀 기준</a:t>
            </a:r>
          </a:p>
        </p:txBody>
      </p:sp>
      <p:sp>
        <p:nvSpPr>
          <p:cNvPr id="3" name="">
            <a:extLst xmlns:a="http://schemas.openxmlformats.org/drawingml/2006/main">
              <a:ext uri="{FF2B5EF4-FFF2-40B4-BE49-F238E27FC236}">
                <a16:creationId xmlns:a16="http://schemas.microsoft.com/office/drawing/2014/main" id="{A78C0248-CBAA-423B-9AF5-15E777799919}"/>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BCFE55D9-401A-4383-BE6F-34390A72A45D}"/>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09</a:t>
            </a:r>
          </a:p>
        </p:txBody>
      </p:sp>
      <p:graphicFrame>
        <p:nvGraphicFramePr>
          <p:cNvPr id="12" name=""/>
          <p:cNvGraphicFramePr/>
          <p:nvPr/>
        </p:nvGraphicFramePr>
        <p:xfrm>
          <a:off xmlns:a="http://schemas.openxmlformats.org/drawingml/2006/main" x="609600" y="2057400"/>
          <a:ext xmlns:a="http://schemas.openxmlformats.org/drawingml/2006/main" cx="10972800" cy="2714625"/>
        </p:xfrm>
        <a:graphic xmlns:a="http://schemas.openxmlformats.org/drawingml/2006/main">
          <a:graphicData uri="http://schemas.openxmlformats.org/drawingml/2006/table">
            <a:tbl>
              <a:tblPr/>
              <a:tblGrid>
                <a:gridCol w="3893574"/>
                <a:gridCol w="3539613"/>
                <a:gridCol w="3539613"/>
              </a:tblGrid>
              <a:tr h="678656">
                <a:tc>
                  <a:txBody>
                    <a:bodyPr/>
                    <a:lstStyle/>
                    <a:p>
                      <a:r>
                        <a:rPr sz="2400" b="1">
                          <a:solidFill>
                            <a:srgbClr val="192A20"/>
                          </a:solidFill>
                          <a:latin typeface="Apple SD Gothic Neo"/>
                          <a:ea typeface="Apple SD Gothic Neo"/>
                          <a:cs typeface="Apple SD Gothic Neo"/>
                        </a:rPr>
                        <a:t>수준</a:t>
                      </a:r>
                    </a:p>
                  </a:txBody>
                  <a:tcPr marL="171450" marR="133350" marT="114300" marB="114300" anchor="ctr">
                    <a:solidFill>
                      <a:srgbClr val="D5E6A5"/>
                    </a:solidFill>
                  </a:tcPr>
                </a:tc>
                <a:tc>
                  <a:txBody>
                    <a:bodyPr/>
                    <a:lstStyle/>
                    <a:p>
                      <a:r>
                        <a:rPr sz="2400" b="1">
                          <a:solidFill>
                            <a:srgbClr val="192A20"/>
                          </a:solidFill>
                          <a:latin typeface="Apple SD Gothic Neo"/>
                          <a:ea typeface="Apple SD Gothic Neo"/>
                          <a:cs typeface="Apple SD Gothic Neo"/>
                        </a:rPr>
                        <a:t>주요 사이트</a:t>
                      </a:r>
                    </a:p>
                  </a:txBody>
                  <a:tcPr marL="171450" marR="133350" marT="114300" marB="114300" anchor="ctr">
                    <a:solidFill>
                      <a:srgbClr val="D5E6A5"/>
                    </a:solidFill>
                  </a:tcPr>
                </a:tc>
                <a:tc>
                  <a:txBody>
                    <a:bodyPr/>
                    <a:lstStyle/>
                    <a:p>
                      <a:r>
                        <a:rPr sz="2400" b="1">
                          <a:solidFill>
                            <a:srgbClr val="192A20"/>
                          </a:solidFill>
                          <a:latin typeface="Apple SD Gothic Neo"/>
                          <a:ea typeface="Apple SD Gothic Neo"/>
                          <a:cs typeface="Apple SD Gothic Neo"/>
                        </a:rPr>
                        <a:t>예비 사이트</a:t>
                      </a:r>
                    </a:p>
                  </a:txBody>
                  <a:tcPr marL="171450" marR="133350" marT="114300" marB="114300" anchor="ctr">
                    <a:solidFill>
                      <a:srgbClr val="D5E6A5"/>
                    </a:solidFill>
                  </a:tcPr>
                </a:tc>
              </a:tr>
              <a:tr h="678656">
                <a:tc>
                  <a:txBody>
                    <a:bodyPr/>
                    <a:lstStyle/>
                    <a:p>
                      <a:r>
                        <a:rPr sz="2400" b="1">
                          <a:solidFill>
                            <a:srgbClr val="F8F9F2"/>
                          </a:solidFill>
                          <a:latin typeface="Apple SD Gothic Neo"/>
                          <a:ea typeface="Apple SD Gothic Neo"/>
                          <a:cs typeface="Apple SD Gothic Neo"/>
                        </a:rPr>
                        <a:t>Best</a:t>
                      </a:r>
                    </a:p>
                  </a:txBody>
                  <a:tcPr marL="171450" marR="133350" marT="114300" marB="114300" anchor="ctr">
                    <a:solidFill>
                      <a:srgbClr val="22372A"/>
                    </a:solidFill>
                  </a:tcPr>
                </a:tc>
                <a:tc>
                  <a:txBody>
                    <a:bodyPr/>
                    <a:lstStyle/>
                    <a:p>
                      <a:r>
                        <a:rPr sz="2400" b="0">
                          <a:solidFill>
                            <a:srgbClr val="F8F9F2"/>
                          </a:solidFill>
                          <a:latin typeface="Apple SD Gothic Neo"/>
                          <a:ea typeface="Apple SD Gothic Neo"/>
                          <a:cs typeface="Apple SD Gothic Neo"/>
                        </a:rPr>
                        <a:t>2곳</a:t>
                      </a:r>
                    </a:p>
                  </a:txBody>
                  <a:tcPr marL="171450" marR="133350" marT="114300" marB="114300" anchor="ctr">
                    <a:solidFill>
                      <a:srgbClr val="22372A"/>
                    </a:solidFill>
                  </a:tcPr>
                </a:tc>
                <a:tc>
                  <a:txBody>
                    <a:bodyPr/>
                    <a:lstStyle/>
                    <a:p>
                      <a:r>
                        <a:rPr sz="2400" b="0">
                          <a:solidFill>
                            <a:srgbClr val="F8F9F2"/>
                          </a:solidFill>
                          <a:latin typeface="Apple SD Gothic Neo"/>
                          <a:ea typeface="Apple SD Gothic Neo"/>
                          <a:cs typeface="Apple SD Gothic Neo"/>
                        </a:rPr>
                        <a:t>2곳</a:t>
                      </a:r>
                    </a:p>
                  </a:txBody>
                  <a:tcPr marL="171450" marR="133350" marT="114300" marB="114300" anchor="ctr">
                    <a:solidFill>
                      <a:srgbClr val="22372A"/>
                    </a:solidFill>
                  </a:tcPr>
                </a:tc>
              </a:tr>
              <a:tr h="678656">
                <a:tc>
                  <a:txBody>
                    <a:bodyPr/>
                    <a:lstStyle/>
                    <a:p>
                      <a:r>
                        <a:rPr sz="2400" b="1">
                          <a:solidFill>
                            <a:srgbClr val="F8F9F2"/>
                          </a:solidFill>
                          <a:latin typeface="Apple SD Gothic Neo"/>
                          <a:ea typeface="Apple SD Gothic Neo"/>
                          <a:cs typeface="Apple SD Gothic Neo"/>
                        </a:rPr>
                        <a:t>Good</a:t>
                      </a:r>
                    </a:p>
                  </a:txBody>
                  <a:tcPr marL="171450" marR="133350" marT="114300" marB="114300" anchor="ctr">
                    <a:solidFill>
                      <a:srgbClr val="1B2E23"/>
                    </a:solidFill>
                  </a:tcPr>
                </a:tc>
                <a:tc>
                  <a:txBody>
                    <a:bodyPr/>
                    <a:lstStyle/>
                    <a:p>
                      <a:r>
                        <a:rPr sz="2400" b="0">
                          <a:solidFill>
                            <a:srgbClr val="F8F9F2"/>
                          </a:solidFill>
                          <a:latin typeface="Apple SD Gothic Neo"/>
                          <a:ea typeface="Apple SD Gothic Neo"/>
                          <a:cs typeface="Apple SD Gothic Neo"/>
                        </a:rPr>
                        <a:t>1곳</a:t>
                      </a:r>
                    </a:p>
                  </a:txBody>
                  <a:tcPr marL="171450" marR="133350" marT="114300" marB="114300" anchor="ctr">
                    <a:solidFill>
                      <a:srgbClr val="1B2E23"/>
                    </a:solidFill>
                  </a:tcPr>
                </a:tc>
                <a:tc>
                  <a:txBody>
                    <a:bodyPr/>
                    <a:lstStyle/>
                    <a:p>
                      <a:r>
                        <a:rPr sz="2400" b="0">
                          <a:solidFill>
                            <a:srgbClr val="F8F9F2"/>
                          </a:solidFill>
                          <a:latin typeface="Apple SD Gothic Neo"/>
                          <a:ea typeface="Apple SD Gothic Neo"/>
                          <a:cs typeface="Apple SD Gothic Neo"/>
                        </a:rPr>
                        <a:t>2곳</a:t>
                      </a:r>
                    </a:p>
                  </a:txBody>
                  <a:tcPr marL="171450" marR="133350" marT="114300" marB="114300" anchor="ctr">
                    <a:solidFill>
                      <a:srgbClr val="1B2E23"/>
                    </a:solidFill>
                  </a:tcPr>
                </a:tc>
              </a:tr>
              <a:tr h="678656">
                <a:tc>
                  <a:txBody>
                    <a:bodyPr/>
                    <a:lstStyle/>
                    <a:p>
                      <a:r>
                        <a:rPr sz="2400" b="1">
                          <a:solidFill>
                            <a:srgbClr val="F8F9F2"/>
                          </a:solidFill>
                          <a:latin typeface="Apple SD Gothic Neo"/>
                          <a:ea typeface="Apple SD Gothic Neo"/>
                          <a:cs typeface="Apple SD Gothic Neo"/>
                        </a:rPr>
                        <a:t>Minimum</a:t>
                      </a:r>
                    </a:p>
                  </a:txBody>
                  <a:tcPr marL="171450" marR="133350" marT="114300" marB="114300" anchor="ctr">
                    <a:solidFill>
                      <a:srgbClr val="22372A"/>
                    </a:solidFill>
                  </a:tcPr>
                </a:tc>
                <a:tc>
                  <a:txBody>
                    <a:bodyPr/>
                    <a:lstStyle/>
                    <a:p>
                      <a:r>
                        <a:rPr sz="2400" b="0">
                          <a:solidFill>
                            <a:srgbClr val="F8F9F2"/>
                          </a:solidFill>
                          <a:latin typeface="Apple SD Gothic Neo"/>
                          <a:ea typeface="Apple SD Gothic Neo"/>
                          <a:cs typeface="Apple SD Gothic Neo"/>
                        </a:rPr>
                        <a:t>1곳</a:t>
                      </a:r>
                    </a:p>
                  </a:txBody>
                  <a:tcPr marL="171450" marR="133350" marT="114300" marB="114300" anchor="ctr">
                    <a:solidFill>
                      <a:srgbClr val="22372A"/>
                    </a:solidFill>
                  </a:tcPr>
                </a:tc>
                <a:tc>
                  <a:txBody>
                    <a:bodyPr/>
                    <a:lstStyle/>
                    <a:p>
                      <a:r>
                        <a:rPr sz="2400" b="0">
                          <a:solidFill>
                            <a:srgbClr val="F8F9F2"/>
                          </a:solidFill>
                          <a:latin typeface="Apple SD Gothic Neo"/>
                          <a:ea typeface="Apple SD Gothic Neo"/>
                          <a:cs typeface="Apple SD Gothic Neo"/>
                        </a:rPr>
                        <a:t>1곳</a:t>
                      </a:r>
                    </a:p>
                  </a:txBody>
                  <a:tcPr marL="171450" marR="133350" marT="114300" marB="114300" anchor="ctr">
                    <a:solidFill>
                      <a:srgbClr val="22372A"/>
                    </a:solidFill>
                  </a:tcPr>
                </a:tc>
              </a:tr>
            </a:tbl>
          </a:graphicData>
        </a:graphic>
      </p:graphicFrame>
      <p:sp>
        <p:nvSpPr>
          <p:cNvPr id="6" name="">
            <a:extLst xmlns:a="http://schemas.openxmlformats.org/drawingml/2006/main">
              <a:ext uri="{FF2B5EF4-FFF2-40B4-BE49-F238E27FC236}">
                <a16:creationId xmlns:a16="http://schemas.microsoft.com/office/drawing/2014/main" id="{0CB2D155-880A-42AF-8EE0-9305D4B03838}"/>
              </a:ext>
            </a:extLst>
          </p:cNvPr>
          <p:cNvSpPr>
            <a:spLocks xmlns:a="http://schemas.openxmlformats.org/drawingml/2006/main" noGrp="1"/>
          </p:cNvSpPr>
          <p:nvPr/>
        </p:nvSpPr>
        <p:spPr>
          <a:xfrm xmlns:a="http://schemas.openxmlformats.org/drawingml/2006/main">
            <a:off x="609600" y="5153025"/>
            <a:ext cx="5143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DBED9C"/>
                </a:solidFill>
                <a:latin typeface="Apple SD Gothic Neo"/>
                <a:ea typeface="Apple SD Gothic Neo"/>
                <a:cs typeface="Apple SD Gothic Neo"/>
              </a:defRPr>
            </a:pPr>
            <a:r>
              <a:rPr sz="2325" b="1">
                <a:solidFill>
                  <a:srgbClr val="DBED9C"/>
                </a:solidFill>
                <a:latin typeface="Apple SD Gothic Neo"/>
                <a:ea typeface="Apple SD Gothic Neo"/>
                <a:cs typeface="Apple SD Gothic Neo"/>
              </a:rPr>
              <a:t>“후보”가 “확보”가 되는 기준</a:t>
            </a:r>
          </a:p>
        </p:txBody>
      </p:sp>
      <p:sp>
        <p:nvSpPr>
          <p:cNvPr id="7" name="">
            <a:extLst xmlns:a="http://schemas.openxmlformats.org/drawingml/2006/main">
              <a:ext uri="{FF2B5EF4-FFF2-40B4-BE49-F238E27FC236}">
                <a16:creationId xmlns:a16="http://schemas.microsoft.com/office/drawing/2014/main" id="{5A03EFC9-1D8D-4777-919C-D213A1583BE1}"/>
              </a:ext>
            </a:extLst>
          </p:cNvPr>
          <p:cNvSpPr>
            <a:spLocks xmlns:a="http://schemas.openxmlformats.org/drawingml/2006/main" noGrp="1"/>
          </p:cNvSpPr>
          <p:nvPr/>
        </p:nvSpPr>
        <p:spPr>
          <a:xfrm xmlns:a="http://schemas.openxmlformats.org/drawingml/2006/main">
            <a:off x="609600" y="567690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F8F9F2"/>
                </a:solidFill>
                <a:latin typeface="Apple SD Gothic Neo"/>
                <a:ea typeface="Apple SD Gothic Neo"/>
                <a:cs typeface="Apple SD Gothic Neo"/>
              </a:defRPr>
            </a:pPr>
            <a:r>
              <a:rPr sz="2175" b="0">
                <a:solidFill>
                  <a:srgbClr val="F8F9F2"/>
                </a:solidFill>
                <a:latin typeface="Apple SD Gothic Neo"/>
                <a:ea typeface="Apple SD Gothic Neo"/>
                <a:cs typeface="Apple SD Gothic Neo"/>
              </a:rPr>
              <a:t>날짜·시간·인원에 맞는 사용 가능 확인 완료</a:t>
            </a:r>
          </a:p>
        </p:txBody>
      </p:sp>
    </p:spTree>
    <p:extLst>
      <p:ext uri="{BB962C8B-B14F-4D97-AF65-F5344CB8AC3E}">
        <p14:creationId xmlns:p14="http://schemas.microsoft.com/office/powerpoint/2010/main" val="1392828891"/>
      </p:ext>
    </p:extLst>
  </p:cSld>
</p:sld>
</file>

<file path=ppt/slides/slide10.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11DB278-789C-4F35-86B8-EDE854D54A3D}"/>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Profit · 인컴 극대화와 몰입</a:t>
            </a:r>
          </a:p>
        </p:txBody>
      </p:sp>
      <p:sp>
        <p:nvSpPr>
          <p:cNvPr id="2" name="">
            <a:extLst xmlns:a="http://schemas.openxmlformats.org/drawingml/2006/main">
              <a:ext uri="{FF2B5EF4-FFF2-40B4-BE49-F238E27FC236}">
                <a16:creationId xmlns:a16="http://schemas.microsoft.com/office/drawing/2014/main" id="{CBDD667D-25F0-4DFB-A5A9-883F00353FCC}"/>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필드 시간을 확보하고 일에 몰입해 성과와 인컴을 높입니다.</a:t>
            </a:r>
          </a:p>
        </p:txBody>
      </p:sp>
      <p:sp>
        <p:nvSpPr>
          <p:cNvPr id="3" name="">
            <a:extLst xmlns:a="http://schemas.openxmlformats.org/drawingml/2006/main">
              <a:ext uri="{FF2B5EF4-FFF2-40B4-BE49-F238E27FC236}">
                <a16:creationId xmlns:a16="http://schemas.microsoft.com/office/drawing/2014/main" id="{9ADE6A3B-CBE4-4F05-86D2-2A309F1E34D8}"/>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03620636-AA66-4DFE-941B-62B3D542483C}"/>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10</a:t>
            </a:r>
          </a:p>
        </p:txBody>
      </p:sp>
      <p:graphicFrame>
        <p:nvGraphicFramePr>
          <p:cNvPr id="17" name="Chart"/>
          <p:cNvGraphicFramePr/>
          <p:nvPr/>
        </p:nvGraphicFramePr>
        <p:xfrm>
          <a:off xmlns:a="http://schemas.openxmlformats.org/drawingml/2006/main" x="571500" y="1990725"/>
          <a:ext xmlns:a="http://schemas.openxmlformats.org/drawingml/2006/main" cx="7286625" cy="3695700"/>
        </p:xfrm>
        <a:graphic xmlns:a="http://schemas.openxmlformats.org/drawingml/2006/main">
          <a:graphicData uri="http://schemas.openxmlformats.org/drawingml/2006/chart">
            <c:chart xmlns:r="http://schemas.openxmlformats.org/officeDocument/2006/relationships" xmlns:c="http://schemas.openxmlformats.org/drawingml/2006/chart" r:id="Rf9910856cbe0419b"/>
          </a:graphicData>
        </a:graphic>
      </p:graphicFrame>
      <p:sp>
        <p:nvSpPr>
          <p:cNvPr id="6" name="">
            <a:extLst xmlns:a="http://schemas.openxmlformats.org/drawingml/2006/main">
              <a:ext uri="{FF2B5EF4-FFF2-40B4-BE49-F238E27FC236}">
                <a16:creationId xmlns:a16="http://schemas.microsoft.com/office/drawing/2014/main" id="{DCED9A92-BBFB-4073-9C09-D7D9386550E1}"/>
              </a:ext>
            </a:extLst>
          </p:cNvPr>
          <p:cNvSpPr>
            <a:spLocks xmlns:a="http://schemas.openxmlformats.org/drawingml/2006/main" noGrp="1"/>
          </p:cNvSpPr>
          <p:nvPr/>
        </p:nvSpPr>
        <p:spPr>
          <a:xfrm xmlns:a="http://schemas.openxmlformats.org/drawingml/2006/main">
            <a:off x="8391525" y="22764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2.0 AVG</a:t>
            </a:r>
          </a:p>
        </p:txBody>
      </p:sp>
      <p:sp>
        <p:nvSpPr>
          <p:cNvPr id="7" name="">
            <a:extLst xmlns:a="http://schemas.openxmlformats.org/drawingml/2006/main">
              <a:ext uri="{FF2B5EF4-FFF2-40B4-BE49-F238E27FC236}">
                <a16:creationId xmlns:a16="http://schemas.microsoft.com/office/drawing/2014/main" id="{DA5DF9F1-E7F7-40EF-9C47-4134190CE0AC}"/>
              </a:ext>
            </a:extLst>
          </p:cNvPr>
          <p:cNvSpPr>
            <a:spLocks xmlns:a="http://schemas.openxmlformats.org/drawingml/2006/main" noGrp="1"/>
          </p:cNvSpPr>
          <p:nvPr/>
        </p:nvSpPr>
        <p:spPr>
          <a:xfrm xmlns:a="http://schemas.openxmlformats.org/drawingml/2006/main">
            <a:off x="8391525" y="335280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1.5 AVG</a:t>
            </a:r>
          </a:p>
        </p:txBody>
      </p:sp>
      <p:sp>
        <p:nvSpPr>
          <p:cNvPr id="8" name="">
            <a:extLst xmlns:a="http://schemas.openxmlformats.org/drawingml/2006/main">
              <a:ext uri="{FF2B5EF4-FFF2-40B4-BE49-F238E27FC236}">
                <a16:creationId xmlns:a16="http://schemas.microsoft.com/office/drawing/2014/main" id="{05F5CF45-FF4C-46AC-B974-FE36321CB1A6}"/>
              </a:ext>
            </a:extLst>
          </p:cNvPr>
          <p:cNvSpPr>
            <a:spLocks xmlns:a="http://schemas.openxmlformats.org/drawingml/2006/main" noGrp="1"/>
          </p:cNvSpPr>
          <p:nvPr/>
        </p:nvSpPr>
        <p:spPr>
          <a:xfrm xmlns:a="http://schemas.openxmlformats.org/drawingml/2006/main">
            <a:off x="8391525" y="44291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1.0 AVG</a:t>
            </a:r>
          </a:p>
        </p:txBody>
      </p:sp>
      <p:sp>
        <p:nvSpPr>
          <p:cNvPr id="9" name="">
            <a:extLst xmlns:a="http://schemas.openxmlformats.org/drawingml/2006/main">
              <a:ext uri="{FF2B5EF4-FFF2-40B4-BE49-F238E27FC236}">
                <a16:creationId xmlns:a16="http://schemas.microsoft.com/office/drawing/2014/main" id="{AA63EA21-E152-42BA-95AC-9DA5AE0B261F}"/>
              </a:ext>
            </a:extLst>
          </p:cNvPr>
          <p:cNvSpPr>
            <a:spLocks xmlns:a="http://schemas.openxmlformats.org/drawingml/2006/main" noGrp="1"/>
          </p:cNvSpPr>
          <p:nvPr/>
        </p:nvSpPr>
        <p:spPr>
          <a:xfrm xmlns:a="http://schemas.openxmlformats.org/drawingml/2006/main">
            <a:off x="8391525" y="2714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최고의 결과</a:t>
            </a:r>
          </a:p>
        </p:txBody>
      </p:sp>
      <p:sp>
        <p:nvSpPr>
          <p:cNvPr id="10" name="">
            <a:extLst xmlns:a="http://schemas.openxmlformats.org/drawingml/2006/main">
              <a:ext uri="{FF2B5EF4-FFF2-40B4-BE49-F238E27FC236}">
                <a16:creationId xmlns:a16="http://schemas.microsoft.com/office/drawing/2014/main" id="{81DB181C-4305-4B88-B04E-FB7D76AD65A4}"/>
              </a:ext>
            </a:extLst>
          </p:cNvPr>
          <p:cNvSpPr>
            <a:spLocks xmlns:a="http://schemas.openxmlformats.org/drawingml/2006/main" noGrp="1"/>
          </p:cNvSpPr>
          <p:nvPr/>
        </p:nvSpPr>
        <p:spPr>
          <a:xfrm xmlns:a="http://schemas.openxmlformats.org/drawingml/2006/main">
            <a:off x="8391525" y="3790950"/>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좋은 결과</a:t>
            </a:r>
          </a:p>
        </p:txBody>
      </p:sp>
      <p:sp>
        <p:nvSpPr>
          <p:cNvPr id="11" name="">
            <a:extLst xmlns:a="http://schemas.openxmlformats.org/drawingml/2006/main">
              <a:ext uri="{FF2B5EF4-FFF2-40B4-BE49-F238E27FC236}">
                <a16:creationId xmlns:a16="http://schemas.microsoft.com/office/drawing/2014/main" id="{9BA467D8-040B-42E7-9B53-B7AC7E584D61}"/>
              </a:ext>
            </a:extLst>
          </p:cNvPr>
          <p:cNvSpPr>
            <a:spLocks xmlns:a="http://schemas.openxmlformats.org/drawingml/2006/main" noGrp="1"/>
          </p:cNvSpPr>
          <p:nvPr/>
        </p:nvSpPr>
        <p:spPr>
          <a:xfrm xmlns:a="http://schemas.openxmlformats.org/drawingml/2006/main">
            <a:off x="8391525" y="48672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최소 달성 결과</a:t>
            </a:r>
          </a:p>
        </p:txBody>
      </p:sp>
      <p:sp>
        <p:nvSpPr>
          <p:cNvPr id="12" name="">
            <a:extLst xmlns:a="http://schemas.openxmlformats.org/drawingml/2006/main">
              <a:ext uri="{FF2B5EF4-FFF2-40B4-BE49-F238E27FC236}">
                <a16:creationId xmlns:a16="http://schemas.microsoft.com/office/drawing/2014/main" id="{346BF4AB-9BD8-4809-A858-A4782786D50C}"/>
              </a:ext>
            </a:extLst>
          </p:cNvPr>
          <p:cNvSpPr>
            <a:spLocks xmlns:a="http://schemas.openxmlformats.org/drawingml/2006/main" noGrp="1"/>
          </p:cNvSpPr>
          <p:nvPr/>
        </p:nvSpPr>
        <p:spPr>
          <a:xfrm xmlns:a="http://schemas.openxmlformats.org/drawingml/2006/main">
            <a:off x="628650" y="59150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756"/>
                </a:solidFill>
                <a:latin typeface="Apple SD Gothic Neo"/>
                <a:ea typeface="Apple SD Gothic Neo"/>
                <a:cs typeface="Apple SD Gothic Neo"/>
              </a:defRPr>
            </a:pPr>
            <a:r>
              <a:rPr sz="1425" b="0">
                <a:solidFill>
                  <a:srgbClr val="536756"/>
                </a:solidFill>
                <a:latin typeface="Apple SD Gothic Neo"/>
                <a:ea typeface="Apple SD Gothic Neo"/>
                <a:cs typeface="Apple SD Gothic Neo"/>
              </a:rPr>
              <a:t>교육용 가정: 4명 × 4일 = 16인일. 목표 건수 = 목표 AVG × 계획 인일. 군산의 실제 사전 목표는 아닙니다.</a:t>
            </a:r>
          </a:p>
        </p:txBody>
      </p:sp>
    </p:spTree>
    <p:extLst>
      <p:ext uri="{BB962C8B-B14F-4D97-AF65-F5344CB8AC3E}">
        <p14:creationId xmlns:p14="http://schemas.microsoft.com/office/powerpoint/2010/main" val="1420713374"/>
      </p:ext>
    </p:extLst>
  </p:cSld>
</p:sld>
</file>

<file path=ppt/slides/slide11.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B8B7678-0899-4FA8-81A1-2163280B72AC}"/>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Progress · 잘하는 사람의 A to Z</a:t>
            </a:r>
          </a:p>
        </p:txBody>
      </p:sp>
      <p:sp>
        <p:nvSpPr>
          <p:cNvPr id="2" name="">
            <a:extLst xmlns:a="http://schemas.openxmlformats.org/drawingml/2006/main">
              <a:ext uri="{FF2B5EF4-FFF2-40B4-BE49-F238E27FC236}">
                <a16:creationId xmlns:a16="http://schemas.microsoft.com/office/drawing/2014/main" id="{5A044EEE-271D-4CB4-8E91-24C428647A18}"/>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함께 보내는 시간이 배움의 시간입니다. 관찰한 방식을 직접 적용하고 재현합니다.</a:t>
            </a:r>
          </a:p>
        </p:txBody>
      </p:sp>
      <p:sp>
        <p:nvSpPr>
          <p:cNvPr id="3" name="">
            <a:extLst xmlns:a="http://schemas.openxmlformats.org/drawingml/2006/main">
              <a:ext uri="{FF2B5EF4-FFF2-40B4-BE49-F238E27FC236}">
                <a16:creationId xmlns:a16="http://schemas.microsoft.com/office/drawing/2014/main" id="{1F50E27B-41B6-4E91-8AC7-1A0FDAB18644}"/>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4E062BA0-B92D-4342-8279-2F65C3020A24}"/>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11</a:t>
            </a:r>
          </a:p>
        </p:txBody>
      </p:sp>
      <p:graphicFrame>
        <p:nvGraphicFramePr>
          <p:cNvPr id="11" name=""/>
          <p:cNvGraphicFramePr/>
          <p:nvPr/>
        </p:nvGraphicFramePr>
        <p:xfrm>
          <a:off xmlns:a="http://schemas.openxmlformats.org/drawingml/2006/main" x="609600" y="2038350"/>
          <a:ext xmlns:a="http://schemas.openxmlformats.org/drawingml/2006/main" cx="10972800" cy="3076575"/>
        </p:xfrm>
        <a:graphic xmlns:a="http://schemas.openxmlformats.org/drawingml/2006/main">
          <a:graphicData uri="http://schemas.openxmlformats.org/drawingml/2006/table">
            <a:tbl>
              <a:tblPr/>
              <a:tblGrid>
                <a:gridCol w="2194560"/>
                <a:gridCol w="8778240"/>
              </a:tblGrid>
              <a:tr h="769144">
                <a:tc>
                  <a:txBody>
                    <a:bodyPr/>
                    <a:lstStyle/>
                    <a:p>
                      <a:r>
                        <a:rPr sz="2025" b="1">
                          <a:solidFill>
                            <a:srgbClr val="F8F9F2"/>
                          </a:solidFill>
                          <a:latin typeface="Apple SD Gothic Neo"/>
                          <a:ea typeface="Apple SD Gothic Neo"/>
                          <a:cs typeface="Apple SD Gothic Neo"/>
                        </a:rPr>
                        <a:t>수준</a:t>
                      </a:r>
                    </a:p>
                  </a:txBody>
                  <a:tcPr marL="171450" marR="133350" marT="114300" marB="114300" anchor="ctr">
                    <a:solidFill>
                      <a:srgbClr val="192A20"/>
                    </a:solidFill>
                  </a:tcPr>
                </a:tc>
                <a:tc>
                  <a:txBody>
                    <a:bodyPr/>
                    <a:lstStyle/>
                    <a:p>
                      <a:r>
                        <a:rPr sz="2025" b="1">
                          <a:solidFill>
                            <a:srgbClr val="F8F9F2"/>
                          </a:solidFill>
                          <a:latin typeface="Apple SD Gothic Neo"/>
                          <a:ea typeface="Apple SD Gothic Neo"/>
                          <a:cs typeface="Apple SD Gothic Neo"/>
                        </a:rPr>
                        <a:t>개인별 달성 기준</a:t>
                      </a:r>
                    </a:p>
                  </a:txBody>
                  <a:tcPr marL="171450" marR="133350" marT="114300" marB="114300" anchor="ctr">
                    <a:solidFill>
                      <a:srgbClr val="192A20"/>
                    </a:solidFill>
                  </a:tcPr>
                </a:tc>
              </a:tr>
              <a:tr h="769144">
                <a:tc>
                  <a:txBody>
                    <a:bodyPr/>
                    <a:lstStyle/>
                    <a:p>
                      <a:r>
                        <a:rPr sz="2025" b="1">
                          <a:solidFill>
                            <a:srgbClr val="192A20"/>
                          </a:solidFill>
                          <a:latin typeface="Apple SD Gothic Neo"/>
                          <a:ea typeface="Apple SD Gothic Neo"/>
                          <a:cs typeface="Apple SD Gothic Neo"/>
                        </a:rPr>
                        <a:t>Minimum</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루틴·스킬 1개 관찰, 질문·피드백 1회, 다음 행동 1개</a:t>
                      </a:r>
                    </a:p>
                  </a:txBody>
                  <a:tcPr marL="171450" marR="133350" marT="114300" marB="114300" anchor="ctr">
                    <a:solidFill>
                      <a:srgbClr val="F5F3EA"/>
                    </a:solidFill>
                  </a:tcPr>
                </a:tc>
              </a:tr>
              <a:tr h="769144">
                <a:tc>
                  <a:txBody>
                    <a:bodyPr/>
                    <a:lstStyle/>
                    <a:p>
                      <a:r>
                        <a:rPr sz="2025" b="1">
                          <a:solidFill>
                            <a:srgbClr val="192A20"/>
                          </a:solidFill>
                          <a:latin typeface="Apple SD Gothic Neo"/>
                          <a:ea typeface="Apple SD Gothic Neo"/>
                          <a:cs typeface="Apple SD Gothic Neo"/>
                        </a:rPr>
                        <a:t>Good</a:t>
                      </a:r>
                    </a:p>
                  </a:txBody>
                  <a:tcPr marL="171450" marR="133350" marT="114300" marB="114300" anchor="ctr">
                    <a:solidFill>
                      <a:srgbClr val="E9EBDD"/>
                    </a:solidFill>
                  </a:tcPr>
                </a:tc>
                <a:tc>
                  <a:txBody>
                    <a:bodyPr/>
                    <a:lstStyle/>
                    <a:p>
                      <a:r>
                        <a:rPr sz="2025" b="0">
                          <a:solidFill>
                            <a:srgbClr val="192A20"/>
                          </a:solidFill>
                          <a:latin typeface="Apple SD Gothic Neo"/>
                          <a:ea typeface="Apple SD Gothic Neo"/>
                          <a:cs typeface="Apple SD Gothic Neo"/>
                        </a:rPr>
                        <a:t>Minimum 충족 + 현장 적용 사례 1개 기록</a:t>
                      </a:r>
                    </a:p>
                  </a:txBody>
                  <a:tcPr marL="171450" marR="133350" marT="114300" marB="114300" anchor="ctr">
                    <a:solidFill>
                      <a:srgbClr val="E9EBDD"/>
                    </a:solidFill>
                  </a:tcPr>
                </a:tc>
              </a:tr>
              <a:tr h="769144">
                <a:tc>
                  <a:txBody>
                    <a:bodyPr/>
                    <a:lstStyle/>
                    <a:p>
                      <a:r>
                        <a:rPr sz="2025" b="1">
                          <a:solidFill>
                            <a:srgbClr val="192A20"/>
                          </a:solidFill>
                          <a:latin typeface="Apple SD Gothic Neo"/>
                          <a:ea typeface="Apple SD Gothic Neo"/>
                          <a:cs typeface="Apple SD Gothic Neo"/>
                        </a:rPr>
                        <a:t>Best</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Good 충족 + 동료에게 설명·시연하고 피드백 받기</a:t>
                      </a:r>
                    </a:p>
                  </a:txBody>
                  <a:tcPr marL="171450" marR="133350" marT="114300" marB="114300" anchor="ctr">
                    <a:solidFill>
                      <a:srgbClr val="F5F3EA"/>
                    </a:solidFill>
                  </a:tcPr>
                </a:tc>
              </a:tr>
            </a:tbl>
          </a:graphicData>
        </a:graphic>
      </p:graphicFrame>
      <p:sp>
        <p:nvSpPr>
          <p:cNvPr id="6" name="">
            <a:extLst xmlns:a="http://schemas.openxmlformats.org/drawingml/2006/main">
              <a:ext uri="{FF2B5EF4-FFF2-40B4-BE49-F238E27FC236}">
                <a16:creationId xmlns:a16="http://schemas.microsoft.com/office/drawing/2014/main" id="{910CC2F7-EC47-4119-A365-6682BE8E0207}"/>
              </a:ext>
            </a:extLst>
          </p:cNvPr>
          <p:cNvSpPr>
            <a:spLocks xmlns:a="http://schemas.openxmlformats.org/drawingml/2006/main" noGrp="1"/>
          </p:cNvSpPr>
          <p:nvPr/>
        </p:nvSpPr>
        <p:spPr>
          <a:xfrm xmlns:a="http://schemas.openxmlformats.org/drawingml/2006/main">
            <a:off x="628650" y="53816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756"/>
                </a:solidFill>
                <a:latin typeface="Apple SD Gothic Neo"/>
                <a:ea typeface="Apple SD Gothic Neo"/>
                <a:cs typeface="Apple SD Gothic Neo"/>
              </a:defRPr>
            </a:pPr>
            <a:r>
              <a:rPr sz="1425" b="0">
                <a:solidFill>
                  <a:srgbClr val="536756"/>
                </a:solidFill>
                <a:latin typeface="Apple SD Gothic Neo"/>
                <a:ea typeface="Apple SD Gothic Neo"/>
                <a:cs typeface="Apple SD Gothic Neo"/>
              </a:rPr>
              <a:t>관찰 주제: 루틴, 네트워킹, 토픽, 트립 오피스 운영, 문제 해결과 판단, B2B 세일즈</a:t>
            </a:r>
          </a:p>
        </p:txBody>
      </p:sp>
    </p:spTree>
    <p:extLst>
      <p:ext uri="{BB962C8B-B14F-4D97-AF65-F5344CB8AC3E}">
        <p14:creationId xmlns:p14="http://schemas.microsoft.com/office/powerpoint/2010/main" val="1828595413"/>
      </p:ext>
    </p:extLst>
  </p:cSld>
</p:sld>
</file>

<file path=ppt/slides/slide12.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13B36FB-B413-4AA9-A8A4-6C6C05EA95FF}"/>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People · 함께 리프레시하기</a:t>
            </a:r>
          </a:p>
        </p:txBody>
      </p:sp>
      <p:sp>
        <p:nvSpPr>
          <p:cNvPr id="2" name="">
            <a:extLst xmlns:a="http://schemas.openxmlformats.org/drawingml/2006/main">
              <a:ext uri="{FF2B5EF4-FFF2-40B4-BE49-F238E27FC236}">
                <a16:creationId xmlns:a16="http://schemas.microsoft.com/office/drawing/2014/main" id="{C5A1798B-E7E4-4A32-A945-4C930216F578}"/>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새로운 장소에서 함께 생활하며 기분을 전환하고 함께 기억할 시간을 만듭니다.</a:t>
            </a:r>
          </a:p>
        </p:txBody>
      </p:sp>
      <p:sp>
        <p:nvSpPr>
          <p:cNvPr id="3" name="">
            <a:extLst xmlns:a="http://schemas.openxmlformats.org/drawingml/2006/main">
              <a:ext uri="{FF2B5EF4-FFF2-40B4-BE49-F238E27FC236}">
                <a16:creationId xmlns:a16="http://schemas.microsoft.com/office/drawing/2014/main" id="{B3C725E0-9770-4C8F-BC49-C482CA0E49AA}"/>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E33EC049-1814-4FD9-B96F-FA3B559EF571}"/>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12</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da6cc2ac0854ff3"/>
          <a:stretch xmlns:a="http://schemas.openxmlformats.org/drawingml/2006/main"/>
        </p:blipFill>
        <p:spPr>
          <a:xfrm xmlns:a="http://schemas.openxmlformats.org/drawingml/2006/main">
            <a:off x="1485900" y="1990725"/>
            <a:ext cx="3390900" cy="2543175"/>
          </a:xfrm>
          <a:prstGeom xmlns:a="http://schemas.openxmlformats.org/drawingml/2006/main" prst="rect">
            <a:avLst/>
          </a:prstGeom>
        </p:spPr>
      </p:pic>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db9e8b5113649de"/>
          <a:stretch xmlns:a="http://schemas.openxmlformats.org/drawingml/2006/main"/>
        </p:blipFill>
        <p:spPr>
          <a:xfrm xmlns:a="http://schemas.openxmlformats.org/drawingml/2006/main">
            <a:off x="7315200" y="1990725"/>
            <a:ext cx="3390900" cy="25431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815FBA1-DB27-4187-8ABB-0781A437FAC3}"/>
              </a:ext>
            </a:extLst>
          </p:cNvPr>
          <p:cNvSpPr>
            <a:spLocks xmlns:a="http://schemas.openxmlformats.org/drawingml/2006/main" noGrp="1"/>
          </p:cNvSpPr>
          <p:nvPr/>
        </p:nvSpPr>
        <p:spPr>
          <a:xfrm xmlns:a="http://schemas.openxmlformats.org/drawingml/2006/main">
            <a:off x="609600" y="49053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6B865C"/>
                </a:solidFill>
                <a:latin typeface="Apple SD Gothic Neo"/>
                <a:ea typeface="Apple SD Gothic Neo"/>
                <a:cs typeface="Apple SD Gothic Neo"/>
              </a:defRPr>
            </a:pPr>
            <a:r>
              <a:rPr sz="2100" b="1">
                <a:solidFill>
                  <a:srgbClr val="6B865C"/>
                </a:solidFill>
                <a:latin typeface="Apple SD Gothic Neo"/>
                <a:ea typeface="Apple SD Gothic Neo"/>
                <a:cs typeface="Apple SD Gothic Neo"/>
              </a:rPr>
              <a:t>Minimum</a:t>
            </a:r>
          </a:p>
        </p:txBody>
      </p:sp>
      <p:sp>
        <p:nvSpPr>
          <p:cNvPr id="8" name="">
            <a:extLst xmlns:a="http://schemas.openxmlformats.org/drawingml/2006/main">
              <a:ext uri="{FF2B5EF4-FFF2-40B4-BE49-F238E27FC236}">
                <a16:creationId xmlns:a16="http://schemas.microsoft.com/office/drawing/2014/main" id="{4742ECDA-D73F-4EC7-B527-00E0625F5B3C}"/>
              </a:ext>
            </a:extLst>
          </p:cNvPr>
          <p:cNvSpPr>
            <a:spLocks xmlns:a="http://schemas.openxmlformats.org/drawingml/2006/main" noGrp="1"/>
          </p:cNvSpPr>
          <p:nvPr/>
        </p:nvSpPr>
        <p:spPr>
          <a:xfrm xmlns:a="http://schemas.openxmlformats.org/drawingml/2006/main">
            <a:off x="609600" y="5362575"/>
            <a:ext cx="3286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기념사진 1장과 감사 한마디</a:t>
            </a:r>
          </a:p>
        </p:txBody>
      </p:sp>
      <p:sp>
        <p:nvSpPr>
          <p:cNvPr id="9" name="">
            <a:extLst xmlns:a="http://schemas.openxmlformats.org/drawingml/2006/main">
              <a:ext uri="{FF2B5EF4-FFF2-40B4-BE49-F238E27FC236}">
                <a16:creationId xmlns:a16="http://schemas.microsoft.com/office/drawing/2014/main" id="{075A4A7E-C0EC-44E7-ACC4-A256896CC0DD}"/>
              </a:ext>
            </a:extLst>
          </p:cNvPr>
          <p:cNvSpPr>
            <a:spLocks xmlns:a="http://schemas.openxmlformats.org/drawingml/2006/main" noGrp="1"/>
          </p:cNvSpPr>
          <p:nvPr/>
        </p:nvSpPr>
        <p:spPr>
          <a:xfrm xmlns:a="http://schemas.openxmlformats.org/drawingml/2006/main">
            <a:off x="4381500" y="49053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6B865C"/>
                </a:solidFill>
                <a:latin typeface="Apple SD Gothic Neo"/>
                <a:ea typeface="Apple SD Gothic Neo"/>
                <a:cs typeface="Apple SD Gothic Neo"/>
              </a:defRPr>
            </a:pPr>
            <a:r>
              <a:rPr sz="2100" b="1">
                <a:solidFill>
                  <a:srgbClr val="6B865C"/>
                </a:solidFill>
                <a:latin typeface="Apple SD Gothic Neo"/>
                <a:ea typeface="Apple SD Gothic Neo"/>
                <a:cs typeface="Apple SD Gothic Neo"/>
              </a:rPr>
              <a:t>Good</a:t>
            </a:r>
          </a:p>
        </p:txBody>
      </p:sp>
      <p:sp>
        <p:nvSpPr>
          <p:cNvPr id="10" name="">
            <a:extLst xmlns:a="http://schemas.openxmlformats.org/drawingml/2006/main">
              <a:ext uri="{FF2B5EF4-FFF2-40B4-BE49-F238E27FC236}">
                <a16:creationId xmlns:a16="http://schemas.microsoft.com/office/drawing/2014/main" id="{938B534D-3793-467D-9B01-CF15B69A1A05}"/>
              </a:ext>
            </a:extLst>
          </p:cNvPr>
          <p:cNvSpPr>
            <a:spLocks xmlns:a="http://schemas.openxmlformats.org/drawingml/2006/main" noGrp="1"/>
          </p:cNvSpPr>
          <p:nvPr/>
        </p:nvSpPr>
        <p:spPr>
          <a:xfrm xmlns:a="http://schemas.openxmlformats.org/drawingml/2006/main">
            <a:off x="4381500" y="5362575"/>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Minimum + 함께하는 식사·산책 1회</a:t>
            </a:r>
          </a:p>
        </p:txBody>
      </p:sp>
      <p:sp>
        <p:nvSpPr>
          <p:cNvPr id="11" name="">
            <a:extLst xmlns:a="http://schemas.openxmlformats.org/drawingml/2006/main">
              <a:ext uri="{FF2B5EF4-FFF2-40B4-BE49-F238E27FC236}">
                <a16:creationId xmlns:a16="http://schemas.microsoft.com/office/drawing/2014/main" id="{3D6DCD0A-653D-4C38-B17B-9135E62E8788}"/>
              </a:ext>
            </a:extLst>
          </p:cNvPr>
          <p:cNvSpPr>
            <a:spLocks xmlns:a="http://schemas.openxmlformats.org/drawingml/2006/main" noGrp="1"/>
          </p:cNvSpPr>
          <p:nvPr/>
        </p:nvSpPr>
        <p:spPr>
          <a:xfrm xmlns:a="http://schemas.openxmlformats.org/drawingml/2006/main">
            <a:off x="8153400" y="49053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6B865C"/>
                </a:solidFill>
                <a:latin typeface="Apple SD Gothic Neo"/>
                <a:ea typeface="Apple SD Gothic Neo"/>
                <a:cs typeface="Apple SD Gothic Neo"/>
              </a:defRPr>
            </a:pPr>
            <a:r>
              <a:rPr sz="2100" b="1">
                <a:solidFill>
                  <a:srgbClr val="6B865C"/>
                </a:solidFill>
                <a:latin typeface="Apple SD Gothic Neo"/>
                <a:ea typeface="Apple SD Gothic Neo"/>
                <a:cs typeface="Apple SD Gothic Neo"/>
              </a:rPr>
              <a:t>Best</a:t>
            </a:r>
          </a:p>
        </p:txBody>
      </p:sp>
      <p:sp>
        <p:nvSpPr>
          <p:cNvPr id="12" name="">
            <a:extLst xmlns:a="http://schemas.openxmlformats.org/drawingml/2006/main">
              <a:ext uri="{FF2B5EF4-FFF2-40B4-BE49-F238E27FC236}">
                <a16:creationId xmlns:a16="http://schemas.microsoft.com/office/drawing/2014/main" id="{BCA30373-2085-4456-A84A-722060B14139}"/>
              </a:ext>
            </a:extLst>
          </p:cNvPr>
          <p:cNvSpPr>
            <a:spLocks xmlns:a="http://schemas.openxmlformats.org/drawingml/2006/main" noGrp="1"/>
          </p:cNvSpPr>
          <p:nvPr/>
        </p:nvSpPr>
        <p:spPr>
          <a:xfrm xmlns:a="http://schemas.openxmlformats.org/drawingml/2006/main">
            <a:off x="8153400" y="5362575"/>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Good + 전원의 사진·한 줄 후기를 앨범으로</a:t>
            </a:r>
          </a:p>
        </p:txBody>
      </p:sp>
    </p:spTree>
    <p:extLst>
      <p:ext uri="{BB962C8B-B14F-4D97-AF65-F5344CB8AC3E}">
        <p14:creationId xmlns:p14="http://schemas.microsoft.com/office/powerpoint/2010/main" val="313837141"/>
      </p:ext>
    </p:extLst>
  </p:cSld>
</p:sld>
</file>

<file path=ppt/slides/slide13.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395C074-03E7-4FDA-97A2-6DC736F7AC41}"/>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OO 트립운영 계획 (04.13~04.17)</a:t>
            </a:r>
          </a:p>
        </p:txBody>
      </p:sp>
      <p:sp>
        <p:nvSpPr>
          <p:cNvPr id="2" name="">
            <a:extLst xmlns:a="http://schemas.openxmlformats.org/drawingml/2006/main">
              <a:ext uri="{FF2B5EF4-FFF2-40B4-BE49-F238E27FC236}">
                <a16:creationId xmlns:a16="http://schemas.microsoft.com/office/drawing/2014/main" id="{7CB526B9-4760-40AB-9043-F6459DF8DBE8}"/>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임재영 · 테마: BEP 넘기고 오기, PB 찍고 가기</a:t>
            </a:r>
          </a:p>
        </p:txBody>
      </p:sp>
      <p:sp>
        <p:nvSpPr>
          <p:cNvPr id="3" name="">
            <a:extLst xmlns:a="http://schemas.openxmlformats.org/drawingml/2006/main">
              <a:ext uri="{FF2B5EF4-FFF2-40B4-BE49-F238E27FC236}">
                <a16:creationId xmlns:a16="http://schemas.microsoft.com/office/drawing/2014/main" id="{73A33AF3-02FA-4171-83A2-5ABDA659EC3C}"/>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3E4CC103-F04F-453A-8429-AB2E60FDA01E}"/>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13</a:t>
            </a:r>
          </a:p>
        </p:txBody>
      </p:sp>
      <p:graphicFrame>
        <p:nvGraphicFramePr>
          <p:cNvPr id="11" name=""/>
          <p:cNvGraphicFramePr/>
          <p:nvPr/>
        </p:nvGraphicFramePr>
        <p:xfrm>
          <a:off xmlns:a="http://schemas.openxmlformats.org/drawingml/2006/main" x="609600" y="2114550"/>
          <a:ext xmlns:a="http://schemas.openxmlformats.org/drawingml/2006/main" cx="10972800" cy="3238500"/>
        </p:xfrm>
        <a:graphic xmlns:a="http://schemas.openxmlformats.org/drawingml/2006/main">
          <a:graphicData uri="http://schemas.openxmlformats.org/drawingml/2006/table">
            <a:tbl>
              <a:tblPr/>
              <a:tblGrid>
                <a:gridCol w="2239347"/>
                <a:gridCol w="2911151"/>
                <a:gridCol w="2911151"/>
                <a:gridCol w="2911151"/>
              </a:tblGrid>
              <a:tr h="809625">
                <a:tc>
                  <a:txBody>
                    <a:bodyPr/>
                    <a:lstStyle/>
                    <a:p>
                      <a:r>
                        <a:rPr sz="2325" b="1">
                          <a:solidFill>
                            <a:srgbClr val="192A20"/>
                          </a:solidFill>
                          <a:latin typeface="Apple SD Gothic Neo"/>
                          <a:ea typeface="Apple SD Gothic Neo"/>
                          <a:cs typeface="Apple SD Gothic Neo"/>
                        </a:rPr>
                        <a:t>구분</a:t>
                      </a:r>
                    </a:p>
                  </a:txBody>
                  <a:tcPr marL="171450" marR="133350" marT="114300" marB="114300" anchor="ctr">
                    <a:solidFill>
                      <a:srgbClr val="D5E6A5"/>
                    </a:solidFill>
                  </a:tcPr>
                </a:tc>
                <a:tc>
                  <a:txBody>
                    <a:bodyPr/>
                    <a:lstStyle/>
                    <a:p>
                      <a:r>
                        <a:rPr sz="2325" b="1">
                          <a:solidFill>
                            <a:srgbClr val="192A20"/>
                          </a:solidFill>
                          <a:latin typeface="Apple SD Gothic Neo"/>
                          <a:ea typeface="Apple SD Gothic Neo"/>
                          <a:cs typeface="Apple SD Gothic Neo"/>
                        </a:rPr>
                        <a:t>A · Best</a:t>
                      </a:r>
                    </a:p>
                  </a:txBody>
                  <a:tcPr marL="171450" marR="133350" marT="114300" marB="114300" anchor="ctr">
                    <a:solidFill>
                      <a:srgbClr val="D5E6A5"/>
                    </a:solidFill>
                  </a:tcPr>
                </a:tc>
                <a:tc>
                  <a:txBody>
                    <a:bodyPr/>
                    <a:lstStyle/>
                    <a:p>
                      <a:r>
                        <a:rPr sz="2325" b="1">
                          <a:solidFill>
                            <a:srgbClr val="192A20"/>
                          </a:solidFill>
                          <a:latin typeface="Apple SD Gothic Neo"/>
                          <a:ea typeface="Apple SD Gothic Neo"/>
                          <a:cs typeface="Apple SD Gothic Neo"/>
                        </a:rPr>
                        <a:t>B · Good</a:t>
                      </a:r>
                    </a:p>
                  </a:txBody>
                  <a:tcPr marL="171450" marR="133350" marT="114300" marB="114300" anchor="ctr">
                    <a:solidFill>
                      <a:srgbClr val="D5E6A5"/>
                    </a:solidFill>
                  </a:tcPr>
                </a:tc>
                <a:tc>
                  <a:txBody>
                    <a:bodyPr/>
                    <a:lstStyle/>
                    <a:p>
                      <a:r>
                        <a:rPr sz="2325" b="1">
                          <a:solidFill>
                            <a:srgbClr val="192A20"/>
                          </a:solidFill>
                          <a:latin typeface="Apple SD Gothic Neo"/>
                          <a:ea typeface="Apple SD Gothic Neo"/>
                          <a:cs typeface="Apple SD Gothic Neo"/>
                        </a:rPr>
                        <a:t>C · At least</a:t>
                      </a:r>
                    </a:p>
                  </a:txBody>
                  <a:tcPr marL="171450" marR="133350" marT="114300" marB="114300" anchor="ctr">
                    <a:solidFill>
                      <a:srgbClr val="D5E6A5"/>
                    </a:solidFill>
                  </a:tcPr>
                </a:tc>
              </a:tr>
              <a:tr h="809625">
                <a:tc>
                  <a:txBody>
                    <a:bodyPr/>
                    <a:lstStyle/>
                    <a:p>
                      <a:r>
                        <a:rPr sz="2325" b="1">
                          <a:solidFill>
                            <a:srgbClr val="F8F9F2"/>
                          </a:solidFill>
                          <a:latin typeface="Apple SD Gothic Neo"/>
                          <a:ea typeface="Apple SD Gothic Neo"/>
                          <a:cs typeface="Apple SD Gothic Neo"/>
                        </a:rPr>
                        <a:t>스코어</a:t>
                      </a:r>
                    </a:p>
                  </a:txBody>
                  <a:tcPr marL="171450" marR="133350" marT="114300" marB="114300" anchor="ctr">
                    <a:solidFill>
                      <a:srgbClr val="22372A"/>
                    </a:solidFill>
                  </a:tcPr>
                </a:tc>
                <a:tc>
                  <a:txBody>
                    <a:bodyPr/>
                    <a:lstStyle/>
                    <a:p>
                      <a:r>
                        <a:rPr sz="2325" b="0">
                          <a:solidFill>
                            <a:srgbClr val="F8F9F2"/>
                          </a:solidFill>
                          <a:latin typeface="Apple SD Gothic Neo"/>
                          <a:ea typeface="Apple SD Gothic Neo"/>
                          <a:cs typeface="Apple SD Gothic Neo"/>
                        </a:rPr>
                        <a:t>25</a:t>
                      </a:r>
                    </a:p>
                  </a:txBody>
                  <a:tcPr marL="171450" marR="133350" marT="114300" marB="114300" anchor="ctr">
                    <a:solidFill>
                      <a:srgbClr val="22372A"/>
                    </a:solidFill>
                  </a:tcPr>
                </a:tc>
                <a:tc>
                  <a:txBody>
                    <a:bodyPr/>
                    <a:lstStyle/>
                    <a:p>
                      <a:r>
                        <a:rPr sz="2325" b="0">
                          <a:solidFill>
                            <a:srgbClr val="F8F9F2"/>
                          </a:solidFill>
                          <a:latin typeface="Apple SD Gothic Neo"/>
                          <a:ea typeface="Apple SD Gothic Neo"/>
                          <a:cs typeface="Apple SD Gothic Neo"/>
                        </a:rPr>
                        <a:t>15</a:t>
                      </a:r>
                    </a:p>
                  </a:txBody>
                  <a:tcPr marL="171450" marR="133350" marT="114300" marB="114300" anchor="ctr">
                    <a:solidFill>
                      <a:srgbClr val="22372A"/>
                    </a:solidFill>
                  </a:tcPr>
                </a:tc>
                <a:tc>
                  <a:txBody>
                    <a:bodyPr/>
                    <a:lstStyle/>
                    <a:p>
                      <a:r>
                        <a:rPr sz="2325" b="0">
                          <a:solidFill>
                            <a:srgbClr val="F8F9F2"/>
                          </a:solidFill>
                          <a:latin typeface="Apple SD Gothic Neo"/>
                          <a:ea typeface="Apple SD Gothic Neo"/>
                          <a:cs typeface="Apple SD Gothic Neo"/>
                        </a:rPr>
                        <a:t>10</a:t>
                      </a:r>
                    </a:p>
                  </a:txBody>
                  <a:tcPr marL="171450" marR="133350" marT="114300" marB="114300" anchor="ctr">
                    <a:solidFill>
                      <a:srgbClr val="22372A"/>
                    </a:solidFill>
                  </a:tcPr>
                </a:tc>
              </a:tr>
              <a:tr h="809625">
                <a:tc>
                  <a:txBody>
                    <a:bodyPr/>
                    <a:lstStyle/>
                    <a:p>
                      <a:r>
                        <a:rPr sz="2325" b="1">
                          <a:solidFill>
                            <a:srgbClr val="F8F9F2"/>
                          </a:solidFill>
                          <a:latin typeface="Apple SD Gothic Neo"/>
                          <a:ea typeface="Apple SD Gothic Neo"/>
                          <a:cs typeface="Apple SD Gothic Neo"/>
                        </a:rPr>
                        <a:t>클로즈</a:t>
                      </a:r>
                    </a:p>
                  </a:txBody>
                  <a:tcPr marL="171450" marR="133350" marT="114300" marB="114300" anchor="ctr">
                    <a:solidFill>
                      <a:srgbClr val="1B2E23"/>
                    </a:solidFill>
                  </a:tcPr>
                </a:tc>
                <a:tc>
                  <a:txBody>
                    <a:bodyPr/>
                    <a:lstStyle/>
                    <a:p>
                      <a:r>
                        <a:rPr sz="2325" b="0">
                          <a:solidFill>
                            <a:srgbClr val="F8F9F2"/>
                          </a:solidFill>
                          <a:latin typeface="Apple SD Gothic Neo"/>
                          <a:ea typeface="Apple SD Gothic Neo"/>
                          <a:cs typeface="Apple SD Gothic Neo"/>
                        </a:rPr>
                        <a:t>125</a:t>
                      </a:r>
                    </a:p>
                  </a:txBody>
                  <a:tcPr marL="171450" marR="133350" marT="114300" marB="114300" anchor="ctr">
                    <a:solidFill>
                      <a:srgbClr val="1B2E23"/>
                    </a:solidFill>
                  </a:tcPr>
                </a:tc>
                <a:tc>
                  <a:txBody>
                    <a:bodyPr/>
                    <a:lstStyle/>
                    <a:p>
                      <a:r>
                        <a:rPr sz="2325" b="0">
                          <a:solidFill>
                            <a:srgbClr val="F8F9F2"/>
                          </a:solidFill>
                          <a:latin typeface="Apple SD Gothic Neo"/>
                          <a:ea typeface="Apple SD Gothic Neo"/>
                          <a:cs typeface="Apple SD Gothic Neo"/>
                        </a:rPr>
                        <a:t>75</a:t>
                      </a:r>
                    </a:p>
                  </a:txBody>
                  <a:tcPr marL="171450" marR="133350" marT="114300" marB="114300" anchor="ctr">
                    <a:solidFill>
                      <a:srgbClr val="1B2E23"/>
                    </a:solidFill>
                  </a:tcPr>
                </a:tc>
                <a:tc>
                  <a:txBody>
                    <a:bodyPr/>
                    <a:lstStyle/>
                    <a:p>
                      <a:r>
                        <a:rPr sz="2325" b="0">
                          <a:solidFill>
                            <a:srgbClr val="F8F9F2"/>
                          </a:solidFill>
                          <a:latin typeface="Apple SD Gothic Neo"/>
                          <a:ea typeface="Apple SD Gothic Neo"/>
                          <a:cs typeface="Apple SD Gothic Neo"/>
                        </a:rPr>
                        <a:t>50</a:t>
                      </a:r>
                    </a:p>
                  </a:txBody>
                  <a:tcPr marL="171450" marR="133350" marT="114300" marB="114300" anchor="ctr">
                    <a:solidFill>
                      <a:srgbClr val="1B2E23"/>
                    </a:solidFill>
                  </a:tcPr>
                </a:tc>
              </a:tr>
              <a:tr h="809625">
                <a:tc>
                  <a:txBody>
                    <a:bodyPr/>
                    <a:lstStyle/>
                    <a:p>
                      <a:r>
                        <a:rPr sz="2325" b="1">
                          <a:solidFill>
                            <a:srgbClr val="F8F9F2"/>
                          </a:solidFill>
                          <a:latin typeface="Apple SD Gothic Neo"/>
                          <a:ea typeface="Apple SD Gothic Neo"/>
                          <a:cs typeface="Apple SD Gothic Neo"/>
                        </a:rPr>
                        <a:t>보상</a:t>
                      </a:r>
                    </a:p>
                  </a:txBody>
                  <a:tcPr marL="171450" marR="133350" marT="114300" marB="114300" anchor="ctr">
                    <a:solidFill>
                      <a:srgbClr val="22372A"/>
                    </a:solidFill>
                  </a:tcPr>
                </a:tc>
                <a:tc>
                  <a:txBody>
                    <a:bodyPr/>
                    <a:lstStyle/>
                    <a:p>
                      <a:r>
                        <a:rPr sz="2325" b="0">
                          <a:solidFill>
                            <a:srgbClr val="F8F9F2"/>
                          </a:solidFill>
                          <a:latin typeface="Apple SD Gothic Neo"/>
                          <a:ea typeface="Apple SD Gothic Neo"/>
                          <a:cs typeface="Apple SD Gothic Neo"/>
                        </a:rPr>
                        <a:t>무선 청소기</a:t>
                      </a:r>
                    </a:p>
                  </a:txBody>
                  <a:tcPr marL="171450" marR="133350" marT="114300" marB="114300" anchor="ctr">
                    <a:solidFill>
                      <a:srgbClr val="22372A"/>
                    </a:solidFill>
                  </a:tcPr>
                </a:tc>
                <a:tc>
                  <a:txBody>
                    <a:bodyPr/>
                    <a:lstStyle/>
                    <a:p>
                      <a:r>
                        <a:rPr sz="2325" b="0">
                          <a:solidFill>
                            <a:srgbClr val="F8F9F2"/>
                          </a:solidFill>
                          <a:latin typeface="Apple SD Gothic Neo"/>
                          <a:ea typeface="Apple SD Gothic Neo"/>
                          <a:cs typeface="Apple SD Gothic Neo"/>
                        </a:rPr>
                        <a:t>야구 유니폼</a:t>
                      </a:r>
                    </a:p>
                  </a:txBody>
                  <a:tcPr marL="171450" marR="133350" marT="114300" marB="114300" anchor="ctr">
                    <a:solidFill>
                      <a:srgbClr val="22372A"/>
                    </a:solidFill>
                  </a:tcPr>
                </a:tc>
                <a:tc>
                  <a:txBody>
                    <a:bodyPr/>
                    <a:lstStyle/>
                    <a:p>
                      <a:r>
                        <a:rPr sz="2325" b="0">
                          <a:solidFill>
                            <a:srgbClr val="F8F9F2"/>
                          </a:solidFill>
                          <a:latin typeface="Apple SD Gothic Neo"/>
                          <a:ea typeface="Apple SD Gothic Neo"/>
                          <a:cs typeface="Apple SD Gothic Neo"/>
                        </a:rPr>
                        <a:t>맛집 탐방</a:t>
                      </a:r>
                    </a:p>
                  </a:txBody>
                  <a:tcPr marL="171450" marR="133350" marT="114300" marB="114300" anchor="ctr">
                    <a:solidFill>
                      <a:srgbClr val="22372A"/>
                    </a:solidFill>
                  </a:tcPr>
                </a:tc>
              </a:tr>
            </a:tbl>
          </a:graphicData>
        </a:graphic>
      </p:graphicFrame>
      <p:sp>
        <p:nvSpPr>
          <p:cNvPr id="6" name="">
            <a:extLst xmlns:a="http://schemas.openxmlformats.org/drawingml/2006/main">
              <a:ext uri="{FF2B5EF4-FFF2-40B4-BE49-F238E27FC236}">
                <a16:creationId xmlns:a16="http://schemas.microsoft.com/office/drawing/2014/main" id="{4DC7F81F-BA74-45CF-8D8B-4A55151314ED}"/>
              </a:ext>
            </a:extLst>
          </p:cNvPr>
          <p:cNvSpPr>
            <a:spLocks xmlns:a="http://schemas.openxmlformats.org/drawingml/2006/main" noGrp="1"/>
          </p:cNvSpPr>
          <p:nvPr/>
        </p:nvSpPr>
        <p:spPr>
          <a:xfrm xmlns:a="http://schemas.openxmlformats.org/drawingml/2006/main">
            <a:off x="628650" y="56864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BCDAF"/>
                </a:solidFill>
                <a:latin typeface="Apple SD Gothic Neo"/>
                <a:ea typeface="Apple SD Gothic Neo"/>
                <a:cs typeface="Apple SD Gothic Neo"/>
              </a:defRPr>
            </a:pPr>
            <a:r>
              <a:rPr sz="1425" b="0">
                <a:solidFill>
                  <a:srgbClr val="BBCDAF"/>
                </a:solidFill>
                <a:latin typeface="Apple SD Gothic Neo"/>
                <a:ea typeface="Apple SD Gothic Neo"/>
                <a:cs typeface="Apple SD Gothic Neo"/>
              </a:rPr>
              <a:t>개인 계획 예시 · C의 At least는 Minimum과 같은 의미입니다.</a:t>
            </a:r>
          </a:p>
        </p:txBody>
      </p:sp>
    </p:spTree>
    <p:extLst>
      <p:ext uri="{BB962C8B-B14F-4D97-AF65-F5344CB8AC3E}">
        <p14:creationId xmlns:p14="http://schemas.microsoft.com/office/powerpoint/2010/main" val="546478013"/>
      </p:ext>
    </p:extLst>
  </p:cSld>
</p:sld>
</file>

<file path=ppt/slides/slide14.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D82C5EF-EC0B-411F-8230-724CBF0905A9}"/>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배우고 싶은 것</a:t>
            </a:r>
          </a:p>
        </p:txBody>
      </p:sp>
      <p:sp>
        <p:nvSpPr>
          <p:cNvPr id="2" name="">
            <a:extLst xmlns:a="http://schemas.openxmlformats.org/drawingml/2006/main">
              <a:ext uri="{FF2B5EF4-FFF2-40B4-BE49-F238E27FC236}">
                <a16:creationId xmlns:a16="http://schemas.microsoft.com/office/drawing/2014/main" id="{AE54750C-F3C6-40F2-997D-8F9A5224BCE3}"/>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임재영의 개인 계획 예시</a:t>
            </a:r>
          </a:p>
        </p:txBody>
      </p:sp>
      <p:sp>
        <p:nvSpPr>
          <p:cNvPr id="3" name="">
            <a:extLst xmlns:a="http://schemas.openxmlformats.org/drawingml/2006/main">
              <a:ext uri="{FF2B5EF4-FFF2-40B4-BE49-F238E27FC236}">
                <a16:creationId xmlns:a16="http://schemas.microsoft.com/office/drawing/2014/main" id="{21D52E6E-1137-48A1-98D6-D2501E88B23D}"/>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4722B06E-8917-4533-AF8B-03BD18B458F1}"/>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14</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9318d7a3b214e94"/>
          <a:stretch xmlns:a="http://schemas.openxmlformats.org/drawingml/2006/main"/>
        </p:blipFill>
        <p:spPr>
          <a:xfrm xmlns:a="http://schemas.openxmlformats.org/drawingml/2006/main">
            <a:off x="7581900" y="2395538"/>
            <a:ext cx="4000500" cy="30003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1A99C2F-8537-4640-95EF-2E247141B783}"/>
              </a:ext>
            </a:extLst>
          </p:cNvPr>
          <p:cNvSpPr>
            <a:spLocks xmlns:a="http://schemas.openxmlformats.org/drawingml/2006/main" noGrp="1"/>
          </p:cNvSpPr>
          <p:nvPr/>
        </p:nvSpPr>
        <p:spPr>
          <a:xfrm xmlns:a="http://schemas.openxmlformats.org/drawingml/2006/main">
            <a:off x="609600" y="2114550"/>
            <a:ext cx="19716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1. 3STEP 컨텍법</a:t>
            </a:r>
          </a:p>
        </p:txBody>
      </p:sp>
      <p:sp>
        <p:nvSpPr>
          <p:cNvPr id="7" name="">
            <a:extLst xmlns:a="http://schemas.openxmlformats.org/drawingml/2006/main">
              <a:ext uri="{FF2B5EF4-FFF2-40B4-BE49-F238E27FC236}">
                <a16:creationId xmlns:a16="http://schemas.microsoft.com/office/drawing/2014/main" id="{5B025496-7643-48C9-9D22-AB81A12571AD}"/>
              </a:ext>
            </a:extLst>
          </p:cNvPr>
          <p:cNvSpPr>
            <a:spLocks xmlns:a="http://schemas.openxmlformats.org/drawingml/2006/main" noGrp="1"/>
          </p:cNvSpPr>
          <p:nvPr/>
        </p:nvSpPr>
        <p:spPr>
          <a:xfrm xmlns:a="http://schemas.openxmlformats.org/drawingml/2006/main">
            <a:off x="2847975" y="2114550"/>
            <a:ext cx="4210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윤경리의 마음을 활짝 열게 하는 3STEP 컨텍법</a:t>
            </a:r>
          </a:p>
        </p:txBody>
      </p:sp>
      <p:sp>
        <p:nvSpPr>
          <p:cNvPr id="8" name="">
            <a:extLst xmlns:a="http://schemas.openxmlformats.org/drawingml/2006/main">
              <a:ext uri="{FF2B5EF4-FFF2-40B4-BE49-F238E27FC236}">
                <a16:creationId xmlns:a16="http://schemas.microsoft.com/office/drawing/2014/main" id="{D344E590-CCEC-43A6-B17B-00EEF59D64F6}"/>
              </a:ext>
            </a:extLst>
          </p:cNvPr>
          <p:cNvSpPr>
            <a:spLocks xmlns:a="http://schemas.openxmlformats.org/drawingml/2006/main" noGrp="1"/>
          </p:cNvSpPr>
          <p:nvPr/>
        </p:nvSpPr>
        <p:spPr>
          <a:xfrm xmlns:a="http://schemas.openxmlformats.org/drawingml/2006/main">
            <a:off x="609600" y="3400425"/>
            <a:ext cx="19716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2. 목표를 이뤄내는 STP</a:t>
            </a:r>
          </a:p>
        </p:txBody>
      </p:sp>
      <p:sp>
        <p:nvSpPr>
          <p:cNvPr id="9" name="">
            <a:extLst xmlns:a="http://schemas.openxmlformats.org/drawingml/2006/main">
              <a:ext uri="{FF2B5EF4-FFF2-40B4-BE49-F238E27FC236}">
                <a16:creationId xmlns:a16="http://schemas.microsoft.com/office/drawing/2014/main" id="{CEC1E75F-D98E-4A19-8882-ACF5E083E219}"/>
              </a:ext>
            </a:extLst>
          </p:cNvPr>
          <p:cNvSpPr>
            <a:spLocks xmlns:a="http://schemas.openxmlformats.org/drawingml/2006/main" noGrp="1"/>
          </p:cNvSpPr>
          <p:nvPr/>
        </p:nvSpPr>
        <p:spPr>
          <a:xfrm xmlns:a="http://schemas.openxmlformats.org/drawingml/2006/main">
            <a:off x="2847975" y="3400425"/>
            <a:ext cx="4210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채영리의 시작부터 집중해 목표를 이뤄내는 STP</a:t>
            </a:r>
          </a:p>
        </p:txBody>
      </p:sp>
      <p:sp>
        <p:nvSpPr>
          <p:cNvPr id="10" name="">
            <a:extLst xmlns:a="http://schemas.openxmlformats.org/drawingml/2006/main">
              <a:ext uri="{FF2B5EF4-FFF2-40B4-BE49-F238E27FC236}">
                <a16:creationId xmlns:a16="http://schemas.microsoft.com/office/drawing/2014/main" id="{61994380-B9C8-4C8B-AFE8-D62AD6136AED}"/>
              </a:ext>
            </a:extLst>
          </p:cNvPr>
          <p:cNvSpPr>
            <a:spLocks xmlns:a="http://schemas.openxmlformats.org/drawingml/2006/main" noGrp="1"/>
          </p:cNvSpPr>
          <p:nvPr/>
        </p:nvSpPr>
        <p:spPr>
          <a:xfrm xmlns:a="http://schemas.openxmlformats.org/drawingml/2006/main">
            <a:off x="609600" y="4686300"/>
            <a:ext cx="1971675"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3. 체계적인 트립 운영</a:t>
            </a:r>
          </a:p>
        </p:txBody>
      </p:sp>
      <p:sp>
        <p:nvSpPr>
          <p:cNvPr id="11" name="">
            <a:extLst xmlns:a="http://schemas.openxmlformats.org/drawingml/2006/main">
              <a:ext uri="{FF2B5EF4-FFF2-40B4-BE49-F238E27FC236}">
                <a16:creationId xmlns:a16="http://schemas.microsoft.com/office/drawing/2014/main" id="{3FC9B691-FFC0-449F-A8F6-8EF1A8E905B3}"/>
              </a:ext>
            </a:extLst>
          </p:cNvPr>
          <p:cNvSpPr>
            <a:spLocks xmlns:a="http://schemas.openxmlformats.org/drawingml/2006/main" noGrp="1"/>
          </p:cNvSpPr>
          <p:nvPr/>
        </p:nvSpPr>
        <p:spPr>
          <a:xfrm xmlns:a="http://schemas.openxmlformats.org/drawingml/2006/main">
            <a:off x="2847975" y="4686300"/>
            <a:ext cx="42100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트립을 안정적으로 운영할 수 있는 체계적인 방법</a:t>
            </a:r>
          </a:p>
        </p:txBody>
      </p:sp>
    </p:spTree>
    <p:extLst>
      <p:ext uri="{BB962C8B-B14F-4D97-AF65-F5344CB8AC3E}">
        <p14:creationId xmlns:p14="http://schemas.microsoft.com/office/powerpoint/2010/main" val="1200091114"/>
      </p:ext>
    </p:extLst>
  </p:cSld>
</p:sld>
</file>

<file path=ppt/slides/slide15.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1822A93-ACAD-4819-BF7F-8AD95A31227E}"/>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이것만큼은 지키겠다</a:t>
            </a:r>
          </a:p>
        </p:txBody>
      </p:sp>
      <p:sp>
        <p:nvSpPr>
          <p:cNvPr id="2" name="">
            <a:extLst xmlns:a="http://schemas.openxmlformats.org/drawingml/2006/main">
              <a:ext uri="{FF2B5EF4-FFF2-40B4-BE49-F238E27FC236}">
                <a16:creationId xmlns:a16="http://schemas.microsoft.com/office/drawing/2014/main" id="{38BB24FF-1749-4490-8BEC-D61A7C1A8038}"/>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임재영의 개인 계획 예시 · 필드의 기준과 함께하는 태도</a:t>
            </a:r>
          </a:p>
        </p:txBody>
      </p:sp>
      <p:sp>
        <p:nvSpPr>
          <p:cNvPr id="3" name="">
            <a:extLst xmlns:a="http://schemas.openxmlformats.org/drawingml/2006/main">
              <a:ext uri="{FF2B5EF4-FFF2-40B4-BE49-F238E27FC236}">
                <a16:creationId xmlns:a16="http://schemas.microsoft.com/office/drawing/2014/main" id="{24BC2B46-F8E2-42DB-9F70-3AE0160EF217}"/>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F8209C76-1E9A-4D26-92F7-7E49262C2B6A}"/>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15</a:t>
            </a:r>
          </a:p>
        </p:txBody>
      </p:sp>
      <p:sp>
        <p:nvSpPr>
          <p:cNvPr id="5" name="">
            <a:extLst xmlns:a="http://schemas.openxmlformats.org/drawingml/2006/main">
              <a:ext uri="{FF2B5EF4-FFF2-40B4-BE49-F238E27FC236}">
                <a16:creationId xmlns:a16="http://schemas.microsoft.com/office/drawing/2014/main" id="{7A613779-C919-4889-94E5-7DF86F0465AA}"/>
              </a:ext>
            </a:extLst>
          </p:cNvPr>
          <p:cNvSpPr>
            <a:spLocks xmlns:a="http://schemas.openxmlformats.org/drawingml/2006/main" noGrp="1"/>
          </p:cNvSpPr>
          <p:nvPr/>
        </p:nvSpPr>
        <p:spPr>
          <a:xfrm xmlns:a="http://schemas.openxmlformats.org/drawingml/2006/main">
            <a:off x="609600" y="2009775"/>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15클로즈 · 9시간</a:t>
            </a:r>
          </a:p>
        </p:txBody>
      </p:sp>
      <p:sp>
        <p:nvSpPr>
          <p:cNvPr id="6" name="">
            <a:extLst xmlns:a="http://schemas.openxmlformats.org/drawingml/2006/main">
              <a:ext uri="{FF2B5EF4-FFF2-40B4-BE49-F238E27FC236}">
                <a16:creationId xmlns:a16="http://schemas.microsoft.com/office/drawing/2014/main" id="{D936A7C7-02D6-4F1F-B14C-7E73D0C23D4A}"/>
              </a:ext>
            </a:extLst>
          </p:cNvPr>
          <p:cNvSpPr>
            <a:spLocks xmlns:a="http://schemas.openxmlformats.org/drawingml/2006/main" noGrp="1"/>
          </p:cNvSpPr>
          <p:nvPr/>
        </p:nvSpPr>
        <p:spPr>
          <a:xfrm xmlns:a="http://schemas.openxmlformats.org/drawingml/2006/main">
            <a:off x="3886200" y="2009775"/>
            <a:ext cx="7696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데일리 15클로즈, 최소 9시간 이상 실 필드시간 준수</a:t>
            </a:r>
          </a:p>
        </p:txBody>
      </p:sp>
      <p:sp>
        <p:nvSpPr>
          <p:cNvPr id="7" name="">
            <a:extLst xmlns:a="http://schemas.openxmlformats.org/drawingml/2006/main">
              <a:ext uri="{FF2B5EF4-FFF2-40B4-BE49-F238E27FC236}">
                <a16:creationId xmlns:a16="http://schemas.microsoft.com/office/drawing/2014/main" id="{A12D1A34-17A4-4B96-8A90-AA06E2E4FB78}"/>
              </a:ext>
            </a:extLst>
          </p:cNvPr>
          <p:cNvSpPr>
            <a:spLocks xmlns:a="http://schemas.openxmlformats.org/drawingml/2006/main" noGrp="1"/>
          </p:cNvSpPr>
          <p:nvPr/>
        </p:nvSpPr>
        <p:spPr>
          <a:xfrm xmlns:a="http://schemas.openxmlformats.org/drawingml/2006/main">
            <a:off x="609600" y="3038475"/>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00:00 / 07:30</a:t>
            </a:r>
          </a:p>
        </p:txBody>
      </p:sp>
      <p:sp>
        <p:nvSpPr>
          <p:cNvPr id="8" name="">
            <a:extLst xmlns:a="http://schemas.openxmlformats.org/drawingml/2006/main">
              <a:ext uri="{FF2B5EF4-FFF2-40B4-BE49-F238E27FC236}">
                <a16:creationId xmlns:a16="http://schemas.microsoft.com/office/drawing/2014/main" id="{CEC570DD-B593-42B3-A4A0-7EC503E62C05}"/>
              </a:ext>
            </a:extLst>
          </p:cNvPr>
          <p:cNvSpPr>
            <a:spLocks xmlns:a="http://schemas.openxmlformats.org/drawingml/2006/main" noGrp="1"/>
          </p:cNvSpPr>
          <p:nvPr/>
        </p:nvSpPr>
        <p:spPr>
          <a:xfrm xmlns:a="http://schemas.openxmlformats.org/drawingml/2006/main">
            <a:off x="3886200" y="3038475"/>
            <a:ext cx="7696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밤 12시에 자고 아침 7시 30분에 일어나기</a:t>
            </a:r>
          </a:p>
        </p:txBody>
      </p:sp>
      <p:sp>
        <p:nvSpPr>
          <p:cNvPr id="9" name="">
            <a:extLst xmlns:a="http://schemas.openxmlformats.org/drawingml/2006/main">
              <a:ext uri="{FF2B5EF4-FFF2-40B4-BE49-F238E27FC236}">
                <a16:creationId xmlns:a16="http://schemas.microsoft.com/office/drawing/2014/main" id="{56A814E7-2B6D-4BC0-8DA0-2B46418D1F75}"/>
              </a:ext>
            </a:extLst>
          </p:cNvPr>
          <p:cNvSpPr>
            <a:spLocks xmlns:a="http://schemas.openxmlformats.org/drawingml/2006/main" noGrp="1"/>
          </p:cNvSpPr>
          <p:nvPr/>
        </p:nvSpPr>
        <p:spPr>
          <a:xfrm xmlns:a="http://schemas.openxmlformats.org/drawingml/2006/main">
            <a:off x="609600" y="4067175"/>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감사하는 마음</a:t>
            </a:r>
          </a:p>
        </p:txBody>
      </p:sp>
      <p:sp>
        <p:nvSpPr>
          <p:cNvPr id="10" name="">
            <a:extLst xmlns:a="http://schemas.openxmlformats.org/drawingml/2006/main">
              <a:ext uri="{FF2B5EF4-FFF2-40B4-BE49-F238E27FC236}">
                <a16:creationId xmlns:a16="http://schemas.microsoft.com/office/drawing/2014/main" id="{3BD2C84F-25EC-4105-AF58-C675EAF2229F}"/>
              </a:ext>
            </a:extLst>
          </p:cNvPr>
          <p:cNvSpPr>
            <a:spLocks xmlns:a="http://schemas.openxmlformats.org/drawingml/2006/main" noGrp="1"/>
          </p:cNvSpPr>
          <p:nvPr/>
        </p:nvSpPr>
        <p:spPr>
          <a:xfrm xmlns:a="http://schemas.openxmlformats.org/drawingml/2006/main">
            <a:off x="3886200" y="4067175"/>
            <a:ext cx="7696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함께하는 트립 팀원과 함께할 수 있음에 감사하며 필드에 임하기</a:t>
            </a:r>
          </a:p>
        </p:txBody>
      </p:sp>
      <p:sp>
        <p:nvSpPr>
          <p:cNvPr id="11" name="">
            <a:extLst xmlns:a="http://schemas.openxmlformats.org/drawingml/2006/main">
              <a:ext uri="{FF2B5EF4-FFF2-40B4-BE49-F238E27FC236}">
                <a16:creationId xmlns:a16="http://schemas.microsoft.com/office/drawing/2014/main" id="{85775BEE-9F05-4E78-A827-69FA6B4D39A5}"/>
              </a:ext>
            </a:extLst>
          </p:cNvPr>
          <p:cNvSpPr>
            <a:spLocks xmlns:a="http://schemas.openxmlformats.org/drawingml/2006/main" noGrp="1"/>
          </p:cNvSpPr>
          <p:nvPr/>
        </p:nvSpPr>
        <p:spPr>
          <a:xfrm xmlns:a="http://schemas.openxmlformats.org/drawingml/2006/main">
            <a:off x="609600" y="5095875"/>
            <a:ext cx="30099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신뢰와 응원</a:t>
            </a:r>
          </a:p>
        </p:txBody>
      </p:sp>
      <p:sp>
        <p:nvSpPr>
          <p:cNvPr id="12" name="">
            <a:extLst xmlns:a="http://schemas.openxmlformats.org/drawingml/2006/main">
              <a:ext uri="{FF2B5EF4-FFF2-40B4-BE49-F238E27FC236}">
                <a16:creationId xmlns:a16="http://schemas.microsoft.com/office/drawing/2014/main" id="{299D1F0C-47CC-47AE-AB5F-AE2357945A1A}"/>
              </a:ext>
            </a:extLst>
          </p:cNvPr>
          <p:cNvSpPr>
            <a:spLocks xmlns:a="http://schemas.openxmlformats.org/drawingml/2006/main" noGrp="1"/>
          </p:cNvSpPr>
          <p:nvPr/>
        </p:nvSpPr>
        <p:spPr>
          <a:xfrm xmlns:a="http://schemas.openxmlformats.org/drawingml/2006/main">
            <a:off x="3886200" y="5095875"/>
            <a:ext cx="7696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어렵고 힘든 일이 생겨도 서로를 신뢰하고 끝까지 응원하기</a:t>
            </a:r>
          </a:p>
        </p:txBody>
      </p:sp>
    </p:spTree>
    <p:extLst>
      <p:ext uri="{BB962C8B-B14F-4D97-AF65-F5344CB8AC3E}">
        <p14:creationId xmlns:p14="http://schemas.microsoft.com/office/powerpoint/2010/main" val="1243007577"/>
      </p:ext>
    </p:extLst>
  </p:cSld>
</p:sld>
</file>

<file path=ppt/slides/slide16.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AD2F188-7216-4F83-AFC0-2FC83989262E}"/>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월요일과 화요일의 테마</a:t>
            </a:r>
          </a:p>
        </p:txBody>
      </p:sp>
      <p:sp>
        <p:nvSpPr>
          <p:cNvPr id="2" name="">
            <a:extLst xmlns:a="http://schemas.openxmlformats.org/drawingml/2006/main">
              <a:ext uri="{FF2B5EF4-FFF2-40B4-BE49-F238E27FC236}">
                <a16:creationId xmlns:a16="http://schemas.microsoft.com/office/drawing/2014/main" id="{67F6DE91-2059-4B58-8791-12C34609AEA9}"/>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Presence식 테마 세팅 · 월~금 트립 기준</a:t>
            </a:r>
          </a:p>
        </p:txBody>
      </p:sp>
      <p:sp>
        <p:nvSpPr>
          <p:cNvPr id="3" name="">
            <a:extLst xmlns:a="http://schemas.openxmlformats.org/drawingml/2006/main">
              <a:ext uri="{FF2B5EF4-FFF2-40B4-BE49-F238E27FC236}">
                <a16:creationId xmlns:a16="http://schemas.microsoft.com/office/drawing/2014/main" id="{4915677B-ADB2-4AA4-A1E7-837CE0CC1314}"/>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1EF4141C-DD8A-4985-82B1-3A6CF34AAA50}"/>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16</a:t>
            </a:r>
          </a:p>
        </p:txBody>
      </p:sp>
      <p:sp>
        <p:nvSpPr>
          <p:cNvPr id="5" name="">
            <a:extLst xmlns:a="http://schemas.openxmlformats.org/drawingml/2006/main">
              <a:ext uri="{FF2B5EF4-FFF2-40B4-BE49-F238E27FC236}">
                <a16:creationId xmlns:a16="http://schemas.microsoft.com/office/drawing/2014/main" id="{CD119A7C-91BE-4867-AEB1-980580A1E15C}"/>
              </a:ext>
            </a:extLst>
          </p:cNvPr>
          <p:cNvSpPr>
            <a:spLocks xmlns:a="http://schemas.openxmlformats.org/drawingml/2006/main" noGrp="1"/>
          </p:cNvSpPr>
          <p:nvPr/>
        </p:nvSpPr>
        <p:spPr>
          <a:xfrm xmlns:a="http://schemas.openxmlformats.org/drawingml/2006/main">
            <a:off x="609600" y="19812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0">
                <a:solidFill>
                  <a:srgbClr val="6B865C"/>
                </a:solidFill>
                <a:latin typeface="Apple SD Gothic Neo"/>
                <a:ea typeface="Apple SD Gothic Neo"/>
                <a:cs typeface="Apple SD Gothic Neo"/>
              </a:defRPr>
            </a:pPr>
            <a:r>
              <a:rPr sz="5400" b="0">
                <a:solidFill>
                  <a:srgbClr val="6B865C"/>
                </a:solidFill>
                <a:latin typeface="Apple SD Gothic Neo"/>
                <a:ea typeface="Apple SD Gothic Neo"/>
                <a:cs typeface="Apple SD Gothic Neo"/>
              </a:rPr>
              <a:t>MON</a:t>
            </a:r>
          </a:p>
        </p:txBody>
      </p:sp>
      <p:sp>
        <p:nvSpPr>
          <p:cNvPr id="6" name="">
            <a:extLst xmlns:a="http://schemas.openxmlformats.org/drawingml/2006/main">
              <a:ext uri="{FF2B5EF4-FFF2-40B4-BE49-F238E27FC236}">
                <a16:creationId xmlns:a16="http://schemas.microsoft.com/office/drawing/2014/main" id="{187DFFC5-9295-4BB2-A3F1-EEBC53DFF5EB}"/>
              </a:ext>
            </a:extLst>
          </p:cNvPr>
          <p:cNvSpPr>
            <a:spLocks xmlns:a="http://schemas.openxmlformats.org/drawingml/2006/main" noGrp="1"/>
          </p:cNvSpPr>
          <p:nvPr/>
        </p:nvSpPr>
        <p:spPr>
          <a:xfrm xmlns:a="http://schemas.openxmlformats.org/drawingml/2006/main">
            <a:off x="609600" y="303847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92A20"/>
                </a:solidFill>
                <a:latin typeface="Apple SD Gothic Neo"/>
                <a:ea typeface="Apple SD Gothic Neo"/>
                <a:cs typeface="Apple SD Gothic Neo"/>
              </a:defRPr>
            </a:pPr>
            <a:r>
              <a:rPr sz="2700" b="1">
                <a:solidFill>
                  <a:srgbClr val="192A20"/>
                </a:solidFill>
                <a:latin typeface="Apple SD Gothic Neo"/>
                <a:ea typeface="Apple SD Gothic Neo"/>
                <a:cs typeface="Apple SD Gothic Neo"/>
              </a:rPr>
              <a:t>월 · 기강 Day</a:t>
            </a:r>
          </a:p>
        </p:txBody>
      </p:sp>
      <p:sp>
        <p:nvSpPr>
          <p:cNvPr id="7" name="">
            <a:extLst xmlns:a="http://schemas.openxmlformats.org/drawingml/2006/main">
              <a:ext uri="{FF2B5EF4-FFF2-40B4-BE49-F238E27FC236}">
                <a16:creationId xmlns:a16="http://schemas.microsoft.com/office/drawing/2014/main" id="{E5FB9817-5B99-4550-8471-50CE01A627FC}"/>
              </a:ext>
            </a:extLst>
          </p:cNvPr>
          <p:cNvSpPr>
            <a:spLocks xmlns:a="http://schemas.openxmlformats.org/drawingml/2006/main" noGrp="1"/>
          </p:cNvSpPr>
          <p:nvPr/>
        </p:nvSpPr>
        <p:spPr>
          <a:xfrm xmlns:a="http://schemas.openxmlformats.org/drawingml/2006/main">
            <a:off x="609600" y="3876675"/>
            <a:ext cx="50196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92A20"/>
                </a:solidFill>
                <a:latin typeface="Apple SD Gothic Neo"/>
                <a:ea typeface="Apple SD Gothic Neo"/>
                <a:cs typeface="Apple SD Gothic Neo"/>
              </a:defRPr>
            </a:pPr>
            <a:r>
              <a:rPr sz="2250" b="0">
                <a:solidFill>
                  <a:srgbClr val="192A20"/>
                </a:solidFill>
                <a:latin typeface="Apple SD Gothic Neo"/>
                <a:ea typeface="Apple SD Gothic Neo"/>
                <a:cs typeface="Apple SD Gothic Neo"/>
              </a:rPr>
              <a:t>트립 전체의 A패턴을 만드는 날입니다. 첫째 날이 가장 부담이 덜한 만큼 가장 집중해서 많은 성과를 내려고 노력합니다. 첫날의 성과로 이후 운영을 안정적으로 만듭니다.</a:t>
            </a:r>
          </a:p>
        </p:txBody>
      </p:sp>
      <p:sp>
        <p:nvSpPr>
          <p:cNvPr id="8" name="">
            <a:extLst xmlns:a="http://schemas.openxmlformats.org/drawingml/2006/main">
              <a:ext uri="{FF2B5EF4-FFF2-40B4-BE49-F238E27FC236}">
                <a16:creationId xmlns:a16="http://schemas.microsoft.com/office/drawing/2014/main" id="{BD0664AE-C2F1-42F0-A205-0A626190B9B6}"/>
              </a:ext>
            </a:extLst>
          </p:cNvPr>
          <p:cNvSpPr>
            <a:spLocks xmlns:a="http://schemas.openxmlformats.org/drawingml/2006/main" noGrp="1"/>
          </p:cNvSpPr>
          <p:nvPr/>
        </p:nvSpPr>
        <p:spPr>
          <a:xfrm xmlns:a="http://schemas.openxmlformats.org/drawingml/2006/main">
            <a:off x="6419850" y="19812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0">
                <a:solidFill>
                  <a:srgbClr val="6B865C"/>
                </a:solidFill>
                <a:latin typeface="Apple SD Gothic Neo"/>
                <a:ea typeface="Apple SD Gothic Neo"/>
                <a:cs typeface="Apple SD Gothic Neo"/>
              </a:defRPr>
            </a:pPr>
            <a:r>
              <a:rPr sz="5400" b="0">
                <a:solidFill>
                  <a:srgbClr val="6B865C"/>
                </a:solidFill>
                <a:latin typeface="Apple SD Gothic Neo"/>
                <a:ea typeface="Apple SD Gothic Neo"/>
                <a:cs typeface="Apple SD Gothic Neo"/>
              </a:rPr>
              <a:t>TUE</a:t>
            </a:r>
          </a:p>
        </p:txBody>
      </p:sp>
      <p:sp>
        <p:nvSpPr>
          <p:cNvPr id="9" name="">
            <a:extLst xmlns:a="http://schemas.openxmlformats.org/drawingml/2006/main">
              <a:ext uri="{FF2B5EF4-FFF2-40B4-BE49-F238E27FC236}">
                <a16:creationId xmlns:a16="http://schemas.microsoft.com/office/drawing/2014/main" id="{85952C09-FC83-496F-8700-DFFF300E1DF8}"/>
              </a:ext>
            </a:extLst>
          </p:cNvPr>
          <p:cNvSpPr>
            <a:spLocks xmlns:a="http://schemas.openxmlformats.org/drawingml/2006/main" noGrp="1"/>
          </p:cNvSpPr>
          <p:nvPr/>
        </p:nvSpPr>
        <p:spPr>
          <a:xfrm xmlns:a="http://schemas.openxmlformats.org/drawingml/2006/main">
            <a:off x="6419850" y="303847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92A20"/>
                </a:solidFill>
                <a:latin typeface="Apple SD Gothic Neo"/>
                <a:ea typeface="Apple SD Gothic Neo"/>
                <a:cs typeface="Apple SD Gothic Neo"/>
              </a:defRPr>
            </a:pPr>
            <a:r>
              <a:rPr sz="2700" b="1">
                <a:solidFill>
                  <a:srgbClr val="192A20"/>
                </a:solidFill>
                <a:latin typeface="Apple SD Gothic Neo"/>
                <a:ea typeface="Apple SD Gothic Neo"/>
                <a:cs typeface="Apple SD Gothic Neo"/>
              </a:rPr>
              <a:t>화 · 태도유지 Day</a:t>
            </a:r>
          </a:p>
        </p:txBody>
      </p:sp>
      <p:sp>
        <p:nvSpPr>
          <p:cNvPr id="10" name="">
            <a:extLst xmlns:a="http://schemas.openxmlformats.org/drawingml/2006/main">
              <a:ext uri="{FF2B5EF4-FFF2-40B4-BE49-F238E27FC236}">
                <a16:creationId xmlns:a16="http://schemas.microsoft.com/office/drawing/2014/main" id="{854B9B5F-E644-40FD-B5FF-E39852083F8C}"/>
              </a:ext>
            </a:extLst>
          </p:cNvPr>
          <p:cNvSpPr>
            <a:spLocks xmlns:a="http://schemas.openxmlformats.org/drawingml/2006/main" noGrp="1"/>
          </p:cNvSpPr>
          <p:nvPr/>
        </p:nvSpPr>
        <p:spPr>
          <a:xfrm xmlns:a="http://schemas.openxmlformats.org/drawingml/2006/main">
            <a:off x="6419850" y="3876675"/>
            <a:ext cx="5019675"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92A20"/>
                </a:solidFill>
                <a:latin typeface="Apple SD Gothic Neo"/>
                <a:ea typeface="Apple SD Gothic Neo"/>
                <a:cs typeface="Apple SD Gothic Neo"/>
              </a:defRPr>
            </a:pPr>
            <a:r>
              <a:rPr sz="2250" b="0">
                <a:solidFill>
                  <a:srgbClr val="192A20"/>
                </a:solidFill>
                <a:latin typeface="Apple SD Gothic Neo"/>
                <a:ea typeface="Apple SD Gothic Neo"/>
                <a:cs typeface="Apple SD Gothic Neo"/>
              </a:rPr>
              <a:t>월요일의 “처음이니 잘해보자”라는 마음과 태도, 넘버를 적어도 화요일까지 유지합니다. 월요일 결과가 나오지 않았더라도 화요일의 결과와 분위기 전환을 노립니다.</a:t>
            </a:r>
          </a:p>
        </p:txBody>
      </p:sp>
    </p:spTree>
    <p:extLst>
      <p:ext uri="{BB962C8B-B14F-4D97-AF65-F5344CB8AC3E}">
        <p14:creationId xmlns:p14="http://schemas.microsoft.com/office/powerpoint/2010/main" val="1440355517"/>
      </p:ext>
    </p:extLst>
  </p:cSld>
</p:sld>
</file>

<file path=ppt/slides/slide17.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66F7B2-BE27-4A4E-89F1-209DE4A9AE90}"/>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수요일 · 액티비티 Day</a:t>
            </a:r>
          </a:p>
        </p:txBody>
      </p:sp>
      <p:sp>
        <p:nvSpPr>
          <p:cNvPr id="2" name="">
            <a:extLst xmlns:a="http://schemas.openxmlformats.org/drawingml/2006/main">
              <a:ext uri="{FF2B5EF4-FFF2-40B4-BE49-F238E27FC236}">
                <a16:creationId xmlns:a16="http://schemas.microsoft.com/office/drawing/2014/main" id="{1453E543-8D5C-4C0F-B81C-866E231BCE92}"/>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월·화의 집중을 함께 보내는 시간으로 연결합니다.</a:t>
            </a:r>
          </a:p>
        </p:txBody>
      </p:sp>
      <p:sp>
        <p:nvSpPr>
          <p:cNvPr id="3" name="">
            <a:extLst xmlns:a="http://schemas.openxmlformats.org/drawingml/2006/main">
              <a:ext uri="{FF2B5EF4-FFF2-40B4-BE49-F238E27FC236}">
                <a16:creationId xmlns:a16="http://schemas.microsoft.com/office/drawing/2014/main" id="{563603EC-662C-4873-8114-A8486E975DD2}"/>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700B09C6-2DDA-443C-88AC-3D099EE2012C}"/>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17</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62234b7de3f94665"/>
          <a:stretch xmlns:a="http://schemas.openxmlformats.org/drawingml/2006/main"/>
        </p:blipFill>
        <p:spPr>
          <a:xfrm xmlns:a="http://schemas.openxmlformats.org/drawingml/2006/main">
            <a:off x="1076325" y="2133600"/>
            <a:ext cx="4724400" cy="35433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F29C8D53-6A8F-49FD-AEEE-ABA4E697AB4B}"/>
              </a:ext>
            </a:extLst>
          </p:cNvPr>
          <p:cNvSpPr>
            <a:spLocks xmlns:a="http://schemas.openxmlformats.org/drawingml/2006/main" noGrp="1"/>
          </p:cNvSpPr>
          <p:nvPr/>
        </p:nvSpPr>
        <p:spPr>
          <a:xfrm xmlns:a="http://schemas.openxmlformats.org/drawingml/2006/main">
            <a:off x="6858000" y="2095500"/>
            <a:ext cx="4552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225" b="1">
                <a:solidFill>
                  <a:srgbClr val="DBED9C"/>
                </a:solidFill>
                <a:latin typeface="Apple SD Gothic Neo"/>
                <a:ea typeface="Apple SD Gothic Neo"/>
                <a:cs typeface="Apple SD Gothic Neo"/>
              </a:defRPr>
            </a:pPr>
            <a:r>
              <a:rPr sz="6225" b="1">
                <a:solidFill>
                  <a:srgbClr val="DBED9C"/>
                </a:solidFill>
                <a:latin typeface="Apple SD Gothic Neo"/>
                <a:ea typeface="Apple SD Gothic Neo"/>
                <a:cs typeface="Apple SD Gothic Neo"/>
              </a:rPr>
              <a:t>1.5+</a:t>
            </a:r>
          </a:p>
        </p:txBody>
      </p:sp>
      <p:sp>
        <p:nvSpPr>
          <p:cNvPr id="7" name="">
            <a:extLst xmlns:a="http://schemas.openxmlformats.org/drawingml/2006/main">
              <a:ext uri="{FF2B5EF4-FFF2-40B4-BE49-F238E27FC236}">
                <a16:creationId xmlns:a16="http://schemas.microsoft.com/office/drawing/2014/main" id="{78BAAB16-79D4-416D-ACA1-8E981F541D49}"/>
              </a:ext>
            </a:extLst>
          </p:cNvPr>
          <p:cNvSpPr>
            <a:spLocks xmlns:a="http://schemas.openxmlformats.org/drawingml/2006/main" noGrp="1"/>
          </p:cNvSpPr>
          <p:nvPr/>
        </p:nvSpPr>
        <p:spPr>
          <a:xfrm xmlns:a="http://schemas.openxmlformats.org/drawingml/2006/main">
            <a:off x="6896100" y="3076575"/>
            <a:ext cx="447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F8F9F2"/>
                </a:solidFill>
                <a:latin typeface="Apple SD Gothic Neo"/>
                <a:ea typeface="Apple SD Gothic Neo"/>
                <a:cs typeface="Apple SD Gothic Neo"/>
              </a:defRPr>
            </a:pPr>
            <a:r>
              <a:rPr sz="2175" b="0">
                <a:solidFill>
                  <a:srgbClr val="F8F9F2"/>
                </a:solidFill>
                <a:latin typeface="Apple SD Gothic Neo"/>
                <a:ea typeface="Apple SD Gothic Neo"/>
                <a:cs typeface="Apple SD Gothic Neo"/>
              </a:rPr>
              <a:t>월·화 합산 팀 AVG</a:t>
            </a:r>
          </a:p>
        </p:txBody>
      </p:sp>
      <p:sp>
        <p:nvSpPr>
          <p:cNvPr id="8" name="">
            <a:extLst xmlns:a="http://schemas.openxmlformats.org/drawingml/2006/main">
              <a:ext uri="{FF2B5EF4-FFF2-40B4-BE49-F238E27FC236}">
                <a16:creationId xmlns:a16="http://schemas.microsoft.com/office/drawing/2014/main" id="{A0FF6208-25DE-4BF6-A025-36CC9F0FBC7E}"/>
              </a:ext>
            </a:extLst>
          </p:cNvPr>
          <p:cNvSpPr>
            <a:spLocks xmlns:a="http://schemas.openxmlformats.org/drawingml/2006/main" noGrp="1"/>
          </p:cNvSpPr>
          <p:nvPr/>
        </p:nvSpPr>
        <p:spPr>
          <a:xfrm xmlns:a="http://schemas.openxmlformats.org/drawingml/2006/main">
            <a:off x="6858000" y="3724275"/>
            <a:ext cx="45529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DBED9C"/>
                </a:solidFill>
                <a:latin typeface="Apple SD Gothic Neo"/>
                <a:ea typeface="Apple SD Gothic Neo"/>
                <a:cs typeface="Apple SD Gothic Neo"/>
              </a:defRPr>
            </a:pPr>
            <a:r>
              <a:rPr sz="5250" b="1">
                <a:solidFill>
                  <a:srgbClr val="DBED9C"/>
                </a:solidFill>
                <a:latin typeface="Apple SD Gothic Neo"/>
                <a:ea typeface="Apple SD Gothic Neo"/>
                <a:cs typeface="Apple SD Gothic Neo"/>
              </a:rPr>
              <a:t>18:00</a:t>
            </a:r>
          </a:p>
        </p:txBody>
      </p:sp>
      <p:sp>
        <p:nvSpPr>
          <p:cNvPr id="9" name="">
            <a:extLst xmlns:a="http://schemas.openxmlformats.org/drawingml/2006/main">
              <a:ext uri="{FF2B5EF4-FFF2-40B4-BE49-F238E27FC236}">
                <a16:creationId xmlns:a16="http://schemas.microsoft.com/office/drawing/2014/main" id="{9469D644-2447-49E7-B346-168EC4BD78BC}"/>
              </a:ext>
            </a:extLst>
          </p:cNvPr>
          <p:cNvSpPr>
            <a:spLocks xmlns:a="http://schemas.openxmlformats.org/drawingml/2006/main" noGrp="1"/>
          </p:cNvSpPr>
          <p:nvPr/>
        </p:nvSpPr>
        <p:spPr>
          <a:xfrm xmlns:a="http://schemas.openxmlformats.org/drawingml/2006/main">
            <a:off x="6896100" y="4581525"/>
            <a:ext cx="43624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F8F9F2"/>
                </a:solidFill>
                <a:latin typeface="Apple SD Gothic Neo"/>
                <a:ea typeface="Apple SD Gothic Neo"/>
                <a:cs typeface="Apple SD Gothic Neo"/>
              </a:defRPr>
            </a:pPr>
            <a:r>
              <a:rPr sz="2250" b="0">
                <a:solidFill>
                  <a:srgbClr val="F8F9F2"/>
                </a:solidFill>
                <a:latin typeface="Apple SD Gothic Neo"/>
                <a:ea typeface="Apple SD Gothic Neo"/>
                <a:cs typeface="Apple SD Gothic Neo"/>
              </a:rPr>
              <a:t>빠르게 필드 종료 후 함께 식사·액티비티</a:t>
            </a:r>
          </a:p>
        </p:txBody>
      </p:sp>
      <p:sp>
        <p:nvSpPr>
          <p:cNvPr id="10" name="">
            <a:extLst xmlns:a="http://schemas.openxmlformats.org/drawingml/2006/main">
              <a:ext uri="{FF2B5EF4-FFF2-40B4-BE49-F238E27FC236}">
                <a16:creationId xmlns:a16="http://schemas.microsoft.com/office/drawing/2014/main" id="{FEA57C62-8260-450F-89E0-DBDE92B84E3C}"/>
              </a:ext>
            </a:extLst>
          </p:cNvPr>
          <p:cNvSpPr>
            <a:spLocks xmlns:a="http://schemas.openxmlformats.org/drawingml/2006/main" noGrp="1"/>
          </p:cNvSpPr>
          <p:nvPr/>
        </p:nvSpPr>
        <p:spPr>
          <a:xfrm xmlns:a="http://schemas.openxmlformats.org/drawingml/2006/main">
            <a:off x="628650" y="59150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BCDAF"/>
                </a:solidFill>
                <a:latin typeface="Apple SD Gothic Neo"/>
                <a:ea typeface="Apple SD Gothic Neo"/>
                <a:cs typeface="Apple SD Gothic Neo"/>
              </a:defRPr>
            </a:pPr>
            <a:r>
              <a:rPr sz="1425" b="0">
                <a:solidFill>
                  <a:srgbClr val="BBCDAF"/>
                </a:solidFill>
                <a:latin typeface="Apple SD Gothic Neo"/>
                <a:ea typeface="Apple SD Gothic Neo"/>
                <a:cs typeface="Apple SD Gothic Neo"/>
              </a:rPr>
              <a:t>바다 구경, 스포츠 등 무리하지 않는 활동을 선택하고 충분히 쉽니다.</a:t>
            </a:r>
          </a:p>
        </p:txBody>
      </p:sp>
    </p:spTree>
    <p:extLst>
      <p:ext uri="{BB962C8B-B14F-4D97-AF65-F5344CB8AC3E}">
        <p14:creationId xmlns:p14="http://schemas.microsoft.com/office/powerpoint/2010/main" val="2007881061"/>
      </p:ext>
    </p:extLst>
  </p:cSld>
</p:sld>
</file>

<file path=ppt/slides/slide18.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EFB7788-353D-435D-BF58-0A8A63F044E6}"/>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목요일과 금요일의 테마</a:t>
            </a:r>
          </a:p>
        </p:txBody>
      </p:sp>
      <p:sp>
        <p:nvSpPr>
          <p:cNvPr id="2" name="">
            <a:extLst xmlns:a="http://schemas.openxmlformats.org/drawingml/2006/main">
              <a:ext uri="{FF2B5EF4-FFF2-40B4-BE49-F238E27FC236}">
                <a16:creationId xmlns:a16="http://schemas.microsoft.com/office/drawing/2014/main" id="{DEE2B296-9527-48EC-BC47-9B3671A8B493}"/>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PB 도전과 빠른 마무리를 각각 계획합니다.</a:t>
            </a:r>
          </a:p>
        </p:txBody>
      </p:sp>
      <p:sp>
        <p:nvSpPr>
          <p:cNvPr id="3" name="">
            <a:extLst xmlns:a="http://schemas.openxmlformats.org/drawingml/2006/main">
              <a:ext uri="{FF2B5EF4-FFF2-40B4-BE49-F238E27FC236}">
                <a16:creationId xmlns:a16="http://schemas.microsoft.com/office/drawing/2014/main" id="{24C96E27-8923-4F5D-A8C6-C4A81AC847A8}"/>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D60BC9D2-B1F8-4F06-A652-0B805D845717}"/>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18</a:t>
            </a:r>
          </a:p>
        </p:txBody>
      </p:sp>
      <p:sp>
        <p:nvSpPr>
          <p:cNvPr id="5" name="">
            <a:extLst xmlns:a="http://schemas.openxmlformats.org/drawingml/2006/main">
              <a:ext uri="{FF2B5EF4-FFF2-40B4-BE49-F238E27FC236}">
                <a16:creationId xmlns:a16="http://schemas.microsoft.com/office/drawing/2014/main" id="{90964D6B-9FAB-449B-BDAD-0D8D2016A8E1}"/>
              </a:ext>
            </a:extLst>
          </p:cNvPr>
          <p:cNvSpPr>
            <a:spLocks xmlns:a="http://schemas.openxmlformats.org/drawingml/2006/main" noGrp="1"/>
          </p:cNvSpPr>
          <p:nvPr/>
        </p:nvSpPr>
        <p:spPr>
          <a:xfrm xmlns:a="http://schemas.openxmlformats.org/drawingml/2006/main">
            <a:off x="609600" y="2076450"/>
            <a:ext cx="4991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800" b="1">
                <a:solidFill>
                  <a:srgbClr val="6B865C"/>
                </a:solidFill>
                <a:latin typeface="Apple SD Gothic Neo"/>
                <a:ea typeface="Apple SD Gothic Neo"/>
                <a:cs typeface="Apple SD Gothic Neo"/>
              </a:defRPr>
            </a:pPr>
            <a:r>
              <a:rPr sz="7800" b="1">
                <a:solidFill>
                  <a:srgbClr val="6B865C"/>
                </a:solidFill>
                <a:latin typeface="Apple SD Gothic Neo"/>
                <a:ea typeface="Apple SD Gothic Neo"/>
                <a:cs typeface="Apple SD Gothic Neo"/>
              </a:rPr>
              <a:t>PB</a:t>
            </a:r>
          </a:p>
        </p:txBody>
      </p:sp>
      <p:sp>
        <p:nvSpPr>
          <p:cNvPr id="6" name="">
            <a:extLst xmlns:a="http://schemas.openxmlformats.org/drawingml/2006/main">
              <a:ext uri="{FF2B5EF4-FFF2-40B4-BE49-F238E27FC236}">
                <a16:creationId xmlns:a16="http://schemas.microsoft.com/office/drawing/2014/main" id="{BD51367B-1852-45DE-85C8-10C4D4864590}"/>
              </a:ext>
            </a:extLst>
          </p:cNvPr>
          <p:cNvSpPr>
            <a:spLocks xmlns:a="http://schemas.openxmlformats.org/drawingml/2006/main" noGrp="1"/>
          </p:cNvSpPr>
          <p:nvPr/>
        </p:nvSpPr>
        <p:spPr>
          <a:xfrm xmlns:a="http://schemas.openxmlformats.org/drawingml/2006/main">
            <a:off x="609600" y="34861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92A20"/>
                </a:solidFill>
                <a:latin typeface="Apple SD Gothic Neo"/>
                <a:ea typeface="Apple SD Gothic Neo"/>
                <a:cs typeface="Apple SD Gothic Neo"/>
              </a:defRPr>
            </a:pPr>
            <a:r>
              <a:rPr sz="2625" b="1">
                <a:solidFill>
                  <a:srgbClr val="192A20"/>
                </a:solidFill>
                <a:latin typeface="Apple SD Gothic Neo"/>
                <a:ea typeface="Apple SD Gothic Neo"/>
                <a:cs typeface="Apple SD Gothic Neo"/>
              </a:rPr>
              <a:t>목 · PB 달성 Day</a:t>
            </a:r>
          </a:p>
        </p:txBody>
      </p:sp>
      <p:sp>
        <p:nvSpPr>
          <p:cNvPr id="7" name="">
            <a:extLst xmlns:a="http://schemas.openxmlformats.org/drawingml/2006/main">
              <a:ext uri="{FF2B5EF4-FFF2-40B4-BE49-F238E27FC236}">
                <a16:creationId xmlns:a16="http://schemas.microsoft.com/office/drawing/2014/main" id="{F878D54D-030C-4841-9F05-0DDA9B3A34AB}"/>
              </a:ext>
            </a:extLst>
          </p:cNvPr>
          <p:cNvSpPr>
            <a:spLocks xmlns:a="http://schemas.openxmlformats.org/drawingml/2006/main" noGrp="1"/>
          </p:cNvSpPr>
          <p:nvPr/>
        </p:nvSpPr>
        <p:spPr>
          <a:xfrm xmlns:a="http://schemas.openxmlformats.org/drawingml/2006/main">
            <a:off x="609600" y="4238625"/>
            <a:ext cx="493395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수요일에 즐겁게 보내고 푹 쉬었다면, 모든 에너지를 집중해 가장 많은 결과를 내도록 세팅합니다.</a:t>
            </a:r>
          </a:p>
        </p:txBody>
      </p:sp>
      <p:sp>
        <p:nvSpPr>
          <p:cNvPr id="8" name="">
            <a:extLst xmlns:a="http://schemas.openxmlformats.org/drawingml/2006/main">
              <a:ext uri="{FF2B5EF4-FFF2-40B4-BE49-F238E27FC236}">
                <a16:creationId xmlns:a16="http://schemas.microsoft.com/office/drawing/2014/main" id="{D8E413F7-4018-471D-A5DE-FE7A070CE3A0}"/>
              </a:ext>
            </a:extLst>
          </p:cNvPr>
          <p:cNvSpPr>
            <a:spLocks xmlns:a="http://schemas.openxmlformats.org/drawingml/2006/main" noGrp="1"/>
          </p:cNvSpPr>
          <p:nvPr/>
        </p:nvSpPr>
        <p:spPr>
          <a:xfrm xmlns:a="http://schemas.openxmlformats.org/drawingml/2006/main">
            <a:off x="6581775" y="2076450"/>
            <a:ext cx="49911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150" b="1">
                <a:solidFill>
                  <a:srgbClr val="6B865C"/>
                </a:solidFill>
                <a:latin typeface="Apple SD Gothic Neo"/>
                <a:ea typeface="Apple SD Gothic Neo"/>
                <a:cs typeface="Apple SD Gothic Neo"/>
              </a:defRPr>
            </a:pPr>
            <a:r>
              <a:rPr sz="6150" b="1">
                <a:solidFill>
                  <a:srgbClr val="6B865C"/>
                </a:solidFill>
                <a:latin typeface="Apple SD Gothic Neo"/>
                <a:ea typeface="Apple SD Gothic Neo"/>
                <a:cs typeface="Apple SD Gothic Neo"/>
              </a:rPr>
              <a:t>14~15시</a:t>
            </a:r>
          </a:p>
        </p:txBody>
      </p:sp>
      <p:sp>
        <p:nvSpPr>
          <p:cNvPr id="9" name="">
            <a:extLst xmlns:a="http://schemas.openxmlformats.org/drawingml/2006/main">
              <a:ext uri="{FF2B5EF4-FFF2-40B4-BE49-F238E27FC236}">
                <a16:creationId xmlns:a16="http://schemas.microsoft.com/office/drawing/2014/main" id="{37B3949B-8C58-4E8F-9187-7F14E060AE6B}"/>
              </a:ext>
            </a:extLst>
          </p:cNvPr>
          <p:cNvSpPr>
            <a:spLocks xmlns:a="http://schemas.openxmlformats.org/drawingml/2006/main" noGrp="1"/>
          </p:cNvSpPr>
          <p:nvPr/>
        </p:nvSpPr>
        <p:spPr>
          <a:xfrm xmlns:a="http://schemas.openxmlformats.org/drawingml/2006/main">
            <a:off x="6581775" y="34861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92A20"/>
                </a:solidFill>
                <a:latin typeface="Apple SD Gothic Neo"/>
                <a:ea typeface="Apple SD Gothic Neo"/>
                <a:cs typeface="Apple SD Gothic Neo"/>
              </a:defRPr>
            </a:pPr>
            <a:r>
              <a:rPr sz="2625" b="1">
                <a:solidFill>
                  <a:srgbClr val="192A20"/>
                </a:solidFill>
                <a:latin typeface="Apple SD Gothic Neo"/>
                <a:ea typeface="Apple SD Gothic Neo"/>
                <a:cs typeface="Apple SD Gothic Neo"/>
              </a:rPr>
              <a:t>금 · 빠벨 Day</a:t>
            </a:r>
          </a:p>
        </p:txBody>
      </p:sp>
      <p:sp>
        <p:nvSpPr>
          <p:cNvPr id="10" name="">
            <a:extLst xmlns:a="http://schemas.openxmlformats.org/drawingml/2006/main">
              <a:ext uri="{FF2B5EF4-FFF2-40B4-BE49-F238E27FC236}">
                <a16:creationId xmlns:a16="http://schemas.microsoft.com/office/drawing/2014/main" id="{8F891D9E-B2E4-48DD-9168-C05B07071224}"/>
              </a:ext>
            </a:extLst>
          </p:cNvPr>
          <p:cNvSpPr>
            <a:spLocks xmlns:a="http://schemas.openxmlformats.org/drawingml/2006/main" noGrp="1"/>
          </p:cNvSpPr>
          <p:nvPr/>
        </p:nvSpPr>
        <p:spPr>
          <a:xfrm xmlns:a="http://schemas.openxmlformats.org/drawingml/2006/main">
            <a:off x="6581775" y="4238625"/>
            <a:ext cx="4857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빠르게 벨을 치고 귀가하도록</a:t>
            </a:r>
          </a:p>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오후 2~3시 필드 종료를 목표로 세팅</a:t>
            </a:r>
          </a:p>
        </p:txBody>
      </p:sp>
      <p:sp>
        <p:nvSpPr>
          <p:cNvPr id="11" name="">
            <a:extLst xmlns:a="http://schemas.openxmlformats.org/drawingml/2006/main">
              <a:ext uri="{FF2B5EF4-FFF2-40B4-BE49-F238E27FC236}">
                <a16:creationId xmlns:a16="http://schemas.microsoft.com/office/drawing/2014/main" id="{61605CEC-D2AA-4B90-836E-00A695900E5A}"/>
              </a:ext>
            </a:extLst>
          </p:cNvPr>
          <p:cNvSpPr>
            <a:spLocks xmlns:a="http://schemas.openxmlformats.org/drawingml/2006/main" noGrp="1"/>
          </p:cNvSpPr>
          <p:nvPr/>
        </p:nvSpPr>
        <p:spPr>
          <a:xfrm xmlns:a="http://schemas.openxmlformats.org/drawingml/2006/main">
            <a:off x="6581775" y="5495925"/>
            <a:ext cx="4857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9F4935"/>
                </a:solidFill>
                <a:latin typeface="Apple SD Gothic Neo"/>
                <a:ea typeface="Apple SD Gothic Neo"/>
                <a:cs typeface="Apple SD Gothic Neo"/>
              </a:defRPr>
            </a:pPr>
            <a:r>
              <a:rPr sz="2175" b="1">
                <a:solidFill>
                  <a:srgbClr val="9F4935"/>
                </a:solidFill>
                <a:latin typeface="Apple SD Gothic Neo"/>
                <a:ea typeface="Apple SD Gothic Neo"/>
                <a:cs typeface="Apple SD Gothic Neo"/>
              </a:rPr>
              <a:t>단, 0건인 팀원이 있으면 복귀 X</a:t>
            </a:r>
          </a:p>
        </p:txBody>
      </p:sp>
    </p:spTree>
    <p:extLst>
      <p:ext uri="{BB962C8B-B14F-4D97-AF65-F5344CB8AC3E}">
        <p14:creationId xmlns:p14="http://schemas.microsoft.com/office/powerpoint/2010/main" val="1817885339"/>
      </p:ext>
    </p:extLst>
  </p:cSld>
</p:sld>
</file>

<file path=ppt/slides/slide19.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148E83-3B8C-44DE-B70B-76632AA25F92}"/>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3일 트립의 테마</a:t>
            </a:r>
          </a:p>
        </p:txBody>
      </p:sp>
      <p:sp>
        <p:nvSpPr>
          <p:cNvPr id="2" name="">
            <a:extLst xmlns:a="http://schemas.openxmlformats.org/drawingml/2006/main">
              <a:ext uri="{FF2B5EF4-FFF2-40B4-BE49-F238E27FC236}">
                <a16:creationId xmlns:a16="http://schemas.microsoft.com/office/drawing/2014/main" id="{DDF716CC-1652-452F-BDA6-88445E6303F0}"/>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월·화·수처럼 A·B·C의 흐름으로 생각합니다.</a:t>
            </a:r>
          </a:p>
        </p:txBody>
      </p:sp>
      <p:sp>
        <p:nvSpPr>
          <p:cNvPr id="3" name="">
            <a:extLst xmlns:a="http://schemas.openxmlformats.org/drawingml/2006/main">
              <a:ext uri="{FF2B5EF4-FFF2-40B4-BE49-F238E27FC236}">
                <a16:creationId xmlns:a16="http://schemas.microsoft.com/office/drawing/2014/main" id="{4D88006D-BC96-4363-BDE0-9742F2C467F9}"/>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99D98919-B7D7-430F-940E-BA6B1E3CF278}"/>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19</a:t>
            </a:r>
          </a:p>
        </p:txBody>
      </p:sp>
      <p:graphicFrame>
        <p:nvGraphicFramePr>
          <p:cNvPr id="11" name=""/>
          <p:cNvGraphicFramePr/>
          <p:nvPr/>
        </p:nvGraphicFramePr>
        <p:xfrm>
          <a:off xmlns:a="http://schemas.openxmlformats.org/drawingml/2006/main" x="609600" y="2171700"/>
          <a:ext xmlns:a="http://schemas.openxmlformats.org/drawingml/2006/main" cx="10972800" cy="3067050"/>
        </p:xfrm>
        <a:graphic xmlns:a="http://schemas.openxmlformats.org/drawingml/2006/main">
          <a:graphicData uri="http://schemas.openxmlformats.org/drawingml/2006/table">
            <a:tbl>
              <a:tblPr/>
              <a:tblGrid>
                <a:gridCol w="2286000"/>
                <a:gridCol w="2971800"/>
                <a:gridCol w="5715000"/>
              </a:tblGrid>
              <a:tr h="766763">
                <a:tc>
                  <a:txBody>
                    <a:bodyPr/>
                    <a:lstStyle/>
                    <a:p>
                      <a:r>
                        <a:rPr sz="2175" b="1">
                          <a:solidFill>
                            <a:srgbClr val="F8F9F2"/>
                          </a:solidFill>
                          <a:latin typeface="Apple SD Gothic Neo"/>
                          <a:ea typeface="Apple SD Gothic Neo"/>
                          <a:cs typeface="Apple SD Gothic Neo"/>
                        </a:rPr>
                        <a:t>순서</a:t>
                      </a:r>
                    </a:p>
                  </a:txBody>
                  <a:tcPr marL="171450" marR="133350" marT="114300" marB="114300" anchor="ctr">
                    <a:solidFill>
                      <a:srgbClr val="192A20"/>
                    </a:solidFill>
                  </a:tcPr>
                </a:tc>
                <a:tc>
                  <a:txBody>
                    <a:bodyPr/>
                    <a:lstStyle/>
                    <a:p>
                      <a:r>
                        <a:rPr sz="2175" b="1">
                          <a:solidFill>
                            <a:srgbClr val="F8F9F2"/>
                          </a:solidFill>
                          <a:latin typeface="Apple SD Gothic Neo"/>
                          <a:ea typeface="Apple SD Gothic Neo"/>
                          <a:cs typeface="Apple SD Gothic Neo"/>
                        </a:rPr>
                        <a:t>테마</a:t>
                      </a:r>
                    </a:p>
                  </a:txBody>
                  <a:tcPr marL="171450" marR="133350" marT="114300" marB="114300" anchor="ctr">
                    <a:solidFill>
                      <a:srgbClr val="192A20"/>
                    </a:solidFill>
                  </a:tcPr>
                </a:tc>
                <a:tc>
                  <a:txBody>
                    <a:bodyPr/>
                    <a:lstStyle/>
                    <a:p>
                      <a:r>
                        <a:rPr sz="2175" b="1">
                          <a:solidFill>
                            <a:srgbClr val="F8F9F2"/>
                          </a:solidFill>
                          <a:latin typeface="Apple SD Gothic Neo"/>
                          <a:ea typeface="Apple SD Gothic Neo"/>
                          <a:cs typeface="Apple SD Gothic Neo"/>
                        </a:rPr>
                        <a:t>운영 초점</a:t>
                      </a:r>
                    </a:p>
                  </a:txBody>
                  <a:tcPr marL="171450" marR="133350" marT="114300" marB="114300" anchor="ctr">
                    <a:solidFill>
                      <a:srgbClr val="192A20"/>
                    </a:solidFill>
                  </a:tcPr>
                </a:tc>
              </a:tr>
              <a:tr h="766763">
                <a:tc>
                  <a:txBody>
                    <a:bodyPr/>
                    <a:lstStyle/>
                    <a:p>
                      <a:r>
                        <a:rPr sz="2175" b="1">
                          <a:solidFill>
                            <a:srgbClr val="192A20"/>
                          </a:solidFill>
                          <a:latin typeface="Apple SD Gothic Neo"/>
                          <a:ea typeface="Apple SD Gothic Neo"/>
                          <a:cs typeface="Apple SD Gothic Neo"/>
                        </a:rPr>
                        <a:t>A · 1일차</a:t>
                      </a:r>
                    </a:p>
                  </a:txBody>
                  <a:tcPr marL="171450" marR="133350" marT="114300" marB="114300" anchor="ctr">
                    <a:solidFill>
                      <a:srgbClr val="F5F3EA"/>
                    </a:solidFill>
                  </a:tcPr>
                </a:tc>
                <a:tc>
                  <a:txBody>
                    <a:bodyPr/>
                    <a:lstStyle/>
                    <a:p>
                      <a:r>
                        <a:rPr sz="2175" b="0">
                          <a:solidFill>
                            <a:srgbClr val="192A20"/>
                          </a:solidFill>
                          <a:latin typeface="Apple SD Gothic Neo"/>
                          <a:ea typeface="Apple SD Gothic Neo"/>
                          <a:cs typeface="Apple SD Gothic Neo"/>
                        </a:rPr>
                        <a:t>기강 Day</a:t>
                      </a:r>
                    </a:p>
                  </a:txBody>
                  <a:tcPr marL="171450" marR="133350" marT="114300" marB="114300" anchor="ctr">
                    <a:solidFill>
                      <a:srgbClr val="F5F3EA"/>
                    </a:solidFill>
                  </a:tcPr>
                </a:tc>
                <a:tc>
                  <a:txBody>
                    <a:bodyPr/>
                    <a:lstStyle/>
                    <a:p>
                      <a:r>
                        <a:rPr sz="2175" b="0">
                          <a:solidFill>
                            <a:srgbClr val="192A20"/>
                          </a:solidFill>
                          <a:latin typeface="Apple SD Gothic Neo"/>
                          <a:ea typeface="Apple SD Gothic Neo"/>
                          <a:cs typeface="Apple SD Gothic Neo"/>
                        </a:rPr>
                        <a:t>초반 집중으로 운영의 기초 만들기</a:t>
                      </a:r>
                    </a:p>
                  </a:txBody>
                  <a:tcPr marL="171450" marR="133350" marT="114300" marB="114300" anchor="ctr">
                    <a:solidFill>
                      <a:srgbClr val="F5F3EA"/>
                    </a:solidFill>
                  </a:tcPr>
                </a:tc>
              </a:tr>
              <a:tr h="766763">
                <a:tc>
                  <a:txBody>
                    <a:bodyPr/>
                    <a:lstStyle/>
                    <a:p>
                      <a:r>
                        <a:rPr sz="2175" b="1">
                          <a:solidFill>
                            <a:srgbClr val="192A20"/>
                          </a:solidFill>
                          <a:latin typeface="Apple SD Gothic Neo"/>
                          <a:ea typeface="Apple SD Gothic Neo"/>
                          <a:cs typeface="Apple SD Gothic Neo"/>
                        </a:rPr>
                        <a:t>B · 2일차</a:t>
                      </a:r>
                    </a:p>
                  </a:txBody>
                  <a:tcPr marL="171450" marR="133350" marT="114300" marB="114300" anchor="ctr">
                    <a:solidFill>
                      <a:srgbClr val="E9EBDD"/>
                    </a:solidFill>
                  </a:tcPr>
                </a:tc>
                <a:tc>
                  <a:txBody>
                    <a:bodyPr/>
                    <a:lstStyle/>
                    <a:p>
                      <a:r>
                        <a:rPr sz="2175" b="0">
                          <a:solidFill>
                            <a:srgbClr val="192A20"/>
                          </a:solidFill>
                          <a:latin typeface="Apple SD Gothic Neo"/>
                          <a:ea typeface="Apple SD Gothic Neo"/>
                          <a:cs typeface="Apple SD Gothic Neo"/>
                        </a:rPr>
                        <a:t>액티비티 Day</a:t>
                      </a:r>
                    </a:p>
                  </a:txBody>
                  <a:tcPr marL="171450" marR="133350" marT="114300" marB="114300" anchor="ctr">
                    <a:solidFill>
                      <a:srgbClr val="E9EBDD"/>
                    </a:solidFill>
                  </a:tcPr>
                </a:tc>
                <a:tc>
                  <a:txBody>
                    <a:bodyPr/>
                    <a:lstStyle/>
                    <a:p>
                      <a:r>
                        <a:rPr sz="2175" b="0">
                          <a:solidFill>
                            <a:srgbClr val="192A20"/>
                          </a:solidFill>
                          <a:latin typeface="Apple SD Gothic Neo"/>
                          <a:ea typeface="Apple SD Gothic Neo"/>
                          <a:cs typeface="Apple SD Gothic Neo"/>
                        </a:rPr>
                        <a:t>함께 시간을 보내고 리프레시하기</a:t>
                      </a:r>
                    </a:p>
                  </a:txBody>
                  <a:tcPr marL="171450" marR="133350" marT="114300" marB="114300" anchor="ctr">
                    <a:solidFill>
                      <a:srgbClr val="E9EBDD"/>
                    </a:solidFill>
                  </a:tcPr>
                </a:tc>
              </a:tr>
              <a:tr h="766763">
                <a:tc>
                  <a:txBody>
                    <a:bodyPr/>
                    <a:lstStyle/>
                    <a:p>
                      <a:r>
                        <a:rPr sz="2175" b="1">
                          <a:solidFill>
                            <a:srgbClr val="192A20"/>
                          </a:solidFill>
                          <a:latin typeface="Apple SD Gothic Neo"/>
                          <a:ea typeface="Apple SD Gothic Neo"/>
                          <a:cs typeface="Apple SD Gothic Neo"/>
                        </a:rPr>
                        <a:t>C · 3일차</a:t>
                      </a:r>
                    </a:p>
                  </a:txBody>
                  <a:tcPr marL="171450" marR="133350" marT="114300" marB="114300" anchor="ctr">
                    <a:solidFill>
                      <a:srgbClr val="F5F3EA"/>
                    </a:solidFill>
                  </a:tcPr>
                </a:tc>
                <a:tc>
                  <a:txBody>
                    <a:bodyPr/>
                    <a:lstStyle/>
                    <a:p>
                      <a:r>
                        <a:rPr sz="2175" b="0">
                          <a:solidFill>
                            <a:srgbClr val="192A20"/>
                          </a:solidFill>
                          <a:latin typeface="Apple SD Gothic Neo"/>
                          <a:ea typeface="Apple SD Gothic Neo"/>
                          <a:cs typeface="Apple SD Gothic Neo"/>
                        </a:rPr>
                        <a:t>PB Day</a:t>
                      </a:r>
                    </a:p>
                  </a:txBody>
                  <a:tcPr marL="171450" marR="133350" marT="114300" marB="114300" anchor="ctr">
                    <a:solidFill>
                      <a:srgbClr val="F5F3EA"/>
                    </a:solidFill>
                  </a:tcPr>
                </a:tc>
                <a:tc>
                  <a:txBody>
                    <a:bodyPr/>
                    <a:lstStyle/>
                    <a:p>
                      <a:r>
                        <a:rPr sz="2175" b="0">
                          <a:solidFill>
                            <a:srgbClr val="192A20"/>
                          </a:solidFill>
                          <a:latin typeface="Apple SD Gothic Neo"/>
                          <a:ea typeface="Apple SD Gothic Neo"/>
                          <a:cs typeface="Apple SD Gothic Neo"/>
                        </a:rPr>
                        <a:t>모든 에너지를 모아 최고 결과에 도전</a:t>
                      </a:r>
                    </a:p>
                  </a:txBody>
                  <a:tcPr marL="171450" marR="133350" marT="114300" marB="114300" anchor="ctr">
                    <a:solidFill>
                      <a:srgbClr val="F5F3EA"/>
                    </a:solidFill>
                  </a:tcPr>
                </a:tc>
              </a:tr>
            </a:tbl>
          </a:graphicData>
        </a:graphic>
      </p:graphicFrame>
      <p:sp>
        <p:nvSpPr>
          <p:cNvPr id="6" name="">
            <a:extLst xmlns:a="http://schemas.openxmlformats.org/drawingml/2006/main">
              <a:ext uri="{FF2B5EF4-FFF2-40B4-BE49-F238E27FC236}">
                <a16:creationId xmlns:a16="http://schemas.microsoft.com/office/drawing/2014/main" id="{E389CCD5-8E73-4E47-B003-A672250AAF96}"/>
              </a:ext>
            </a:extLst>
          </p:cNvPr>
          <p:cNvSpPr>
            <a:spLocks xmlns:a="http://schemas.openxmlformats.org/drawingml/2006/main" noGrp="1"/>
          </p:cNvSpPr>
          <p:nvPr/>
        </p:nvSpPr>
        <p:spPr>
          <a:xfrm xmlns:a="http://schemas.openxmlformats.org/drawingml/2006/main">
            <a:off x="628650" y="56864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756"/>
                </a:solidFill>
                <a:latin typeface="Apple SD Gothic Neo"/>
                <a:ea typeface="Apple SD Gothic Neo"/>
                <a:cs typeface="Apple SD Gothic Neo"/>
              </a:defRPr>
            </a:pPr>
            <a:r>
              <a:rPr sz="1425" b="0">
                <a:solidFill>
                  <a:srgbClr val="536756"/>
                </a:solidFill>
                <a:latin typeface="Apple SD Gothic Neo"/>
                <a:ea typeface="Apple SD Gothic Neo"/>
                <a:cs typeface="Apple SD Gothic Neo"/>
              </a:rPr>
              <a:t>A·B·C는 1~3일차 순서입니다. 액티비티 기준과 복귀 시각은 출발 전에 정합니다.</a:t>
            </a:r>
          </a:p>
        </p:txBody>
      </p:sp>
    </p:spTree>
    <p:extLst>
      <p:ext uri="{BB962C8B-B14F-4D97-AF65-F5344CB8AC3E}">
        <p14:creationId xmlns:p14="http://schemas.microsoft.com/office/powerpoint/2010/main" val="1002314304"/>
      </p:ext>
    </p:extLst>
  </p:cSld>
</p:sld>
</file>

<file path=ppt/slides/slide20.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19D874-9A47-4272-9119-12DAE96BFECD}"/>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하루 운영 루틴</a:t>
            </a:r>
          </a:p>
        </p:txBody>
      </p:sp>
      <p:sp>
        <p:nvSpPr>
          <p:cNvPr id="2" name="">
            <a:extLst xmlns:a="http://schemas.openxmlformats.org/drawingml/2006/main">
              <a:ext uri="{FF2B5EF4-FFF2-40B4-BE49-F238E27FC236}">
                <a16:creationId xmlns:a16="http://schemas.microsoft.com/office/drawing/2014/main" id="{7EB3947E-B889-4350-A0C2-64EA8E92B371}"/>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트립에서도 작은 오피스를 운영하며 잘하는 사람의 루틴과 판단 기준을 배웁니다.</a:t>
            </a:r>
          </a:p>
        </p:txBody>
      </p:sp>
      <p:sp>
        <p:nvSpPr>
          <p:cNvPr id="3" name="">
            <a:extLst xmlns:a="http://schemas.openxmlformats.org/drawingml/2006/main">
              <a:ext uri="{FF2B5EF4-FFF2-40B4-BE49-F238E27FC236}">
                <a16:creationId xmlns:a16="http://schemas.microsoft.com/office/drawing/2014/main" id="{8F2B17F0-D105-4C47-9D35-7CC9782F18E5}"/>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D1E7422B-B3D9-4C93-8410-3931291F79CB}"/>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20</a:t>
            </a:r>
          </a:p>
        </p:txBody>
      </p:sp>
      <p:sp>
        <p:nvSpPr>
          <p:cNvPr id="5" name="">
            <a:extLst xmlns:a="http://schemas.openxmlformats.org/drawingml/2006/main">
              <a:ext uri="{FF2B5EF4-FFF2-40B4-BE49-F238E27FC236}">
                <a16:creationId xmlns:a16="http://schemas.microsoft.com/office/drawing/2014/main" id="{168FA12A-AE6D-4457-BDEF-B36E2B0FD067}"/>
              </a:ext>
            </a:extLst>
          </p:cNvPr>
          <p:cNvSpPr>
            <a:spLocks xmlns:a="http://schemas.openxmlformats.org/drawingml/2006/main" noGrp="1"/>
          </p:cNvSpPr>
          <p:nvPr/>
        </p:nvSpPr>
        <p:spPr>
          <a:xfrm xmlns:a="http://schemas.openxmlformats.org/drawingml/2006/main">
            <a:off x="609600" y="2105025"/>
            <a:ext cx="18764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시작 전</a:t>
            </a:r>
          </a:p>
        </p:txBody>
      </p:sp>
      <p:sp>
        <p:nvSpPr>
          <p:cNvPr id="6" name="">
            <a:extLst xmlns:a="http://schemas.openxmlformats.org/drawingml/2006/main">
              <a:ext uri="{FF2B5EF4-FFF2-40B4-BE49-F238E27FC236}">
                <a16:creationId xmlns:a16="http://schemas.microsoft.com/office/drawing/2014/main" id="{5BDE865F-74B3-479A-8FCB-6F1491C5CE3B}"/>
              </a:ext>
            </a:extLst>
          </p:cNvPr>
          <p:cNvSpPr>
            <a:spLocks xmlns:a="http://schemas.openxmlformats.org/drawingml/2006/main" noGrp="1"/>
          </p:cNvSpPr>
          <p:nvPr/>
        </p:nvSpPr>
        <p:spPr>
          <a:xfrm xmlns:a="http://schemas.openxmlformats.org/drawingml/2006/main">
            <a:off x="2752725" y="2105025"/>
            <a:ext cx="8829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짧은 목표 미팅과 토픽으로 하루를 시작합니다. 개인별 Best / Good / Minimum, 배울 루틴·스킬, 주요·예비 동선을 함께 확인합니다.</a:t>
            </a:r>
          </a:p>
        </p:txBody>
      </p:sp>
      <p:sp>
        <p:nvSpPr>
          <p:cNvPr id="7" name="">
            <a:extLst xmlns:a="http://schemas.openxmlformats.org/drawingml/2006/main">
              <a:ext uri="{FF2B5EF4-FFF2-40B4-BE49-F238E27FC236}">
                <a16:creationId xmlns:a16="http://schemas.microsoft.com/office/drawing/2014/main" id="{BF55C949-D318-41BA-8D04-4A832D9FB7F8}"/>
              </a:ext>
            </a:extLst>
          </p:cNvPr>
          <p:cNvSpPr>
            <a:spLocks xmlns:a="http://schemas.openxmlformats.org/drawingml/2006/main" noGrp="1"/>
          </p:cNvSpPr>
          <p:nvPr/>
        </p:nvSpPr>
        <p:spPr>
          <a:xfrm xmlns:a="http://schemas.openxmlformats.org/drawingml/2006/main">
            <a:off x="609600" y="3381375"/>
            <a:ext cx="18764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운영 중</a:t>
            </a:r>
          </a:p>
        </p:txBody>
      </p:sp>
      <p:sp>
        <p:nvSpPr>
          <p:cNvPr id="8" name="">
            <a:extLst xmlns:a="http://schemas.openxmlformats.org/drawingml/2006/main">
              <a:ext uri="{FF2B5EF4-FFF2-40B4-BE49-F238E27FC236}">
                <a16:creationId xmlns:a16="http://schemas.microsoft.com/office/drawing/2014/main" id="{1DE20966-F637-4A0C-99EF-56C99B2FA6E3}"/>
              </a:ext>
            </a:extLst>
          </p:cNvPr>
          <p:cNvSpPr>
            <a:spLocks xmlns:a="http://schemas.openxmlformats.org/drawingml/2006/main" noGrp="1"/>
          </p:cNvSpPr>
          <p:nvPr/>
        </p:nvSpPr>
        <p:spPr>
          <a:xfrm xmlns:a="http://schemas.openxmlformats.org/drawingml/2006/main">
            <a:off x="2752725" y="3381375"/>
            <a:ext cx="8829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현장 반응에 맞춰 자리·접근 방식·도움을 조정합니다. 문제를 함께 해결하고, 판단 이유와 피드백을 나눕니다. 휴식과 복귀 기준도 지킵니다.</a:t>
            </a:r>
          </a:p>
        </p:txBody>
      </p:sp>
      <p:sp>
        <p:nvSpPr>
          <p:cNvPr id="9" name="">
            <a:extLst xmlns:a="http://schemas.openxmlformats.org/drawingml/2006/main">
              <a:ext uri="{FF2B5EF4-FFF2-40B4-BE49-F238E27FC236}">
                <a16:creationId xmlns:a16="http://schemas.microsoft.com/office/drawing/2014/main" id="{17DC19DE-F197-4D4D-AF85-E2C5C761753A}"/>
              </a:ext>
            </a:extLst>
          </p:cNvPr>
          <p:cNvSpPr>
            <a:spLocks xmlns:a="http://schemas.openxmlformats.org/drawingml/2006/main" noGrp="1"/>
          </p:cNvSpPr>
          <p:nvPr/>
        </p:nvSpPr>
        <p:spPr>
          <a:xfrm xmlns:a="http://schemas.openxmlformats.org/drawingml/2006/main">
            <a:off x="609600" y="4657725"/>
            <a:ext cx="18764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종료 후</a:t>
            </a:r>
          </a:p>
        </p:txBody>
      </p:sp>
      <p:sp>
        <p:nvSpPr>
          <p:cNvPr id="10" name="">
            <a:extLst xmlns:a="http://schemas.openxmlformats.org/drawingml/2006/main">
              <a:ext uri="{FF2B5EF4-FFF2-40B4-BE49-F238E27FC236}">
                <a16:creationId xmlns:a16="http://schemas.microsoft.com/office/drawing/2014/main" id="{4BB4BB04-7ACF-4AB4-B6A2-069B52BAE07C}"/>
              </a:ext>
            </a:extLst>
          </p:cNvPr>
          <p:cNvSpPr>
            <a:spLocks xmlns:a="http://schemas.openxmlformats.org/drawingml/2006/main" noGrp="1"/>
          </p:cNvSpPr>
          <p:nvPr/>
        </p:nvSpPr>
        <p:spPr>
          <a:xfrm xmlns:a="http://schemas.openxmlformats.org/drawingml/2006/main">
            <a:off x="2752725" y="4657725"/>
            <a:ext cx="8829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실적과 활동 여부를 기록합니다. 배운 방식과 리프레시한 순간을 공유하고 다음 날 바꿀 행동을 한 가지 정합니다.</a:t>
            </a:r>
          </a:p>
        </p:txBody>
      </p:sp>
    </p:spTree>
    <p:extLst>
      <p:ext uri="{BB962C8B-B14F-4D97-AF65-F5344CB8AC3E}">
        <p14:creationId xmlns:p14="http://schemas.microsoft.com/office/powerpoint/2010/main" val="1918816842"/>
      </p:ext>
    </p:extLst>
  </p:cSld>
</p:sld>
</file>

<file path=ppt/slides/slide21.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430E5B9-1EEA-4B10-8998-F73BB559A545}"/>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군산 트립 사례</a:t>
            </a:r>
          </a:p>
        </p:txBody>
      </p:sp>
      <p:sp>
        <p:nvSpPr>
          <p:cNvPr id="2" name="">
            <a:extLst xmlns:a="http://schemas.openxmlformats.org/drawingml/2006/main">
              <a:ext uri="{FF2B5EF4-FFF2-40B4-BE49-F238E27FC236}">
                <a16:creationId xmlns:a16="http://schemas.microsoft.com/office/drawing/2014/main" id="{96E017F3-C45C-4F94-B05E-D054184269C2}"/>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목·금·토·일, 4명의 참가자</a:t>
            </a:r>
          </a:p>
        </p:txBody>
      </p:sp>
      <p:sp>
        <p:nvSpPr>
          <p:cNvPr id="3" name="">
            <a:extLst xmlns:a="http://schemas.openxmlformats.org/drawingml/2006/main">
              <a:ext uri="{FF2B5EF4-FFF2-40B4-BE49-F238E27FC236}">
                <a16:creationId xmlns:a16="http://schemas.microsoft.com/office/drawing/2014/main" id="{9608353F-8CE3-46EB-8407-680DE858A3E4}"/>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F9754852-7F72-4A20-97AB-7B57D6ED109E}"/>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21</a:t>
            </a:r>
          </a:p>
        </p:txBody>
      </p:sp>
      <p:sp>
        <p:nvSpPr>
          <p:cNvPr id="5" name="">
            <a:extLst xmlns:a="http://schemas.openxmlformats.org/drawingml/2006/main">
              <a:ext uri="{FF2B5EF4-FFF2-40B4-BE49-F238E27FC236}">
                <a16:creationId xmlns:a16="http://schemas.microsoft.com/office/drawing/2014/main" id="{20548A42-1954-4715-BB06-520AD38FA0F9}"/>
              </a:ext>
            </a:extLst>
          </p:cNvPr>
          <p:cNvSpPr>
            <a:spLocks xmlns:a="http://schemas.openxmlformats.org/drawingml/2006/main" noGrp="1"/>
          </p:cNvSpPr>
          <p:nvPr/>
        </p:nvSpPr>
        <p:spPr>
          <a:xfrm xmlns:a="http://schemas.openxmlformats.org/drawingml/2006/main">
            <a:off x="609600" y="2076450"/>
            <a:ext cx="7620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450" b="1">
                <a:solidFill>
                  <a:srgbClr val="DBED9C"/>
                </a:solidFill>
                <a:latin typeface="Apple SD Gothic Neo"/>
                <a:ea typeface="Apple SD Gothic Neo"/>
                <a:cs typeface="Apple SD Gothic Neo"/>
              </a:defRPr>
            </a:pPr>
            <a:r>
              <a:rPr sz="6450" b="1">
                <a:solidFill>
                  <a:srgbClr val="DBED9C"/>
                </a:solidFill>
                <a:latin typeface="Apple SD Gothic Neo"/>
                <a:ea typeface="Apple SD Gothic Neo"/>
                <a:cs typeface="Apple SD Gothic Neo"/>
              </a:rPr>
              <a:t>GUNSAN</a:t>
            </a:r>
          </a:p>
        </p:txBody>
      </p:sp>
      <p:sp>
        <p:nvSpPr>
          <p:cNvPr id="6" name="">
            <a:extLst xmlns:a="http://schemas.openxmlformats.org/drawingml/2006/main">
              <a:ext uri="{FF2B5EF4-FFF2-40B4-BE49-F238E27FC236}">
                <a16:creationId xmlns:a16="http://schemas.microsoft.com/office/drawing/2014/main" id="{ABE93DB2-0F0C-4EA2-AD84-35955F1E0AEF}"/>
              </a:ext>
            </a:extLst>
          </p:cNvPr>
          <p:cNvSpPr>
            <a:spLocks xmlns:a="http://schemas.openxmlformats.org/drawingml/2006/main" noGrp="1"/>
          </p:cNvSpPr>
          <p:nvPr/>
        </p:nvSpPr>
        <p:spPr>
          <a:xfrm xmlns:a="http://schemas.openxmlformats.org/drawingml/2006/main">
            <a:off x="609600" y="3238500"/>
            <a:ext cx="1047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0">
                <a:solidFill>
                  <a:srgbClr val="F8F9F2"/>
                </a:solidFill>
                <a:latin typeface="Apple SD Gothic Neo"/>
                <a:ea typeface="Apple SD Gothic Neo"/>
                <a:cs typeface="Apple SD Gothic Neo"/>
              </a:defRPr>
            </a:pPr>
            <a:r>
              <a:rPr sz="4050" b="0">
                <a:solidFill>
                  <a:srgbClr val="F8F9F2"/>
                </a:solidFill>
                <a:latin typeface="Apple SD Gothic Neo"/>
                <a:ea typeface="Apple SD Gothic Neo"/>
                <a:cs typeface="Apple SD Gothic Neo"/>
              </a:rPr>
              <a:t>2026.09.10 — 09.13</a:t>
            </a:r>
          </a:p>
        </p:txBody>
      </p:sp>
      <p:sp>
        <p:nvSpPr>
          <p:cNvPr id="7" name="">
            <a:extLst xmlns:a="http://schemas.openxmlformats.org/drawingml/2006/main">
              <a:ext uri="{FF2B5EF4-FFF2-40B4-BE49-F238E27FC236}">
                <a16:creationId xmlns:a16="http://schemas.microsoft.com/office/drawing/2014/main" id="{3E0628FD-22A7-4651-86B3-C550C221047B}"/>
              </a:ext>
            </a:extLst>
          </p:cNvPr>
          <p:cNvSpPr>
            <a:spLocks xmlns:a="http://schemas.openxmlformats.org/drawingml/2006/main" noGrp="1"/>
          </p:cNvSpPr>
          <p:nvPr/>
        </p:nvSpPr>
        <p:spPr>
          <a:xfrm xmlns:a="http://schemas.openxmlformats.org/drawingml/2006/main">
            <a:off x="638175" y="40481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BBCDAF"/>
                </a:solidFill>
                <a:latin typeface="Apple SD Gothic Neo"/>
                <a:ea typeface="Apple SD Gothic Neo"/>
                <a:cs typeface="Apple SD Gothic Neo"/>
              </a:defRPr>
            </a:pPr>
            <a:r>
              <a:rPr sz="2325" b="0">
                <a:solidFill>
                  <a:srgbClr val="BBCDAF"/>
                </a:solidFill>
                <a:latin typeface="Apple SD Gothic Neo"/>
                <a:ea typeface="Apple SD Gothic Neo"/>
                <a:cs typeface="Apple SD Gothic Neo"/>
              </a:rPr>
              <a:t>목 · 금 · 토 · 일</a:t>
            </a:r>
          </a:p>
        </p:txBody>
      </p:sp>
      <p:sp>
        <p:nvSpPr>
          <p:cNvPr id="8" name="">
            <a:extLst xmlns:a="http://schemas.openxmlformats.org/drawingml/2006/main">
              <a:ext uri="{FF2B5EF4-FFF2-40B4-BE49-F238E27FC236}">
                <a16:creationId xmlns:a16="http://schemas.microsoft.com/office/drawing/2014/main" id="{44D42F97-5B12-4FEC-A111-F60F943F48F0}"/>
              </a:ext>
            </a:extLst>
          </p:cNvPr>
          <p:cNvSpPr>
            <a:spLocks xmlns:a="http://schemas.openxmlformats.org/drawingml/2006/main" noGrp="1"/>
          </p:cNvSpPr>
          <p:nvPr/>
        </p:nvSpPr>
        <p:spPr>
          <a:xfrm xmlns:a="http://schemas.openxmlformats.org/drawingml/2006/main">
            <a:off x="609600" y="4991100"/>
            <a:ext cx="10810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F8F9F2"/>
                </a:solidFill>
                <a:latin typeface="Apple SD Gothic Neo"/>
                <a:ea typeface="Apple SD Gothic Neo"/>
                <a:cs typeface="Apple SD Gothic Neo"/>
              </a:defRPr>
            </a:pPr>
            <a:r>
              <a:rPr sz="3375" b="1">
                <a:solidFill>
                  <a:srgbClr val="F8F9F2"/>
                </a:solidFill>
                <a:latin typeface="Apple SD Gothic Neo"/>
                <a:ea typeface="Apple SD Gothic Neo"/>
                <a:cs typeface="Apple SD Gothic Neo"/>
              </a:rPr>
              <a:t>임재영   윤채영   민병준   황혜진</a:t>
            </a:r>
          </a:p>
        </p:txBody>
      </p:sp>
      <p:sp>
        <p:nvSpPr>
          <p:cNvPr id="9" name="">
            <a:extLst xmlns:a="http://schemas.openxmlformats.org/drawingml/2006/main">
              <a:ext uri="{FF2B5EF4-FFF2-40B4-BE49-F238E27FC236}">
                <a16:creationId xmlns:a16="http://schemas.microsoft.com/office/drawing/2014/main" id="{B99538DC-D2F2-44BA-B1DC-97F8D80A2395}"/>
              </a:ext>
            </a:extLst>
          </p:cNvPr>
          <p:cNvSpPr>
            <a:spLocks xmlns:a="http://schemas.openxmlformats.org/drawingml/2006/main" noGrp="1"/>
          </p:cNvSpPr>
          <p:nvPr/>
        </p:nvSpPr>
        <p:spPr>
          <a:xfrm xmlns:a="http://schemas.openxmlformats.org/drawingml/2006/main">
            <a:off x="628650" y="59150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BBCDAF"/>
                </a:solidFill>
                <a:latin typeface="Apple SD Gothic Neo"/>
                <a:ea typeface="Apple SD Gothic Neo"/>
                <a:cs typeface="Apple SD Gothic Neo"/>
              </a:defRPr>
            </a:pPr>
            <a:r>
              <a:rPr sz="1425" b="0">
                <a:solidFill>
                  <a:srgbClr val="BBCDAF"/>
                </a:solidFill>
                <a:latin typeface="Apple SD Gothic Neo"/>
                <a:ea typeface="Apple SD Gothic Neo"/>
                <a:cs typeface="Apple SD Gothic Neo"/>
              </a:rPr>
              <a:t>실적 기록은 군산 사례로, 사진은 여러 지역의 트립 참고 자료로 구분합니다.</a:t>
            </a:r>
          </a:p>
        </p:txBody>
      </p:sp>
    </p:spTree>
    <p:extLst>
      <p:ext uri="{BB962C8B-B14F-4D97-AF65-F5344CB8AC3E}">
        <p14:creationId xmlns:p14="http://schemas.microsoft.com/office/powerpoint/2010/main" val="1724026461"/>
      </p:ext>
    </p:extLst>
  </p:cSld>
</p:sld>
</file>

<file path=ppt/slides/slide22.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A0955CA-4DE0-48E3-9EBE-54922981F14F}"/>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군산 실적 기록</a:t>
            </a:r>
          </a:p>
        </p:txBody>
      </p:sp>
      <p:sp>
        <p:nvSpPr>
          <p:cNvPr id="2" name="">
            <a:extLst xmlns:a="http://schemas.openxmlformats.org/drawingml/2006/main">
              <a:ext uri="{FF2B5EF4-FFF2-40B4-BE49-F238E27FC236}">
                <a16:creationId xmlns:a16="http://schemas.microsoft.com/office/drawing/2014/main" id="{0B751235-9990-4ED7-8507-B5CBEFC76205}"/>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현재 입력된 실적 합계 31건</a:t>
            </a:r>
          </a:p>
        </p:txBody>
      </p:sp>
      <p:sp>
        <p:nvSpPr>
          <p:cNvPr id="3" name="">
            <a:extLst xmlns:a="http://schemas.openxmlformats.org/drawingml/2006/main">
              <a:ext uri="{FF2B5EF4-FFF2-40B4-BE49-F238E27FC236}">
                <a16:creationId xmlns:a16="http://schemas.microsoft.com/office/drawing/2014/main" id="{937F2796-D66E-4AE1-B75F-FFEA25440B20}"/>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4DCA0133-BE51-4A85-97BC-7AC6CCC3F0DD}"/>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22</a:t>
            </a:r>
          </a:p>
        </p:txBody>
      </p:sp>
      <p:graphicFrame>
        <p:nvGraphicFramePr>
          <p:cNvPr id="12" name=""/>
          <p:cNvGraphicFramePr/>
          <p:nvPr/>
        </p:nvGraphicFramePr>
        <p:xfrm>
          <a:off xmlns:a="http://schemas.openxmlformats.org/drawingml/2006/main" x="609600" y="2143125"/>
          <a:ext xmlns:a="http://schemas.openxmlformats.org/drawingml/2006/main" cx="10972800" cy="3181350"/>
        </p:xfrm>
        <a:graphic xmlns:a="http://schemas.openxmlformats.org/drawingml/2006/main">
          <a:graphicData uri="http://schemas.openxmlformats.org/drawingml/2006/table">
            <a:tbl>
              <a:tblPr/>
              <a:tblGrid>
                <a:gridCol w="1915886"/>
                <a:gridCol w="1741714"/>
                <a:gridCol w="1741714"/>
                <a:gridCol w="1741714"/>
                <a:gridCol w="1741714"/>
                <a:gridCol w="2090057"/>
              </a:tblGrid>
              <a:tr h="636270">
                <a:tc>
                  <a:txBody>
                    <a:bodyPr/>
                    <a:lstStyle/>
                    <a:p>
                      <a:r>
                        <a:rPr sz="2100" b="1">
                          <a:solidFill>
                            <a:srgbClr val="F8F9F2"/>
                          </a:solidFill>
                          <a:latin typeface="Apple SD Gothic Neo"/>
                          <a:ea typeface="Apple SD Gothic Neo"/>
                          <a:cs typeface="Apple SD Gothic Neo"/>
                        </a:rPr>
                        <a:t>팀원</a:t>
                      </a:r>
                    </a:p>
                  </a:txBody>
                  <a:tcPr marL="171450" marR="133350" marT="114300" marB="114300" anchor="ctr">
                    <a:solidFill>
                      <a:srgbClr val="192A20"/>
                    </a:solidFill>
                  </a:tcPr>
                </a:tc>
                <a:tc>
                  <a:txBody>
                    <a:bodyPr/>
                    <a:lstStyle/>
                    <a:p>
                      <a:r>
                        <a:rPr sz="2100" b="1">
                          <a:solidFill>
                            <a:srgbClr val="F8F9F2"/>
                          </a:solidFill>
                          <a:latin typeface="Apple SD Gothic Neo"/>
                          <a:ea typeface="Apple SD Gothic Neo"/>
                          <a:cs typeface="Apple SD Gothic Neo"/>
                        </a:rPr>
                        <a:t>목 9/10</a:t>
                      </a:r>
                    </a:p>
                  </a:txBody>
                  <a:tcPr marL="171450" marR="133350" marT="114300" marB="114300" anchor="ctr">
                    <a:solidFill>
                      <a:srgbClr val="192A20"/>
                    </a:solidFill>
                  </a:tcPr>
                </a:tc>
                <a:tc>
                  <a:txBody>
                    <a:bodyPr/>
                    <a:lstStyle/>
                    <a:p>
                      <a:r>
                        <a:rPr sz="2100" b="1">
                          <a:solidFill>
                            <a:srgbClr val="F8F9F2"/>
                          </a:solidFill>
                          <a:latin typeface="Apple SD Gothic Neo"/>
                          <a:ea typeface="Apple SD Gothic Neo"/>
                          <a:cs typeface="Apple SD Gothic Neo"/>
                        </a:rPr>
                        <a:t>금 9/11</a:t>
                      </a:r>
                    </a:p>
                  </a:txBody>
                  <a:tcPr marL="171450" marR="133350" marT="114300" marB="114300" anchor="ctr">
                    <a:solidFill>
                      <a:srgbClr val="192A20"/>
                    </a:solidFill>
                  </a:tcPr>
                </a:tc>
                <a:tc>
                  <a:txBody>
                    <a:bodyPr/>
                    <a:lstStyle/>
                    <a:p>
                      <a:r>
                        <a:rPr sz="2100" b="1">
                          <a:solidFill>
                            <a:srgbClr val="F8F9F2"/>
                          </a:solidFill>
                          <a:latin typeface="Apple SD Gothic Neo"/>
                          <a:ea typeface="Apple SD Gothic Neo"/>
                          <a:cs typeface="Apple SD Gothic Neo"/>
                        </a:rPr>
                        <a:t>토 9/12</a:t>
                      </a:r>
                    </a:p>
                  </a:txBody>
                  <a:tcPr marL="171450" marR="133350" marT="114300" marB="114300" anchor="ctr">
                    <a:solidFill>
                      <a:srgbClr val="192A20"/>
                    </a:solidFill>
                  </a:tcPr>
                </a:tc>
                <a:tc>
                  <a:txBody>
                    <a:bodyPr/>
                    <a:lstStyle/>
                    <a:p>
                      <a:r>
                        <a:rPr sz="2100" b="1">
                          <a:solidFill>
                            <a:srgbClr val="F8F9F2"/>
                          </a:solidFill>
                          <a:latin typeface="Apple SD Gothic Neo"/>
                          <a:ea typeface="Apple SD Gothic Neo"/>
                          <a:cs typeface="Apple SD Gothic Neo"/>
                        </a:rPr>
                        <a:t>일 9/13</a:t>
                      </a:r>
                    </a:p>
                  </a:txBody>
                  <a:tcPr marL="171450" marR="133350" marT="114300" marB="114300" anchor="ctr">
                    <a:solidFill>
                      <a:srgbClr val="192A20"/>
                    </a:solidFill>
                  </a:tcPr>
                </a:tc>
                <a:tc>
                  <a:txBody>
                    <a:bodyPr/>
                    <a:lstStyle/>
                    <a:p>
                      <a:r>
                        <a:rPr sz="2100" b="1">
                          <a:solidFill>
                            <a:srgbClr val="F8F9F2"/>
                          </a:solidFill>
                          <a:latin typeface="Apple SD Gothic Neo"/>
                          <a:ea typeface="Apple SD Gothic Neo"/>
                          <a:cs typeface="Apple SD Gothic Neo"/>
                        </a:rPr>
                        <a:t>기록 합계</a:t>
                      </a:r>
                    </a:p>
                  </a:txBody>
                  <a:tcPr marL="171450" marR="133350" marT="114300" marB="114300" anchor="ctr">
                    <a:solidFill>
                      <a:srgbClr val="192A20"/>
                    </a:solidFill>
                  </a:tcPr>
                </a:tc>
              </a:tr>
              <a:tr h="636270">
                <a:tc>
                  <a:txBody>
                    <a:bodyPr/>
                    <a:lstStyle/>
                    <a:p>
                      <a:r>
                        <a:rPr sz="2100" b="1">
                          <a:solidFill>
                            <a:srgbClr val="192A20"/>
                          </a:solidFill>
                          <a:latin typeface="Apple SD Gothic Neo"/>
                          <a:ea typeface="Apple SD Gothic Neo"/>
                          <a:cs typeface="Apple SD Gothic Neo"/>
                        </a:rPr>
                        <a:t>임재영</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3</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3</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3</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1</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10건</a:t>
                      </a:r>
                    </a:p>
                  </a:txBody>
                  <a:tcPr marL="171450" marR="133350" marT="114300" marB="114300" anchor="ctr">
                    <a:solidFill>
                      <a:srgbClr val="F5F3EA"/>
                    </a:solidFill>
                  </a:tcPr>
                </a:tc>
              </a:tr>
              <a:tr h="636270">
                <a:tc>
                  <a:txBody>
                    <a:bodyPr/>
                    <a:lstStyle/>
                    <a:p>
                      <a:r>
                        <a:rPr sz="2100" b="1">
                          <a:solidFill>
                            <a:srgbClr val="192A20"/>
                          </a:solidFill>
                          <a:latin typeface="Apple SD Gothic Neo"/>
                          <a:ea typeface="Apple SD Gothic Neo"/>
                          <a:cs typeface="Apple SD Gothic Neo"/>
                        </a:rPr>
                        <a:t>윤채영</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5</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1</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10건</a:t>
                      </a:r>
                    </a:p>
                  </a:txBody>
                  <a:tcPr marL="171450" marR="133350" marT="114300" marB="114300" anchor="ctr">
                    <a:solidFill>
                      <a:srgbClr val="E9EBDD"/>
                    </a:solidFill>
                  </a:tcPr>
                </a:tc>
              </a:tr>
              <a:tr h="636270">
                <a:tc>
                  <a:txBody>
                    <a:bodyPr/>
                    <a:lstStyle/>
                    <a:p>
                      <a:r>
                        <a:rPr sz="2100" b="1">
                          <a:solidFill>
                            <a:srgbClr val="192A20"/>
                          </a:solidFill>
                          <a:latin typeface="Apple SD Gothic Neo"/>
                          <a:ea typeface="Apple SD Gothic Neo"/>
                          <a:cs typeface="Apple SD Gothic Neo"/>
                        </a:rPr>
                        <a:t>민병준</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1</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미입력</a:t>
                      </a:r>
                    </a:p>
                  </a:txBody>
                  <a:tcPr marL="171450" marR="133350" marT="114300" marB="114300" anchor="ctr">
                    <a:solidFill>
                      <a:srgbClr val="F5F3EA"/>
                    </a:solidFill>
                  </a:tcPr>
                </a:tc>
                <a:tc>
                  <a:txBody>
                    <a:bodyPr/>
                    <a:lstStyle/>
                    <a:p>
                      <a:r>
                        <a:rPr sz="2100" b="0">
                          <a:solidFill>
                            <a:srgbClr val="192A20"/>
                          </a:solidFill>
                          <a:latin typeface="Apple SD Gothic Neo"/>
                          <a:ea typeface="Apple SD Gothic Neo"/>
                          <a:cs typeface="Apple SD Gothic Neo"/>
                        </a:rPr>
                        <a:t>5건</a:t>
                      </a:r>
                    </a:p>
                  </a:txBody>
                  <a:tcPr marL="171450" marR="133350" marT="114300" marB="114300" anchor="ctr">
                    <a:solidFill>
                      <a:srgbClr val="F5F3EA"/>
                    </a:solidFill>
                  </a:tcPr>
                </a:tc>
              </a:tr>
              <a:tr h="636270">
                <a:tc>
                  <a:txBody>
                    <a:bodyPr/>
                    <a:lstStyle/>
                    <a:p>
                      <a:r>
                        <a:rPr sz="2100" b="1">
                          <a:solidFill>
                            <a:srgbClr val="192A20"/>
                          </a:solidFill>
                          <a:latin typeface="Apple SD Gothic Neo"/>
                          <a:ea typeface="Apple SD Gothic Neo"/>
                          <a:cs typeface="Apple SD Gothic Neo"/>
                        </a:rPr>
                        <a:t>황혜진</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2</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0</a:t>
                      </a:r>
                    </a:p>
                  </a:txBody>
                  <a:tcPr marL="171450" marR="133350" marT="114300" marB="114300" anchor="ctr">
                    <a:solidFill>
                      <a:srgbClr val="E9EBDD"/>
                    </a:solidFill>
                  </a:tcPr>
                </a:tc>
                <a:tc>
                  <a:txBody>
                    <a:bodyPr/>
                    <a:lstStyle/>
                    <a:p>
                      <a:r>
                        <a:rPr sz="2100" b="0">
                          <a:solidFill>
                            <a:srgbClr val="192A20"/>
                          </a:solidFill>
                          <a:latin typeface="Apple SD Gothic Neo"/>
                          <a:ea typeface="Apple SD Gothic Neo"/>
                          <a:cs typeface="Apple SD Gothic Neo"/>
                        </a:rPr>
                        <a:t>6건</a:t>
                      </a:r>
                    </a:p>
                  </a:txBody>
                  <a:tcPr marL="171450" marR="133350" marT="114300" marB="114300" anchor="ctr">
                    <a:solidFill>
                      <a:srgbClr val="E9EBDD"/>
                    </a:solidFill>
                  </a:tcPr>
                </a:tc>
              </a:tr>
            </a:tbl>
          </a:graphicData>
        </a:graphic>
      </p:graphicFrame>
      <p:sp>
        <p:nvSpPr>
          <p:cNvPr id="6" name="">
            <a:extLst xmlns:a="http://schemas.openxmlformats.org/drawingml/2006/main">
              <a:ext uri="{FF2B5EF4-FFF2-40B4-BE49-F238E27FC236}">
                <a16:creationId xmlns:a16="http://schemas.microsoft.com/office/drawing/2014/main" id="{70C0A7E1-C87E-4219-8BC1-32979B031885}"/>
              </a:ext>
            </a:extLst>
          </p:cNvPr>
          <p:cNvSpPr>
            <a:spLocks xmlns:a="http://schemas.openxmlformats.org/drawingml/2006/main" noGrp="1"/>
          </p:cNvSpPr>
          <p:nvPr/>
        </p:nvSpPr>
        <p:spPr>
          <a:xfrm xmlns:a="http://schemas.openxmlformats.org/drawingml/2006/main">
            <a:off x="609600" y="5524500"/>
            <a:ext cx="2143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6B865C"/>
                </a:solidFill>
                <a:latin typeface="Apple SD Gothic Neo"/>
                <a:ea typeface="Apple SD Gothic Neo"/>
                <a:cs typeface="Apple SD Gothic Neo"/>
              </a:defRPr>
            </a:pPr>
            <a:r>
              <a:rPr sz="3600" b="1">
                <a:solidFill>
                  <a:srgbClr val="6B865C"/>
                </a:solidFill>
                <a:latin typeface="Apple SD Gothic Neo"/>
                <a:ea typeface="Apple SD Gothic Neo"/>
                <a:cs typeface="Apple SD Gothic Neo"/>
              </a:rPr>
              <a:t>31건</a:t>
            </a:r>
          </a:p>
        </p:txBody>
      </p:sp>
      <p:sp>
        <p:nvSpPr>
          <p:cNvPr id="7" name="">
            <a:extLst xmlns:a="http://schemas.openxmlformats.org/drawingml/2006/main">
              <a:ext uri="{FF2B5EF4-FFF2-40B4-BE49-F238E27FC236}">
                <a16:creationId xmlns:a16="http://schemas.microsoft.com/office/drawing/2014/main" id="{59B7C160-C105-4B68-B92B-CD725B74AA7A}"/>
              </a:ext>
            </a:extLst>
          </p:cNvPr>
          <p:cNvSpPr>
            <a:spLocks xmlns:a="http://schemas.openxmlformats.org/drawingml/2006/main" noGrp="1"/>
          </p:cNvSpPr>
          <p:nvPr/>
        </p:nvSpPr>
        <p:spPr>
          <a:xfrm xmlns:a="http://schemas.openxmlformats.org/drawingml/2006/main">
            <a:off x="2857500" y="5572125"/>
            <a:ext cx="8629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92A20"/>
                </a:solidFill>
                <a:latin typeface="Apple SD Gothic Neo"/>
                <a:ea typeface="Apple SD Gothic Neo"/>
                <a:cs typeface="Apple SD Gothic Neo"/>
              </a:defRPr>
            </a:pPr>
            <a:r>
              <a:rPr sz="1950" b="0">
                <a:solidFill>
                  <a:srgbClr val="192A20"/>
                </a:solidFill>
                <a:latin typeface="Apple SD Gothic Neo"/>
                <a:ea typeface="Apple SD Gothic Neo"/>
                <a:cs typeface="Apple SD Gothic Neo"/>
              </a:rPr>
              <a:t>현재 기록 합계. 민병준의 일요일은 미입력으로 최종 AVG 확인 전입니다.</a:t>
            </a:r>
          </a:p>
        </p:txBody>
      </p:sp>
    </p:spTree>
    <p:extLst>
      <p:ext uri="{BB962C8B-B14F-4D97-AF65-F5344CB8AC3E}">
        <p14:creationId xmlns:p14="http://schemas.microsoft.com/office/powerpoint/2010/main" val="1819913456"/>
      </p:ext>
    </p:extLst>
  </p:cSld>
</p:sld>
</file>

<file path=ppt/slides/slide23.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18A745-2453-4197-800B-75402A698678}"/>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AVG와 회고 기준</a:t>
            </a:r>
          </a:p>
        </p:txBody>
      </p:sp>
      <p:sp>
        <p:nvSpPr>
          <p:cNvPr id="2" name="">
            <a:extLst xmlns:a="http://schemas.openxmlformats.org/drawingml/2006/main">
              <a:ext uri="{FF2B5EF4-FFF2-40B4-BE49-F238E27FC236}">
                <a16:creationId xmlns:a16="http://schemas.microsoft.com/office/drawing/2014/main" id="{2EA2210D-498D-410A-A982-A937085E5572}"/>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팀 AVG = 총 세일즈 ÷ 실제 활동일 합계</a:t>
            </a:r>
          </a:p>
        </p:txBody>
      </p:sp>
      <p:sp>
        <p:nvSpPr>
          <p:cNvPr id="3" name="">
            <a:extLst xmlns:a="http://schemas.openxmlformats.org/drawingml/2006/main">
              <a:ext uri="{FF2B5EF4-FFF2-40B4-BE49-F238E27FC236}">
                <a16:creationId xmlns:a16="http://schemas.microsoft.com/office/drawing/2014/main" id="{BF6C9E7C-05B8-4B0F-A408-BFC81295DDC1}"/>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0AA834B2-F288-4811-9AC5-AE02E9796981}"/>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23</a:t>
            </a:r>
          </a:p>
        </p:txBody>
      </p:sp>
      <p:sp>
        <p:nvSpPr>
          <p:cNvPr id="5" name="">
            <a:extLst xmlns:a="http://schemas.openxmlformats.org/drawingml/2006/main">
              <a:ext uri="{FF2B5EF4-FFF2-40B4-BE49-F238E27FC236}">
                <a16:creationId xmlns:a16="http://schemas.microsoft.com/office/drawing/2014/main" id="{DB9CFAAA-2CBD-4907-8CAD-F99E1461E1F9}"/>
              </a:ext>
            </a:extLst>
          </p:cNvPr>
          <p:cNvSpPr>
            <a:spLocks xmlns:a="http://schemas.openxmlformats.org/drawingml/2006/main" noGrp="1"/>
          </p:cNvSpPr>
          <p:nvPr/>
        </p:nvSpPr>
        <p:spPr>
          <a:xfrm xmlns:a="http://schemas.openxmlformats.org/drawingml/2006/main">
            <a:off x="609600" y="2000250"/>
            <a:ext cx="1095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75" b="1">
                <a:solidFill>
                  <a:srgbClr val="6B865C"/>
                </a:solidFill>
                <a:latin typeface="Apple SD Gothic Neo"/>
                <a:ea typeface="Apple SD Gothic Neo"/>
                <a:cs typeface="Apple SD Gothic Neo"/>
              </a:defRPr>
            </a:pPr>
            <a:r>
              <a:rPr sz="4275" b="1">
                <a:solidFill>
                  <a:srgbClr val="6B865C"/>
                </a:solidFill>
                <a:latin typeface="Apple SD Gothic Neo"/>
                <a:ea typeface="Apple SD Gothic Neo"/>
                <a:cs typeface="Apple SD Gothic Neo"/>
              </a:rPr>
              <a:t>총 세일즈 ÷ 실제 활동일 합계</a:t>
            </a:r>
          </a:p>
        </p:txBody>
      </p:sp>
      <p:sp>
        <p:nvSpPr>
          <p:cNvPr id="6" name="">
            <a:extLst xmlns:a="http://schemas.openxmlformats.org/drawingml/2006/main">
              <a:ext uri="{FF2B5EF4-FFF2-40B4-BE49-F238E27FC236}">
                <a16:creationId xmlns:a16="http://schemas.microsoft.com/office/drawing/2014/main" id="{8DF7A0FC-BFC0-49A3-A237-31C5469F2445}"/>
              </a:ext>
            </a:extLst>
          </p:cNvPr>
          <p:cNvSpPr>
            <a:spLocks xmlns:a="http://schemas.openxmlformats.org/drawingml/2006/main" noGrp="1"/>
          </p:cNvSpPr>
          <p:nvPr/>
        </p:nvSpPr>
        <p:spPr>
          <a:xfrm xmlns:a="http://schemas.openxmlformats.org/drawingml/2006/main">
            <a:off x="609600" y="3105150"/>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92A20"/>
                </a:solidFill>
                <a:latin typeface="Apple SD Gothic Neo"/>
                <a:ea typeface="Apple SD Gothic Neo"/>
                <a:cs typeface="Apple SD Gothic Neo"/>
              </a:defRPr>
            </a:pPr>
            <a:r>
              <a:rPr sz="2175" b="0">
                <a:solidFill>
                  <a:srgbClr val="192A20"/>
                </a:solidFill>
                <a:latin typeface="Apple SD Gothic Neo"/>
                <a:ea typeface="Apple SD Gothic Neo"/>
                <a:cs typeface="Apple SD Gothic Neo"/>
              </a:rPr>
              <a:t>활동한 0건은 포함  /  휴무는 제외  /  미입력은 확인</a:t>
            </a:r>
          </a:p>
        </p:txBody>
      </p:sp>
      <p:sp>
        <p:nvSpPr>
          <p:cNvPr id="7" name="">
            <a:extLst xmlns:a="http://schemas.openxmlformats.org/drawingml/2006/main">
              <a:ext uri="{FF2B5EF4-FFF2-40B4-BE49-F238E27FC236}">
                <a16:creationId xmlns:a16="http://schemas.microsoft.com/office/drawing/2014/main" id="{CC808E7A-7A16-4B7E-98BF-6E7D9C90ACA0}"/>
              </a:ext>
            </a:extLst>
          </p:cNvPr>
          <p:cNvSpPr>
            <a:spLocks xmlns:a="http://schemas.openxmlformats.org/drawingml/2006/main" noGrp="1"/>
          </p:cNvSpPr>
          <p:nvPr/>
        </p:nvSpPr>
        <p:spPr>
          <a:xfrm xmlns:a="http://schemas.openxmlformats.org/drawingml/2006/main">
            <a:off x="609600" y="4133850"/>
            <a:ext cx="20669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Profit</a:t>
            </a:r>
          </a:p>
        </p:txBody>
      </p:sp>
      <p:sp>
        <p:nvSpPr>
          <p:cNvPr id="8" name="">
            <a:extLst xmlns:a="http://schemas.openxmlformats.org/drawingml/2006/main">
              <a:ext uri="{FF2B5EF4-FFF2-40B4-BE49-F238E27FC236}">
                <a16:creationId xmlns:a16="http://schemas.microsoft.com/office/drawing/2014/main" id="{7D0065C5-1094-4F8D-BF77-D8F9F44BEFF8}"/>
              </a:ext>
            </a:extLst>
          </p:cNvPr>
          <p:cNvSpPr>
            <a:spLocks xmlns:a="http://schemas.openxmlformats.org/drawingml/2006/main" noGrp="1"/>
          </p:cNvSpPr>
          <p:nvPr/>
        </p:nvSpPr>
        <p:spPr>
          <a:xfrm xmlns:a="http://schemas.openxmlformats.org/drawingml/2006/main">
            <a:off x="2943225" y="4133850"/>
            <a:ext cx="86391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성과와 필드 시간, 몰입 여건</a:t>
            </a:r>
          </a:p>
        </p:txBody>
      </p:sp>
      <p:sp>
        <p:nvSpPr>
          <p:cNvPr id="9" name="">
            <a:extLst xmlns:a="http://schemas.openxmlformats.org/drawingml/2006/main">
              <a:ext uri="{FF2B5EF4-FFF2-40B4-BE49-F238E27FC236}">
                <a16:creationId xmlns:a16="http://schemas.microsoft.com/office/drawing/2014/main" id="{1CF4D602-01F1-43E6-9004-5347D740E127}"/>
              </a:ext>
            </a:extLst>
          </p:cNvPr>
          <p:cNvSpPr>
            <a:spLocks xmlns:a="http://schemas.openxmlformats.org/drawingml/2006/main" noGrp="1"/>
          </p:cNvSpPr>
          <p:nvPr/>
        </p:nvSpPr>
        <p:spPr>
          <a:xfrm xmlns:a="http://schemas.openxmlformats.org/drawingml/2006/main">
            <a:off x="609600" y="4772025"/>
            <a:ext cx="20669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Progress</a:t>
            </a:r>
          </a:p>
        </p:txBody>
      </p:sp>
      <p:sp>
        <p:nvSpPr>
          <p:cNvPr id="10" name="">
            <a:extLst xmlns:a="http://schemas.openxmlformats.org/drawingml/2006/main">
              <a:ext uri="{FF2B5EF4-FFF2-40B4-BE49-F238E27FC236}">
                <a16:creationId xmlns:a16="http://schemas.microsoft.com/office/drawing/2014/main" id="{E9508A6F-390B-4599-A684-DA6CB3FA2EAE}"/>
              </a:ext>
            </a:extLst>
          </p:cNvPr>
          <p:cNvSpPr>
            <a:spLocks xmlns:a="http://schemas.openxmlformats.org/drawingml/2006/main" noGrp="1"/>
          </p:cNvSpPr>
          <p:nvPr/>
        </p:nvSpPr>
        <p:spPr>
          <a:xfrm xmlns:a="http://schemas.openxmlformats.org/drawingml/2006/main">
            <a:off x="2943225" y="4772025"/>
            <a:ext cx="86391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루틴·문제 해결·현장 판단·B2B에서 배운 것</a:t>
            </a:r>
          </a:p>
        </p:txBody>
      </p:sp>
      <p:sp>
        <p:nvSpPr>
          <p:cNvPr id="11" name="">
            <a:extLst xmlns:a="http://schemas.openxmlformats.org/drawingml/2006/main">
              <a:ext uri="{FF2B5EF4-FFF2-40B4-BE49-F238E27FC236}">
                <a16:creationId xmlns:a16="http://schemas.microsoft.com/office/drawing/2014/main" id="{76C3F77B-15C0-46A6-B06E-1CD48B901278}"/>
              </a:ext>
            </a:extLst>
          </p:cNvPr>
          <p:cNvSpPr>
            <a:spLocks xmlns:a="http://schemas.openxmlformats.org/drawingml/2006/main" noGrp="1"/>
          </p:cNvSpPr>
          <p:nvPr/>
        </p:nvSpPr>
        <p:spPr>
          <a:xfrm xmlns:a="http://schemas.openxmlformats.org/drawingml/2006/main">
            <a:off x="609600" y="5410200"/>
            <a:ext cx="20669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6B865C"/>
                </a:solidFill>
                <a:latin typeface="Apple SD Gothic Neo"/>
                <a:ea typeface="Apple SD Gothic Neo"/>
                <a:cs typeface="Apple SD Gothic Neo"/>
              </a:defRPr>
            </a:pPr>
            <a:r>
              <a:rPr sz="2175" b="1">
                <a:solidFill>
                  <a:srgbClr val="6B865C"/>
                </a:solidFill>
                <a:latin typeface="Apple SD Gothic Neo"/>
                <a:ea typeface="Apple SD Gothic Neo"/>
                <a:cs typeface="Apple SD Gothic Neo"/>
              </a:rPr>
              <a:t>People</a:t>
            </a:r>
          </a:p>
        </p:txBody>
      </p:sp>
      <p:sp>
        <p:nvSpPr>
          <p:cNvPr id="12" name="">
            <a:extLst xmlns:a="http://schemas.openxmlformats.org/drawingml/2006/main">
              <a:ext uri="{FF2B5EF4-FFF2-40B4-BE49-F238E27FC236}">
                <a16:creationId xmlns:a16="http://schemas.microsoft.com/office/drawing/2014/main" id="{36815B93-C1F9-426C-BD7D-8D5F43D40186}"/>
              </a:ext>
            </a:extLst>
          </p:cNvPr>
          <p:cNvSpPr>
            <a:spLocks xmlns:a="http://schemas.openxmlformats.org/drawingml/2006/main" noGrp="1"/>
          </p:cNvSpPr>
          <p:nvPr/>
        </p:nvSpPr>
        <p:spPr>
          <a:xfrm xmlns:a="http://schemas.openxmlformats.org/drawingml/2006/main">
            <a:off x="2943225" y="5410200"/>
            <a:ext cx="86391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92A20"/>
                </a:solidFill>
                <a:latin typeface="Apple SD Gothic Neo"/>
                <a:ea typeface="Apple SD Gothic Neo"/>
                <a:cs typeface="Apple SD Gothic Neo"/>
              </a:defRPr>
            </a:pPr>
            <a:r>
              <a:rPr sz="2025" b="0">
                <a:solidFill>
                  <a:srgbClr val="192A20"/>
                </a:solidFill>
                <a:latin typeface="Apple SD Gothic Neo"/>
                <a:ea typeface="Apple SD Gothic Neo"/>
                <a:cs typeface="Apple SD Gothic Neo"/>
              </a:rPr>
              <a:t>리프레시한 순간과 고마웠던 행동</a:t>
            </a:r>
          </a:p>
        </p:txBody>
      </p:sp>
    </p:spTree>
    <p:extLst>
      <p:ext uri="{BB962C8B-B14F-4D97-AF65-F5344CB8AC3E}">
        <p14:creationId xmlns:p14="http://schemas.microsoft.com/office/powerpoint/2010/main" val="342003773"/>
      </p:ext>
    </p:extLst>
  </p:cSld>
</p:sld>
</file>

<file path=ppt/slides/slide24.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CE5C47-1105-41A8-B92E-3460F4D8F576}"/>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트립 장면들</a:t>
            </a:r>
          </a:p>
        </p:txBody>
      </p:sp>
      <p:sp>
        <p:nvSpPr>
          <p:cNvPr id="2" name="">
            <a:extLst xmlns:a="http://schemas.openxmlformats.org/drawingml/2006/main">
              <a:ext uri="{FF2B5EF4-FFF2-40B4-BE49-F238E27FC236}">
                <a16:creationId xmlns:a16="http://schemas.microsoft.com/office/drawing/2014/main" id="{DB48E140-8B20-4A88-BE4B-F32E80EEED06}"/>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함께 일하고, 함께 쉬고, 함께 기억한 순간들</a:t>
            </a:r>
          </a:p>
        </p:txBody>
      </p:sp>
      <p:sp>
        <p:nvSpPr>
          <p:cNvPr id="3" name="">
            <a:extLst xmlns:a="http://schemas.openxmlformats.org/drawingml/2006/main">
              <a:ext uri="{FF2B5EF4-FFF2-40B4-BE49-F238E27FC236}">
                <a16:creationId xmlns:a16="http://schemas.microsoft.com/office/drawing/2014/main" id="{873659CF-9E48-49B4-80AA-1CD2563E3028}"/>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6ECC030F-FC62-4126-9F30-3C898F0FEBAC}"/>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24</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8660a445a81e45b0"/>
          <a:stretch xmlns:a="http://schemas.openxmlformats.org/drawingml/2006/main"/>
        </p:blipFill>
        <p:spPr>
          <a:xfrm xmlns:a="http://schemas.openxmlformats.org/drawingml/2006/main">
            <a:off x="1333500" y="2047875"/>
            <a:ext cx="1828800" cy="2438400"/>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969ec3b143f74b80"/>
          <a:stretch xmlns:a="http://schemas.openxmlformats.org/drawingml/2006/main"/>
        </p:blipFill>
        <p:spPr>
          <a:xfrm xmlns:a="http://schemas.openxmlformats.org/drawingml/2006/main">
            <a:off x="4470400" y="2047875"/>
            <a:ext cx="3251200" cy="2438400"/>
          </a:xfrm>
          <a:prstGeom xmlns:a="http://schemas.openxmlformats.org/drawingml/2006/main" prst="rect">
            <a:avLst/>
          </a:prstGeom>
        </p:spPr>
      </p:pic>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af2d8e96bc114a5d"/>
          <a:stretch xmlns:a="http://schemas.openxmlformats.org/drawingml/2006/main"/>
        </p:blipFill>
        <p:spPr>
          <a:xfrm xmlns:a="http://schemas.openxmlformats.org/drawingml/2006/main">
            <a:off x="8318500" y="2047875"/>
            <a:ext cx="3251200" cy="24384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D642982-BE7A-40F3-8EBF-8ED4DA50748F}"/>
              </a:ext>
            </a:extLst>
          </p:cNvPr>
          <p:cNvSpPr>
            <a:spLocks xmlns:a="http://schemas.openxmlformats.org/drawingml/2006/main" noGrp="1"/>
          </p:cNvSpPr>
          <p:nvPr/>
        </p:nvSpPr>
        <p:spPr>
          <a:xfrm xmlns:a="http://schemas.openxmlformats.org/drawingml/2006/main">
            <a:off x="609600" y="48863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DBED9C"/>
                </a:solidFill>
                <a:latin typeface="Apple SD Gothic Neo"/>
                <a:ea typeface="Apple SD Gothic Neo"/>
                <a:cs typeface="Apple SD Gothic Neo"/>
              </a:defRPr>
            </a:pPr>
            <a:r>
              <a:rPr sz="3225" b="1">
                <a:solidFill>
                  <a:srgbClr val="DBED9C"/>
                </a:solidFill>
                <a:latin typeface="Apple SD Gothic Neo"/>
                <a:ea typeface="Apple SD Gothic Neo"/>
                <a:cs typeface="Apple SD Gothic Neo"/>
              </a:rPr>
              <a:t>사진 49장 + 영상 2개</a:t>
            </a:r>
          </a:p>
        </p:txBody>
      </p:sp>
      <p:sp>
        <p:nvSpPr>
          <p:cNvPr id="9" name="">
            <a:extLst xmlns:a="http://schemas.openxmlformats.org/drawingml/2006/main">
              <a:ext uri="{FF2B5EF4-FFF2-40B4-BE49-F238E27FC236}">
                <a16:creationId xmlns:a16="http://schemas.microsoft.com/office/drawing/2014/main" id="{CB76ACA4-1402-46D1-A00C-58BF70439270}"/>
              </a:ext>
            </a:extLst>
          </p:cNvPr>
          <p:cNvSpPr>
            <a:spLocks xmlns:a="http://schemas.openxmlformats.org/drawingml/2006/main" noGrp="1"/>
          </p:cNvSpPr>
          <p:nvPr/>
        </p:nvSpPr>
        <p:spPr>
          <a:xfrm xmlns:a="http://schemas.openxmlformats.org/drawingml/2006/main">
            <a:off x="609600" y="5629275"/>
            <a:ext cx="9048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F8F9F2"/>
                </a:solidFill>
                <a:latin typeface="Apple SD Gothic Neo"/>
                <a:ea typeface="Apple SD Gothic Neo"/>
                <a:cs typeface="Apple SD Gothic Neo"/>
              </a:defRPr>
            </a:pPr>
            <a:r>
              <a:rPr sz="2400" b="1">
                <a:solidFill>
                  <a:srgbClr val="F8F9F2"/>
                </a:solidFill>
                <a:latin typeface="Apple SD Gothic Neo"/>
                <a:ea typeface="Apple SD Gothic Neo"/>
                <a:cs typeface="Apple SD Gothic Neo"/>
                <a:hlinkClick xmlns:r="http://schemas.openxmlformats.org/officeDocument/2006/relationships" r:id="R2fc852b5ba0c445e"/>
              </a:rPr>
              <a:t>웹에서 트립 장면보기 ↗</a:t>
            </a:r>
          </a:p>
        </p:txBody>
      </p:sp>
    </p:spTree>
    <p:extLst>
      <p:ext uri="{BB962C8B-B14F-4D97-AF65-F5344CB8AC3E}">
        <p14:creationId xmlns:p14="http://schemas.microsoft.com/office/powerpoint/2010/main" val="911437468"/>
      </p:ext>
    </p:extLst>
  </p:cSld>
</p:sld>
</file>

<file path=ppt/slides/slide25.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F5B7931-AE81-4195-B18A-F3CEEA298884}"/>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출발 전 체크리스트</a:t>
            </a:r>
          </a:p>
        </p:txBody>
      </p:sp>
      <p:sp>
        <p:nvSpPr>
          <p:cNvPr id="2" name="">
            <a:extLst xmlns:a="http://schemas.openxmlformats.org/drawingml/2006/main">
              <a:ext uri="{FF2B5EF4-FFF2-40B4-BE49-F238E27FC236}">
                <a16:creationId xmlns:a16="http://schemas.microsoft.com/office/drawing/2014/main" id="{0EC7157C-8A08-488D-B7CA-1D1B1F31E8E9}"/>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출발 전, 담당자와 함께 준비 상태를 확인합니다.</a:t>
            </a:r>
          </a:p>
        </p:txBody>
      </p:sp>
      <p:sp>
        <p:nvSpPr>
          <p:cNvPr id="3" name="">
            <a:extLst xmlns:a="http://schemas.openxmlformats.org/drawingml/2006/main">
              <a:ext uri="{FF2B5EF4-FFF2-40B4-BE49-F238E27FC236}">
                <a16:creationId xmlns:a16="http://schemas.microsoft.com/office/drawing/2014/main" id="{8DF429D1-527C-4839-B3B3-3D14E8FAEE8E}"/>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37C07445-80DB-433E-A4BC-C0570A3E53AD}"/>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25</a:t>
            </a:r>
          </a:p>
        </p:txBody>
      </p:sp>
      <p:sp>
        <p:nvSpPr>
          <p:cNvPr id="5" name="">
            <a:extLst xmlns:a="http://schemas.openxmlformats.org/drawingml/2006/main">
              <a:ext uri="{FF2B5EF4-FFF2-40B4-BE49-F238E27FC236}">
                <a16:creationId xmlns:a16="http://schemas.microsoft.com/office/drawing/2014/main" id="{9883699E-B3F9-4CEB-A244-5FB5987B9875}"/>
              </a:ext>
            </a:extLst>
          </p:cNvPr>
          <p:cNvSpPr>
            <a:spLocks xmlns:a="http://schemas.openxmlformats.org/drawingml/2006/main" noGrp="1"/>
          </p:cNvSpPr>
          <p:nvPr/>
        </p:nvSpPr>
        <p:spPr>
          <a:xfrm xmlns:a="http://schemas.openxmlformats.org/drawingml/2006/main">
            <a:off x="609600" y="2000250"/>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C69A9879-061D-4854-93D2-DBC0E0BB32F3}"/>
              </a:ext>
            </a:extLst>
          </p:cNvPr>
          <p:cNvSpPr>
            <a:spLocks xmlns:a="http://schemas.openxmlformats.org/drawingml/2006/main" noGrp="1"/>
          </p:cNvSpPr>
          <p:nvPr/>
        </p:nvSpPr>
        <p:spPr>
          <a:xfrm xmlns:a="http://schemas.openxmlformats.org/drawingml/2006/main">
            <a:off x="1647825" y="2019300"/>
            <a:ext cx="962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지역·날짜·개인별 일정 확정, 동료·CTM 자료 수집</a:t>
            </a:r>
          </a:p>
        </p:txBody>
      </p:sp>
      <p:sp>
        <p:nvSpPr>
          <p:cNvPr id="7" name="">
            <a:extLst xmlns:a="http://schemas.openxmlformats.org/drawingml/2006/main">
              <a:ext uri="{FF2B5EF4-FFF2-40B4-BE49-F238E27FC236}">
                <a16:creationId xmlns:a16="http://schemas.microsoft.com/office/drawing/2014/main" id="{C03EEFB6-B17F-4995-824C-7BD88EF2ADE7}"/>
              </a:ext>
            </a:extLst>
          </p:cNvPr>
          <p:cNvSpPr>
            <a:spLocks xmlns:a="http://schemas.openxmlformats.org/drawingml/2006/main" noGrp="1"/>
          </p:cNvSpPr>
          <p:nvPr/>
        </p:nvSpPr>
        <p:spPr>
          <a:xfrm xmlns:a="http://schemas.openxmlformats.org/drawingml/2006/main">
            <a:off x="609600" y="2657475"/>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02</a:t>
            </a:r>
          </a:p>
        </p:txBody>
      </p:sp>
      <p:sp>
        <p:nvSpPr>
          <p:cNvPr id="8" name="">
            <a:extLst xmlns:a="http://schemas.openxmlformats.org/drawingml/2006/main">
              <a:ext uri="{FF2B5EF4-FFF2-40B4-BE49-F238E27FC236}">
                <a16:creationId xmlns:a16="http://schemas.microsoft.com/office/drawing/2014/main" id="{BA12A671-A935-4F7E-B0EE-17F9C79F05D4}"/>
              </a:ext>
            </a:extLst>
          </p:cNvPr>
          <p:cNvSpPr>
            <a:spLocks xmlns:a="http://schemas.openxmlformats.org/drawingml/2006/main" noGrp="1"/>
          </p:cNvSpPr>
          <p:nvPr/>
        </p:nvSpPr>
        <p:spPr>
          <a:xfrm xmlns:a="http://schemas.openxmlformats.org/drawingml/2006/main">
            <a:off x="1647825" y="2676525"/>
            <a:ext cx="962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카카오맵 기준 사이트명·도로뷰 확인, 주요·예비 자리 확보</a:t>
            </a:r>
          </a:p>
        </p:txBody>
      </p:sp>
      <p:sp>
        <p:nvSpPr>
          <p:cNvPr id="9" name="">
            <a:extLst xmlns:a="http://schemas.openxmlformats.org/drawingml/2006/main">
              <a:ext uri="{FF2B5EF4-FFF2-40B4-BE49-F238E27FC236}">
                <a16:creationId xmlns:a16="http://schemas.microsoft.com/office/drawing/2014/main" id="{EF913CF8-2455-4B12-A0B6-376A1696C6E8}"/>
              </a:ext>
            </a:extLst>
          </p:cNvPr>
          <p:cNvSpPr>
            <a:spLocks xmlns:a="http://schemas.openxmlformats.org/drawingml/2006/main" noGrp="1"/>
          </p:cNvSpPr>
          <p:nvPr/>
        </p:nvSpPr>
        <p:spPr>
          <a:xfrm xmlns:a="http://schemas.openxmlformats.org/drawingml/2006/main">
            <a:off x="609600" y="3314700"/>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03</a:t>
            </a:r>
          </a:p>
        </p:txBody>
      </p:sp>
      <p:sp>
        <p:nvSpPr>
          <p:cNvPr id="10" name="">
            <a:extLst xmlns:a="http://schemas.openxmlformats.org/drawingml/2006/main">
              <a:ext uri="{FF2B5EF4-FFF2-40B4-BE49-F238E27FC236}">
                <a16:creationId xmlns:a16="http://schemas.microsoft.com/office/drawing/2014/main" id="{D43FFB63-A913-4391-8BAA-0752F50AA7DD}"/>
              </a:ext>
            </a:extLst>
          </p:cNvPr>
          <p:cNvSpPr>
            <a:spLocks xmlns:a="http://schemas.openxmlformats.org/drawingml/2006/main" noGrp="1"/>
          </p:cNvSpPr>
          <p:nvPr/>
        </p:nvSpPr>
        <p:spPr>
          <a:xfrm xmlns:a="http://schemas.openxmlformats.org/drawingml/2006/main">
            <a:off x="1647825" y="3333750"/>
            <a:ext cx="962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스코어·클로즈·보상의 A / B / C 목표 설정</a:t>
            </a:r>
          </a:p>
        </p:txBody>
      </p:sp>
      <p:sp>
        <p:nvSpPr>
          <p:cNvPr id="11" name="">
            <a:extLst xmlns:a="http://schemas.openxmlformats.org/drawingml/2006/main">
              <a:ext uri="{FF2B5EF4-FFF2-40B4-BE49-F238E27FC236}">
                <a16:creationId xmlns:a16="http://schemas.microsoft.com/office/drawing/2014/main" id="{0A358ADD-E6DF-43D1-B7C6-B51AF41B924C}"/>
              </a:ext>
            </a:extLst>
          </p:cNvPr>
          <p:cNvSpPr>
            <a:spLocks xmlns:a="http://schemas.openxmlformats.org/drawingml/2006/main" noGrp="1"/>
          </p:cNvSpPr>
          <p:nvPr/>
        </p:nvSpPr>
        <p:spPr>
          <a:xfrm xmlns:a="http://schemas.openxmlformats.org/drawingml/2006/main">
            <a:off x="609600" y="3971925"/>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04</a:t>
            </a:r>
          </a:p>
        </p:txBody>
      </p:sp>
      <p:sp>
        <p:nvSpPr>
          <p:cNvPr id="12" name="">
            <a:extLst xmlns:a="http://schemas.openxmlformats.org/drawingml/2006/main">
              <a:ext uri="{FF2B5EF4-FFF2-40B4-BE49-F238E27FC236}">
                <a16:creationId xmlns:a16="http://schemas.microsoft.com/office/drawing/2014/main" id="{F0BF93AC-0FA5-4435-8A0C-0B6E53C22DFE}"/>
              </a:ext>
            </a:extLst>
          </p:cNvPr>
          <p:cNvSpPr>
            <a:spLocks xmlns:a="http://schemas.openxmlformats.org/drawingml/2006/main" noGrp="1"/>
          </p:cNvSpPr>
          <p:nvPr/>
        </p:nvSpPr>
        <p:spPr>
          <a:xfrm xmlns:a="http://schemas.openxmlformats.org/drawingml/2006/main">
            <a:off x="1647825" y="3990975"/>
            <a:ext cx="962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배우고 싶은 것과 이것만큼은 지킬 약속</a:t>
            </a:r>
          </a:p>
        </p:txBody>
      </p:sp>
      <p:sp>
        <p:nvSpPr>
          <p:cNvPr id="13" name="">
            <a:extLst xmlns:a="http://schemas.openxmlformats.org/drawingml/2006/main">
              <a:ext uri="{FF2B5EF4-FFF2-40B4-BE49-F238E27FC236}">
                <a16:creationId xmlns:a16="http://schemas.microsoft.com/office/drawing/2014/main" id="{78C10629-BC0A-4353-8E30-0952484D8DB1}"/>
              </a:ext>
            </a:extLst>
          </p:cNvPr>
          <p:cNvSpPr>
            <a:spLocks xmlns:a="http://schemas.openxmlformats.org/drawingml/2006/main" noGrp="1"/>
          </p:cNvSpPr>
          <p:nvPr/>
        </p:nvSpPr>
        <p:spPr>
          <a:xfrm xmlns:a="http://schemas.openxmlformats.org/drawingml/2006/main">
            <a:off x="609600" y="4629150"/>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05</a:t>
            </a:r>
          </a:p>
        </p:txBody>
      </p:sp>
      <p:sp>
        <p:nvSpPr>
          <p:cNvPr id="14" name="">
            <a:extLst xmlns:a="http://schemas.openxmlformats.org/drawingml/2006/main">
              <a:ext uri="{FF2B5EF4-FFF2-40B4-BE49-F238E27FC236}">
                <a16:creationId xmlns:a16="http://schemas.microsoft.com/office/drawing/2014/main" id="{356ECE3F-0F58-42A1-AA1C-C6BC98A89DEB}"/>
              </a:ext>
            </a:extLst>
          </p:cNvPr>
          <p:cNvSpPr>
            <a:spLocks xmlns:a="http://schemas.openxmlformats.org/drawingml/2006/main" noGrp="1"/>
          </p:cNvSpPr>
          <p:nvPr/>
        </p:nvSpPr>
        <p:spPr>
          <a:xfrm xmlns:a="http://schemas.openxmlformats.org/drawingml/2006/main">
            <a:off x="1647825" y="4648200"/>
            <a:ext cx="962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날짜별 테마와 액티비티·복귀 기준 합의</a:t>
            </a:r>
          </a:p>
        </p:txBody>
      </p:sp>
      <p:sp>
        <p:nvSpPr>
          <p:cNvPr id="15" name="">
            <a:extLst xmlns:a="http://schemas.openxmlformats.org/drawingml/2006/main">
              <a:ext uri="{FF2B5EF4-FFF2-40B4-BE49-F238E27FC236}">
                <a16:creationId xmlns:a16="http://schemas.microsoft.com/office/drawing/2014/main" id="{CA3B4A9D-B078-4ACA-B89D-684F91678B1C}"/>
              </a:ext>
            </a:extLst>
          </p:cNvPr>
          <p:cNvSpPr>
            <a:spLocks xmlns:a="http://schemas.openxmlformats.org/drawingml/2006/main" noGrp="1"/>
          </p:cNvSpPr>
          <p:nvPr/>
        </p:nvSpPr>
        <p:spPr>
          <a:xfrm xmlns:a="http://schemas.openxmlformats.org/drawingml/2006/main">
            <a:off x="609600" y="5286375"/>
            <a:ext cx="809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6B865C"/>
                </a:solidFill>
                <a:latin typeface="Apple SD Gothic Neo"/>
                <a:ea typeface="Apple SD Gothic Neo"/>
                <a:cs typeface="Apple SD Gothic Neo"/>
              </a:defRPr>
            </a:pPr>
            <a:r>
              <a:rPr sz="2400" b="1">
                <a:solidFill>
                  <a:srgbClr val="6B865C"/>
                </a:solidFill>
                <a:latin typeface="Apple SD Gothic Neo"/>
                <a:ea typeface="Apple SD Gothic Neo"/>
                <a:cs typeface="Apple SD Gothic Neo"/>
              </a:rPr>
              <a:t>06</a:t>
            </a:r>
          </a:p>
        </p:txBody>
      </p:sp>
      <p:sp>
        <p:nvSpPr>
          <p:cNvPr id="16" name="">
            <a:extLst xmlns:a="http://schemas.openxmlformats.org/drawingml/2006/main">
              <a:ext uri="{FF2B5EF4-FFF2-40B4-BE49-F238E27FC236}">
                <a16:creationId xmlns:a16="http://schemas.microsoft.com/office/drawing/2014/main" id="{0560C7E7-CF84-4703-B9B9-97428F27570F}"/>
              </a:ext>
            </a:extLst>
          </p:cNvPr>
          <p:cNvSpPr>
            <a:spLocks xmlns:a="http://schemas.openxmlformats.org/drawingml/2006/main" noGrp="1"/>
          </p:cNvSpPr>
          <p:nvPr/>
        </p:nvSpPr>
        <p:spPr>
          <a:xfrm xmlns:a="http://schemas.openxmlformats.org/drawingml/2006/main">
            <a:off x="1647825" y="5305425"/>
            <a:ext cx="9620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교통·숙소·비용·장비·휴식 계획과 기록 담당자</a:t>
            </a:r>
          </a:p>
        </p:txBody>
      </p:sp>
    </p:spTree>
    <p:extLst>
      <p:ext uri="{BB962C8B-B14F-4D97-AF65-F5344CB8AC3E}">
        <p14:creationId xmlns:p14="http://schemas.microsoft.com/office/powerpoint/2010/main" val="1605261050"/>
      </p:ext>
    </p:extLst>
  </p:cSld>
</p:sld>
</file>

<file path=ppt/slides/slide26.xml><?xml version="1.0" encoding="utf-8"?>
<p:sld xmlns:p="http://schemas.openxmlformats.org/presentationml/2006/main">
  <p:cSld>
    <p:bg>
      <p:bgPr>
        <a:solidFill xmlns:a="http://schemas.openxmlformats.org/drawingml/2006/main">
          <a:srgbClr val="F5F3E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DB1E9B3-0551-4FE7-B8DF-20B337842D88}"/>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92A20"/>
                </a:solidFill>
                <a:latin typeface="Apple SD Gothic Neo"/>
                <a:ea typeface="Apple SD Gothic Neo"/>
                <a:cs typeface="Apple SD Gothic Neo"/>
              </a:defRPr>
            </a:pPr>
            <a:r>
              <a:rPr sz="3450" b="1">
                <a:solidFill>
                  <a:srgbClr val="192A20"/>
                </a:solidFill>
                <a:latin typeface="Apple SD Gothic Neo"/>
                <a:ea typeface="Apple SD Gothic Neo"/>
                <a:cs typeface="Apple SD Gothic Neo"/>
              </a:rPr>
              <a:t>다음 트립 계획서</a:t>
            </a:r>
          </a:p>
        </p:txBody>
      </p:sp>
      <p:sp>
        <p:nvSpPr>
          <p:cNvPr id="2" name="">
            <a:extLst xmlns:a="http://schemas.openxmlformats.org/drawingml/2006/main">
              <a:ext uri="{FF2B5EF4-FFF2-40B4-BE49-F238E27FC236}">
                <a16:creationId xmlns:a16="http://schemas.microsoft.com/office/drawing/2014/main" id="{9BD213DA-43B0-4648-93D0-122096C63BF6}"/>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36756"/>
                </a:solidFill>
                <a:latin typeface="Apple SD Gothic Neo"/>
                <a:ea typeface="Apple SD Gothic Neo"/>
                <a:cs typeface="Apple SD Gothic Neo"/>
              </a:defRPr>
            </a:pPr>
            <a:r>
              <a:rPr sz="1725" b="0">
                <a:solidFill>
                  <a:srgbClr val="536756"/>
                </a:solidFill>
                <a:latin typeface="Apple SD Gothic Neo"/>
                <a:ea typeface="Apple SD Gothic Neo"/>
                <a:cs typeface="Apple SD Gothic Neo"/>
              </a:rPr>
              <a:t>지역 ______  날짜 ______  이름 ______</a:t>
            </a:r>
          </a:p>
        </p:txBody>
      </p:sp>
      <p:sp>
        <p:nvSpPr>
          <p:cNvPr id="3" name="">
            <a:extLst xmlns:a="http://schemas.openxmlformats.org/drawingml/2006/main">
              <a:ext uri="{FF2B5EF4-FFF2-40B4-BE49-F238E27FC236}">
                <a16:creationId xmlns:a16="http://schemas.microsoft.com/office/drawing/2014/main" id="{6DF6D041-7D6D-4899-AEB3-30E58757DCBE}"/>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536756"/>
                </a:solidFill>
                <a:latin typeface="Apple SD Gothic Neo"/>
                <a:ea typeface="Apple SD Gothic Neo"/>
                <a:cs typeface="Apple SD Gothic Neo"/>
              </a:defRPr>
            </a:pPr>
            <a:r>
              <a:rPr sz="1050" b="0">
                <a:solidFill>
                  <a:srgbClr val="536756"/>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A03BD4BC-2305-4093-9A14-F872D7AB6922}"/>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6B865C"/>
                </a:solidFill>
                <a:latin typeface="Apple SD Gothic Neo"/>
                <a:ea typeface="Apple SD Gothic Neo"/>
                <a:cs typeface="Apple SD Gothic Neo"/>
              </a:defRPr>
            </a:pPr>
            <a:r>
              <a:rPr sz="1350" b="0">
                <a:solidFill>
                  <a:srgbClr val="6B865C"/>
                </a:solidFill>
                <a:latin typeface="Apple SD Gothic Neo"/>
                <a:ea typeface="Apple SD Gothic Neo"/>
                <a:cs typeface="Apple SD Gothic Neo"/>
              </a:rPr>
              <a:t>26</a:t>
            </a:r>
          </a:p>
        </p:txBody>
      </p:sp>
      <p:graphicFrame>
        <p:nvGraphicFramePr>
          <p:cNvPr id="14" name=""/>
          <p:cNvGraphicFramePr/>
          <p:nvPr/>
        </p:nvGraphicFramePr>
        <p:xfrm>
          <a:off xmlns:a="http://schemas.openxmlformats.org/drawingml/2006/main" x="609600" y="2009775"/>
          <a:ext xmlns:a="http://schemas.openxmlformats.org/drawingml/2006/main" cx="10972800" cy="2543175"/>
        </p:xfrm>
        <a:graphic xmlns:a="http://schemas.openxmlformats.org/drawingml/2006/main">
          <a:graphicData uri="http://schemas.openxmlformats.org/drawingml/2006/table">
            <a:tbl>
              <a:tblPr/>
              <a:tblGrid>
                <a:gridCol w="2414016"/>
                <a:gridCol w="2852928"/>
                <a:gridCol w="2852928"/>
                <a:gridCol w="2852928"/>
              </a:tblGrid>
              <a:tr h="635794">
                <a:tc>
                  <a:txBody>
                    <a:bodyPr/>
                    <a:lstStyle/>
                    <a:p>
                      <a:r>
                        <a:rPr sz="2025" b="1">
                          <a:solidFill>
                            <a:srgbClr val="F8F9F2"/>
                          </a:solidFill>
                          <a:latin typeface="Apple SD Gothic Neo"/>
                          <a:ea typeface="Apple SD Gothic Neo"/>
                          <a:cs typeface="Apple SD Gothic Neo"/>
                        </a:rPr>
                        <a:t>항목</a:t>
                      </a:r>
                    </a:p>
                  </a:txBody>
                  <a:tcPr marL="171450" marR="133350" marT="114300" marB="114300" anchor="ctr">
                    <a:solidFill>
                      <a:srgbClr val="192A20"/>
                    </a:solidFill>
                  </a:tcPr>
                </a:tc>
                <a:tc>
                  <a:txBody>
                    <a:bodyPr/>
                    <a:lstStyle/>
                    <a:p>
                      <a:r>
                        <a:rPr sz="2025" b="1">
                          <a:solidFill>
                            <a:srgbClr val="F8F9F2"/>
                          </a:solidFill>
                          <a:latin typeface="Apple SD Gothic Neo"/>
                          <a:ea typeface="Apple SD Gothic Neo"/>
                          <a:cs typeface="Apple SD Gothic Neo"/>
                        </a:rPr>
                        <a:t>A · Best</a:t>
                      </a:r>
                    </a:p>
                  </a:txBody>
                  <a:tcPr marL="171450" marR="133350" marT="114300" marB="114300" anchor="ctr">
                    <a:solidFill>
                      <a:srgbClr val="192A20"/>
                    </a:solidFill>
                  </a:tcPr>
                </a:tc>
                <a:tc>
                  <a:txBody>
                    <a:bodyPr/>
                    <a:lstStyle/>
                    <a:p>
                      <a:r>
                        <a:rPr sz="2025" b="1">
                          <a:solidFill>
                            <a:srgbClr val="F8F9F2"/>
                          </a:solidFill>
                          <a:latin typeface="Apple SD Gothic Neo"/>
                          <a:ea typeface="Apple SD Gothic Neo"/>
                          <a:cs typeface="Apple SD Gothic Neo"/>
                        </a:rPr>
                        <a:t>B · Good</a:t>
                      </a:r>
                    </a:p>
                  </a:txBody>
                  <a:tcPr marL="171450" marR="133350" marT="114300" marB="114300" anchor="ctr">
                    <a:solidFill>
                      <a:srgbClr val="192A20"/>
                    </a:solidFill>
                  </a:tcPr>
                </a:tc>
                <a:tc>
                  <a:txBody>
                    <a:bodyPr/>
                    <a:lstStyle/>
                    <a:p>
                      <a:r>
                        <a:rPr sz="2025" b="1">
                          <a:solidFill>
                            <a:srgbClr val="F8F9F2"/>
                          </a:solidFill>
                          <a:latin typeface="Apple SD Gothic Neo"/>
                          <a:ea typeface="Apple SD Gothic Neo"/>
                          <a:cs typeface="Apple SD Gothic Neo"/>
                        </a:rPr>
                        <a:t>C · At least</a:t>
                      </a:r>
                    </a:p>
                  </a:txBody>
                  <a:tcPr marL="171450" marR="133350" marT="114300" marB="114300" anchor="ctr">
                    <a:solidFill>
                      <a:srgbClr val="192A20"/>
                    </a:solidFill>
                  </a:tcPr>
                </a:tc>
              </a:tr>
              <a:tr h="635794">
                <a:tc>
                  <a:txBody>
                    <a:bodyPr/>
                    <a:lstStyle/>
                    <a:p>
                      <a:r>
                        <a:rPr sz="2025" b="1">
                          <a:solidFill>
                            <a:srgbClr val="192A20"/>
                          </a:solidFill>
                          <a:latin typeface="Apple SD Gothic Neo"/>
                          <a:ea typeface="Apple SD Gothic Neo"/>
                          <a:cs typeface="Apple SD Gothic Neo"/>
                        </a:rPr>
                        <a:t>스코어</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F5F3EA"/>
                    </a:solidFill>
                  </a:tcPr>
                </a:tc>
              </a:tr>
              <a:tr h="635794">
                <a:tc>
                  <a:txBody>
                    <a:bodyPr/>
                    <a:lstStyle/>
                    <a:p>
                      <a:r>
                        <a:rPr sz="2025" b="1">
                          <a:solidFill>
                            <a:srgbClr val="192A20"/>
                          </a:solidFill>
                          <a:latin typeface="Apple SD Gothic Neo"/>
                          <a:ea typeface="Apple SD Gothic Neo"/>
                          <a:cs typeface="Apple SD Gothic Neo"/>
                        </a:rPr>
                        <a:t>클로즈</a:t>
                      </a:r>
                    </a:p>
                  </a:txBody>
                  <a:tcPr marL="171450" marR="133350" marT="114300" marB="114300" anchor="ctr">
                    <a:solidFill>
                      <a:srgbClr val="E9EBDD"/>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E9EBDD"/>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E9EBDD"/>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E9EBDD"/>
                    </a:solidFill>
                  </a:tcPr>
                </a:tc>
              </a:tr>
              <a:tr h="635794">
                <a:tc>
                  <a:txBody>
                    <a:bodyPr/>
                    <a:lstStyle/>
                    <a:p>
                      <a:r>
                        <a:rPr sz="2025" b="1">
                          <a:solidFill>
                            <a:srgbClr val="192A20"/>
                          </a:solidFill>
                          <a:latin typeface="Apple SD Gothic Neo"/>
                          <a:ea typeface="Apple SD Gothic Neo"/>
                          <a:cs typeface="Apple SD Gothic Neo"/>
                        </a:rPr>
                        <a:t>보상</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F5F3EA"/>
                    </a:solidFill>
                  </a:tcPr>
                </a:tc>
                <a:tc>
                  <a:txBody>
                    <a:bodyPr/>
                    <a:lstStyle/>
                    <a:p>
                      <a:r>
                        <a:rPr sz="2025" b="0">
                          <a:solidFill>
                            <a:srgbClr val="192A20"/>
                          </a:solidFill>
                          <a:latin typeface="Apple SD Gothic Neo"/>
                          <a:ea typeface="Apple SD Gothic Neo"/>
                          <a:cs typeface="Apple SD Gothic Neo"/>
                        </a:rPr>
                        <a:t>______</a:t>
                      </a:r>
                    </a:p>
                  </a:txBody>
                  <a:tcPr marL="171450" marR="133350" marT="114300" marB="114300" anchor="ctr">
                    <a:solidFill>
                      <a:srgbClr val="F5F3EA"/>
                    </a:solidFill>
                  </a:tcPr>
                </a:tc>
              </a:tr>
            </a:tbl>
          </a:graphicData>
        </a:graphic>
      </p:graphicFrame>
      <p:sp>
        <p:nvSpPr>
          <p:cNvPr id="6" name="">
            <a:extLst xmlns:a="http://schemas.openxmlformats.org/drawingml/2006/main">
              <a:ext uri="{FF2B5EF4-FFF2-40B4-BE49-F238E27FC236}">
                <a16:creationId xmlns:a16="http://schemas.microsoft.com/office/drawing/2014/main" id="{D8753BA0-D86B-434E-9B34-7B50FBF566E9}"/>
              </a:ext>
            </a:extLst>
          </p:cNvPr>
          <p:cNvSpPr>
            <a:spLocks xmlns:a="http://schemas.openxmlformats.org/drawingml/2006/main" noGrp="1"/>
          </p:cNvSpPr>
          <p:nvPr/>
        </p:nvSpPr>
        <p:spPr>
          <a:xfrm xmlns:a="http://schemas.openxmlformats.org/drawingml/2006/main">
            <a:off x="609600" y="48672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92A20"/>
                </a:solidFill>
                <a:latin typeface="Apple SD Gothic Neo"/>
                <a:ea typeface="Apple SD Gothic Neo"/>
                <a:cs typeface="Apple SD Gothic Neo"/>
              </a:defRPr>
            </a:pPr>
            <a:r>
              <a:rPr sz="2100" b="0">
                <a:solidFill>
                  <a:srgbClr val="192A20"/>
                </a:solidFill>
                <a:latin typeface="Apple SD Gothic Neo"/>
                <a:ea typeface="Apple SD Gothic Neo"/>
                <a:cs typeface="Apple SD Gothic Neo"/>
              </a:rPr>
              <a:t>테마 ____________________</a:t>
            </a:r>
          </a:p>
        </p:txBody>
      </p:sp>
      <p:sp>
        <p:nvSpPr>
          <p:cNvPr id="7" name="">
            <a:extLst xmlns:a="http://schemas.openxmlformats.org/drawingml/2006/main">
              <a:ext uri="{FF2B5EF4-FFF2-40B4-BE49-F238E27FC236}">
                <a16:creationId xmlns:a16="http://schemas.microsoft.com/office/drawing/2014/main" id="{A68CF1A2-D6BC-4E09-91B9-97F0DFA7C45D}"/>
              </a:ext>
            </a:extLst>
          </p:cNvPr>
          <p:cNvSpPr>
            <a:spLocks xmlns:a="http://schemas.openxmlformats.org/drawingml/2006/main" noGrp="1"/>
          </p:cNvSpPr>
          <p:nvPr/>
        </p:nvSpPr>
        <p:spPr>
          <a:xfrm xmlns:a="http://schemas.openxmlformats.org/drawingml/2006/main">
            <a:off x="609600" y="53816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배우고 싶은 것 ____________________</a:t>
            </a:r>
          </a:p>
        </p:txBody>
      </p:sp>
      <p:sp>
        <p:nvSpPr>
          <p:cNvPr id="8" name="">
            <a:extLst xmlns:a="http://schemas.openxmlformats.org/drawingml/2006/main">
              <a:ext uri="{FF2B5EF4-FFF2-40B4-BE49-F238E27FC236}">
                <a16:creationId xmlns:a16="http://schemas.microsoft.com/office/drawing/2014/main" id="{A1F05F7F-D35C-47EA-A2B2-69B2E70EFDD3}"/>
              </a:ext>
            </a:extLst>
          </p:cNvPr>
          <p:cNvSpPr>
            <a:spLocks xmlns:a="http://schemas.openxmlformats.org/drawingml/2006/main" noGrp="1"/>
          </p:cNvSpPr>
          <p:nvPr/>
        </p:nvSpPr>
        <p:spPr>
          <a:xfrm xmlns:a="http://schemas.openxmlformats.org/drawingml/2006/main">
            <a:off x="6486525" y="5381625"/>
            <a:ext cx="50958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92A20"/>
                </a:solidFill>
                <a:latin typeface="Apple SD Gothic Neo"/>
                <a:ea typeface="Apple SD Gothic Neo"/>
                <a:cs typeface="Apple SD Gothic Neo"/>
              </a:defRPr>
            </a:pPr>
            <a:r>
              <a:rPr sz="1875" b="0">
                <a:solidFill>
                  <a:srgbClr val="192A20"/>
                </a:solidFill>
                <a:latin typeface="Apple SD Gothic Neo"/>
                <a:ea typeface="Apple SD Gothic Neo"/>
                <a:cs typeface="Apple SD Gothic Neo"/>
              </a:rPr>
              <a:t>지킬 약속 ____________________</a:t>
            </a:r>
          </a:p>
        </p:txBody>
      </p:sp>
      <p:sp>
        <p:nvSpPr>
          <p:cNvPr id="9" name="">
            <a:extLst xmlns:a="http://schemas.openxmlformats.org/drawingml/2006/main">
              <a:ext uri="{FF2B5EF4-FFF2-40B4-BE49-F238E27FC236}">
                <a16:creationId xmlns:a16="http://schemas.microsoft.com/office/drawing/2014/main" id="{FB64D438-271E-4ACF-8E42-417F00399404}"/>
              </a:ext>
            </a:extLst>
          </p:cNvPr>
          <p:cNvSpPr>
            <a:spLocks xmlns:a="http://schemas.openxmlformats.org/drawingml/2006/main" noGrp="1"/>
          </p:cNvSpPr>
          <p:nvPr/>
        </p:nvSpPr>
        <p:spPr>
          <a:xfrm xmlns:a="http://schemas.openxmlformats.org/drawingml/2006/main">
            <a:off x="628650" y="59150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36756"/>
                </a:solidFill>
                <a:latin typeface="Apple SD Gothic Neo"/>
                <a:ea typeface="Apple SD Gothic Neo"/>
                <a:cs typeface="Apple SD Gothic Neo"/>
              </a:defRPr>
            </a:pPr>
            <a:r>
              <a:rPr sz="1425" b="0">
                <a:solidFill>
                  <a:srgbClr val="536756"/>
                </a:solidFill>
                <a:latin typeface="Apple SD Gothic Neo"/>
                <a:ea typeface="Apple SD Gothic Neo"/>
                <a:cs typeface="Apple SD Gothic Neo"/>
              </a:rPr>
              <a:t>날짜별 테마, 주요·예비 사이트, 기록 담당자도 함께 정합니다.</a:t>
            </a:r>
          </a:p>
        </p:txBody>
      </p:sp>
    </p:spTree>
    <p:extLst>
      <p:ext uri="{BB962C8B-B14F-4D97-AF65-F5344CB8AC3E}">
        <p14:creationId xmlns:p14="http://schemas.microsoft.com/office/powerpoint/2010/main" val="317190902"/>
      </p:ext>
    </p:extLst>
  </p:cSld>
</p:sld>
</file>

<file path=ppt/slides/slide27.xml><?xml version="1.0" encoding="utf-8"?>
<p:sld xmlns:p="http://schemas.openxmlformats.org/presentationml/2006/main">
  <p:cSld>
    <p:bg>
      <p:bgPr>
        <a:solidFill xmlns:a="http://schemas.openxmlformats.org/drawingml/2006/main">
          <a:srgbClr val="17251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C3E469-C8EA-42CF-B6B2-30394AB71D3F}"/>
              </a:ext>
            </a:extLst>
          </p:cNvPr>
          <p:cNvSpPr>
            <a:spLocks xmlns:a="http://schemas.openxmlformats.org/drawingml/2006/main" noGrp="1"/>
          </p:cNvSpPr>
          <p:nvPr/>
        </p:nvSpPr>
        <p:spPr>
          <a:xfrm xmlns:a="http://schemas.openxmlformats.org/drawingml/2006/main">
            <a:off x="609600" y="42862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F8F9F2"/>
                </a:solidFill>
                <a:latin typeface="Apple SD Gothic Neo"/>
                <a:ea typeface="Apple SD Gothic Neo"/>
                <a:cs typeface="Apple SD Gothic Neo"/>
              </a:defRPr>
            </a:pPr>
            <a:r>
              <a:rPr sz="3450" b="1">
                <a:solidFill>
                  <a:srgbClr val="F8F9F2"/>
                </a:solidFill>
                <a:latin typeface="Apple SD Gothic Neo"/>
                <a:ea typeface="Apple SD Gothic Neo"/>
                <a:cs typeface="Apple SD Gothic Neo"/>
              </a:rPr>
              <a:t>다음 리더를 위한 기록</a:t>
            </a:r>
          </a:p>
        </p:txBody>
      </p:sp>
      <p:sp>
        <p:nvSpPr>
          <p:cNvPr id="2" name="">
            <a:extLst xmlns:a="http://schemas.openxmlformats.org/drawingml/2006/main">
              <a:ext uri="{FF2B5EF4-FFF2-40B4-BE49-F238E27FC236}">
                <a16:creationId xmlns:a16="http://schemas.microsoft.com/office/drawing/2014/main" id="{056F8699-F16B-4F8D-846C-58D18E450049}"/>
              </a:ext>
            </a:extLst>
          </p:cNvPr>
          <p:cNvSpPr>
            <a:spLocks xmlns:a="http://schemas.openxmlformats.org/drawingml/2006/main" noGrp="1"/>
          </p:cNvSpPr>
          <p:nvPr/>
        </p:nvSpPr>
        <p:spPr>
          <a:xfrm xmlns:a="http://schemas.openxmlformats.org/drawingml/2006/main">
            <a:off x="628650" y="1266825"/>
            <a:ext cx="1090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BCDAF"/>
                </a:solidFill>
                <a:latin typeface="Apple SD Gothic Neo"/>
                <a:ea typeface="Apple SD Gothic Neo"/>
                <a:cs typeface="Apple SD Gothic Neo"/>
              </a:defRPr>
            </a:pPr>
            <a:r>
              <a:rPr sz="1725" b="0">
                <a:solidFill>
                  <a:srgbClr val="BBCDAF"/>
                </a:solidFill>
                <a:latin typeface="Apple SD Gothic Neo"/>
                <a:ea typeface="Apple SD Gothic Neo"/>
                <a:cs typeface="Apple SD Gothic Neo"/>
              </a:rPr>
              <a:t>트립에서 얻은 정보를 다음 팀이 바로 쓸 수 있게 남깁니다.</a:t>
            </a:r>
          </a:p>
        </p:txBody>
      </p:sp>
      <p:sp>
        <p:nvSpPr>
          <p:cNvPr id="3" name="">
            <a:extLst xmlns:a="http://schemas.openxmlformats.org/drawingml/2006/main">
              <a:ext uri="{FF2B5EF4-FFF2-40B4-BE49-F238E27FC236}">
                <a16:creationId xmlns:a16="http://schemas.microsoft.com/office/drawing/2014/main" id="{72CA0C2F-87D2-4B43-BFFA-45811B43F0E4}"/>
              </a:ext>
            </a:extLst>
          </p:cNvPr>
          <p:cNvSpPr>
            <a:spLocks xmlns:a="http://schemas.openxmlformats.org/drawingml/2006/main" noGrp="1"/>
          </p:cNvSpPr>
          <p:nvPr/>
        </p:nvSpPr>
        <p:spPr>
          <a:xfrm xmlns:a="http://schemas.openxmlformats.org/drawingml/2006/main">
            <a:off x="609600" y="6457950"/>
            <a:ext cx="476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050" b="0">
                <a:solidFill>
                  <a:srgbClr val="AEC29F"/>
                </a:solidFill>
                <a:latin typeface="Apple SD Gothic Neo"/>
                <a:ea typeface="Apple SD Gothic Neo"/>
                <a:cs typeface="Apple SD Gothic Neo"/>
              </a:defRPr>
            </a:pPr>
            <a:r>
              <a:rPr sz="1050" b="0">
                <a:solidFill>
                  <a:srgbClr val="AEC29F"/>
                </a:solidFill>
                <a:latin typeface="Apple SD Gothic Neo"/>
                <a:ea typeface="Apple SD Gothic Neo"/>
                <a:cs typeface="Apple SD Gothic Neo"/>
              </a:rPr>
              <a:t>PRESENCE  /  SECTOR LEADER</a:t>
            </a:r>
          </a:p>
        </p:txBody>
      </p:sp>
      <p:sp>
        <p:nvSpPr>
          <p:cNvPr id="4" name="">
            <a:extLst xmlns:a="http://schemas.openxmlformats.org/drawingml/2006/main">
              <a:ext uri="{FF2B5EF4-FFF2-40B4-BE49-F238E27FC236}">
                <a16:creationId xmlns:a16="http://schemas.microsoft.com/office/drawing/2014/main" id="{C29BA318-C516-4067-B826-7434D3FEBE4B}"/>
              </a:ext>
            </a:extLst>
          </p:cNvPr>
          <p:cNvSpPr>
            <a:spLocks xmlns:a="http://schemas.openxmlformats.org/drawingml/2006/main" noGrp="1"/>
          </p:cNvSpPr>
          <p:nvPr/>
        </p:nvSpPr>
        <p:spPr>
          <a:xfrm xmlns:a="http://schemas.openxmlformats.org/drawingml/2006/main">
            <a:off x="11049000" y="6419850"/>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350" b="0">
                <a:solidFill>
                  <a:srgbClr val="DBED9C"/>
                </a:solidFill>
                <a:latin typeface="Apple SD Gothic Neo"/>
                <a:ea typeface="Apple SD Gothic Neo"/>
                <a:cs typeface="Apple SD Gothic Neo"/>
              </a:defRPr>
            </a:pPr>
            <a:r>
              <a:rPr sz="1350" b="0">
                <a:solidFill>
                  <a:srgbClr val="DBED9C"/>
                </a:solidFill>
                <a:latin typeface="Apple SD Gothic Neo"/>
                <a:ea typeface="Apple SD Gothic Neo"/>
                <a:cs typeface="Apple SD Gothic Neo"/>
              </a:rPr>
              <a:t>27</a:t>
            </a:r>
          </a:p>
        </p:txBody>
      </p:sp>
      <p:sp>
        <p:nvSpPr>
          <p:cNvPr id="5" name="">
            <a:extLst xmlns:a="http://schemas.openxmlformats.org/drawingml/2006/main">
              <a:ext uri="{FF2B5EF4-FFF2-40B4-BE49-F238E27FC236}">
                <a16:creationId xmlns:a16="http://schemas.microsoft.com/office/drawing/2014/main" id="{56A08D3C-4980-4BA5-9A9C-F7A75B50B523}"/>
              </a:ext>
            </a:extLst>
          </p:cNvPr>
          <p:cNvSpPr>
            <a:spLocks xmlns:a="http://schemas.openxmlformats.org/drawingml/2006/main" noGrp="1"/>
          </p:cNvSpPr>
          <p:nvPr/>
        </p:nvSpPr>
        <p:spPr>
          <a:xfrm xmlns:a="http://schemas.openxmlformats.org/drawingml/2006/main">
            <a:off x="609600" y="2257425"/>
            <a:ext cx="24574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DBED9C"/>
                </a:solidFill>
                <a:latin typeface="Apple SD Gothic Neo"/>
                <a:ea typeface="Apple SD Gothic Neo"/>
                <a:cs typeface="Apple SD Gothic Neo"/>
              </a:defRPr>
            </a:pPr>
            <a:r>
              <a:rPr sz="2175" b="1">
                <a:solidFill>
                  <a:srgbClr val="DBED9C"/>
                </a:solidFill>
                <a:latin typeface="Apple SD Gothic Neo"/>
                <a:ea typeface="Apple SD Gothic Neo"/>
                <a:cs typeface="Apple SD Gothic Neo"/>
              </a:rPr>
              <a:t>사이트 정보</a:t>
            </a:r>
          </a:p>
        </p:txBody>
      </p:sp>
      <p:sp>
        <p:nvSpPr>
          <p:cNvPr id="6" name="">
            <a:extLst xmlns:a="http://schemas.openxmlformats.org/drawingml/2006/main">
              <a:ext uri="{FF2B5EF4-FFF2-40B4-BE49-F238E27FC236}">
                <a16:creationId xmlns:a16="http://schemas.microsoft.com/office/drawing/2014/main" id="{5D3A823E-01A3-403E-98E6-89100B070971}"/>
              </a:ext>
            </a:extLst>
          </p:cNvPr>
          <p:cNvSpPr>
            <a:spLocks xmlns:a="http://schemas.openxmlformats.org/drawingml/2006/main" noGrp="1"/>
          </p:cNvSpPr>
          <p:nvPr/>
        </p:nvSpPr>
        <p:spPr>
          <a:xfrm xmlns:a="http://schemas.openxmlformats.org/drawingml/2006/main">
            <a:off x="3333750" y="2257425"/>
            <a:ext cx="82486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F8F9F2"/>
                </a:solidFill>
                <a:latin typeface="Apple SD Gothic Neo"/>
                <a:ea typeface="Apple SD Gothic Neo"/>
                <a:cs typeface="Apple SD Gothic Neo"/>
              </a:defRPr>
            </a:pPr>
            <a:r>
              <a:rPr sz="2175" b="0">
                <a:solidFill>
                  <a:srgbClr val="F8F9F2"/>
                </a:solidFill>
                <a:latin typeface="Apple SD Gothic Neo"/>
                <a:ea typeface="Apple SD Gothic Neo"/>
                <a:cs typeface="Apple SD Gothic Neo"/>
              </a:rPr>
              <a:t>카카오맵 기준 이름, 정확한 셋업 위치, 사용 조건, 최근 운영 피드백을 함께 정리합니다.</a:t>
            </a:r>
          </a:p>
        </p:txBody>
      </p:sp>
      <p:sp>
        <p:nvSpPr>
          <p:cNvPr id="7" name="">
            <a:extLst xmlns:a="http://schemas.openxmlformats.org/drawingml/2006/main">
              <a:ext uri="{FF2B5EF4-FFF2-40B4-BE49-F238E27FC236}">
                <a16:creationId xmlns:a16="http://schemas.microsoft.com/office/drawing/2014/main" id="{C286CF1B-C6AE-49E1-82AD-F6C84F410AC7}"/>
              </a:ext>
            </a:extLst>
          </p:cNvPr>
          <p:cNvSpPr>
            <a:spLocks xmlns:a="http://schemas.openxmlformats.org/drawingml/2006/main" noGrp="1"/>
          </p:cNvSpPr>
          <p:nvPr/>
        </p:nvSpPr>
        <p:spPr>
          <a:xfrm xmlns:a="http://schemas.openxmlformats.org/drawingml/2006/main">
            <a:off x="609600" y="3429000"/>
            <a:ext cx="24574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DBED9C"/>
                </a:solidFill>
                <a:latin typeface="Apple SD Gothic Neo"/>
                <a:ea typeface="Apple SD Gothic Neo"/>
                <a:cs typeface="Apple SD Gothic Neo"/>
              </a:defRPr>
            </a:pPr>
            <a:r>
              <a:rPr sz="2175" b="1">
                <a:solidFill>
                  <a:srgbClr val="DBED9C"/>
                </a:solidFill>
                <a:latin typeface="Apple SD Gothic Neo"/>
                <a:ea typeface="Apple SD Gothic Neo"/>
                <a:cs typeface="Apple SD Gothic Neo"/>
              </a:rPr>
              <a:t>성과와 배움</a:t>
            </a:r>
          </a:p>
        </p:txBody>
      </p:sp>
      <p:sp>
        <p:nvSpPr>
          <p:cNvPr id="8" name="">
            <a:extLst xmlns:a="http://schemas.openxmlformats.org/drawingml/2006/main">
              <a:ext uri="{FF2B5EF4-FFF2-40B4-BE49-F238E27FC236}">
                <a16:creationId xmlns:a16="http://schemas.microsoft.com/office/drawing/2014/main" id="{61B7932F-83FB-43A2-A40F-E6869D7833EB}"/>
              </a:ext>
            </a:extLst>
          </p:cNvPr>
          <p:cNvSpPr>
            <a:spLocks xmlns:a="http://schemas.openxmlformats.org/drawingml/2006/main" noGrp="1"/>
          </p:cNvSpPr>
          <p:nvPr/>
        </p:nvSpPr>
        <p:spPr>
          <a:xfrm xmlns:a="http://schemas.openxmlformats.org/drawingml/2006/main">
            <a:off x="3333750" y="3429000"/>
            <a:ext cx="82486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F8F9F2"/>
                </a:solidFill>
                <a:latin typeface="Apple SD Gothic Neo"/>
                <a:ea typeface="Apple SD Gothic Neo"/>
                <a:cs typeface="Apple SD Gothic Neo"/>
              </a:defRPr>
            </a:pPr>
            <a:r>
              <a:rPr sz="2175" b="0">
                <a:solidFill>
                  <a:srgbClr val="F8F9F2"/>
                </a:solidFill>
                <a:latin typeface="Apple SD Gothic Neo"/>
                <a:ea typeface="Apple SD Gothic Neo"/>
                <a:cs typeface="Apple SD Gothic Neo"/>
              </a:rPr>
              <a:t>활동일과 실적을 확인하고 효과가 있었던 접근과 다음에 바꿀 행동을 남깁니다.</a:t>
            </a:r>
          </a:p>
        </p:txBody>
      </p:sp>
      <p:sp>
        <p:nvSpPr>
          <p:cNvPr id="9" name="">
            <a:extLst xmlns:a="http://schemas.openxmlformats.org/drawingml/2006/main">
              <a:ext uri="{FF2B5EF4-FFF2-40B4-BE49-F238E27FC236}">
                <a16:creationId xmlns:a16="http://schemas.microsoft.com/office/drawing/2014/main" id="{D0983D8F-765D-4BC0-988F-65BEC65DFE98}"/>
              </a:ext>
            </a:extLst>
          </p:cNvPr>
          <p:cNvSpPr>
            <a:spLocks xmlns:a="http://schemas.openxmlformats.org/drawingml/2006/main" noGrp="1"/>
          </p:cNvSpPr>
          <p:nvPr/>
        </p:nvSpPr>
        <p:spPr>
          <a:xfrm xmlns:a="http://schemas.openxmlformats.org/drawingml/2006/main">
            <a:off x="609600" y="4600575"/>
            <a:ext cx="24574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DBED9C"/>
                </a:solidFill>
                <a:latin typeface="Apple SD Gothic Neo"/>
                <a:ea typeface="Apple SD Gothic Neo"/>
                <a:cs typeface="Apple SD Gothic Neo"/>
              </a:defRPr>
            </a:pPr>
            <a:r>
              <a:rPr sz="2175" b="1">
                <a:solidFill>
                  <a:srgbClr val="DBED9C"/>
                </a:solidFill>
                <a:latin typeface="Apple SD Gothic Neo"/>
                <a:ea typeface="Apple SD Gothic Neo"/>
                <a:cs typeface="Apple SD Gothic Neo"/>
              </a:rPr>
              <a:t>추억과 공유</a:t>
            </a:r>
          </a:p>
        </p:txBody>
      </p:sp>
      <p:sp>
        <p:nvSpPr>
          <p:cNvPr id="10" name="">
            <a:extLst xmlns:a="http://schemas.openxmlformats.org/drawingml/2006/main">
              <a:ext uri="{FF2B5EF4-FFF2-40B4-BE49-F238E27FC236}">
                <a16:creationId xmlns:a16="http://schemas.microsoft.com/office/drawing/2014/main" id="{A3DA9724-1F1E-4917-B842-151486D156D5}"/>
              </a:ext>
            </a:extLst>
          </p:cNvPr>
          <p:cNvSpPr>
            <a:spLocks xmlns:a="http://schemas.openxmlformats.org/drawingml/2006/main" noGrp="1"/>
          </p:cNvSpPr>
          <p:nvPr/>
        </p:nvSpPr>
        <p:spPr>
          <a:xfrm xmlns:a="http://schemas.openxmlformats.org/drawingml/2006/main">
            <a:off x="3333750" y="4600575"/>
            <a:ext cx="82486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F8F9F2"/>
                </a:solidFill>
                <a:latin typeface="Apple SD Gothic Neo"/>
                <a:ea typeface="Apple SD Gothic Neo"/>
                <a:cs typeface="Apple SD Gothic Neo"/>
              </a:defRPr>
            </a:pPr>
            <a:r>
              <a:rPr sz="2175" b="0">
                <a:solidFill>
                  <a:srgbClr val="F8F9F2"/>
                </a:solidFill>
                <a:latin typeface="Apple SD Gothic Neo"/>
                <a:ea typeface="Apple SD Gothic Neo"/>
                <a:cs typeface="Apple SD Gothic Neo"/>
              </a:rPr>
              <a:t>사진·한 줄 후기를 앨범에 모으고 동료·CTM에게 유용한 운영 자료를 정리합니다.</a:t>
            </a:r>
          </a:p>
        </p:txBody>
      </p:sp>
    </p:spTree>
    <p:extLst>
      <p:ext uri="{BB962C8B-B14F-4D97-AF65-F5344CB8AC3E}">
        <p14:creationId xmlns:p14="http://schemas.microsoft.com/office/powerpoint/2010/main" val="180512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2026-09-14T12:47:08.8450000Z</dcterms:created>
  <dcterms:modified xsi:type="dcterms:W3CDTF">2026-09-14T12:47:08.8450000Z</dcterms:modified>
</coreProperties>
</file>