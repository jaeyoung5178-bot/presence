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e2a27932d744e7" /><Relationship Type="http://schemas.openxmlformats.org/officeDocument/2006/relationships/extended-properties" Target="/docProps/app.xml" Id="R42c03d5291434b45" /><Relationship Type="http://schemas.openxmlformats.org/officeDocument/2006/relationships/officeDocument" Target="/ppt/presentation.xml" Id="Rad9adb6656874c28" /></Relationships>
</file>

<file path=ppt/presentation.xml><?xml version="1.0" encoding="utf-8"?>
<p:presentation xmlns:p="http://schemas.openxmlformats.org/presentationml/2006/main">
  <p:sldMasterIdLst>
    <p:sldMasterId xmlns:r="http://schemas.openxmlformats.org/officeDocument/2006/relationships" id="2147483648" r:id="R53793bf53e1044f7"/>
  </p:sldMasterIdLst>
  <p:notesMasterIdLst>
    <p:notesMasterId xmlns:r="http://schemas.openxmlformats.org/officeDocument/2006/relationships" r:id="Re0bc3a8df2b34458"/>
  </p:notesMasterIdLst>
  <p:sldIdLst>
    <p:sldId xmlns:r="http://schemas.openxmlformats.org/officeDocument/2006/relationships" id="256" r:id="R7616db4e12644edb"/>
    <p:sldId xmlns:r="http://schemas.openxmlformats.org/officeDocument/2006/relationships" id="257" r:id="Rc8c357475f7c41ba"/>
    <p:sldId xmlns:r="http://schemas.openxmlformats.org/officeDocument/2006/relationships" id="258" r:id="Re48fc14b9e754580"/>
    <p:sldId xmlns:r="http://schemas.openxmlformats.org/officeDocument/2006/relationships" id="259" r:id="Redf7d48f6f024b96"/>
    <p:sldId xmlns:r="http://schemas.openxmlformats.org/officeDocument/2006/relationships" id="260" r:id="Rd4c07ba8e21f44d7"/>
    <p:sldId xmlns:r="http://schemas.openxmlformats.org/officeDocument/2006/relationships" id="261" r:id="Rd285c0c613af437e"/>
    <p:sldId xmlns:r="http://schemas.openxmlformats.org/officeDocument/2006/relationships" id="262" r:id="R97e8a1c789a6432c"/>
    <p:sldId xmlns:r="http://schemas.openxmlformats.org/officeDocument/2006/relationships" id="263" r:id="R11ea2c5731074c7d"/>
    <p:sldId xmlns:r="http://schemas.openxmlformats.org/officeDocument/2006/relationships" id="264" r:id="Rb4702f0f580540ce"/>
    <p:sldId xmlns:r="http://schemas.openxmlformats.org/officeDocument/2006/relationships" id="265" r:id="Rd01217bc16c24bd9"/>
    <p:sldId xmlns:r="http://schemas.openxmlformats.org/officeDocument/2006/relationships" id="266" r:id="Rfab32ba0a4fe4754"/>
    <p:sldId xmlns:r="http://schemas.openxmlformats.org/officeDocument/2006/relationships" id="267" r:id="R0fc654ae315b4143"/>
    <p:sldId xmlns:r="http://schemas.openxmlformats.org/officeDocument/2006/relationships" id="268" r:id="R9da94852a267483f"/>
    <p:sldId xmlns:r="http://schemas.openxmlformats.org/officeDocument/2006/relationships" id="269" r:id="R9f86792dc36747b7"/>
    <p:sldId xmlns:r="http://schemas.openxmlformats.org/officeDocument/2006/relationships" id="270" r:id="Rc0967c2232de48fe"/>
    <p:sldId xmlns:r="http://schemas.openxmlformats.org/officeDocument/2006/relationships" id="271" r:id="Reee20aeeeac44fa9"/>
    <p:sldId xmlns:r="http://schemas.openxmlformats.org/officeDocument/2006/relationships" id="272" r:id="R96f2cf49f4594306"/>
    <p:sldId xmlns:r="http://schemas.openxmlformats.org/officeDocument/2006/relationships" id="273" r:id="Rc0e3068d42c34bc9"/>
    <p:sldId xmlns:r="http://schemas.openxmlformats.org/officeDocument/2006/relationships" id="274" r:id="R09c5779a208540a3"/>
    <p:sldId xmlns:r="http://schemas.openxmlformats.org/officeDocument/2006/relationships" id="275" r:id="R6b2aa63d69bf48a0"/>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449645cd0f4306" /><Relationship Type="http://schemas.openxmlformats.org/officeDocument/2006/relationships/slideMaster" Target="/ppt/slideMasters/slideMaster1.xml" Id="R53793bf53e1044f7" /><Relationship Type="http://schemas.openxmlformats.org/officeDocument/2006/relationships/notesMaster" Target="/ppt/notesMasters/notesMaster1.xml" Id="Re0bc3a8df2b34458" /><Relationship Type="http://schemas.openxmlformats.org/officeDocument/2006/relationships/presProps" Target="/ppt/presProps.xml" Id="R4137530391e64dbc" /><Relationship Type="http://schemas.openxmlformats.org/officeDocument/2006/relationships/tableStyles" Target="/ppt/tableStyles.xml" Id="Rbd32dd96cb1f43a1" /><Relationship Type="http://schemas.openxmlformats.org/officeDocument/2006/relationships/slide" Target="/ppt/slides/slide1.xml" Id="R7616db4e12644edb" /><Relationship Type="http://schemas.openxmlformats.org/officeDocument/2006/relationships/slide" Target="/ppt/slides/slide2.xml" Id="Rc8c357475f7c41ba" /><Relationship Type="http://schemas.openxmlformats.org/officeDocument/2006/relationships/slide" Target="/ppt/slides/slide3.xml" Id="Re48fc14b9e754580" /><Relationship Type="http://schemas.openxmlformats.org/officeDocument/2006/relationships/slide" Target="/ppt/slides/slide4.xml" Id="Redf7d48f6f024b96" /><Relationship Type="http://schemas.openxmlformats.org/officeDocument/2006/relationships/slide" Target="/ppt/slides/slide5.xml" Id="Rd4c07ba8e21f44d7" /><Relationship Type="http://schemas.openxmlformats.org/officeDocument/2006/relationships/slide" Target="/ppt/slides/slide6.xml" Id="Rd285c0c613af437e" /><Relationship Type="http://schemas.openxmlformats.org/officeDocument/2006/relationships/slide" Target="/ppt/slides/slide7.xml" Id="R97e8a1c789a6432c" /><Relationship Type="http://schemas.openxmlformats.org/officeDocument/2006/relationships/slide" Target="/ppt/slides/slide8.xml" Id="R11ea2c5731074c7d" /><Relationship Type="http://schemas.openxmlformats.org/officeDocument/2006/relationships/slide" Target="/ppt/slides/slide9.xml" Id="Rb4702f0f580540ce" /><Relationship Type="http://schemas.openxmlformats.org/officeDocument/2006/relationships/slide" Target="/ppt/slides/slide10.xml" Id="Rd01217bc16c24bd9" /><Relationship Type="http://schemas.openxmlformats.org/officeDocument/2006/relationships/slide" Target="/ppt/slides/slide11.xml" Id="Rfab32ba0a4fe4754" /><Relationship Type="http://schemas.openxmlformats.org/officeDocument/2006/relationships/slide" Target="/ppt/slides/slide12.xml" Id="R0fc654ae315b4143" /><Relationship Type="http://schemas.openxmlformats.org/officeDocument/2006/relationships/slide" Target="/ppt/slides/slide13.xml" Id="R9da94852a267483f" /><Relationship Type="http://schemas.openxmlformats.org/officeDocument/2006/relationships/slide" Target="/ppt/slides/slide14.xml" Id="R9f86792dc36747b7" /><Relationship Type="http://schemas.openxmlformats.org/officeDocument/2006/relationships/slide" Target="/ppt/slides/slide15.xml" Id="Rc0967c2232de48fe" /><Relationship Type="http://schemas.openxmlformats.org/officeDocument/2006/relationships/slide" Target="/ppt/slides/slide16.xml" Id="Reee20aeeeac44fa9" /><Relationship Type="http://schemas.openxmlformats.org/officeDocument/2006/relationships/slide" Target="/ppt/slides/slide17.xml" Id="R96f2cf49f4594306" /><Relationship Type="http://schemas.openxmlformats.org/officeDocument/2006/relationships/slide" Target="/ppt/slides/slide18.xml" Id="Rc0e3068d42c34bc9" /><Relationship Type="http://schemas.openxmlformats.org/officeDocument/2006/relationships/slide" Target="/ppt/slides/slide19.xml" Id="R09c5779a208540a3" /><Relationship Type="http://schemas.openxmlformats.org/officeDocument/2006/relationships/slide" Target="/ppt/slides/slide20.xml" Id="R6b2aa63d69bf48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52cb4af78249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1f2934c51e4ff7" /><Relationship Type="http://schemas.openxmlformats.org/officeDocument/2006/relationships/notesMaster" Target="/ppt/notesMasters/notesMaster1.xml" Id="Re04e9db0c79148bf"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493b6bf12e4cc0" /><Relationship Type="http://schemas.openxmlformats.org/officeDocument/2006/relationships/notesMaster" Target="/ppt/notesMasters/notesMaster1.xml" Id="R3ce15c48f3944a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f93b96bd204113" /><Relationship Type="http://schemas.openxmlformats.org/officeDocument/2006/relationships/notesMaster" Target="/ppt/notesMasters/notesMaster1.xml" Id="Ra36e74dc3d4a4c5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da03c2c3754d38" /><Relationship Type="http://schemas.openxmlformats.org/officeDocument/2006/relationships/notesMaster" Target="/ppt/notesMasters/notesMaster1.xml" Id="Rd15fc722670a41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5081df343e4f31" /><Relationship Type="http://schemas.openxmlformats.org/officeDocument/2006/relationships/notesMaster" Target="/ppt/notesMasters/notesMaster1.xml" Id="Rd06fb24792ed4a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c29ac2f9874173" /><Relationship Type="http://schemas.openxmlformats.org/officeDocument/2006/relationships/notesMaster" Target="/ppt/notesMasters/notesMaster1.xml" Id="Rf039617b225846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72e47647734dbf" /><Relationship Type="http://schemas.openxmlformats.org/officeDocument/2006/relationships/notesMaster" Target="/ppt/notesMasters/notesMaster1.xml" Id="Rf96ef3c8b8a648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e1fbe79b1c4616" /><Relationship Type="http://schemas.openxmlformats.org/officeDocument/2006/relationships/notesMaster" Target="/ppt/notesMasters/notesMaster1.xml" Id="R340e82bb67f24d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4762e608e74801" /><Relationship Type="http://schemas.openxmlformats.org/officeDocument/2006/relationships/notesMaster" Target="/ppt/notesMasters/notesMaster1.xml" Id="R6a6689cf30804b2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06527f36054cc2" /><Relationship Type="http://schemas.openxmlformats.org/officeDocument/2006/relationships/notesMaster" Target="/ppt/notesMasters/notesMaster1.xml" Id="Ref38feccf5df4fd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dabfb664ec4edd" /><Relationship Type="http://schemas.openxmlformats.org/officeDocument/2006/relationships/notesMaster" Target="/ppt/notesMasters/notesMaster1.xml" Id="R91a9638a21a04e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49fba9e4764b91" /><Relationship Type="http://schemas.openxmlformats.org/officeDocument/2006/relationships/notesMaster" Target="/ppt/notesMasters/notesMaster1.xml" Id="R976fa1155a38405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94e95905084c69" /><Relationship Type="http://schemas.openxmlformats.org/officeDocument/2006/relationships/notesMaster" Target="/ppt/notesMasters/notesMaster1.xml" Id="R817b3f852e334ec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ed5d874d904519" /><Relationship Type="http://schemas.openxmlformats.org/officeDocument/2006/relationships/notesMaster" Target="/ppt/notesMasters/notesMaster1.xml" Id="Re9efd7d1cadc41a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e68c064108848cc" /><Relationship Type="http://schemas.openxmlformats.org/officeDocument/2006/relationships/notesMaster" Target="/ppt/notesMasters/notesMaster1.xml" Id="R15dd4c2f269a42f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3f1422dc37d4829" /><Relationship Type="http://schemas.openxmlformats.org/officeDocument/2006/relationships/notesMaster" Target="/ppt/notesMasters/notesMaster1.xml" Id="R6217c4cf9c634a1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65531f7fc364823" /><Relationship Type="http://schemas.openxmlformats.org/officeDocument/2006/relationships/notesMaster" Target="/ppt/notesMasters/notesMaster1.xml" Id="R91d878ab8a0b4d7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c053b0fe3c64cba" /><Relationship Type="http://schemas.openxmlformats.org/officeDocument/2006/relationships/notesMaster" Target="/ppt/notesMasters/notesMaster1.xml" Id="R248b06cb33694f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aa1b27bdf2c4de5" /><Relationship Type="http://schemas.openxmlformats.org/officeDocument/2006/relationships/notesMaster" Target="/ppt/notesMasters/notesMaster1.xml" Id="Rb371c454cba947d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ee377ef7a4547ba" /><Relationship Type="http://schemas.openxmlformats.org/officeDocument/2006/relationships/notesMaster" Target="/ppt/notesMasters/notesMaster1.xml" Id="R6e292156637345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 운영 가이드</a:t>
            </a:r>
          </a:p>
          <a:p xmlns:a="http://schemas.openxmlformats.org/drawingml/2006/main">
            <a:r>
              <a:t/>
            </a:r>
          </a:p>
          <a:p xmlns:a="http://schemas.openxmlformats.org/drawingml/2006/main">
            <a:r>
              <a:t>지역 선정부터 팀의 성과와 추억까지</a:t>
            </a:r>
          </a:p>
          <a:p xmlns:a="http://schemas.openxmlformats.org/drawingml/2006/main">
            <a:r>
              <a:t/>
            </a:r>
          </a:p>
          <a:p xmlns:a="http://schemas.openxmlformats.org/drawingml/2006/main">
            <a:r>
              <a:t>Presence · Sector Leader Education</a:t>
            </a:r>
          </a:p>
          <a:p xmlns:a="http://schemas.openxmlformats.org/drawingml/2006/main">
            <a:r>
              <a:t>지역 선정, 자료 요청, 지도 확인, 테리토리 확보와 목·금·토·일 운영 계획을 함께 살펴봅니다.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트립의 목적</a:t>
            </a:r>
          </a:p>
          <a:p xmlns:a="http://schemas.openxmlformats.org/drawingml/2006/main">
            <a:r>
              <a:t/>
            </a:r>
          </a:p>
          <a:p xmlns:a="http://schemas.openxmlformats.org/drawingml/2006/main">
            <a:r>
              <a:t>인컴 극대화와 몰입 · 배움의 기회 · 새로운 환경에서의 리프레시</a:t>
            </a:r>
          </a:p>
          <a:p xmlns:a="http://schemas.openxmlformats.org/drawingml/2006/main">
            <a:r>
              <a:t/>
            </a:r>
          </a:p>
          <a:p xmlns:a="http://schemas.openxmlformats.org/drawingml/2006/main">
            <a:r>
              <a:t>1. 인컴 극대화와 몰입</a:t>
            </a:r>
          </a:p>
          <a:p xmlns:a="http://schemas.openxmlformats.org/drawingml/2006/main">
            <a:r>
              <a:t/>
            </a:r>
          </a:p>
          <a:p xmlns:a="http://schemas.openxmlformats.org/drawingml/2006/main">
            <a:r>
              <a:t>필드 시간을 충분히 확보하고 일에 몰입할 수 있는 환경을 만듭니다. 집중도 높은 활동을 통해 성과와 인컴을 극대화하는 것이 목적입니다.</a:t>
            </a:r>
          </a:p>
          <a:p xmlns:a="http://schemas.openxmlformats.org/drawingml/2006/main">
            <a:r>
              <a:t/>
            </a:r>
          </a:p>
          <a:p xmlns:a="http://schemas.openxmlformats.org/drawingml/2006/main">
            <a:r>
              <a:t>2. 잘하는 사람의 A to Z를 배우는 기회</a:t>
            </a:r>
          </a:p>
          <a:p xmlns:a="http://schemas.openxmlformats.org/drawingml/2006/main">
            <a:r>
              <a:t/>
            </a:r>
          </a:p>
          <a:p xmlns:a="http://schemas.openxmlformats.org/drawingml/2006/main">
            <a:r>
              <a:t>잘하는 사람과 함께 이동하고 일하고 생활하며 하루의 준비부터 마무리까지 배웁니다. 루틴과 세일즈 방식은 물론 네트워킹, 토픽 교류, 트립만의 오피스 운영을 경험합니다. 현장에서 문제가 생겼을 때의 해결 과정과 판단 기준·직관, B2B 세일즈 방법도 가까이에서 관찰하고 직접 적용해 봅니다.</a:t>
            </a:r>
          </a:p>
          <a:p xmlns:a="http://schemas.openxmlformats.org/drawingml/2006/main">
            <a:r>
              <a:t/>
            </a:r>
          </a:p>
          <a:p xmlns:a="http://schemas.openxmlformats.org/drawingml/2006/main">
            <a:r>
              <a:t>3. 새로운 환경에서의 리프레시</a:t>
            </a:r>
          </a:p>
          <a:p xmlns:a="http://schemas.openxmlformats.org/drawingml/2006/main">
            <a:r>
              <a:t/>
            </a:r>
          </a:p>
          <a:p xmlns:a="http://schemas.openxmlformats.org/drawingml/2006/main">
            <a:r>
              <a:t>익숙한 일상을 벗어나 완전히 다른 장소를 경험합니다. 일을 위한 이동이지만 장거리 이동에서 여행 같은 기분 전환을 느끼고, 함께 숙박하며 보내는 시간 속에서 새로운 에너지를 얻습니다. 일에 집중하기 좋은 여건과 새로운 사이트에서 받는 긍정적인 자극도 트립의 가치입니다.</a:t>
            </a:r>
          </a:p>
          <a:p xmlns:a="http://schemas.openxmlformats.org/drawingml/2006/main">
            <a:r>
              <a:t/>
            </a:r>
          </a:p>
          <a:p xmlns:a="http://schemas.openxmlformats.org/drawingml/2006/main">
            <a:r>
              <a:t>목적을 계획으로 연결하기</a:t>
            </a:r>
          </a:p>
          <a:p xmlns:a="http://schemas.openxmlformats.org/drawingml/2006/main">
            <a:r>
              <a:t/>
            </a:r>
          </a:p>
          <a:p xmlns:a="http://schemas.openxmlformats.org/drawingml/2006/main">
            <a:r>
              <a:t>세 가지 목적을 Profit·Progress·People 계획에 담고, 각 목표를 Best / Good / Minimum으로 구체화합니다.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 준비의 순서</a:t>
            </a:r>
          </a:p>
          <a:p xmlns:a="http://schemas.openxmlformats.org/drawingml/2006/main">
            <a:r>
              <a:t/>
            </a:r>
          </a:p>
          <a:p xmlns:a="http://schemas.openxmlformats.org/drawingml/2006/main">
            <a:r>
              <a:t>확인한 정보를 바탕으로 준비의 다음 단계를 결정합니다.</a:t>
            </a:r>
          </a:p>
          <a:p xmlns:a="http://schemas.openxmlformats.org/drawingml/2006/main">
            <a:r>
              <a:t/>
            </a:r>
          </a:p>
          <a:p xmlns:a="http://schemas.openxmlformats.org/drawingml/2006/main">
            <a:r>
              <a:t>지역 검토: 팀의 목적과 가능한 날짜를 정합니다.</a:t>
            </a:r>
          </a:p>
          <a:p xmlns:a="http://schemas.openxmlformats.org/drawingml/2006/main">
            <a:r>
              <a:t/>
            </a:r>
          </a:p>
          <a:p xmlns:a="http://schemas.openxmlformats.org/drawingml/2006/main">
            <a:r>
              <a:t>동료·CTM 자료 요청: 최근 기록과 시행착오를 받습니다.</a:t>
            </a:r>
          </a:p>
          <a:p xmlns:a="http://schemas.openxmlformats.org/drawingml/2006/main">
            <a:r>
              <a:t/>
            </a:r>
          </a:p>
          <a:p xmlns:a="http://schemas.openxmlformats.org/drawingml/2006/main">
            <a:r>
              <a:t>지도·사이트 확인: 장소명, 위치와 촬영일을 확인합니다.</a:t>
            </a:r>
          </a:p>
          <a:p xmlns:a="http://schemas.openxmlformats.org/drawingml/2006/main">
            <a:r>
              <a:t/>
            </a:r>
          </a:p>
          <a:p xmlns:a="http://schemas.openxmlformats.org/drawingml/2006/main">
            <a:r>
              <a:t>테리토리 확보: 주요·예비 자리의 사용 가능 여부를 확인합니다.</a:t>
            </a:r>
          </a:p>
          <a:p xmlns:a="http://schemas.openxmlformats.org/drawingml/2006/main">
            <a:r>
              <a:t/>
            </a:r>
          </a:p>
          <a:p xmlns:a="http://schemas.openxmlformats.org/drawingml/2006/main">
            <a:r>
              <a:t>운영 확정: 인원·이동·숙소·역할을 정합니다.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지역 선정의 다섯 가지 기준</a:t>
            </a:r>
          </a:p>
          <a:p xmlns:a="http://schemas.openxmlformats.org/drawingml/2006/main">
            <a:r>
              <a:t/>
            </a:r>
          </a:p>
          <a:p xmlns:a="http://schemas.openxmlformats.org/drawingml/2006/main">
            <a:r>
              <a:t>현장 기회가 우리 팀의 목적과 운영 조건에 맞는지 비교합니다.</a:t>
            </a:r>
          </a:p>
          <a:p xmlns:a="http://schemas.openxmlformats.org/drawingml/2006/main">
            <a:r>
              <a:t/>
            </a:r>
          </a:p>
          <a:p xmlns:a="http://schemas.openxmlformats.org/drawingml/2006/main">
            <a:r>
              <a:t>지역 비교</a:t>
            </a:r>
          </a:p>
          <a:p xmlns:a="http://schemas.openxmlformats.org/drawingml/2006/main">
            <a:r>
              <a:t/>
            </a:r>
          </a:p>
          <a:p xmlns:a="http://schemas.openxmlformats.org/drawingml/2006/main">
            <a:r>
              <a:t>검토 항목 / 확인할 내용</a:t>
            </a:r>
          </a:p>
          <a:p xmlns:a="http://schemas.openxmlformats.org/drawingml/2006/main">
            <a:r>
              <a:t/>
            </a:r>
          </a:p>
          <a:p xmlns:a="http://schemas.openxmlformats.org/drawingml/2006/main">
            <a:r>
              <a:t>사이트와 운영 이력 / 실제로 사용 가능한 자리, 최근 운영 기록</a:t>
            </a:r>
          </a:p>
          <a:p xmlns:a="http://schemas.openxmlformats.org/drawingml/2006/main">
            <a:r>
              <a:t/>
            </a:r>
          </a:p>
          <a:p xmlns:a="http://schemas.openxmlformats.org/drawingml/2006/main">
            <a:r>
              <a:t>팀 경험과 배울 스킬 / 개인별 경험과 이번에 연습할 스킬</a:t>
            </a:r>
          </a:p>
          <a:p xmlns:a="http://schemas.openxmlformats.org/drawingml/2006/main">
            <a:r>
              <a:t/>
            </a:r>
          </a:p>
          <a:p xmlns:a="http://schemas.openxmlformats.org/drawingml/2006/main">
            <a:r>
              <a:t>이동과 체력 / 이동 거리, 숙소에서 현장까지 동선, 운전자 휴식</a:t>
            </a:r>
          </a:p>
          <a:p xmlns:a="http://schemas.openxmlformats.org/drawingml/2006/main">
            <a:r>
              <a:t/>
            </a:r>
          </a:p>
          <a:p xmlns:a="http://schemas.openxmlformats.org/drawingml/2006/main">
            <a:r>
              <a:t>우천 대안과 사용 조건 / 대체할 자리와 운영 조건</a:t>
            </a:r>
          </a:p>
          <a:p xmlns:a="http://schemas.openxmlformats.org/drawingml/2006/main">
            <a:r>
              <a:t/>
            </a:r>
          </a:p>
          <a:p xmlns:a="http://schemas.openxmlformats.org/drawingml/2006/main">
            <a:r>
              <a:t>숙박·교통 비용 / 예상 비용과 팀 내 부담 기준</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동료와 CTM에게 요청할 자료</a:t>
            </a:r>
          </a:p>
          <a:p xmlns:a="http://schemas.openxmlformats.org/drawingml/2006/main">
            <a:r>
              <a:t/>
            </a:r>
          </a:p>
          <a:p xmlns:a="http://schemas.openxmlformats.org/drawingml/2006/main">
            <a:r>
              <a:t>최근 운영 날짜와 현장 조건을 함께 받습니다.</a:t>
            </a:r>
          </a:p>
          <a:p xmlns:a="http://schemas.openxmlformats.org/drawingml/2006/main">
            <a:r>
              <a:t/>
            </a:r>
          </a:p>
          <a:p xmlns:a="http://schemas.openxmlformats.org/drawingml/2006/main">
            <a:r>
              <a:t>카카오맵 기준 사이트명과 링크, 정확한 셋업 위치 사진</a:t>
            </a:r>
          </a:p>
          <a:p xmlns:a="http://schemas.openxmlformats.org/drawingml/2006/main">
            <a:r>
              <a:t/>
            </a:r>
          </a:p>
          <a:p xmlns:a="http://schemas.openxmlformats.org/drawingml/2006/main">
            <a:r>
              <a:t>최근 운영 날짜·요일·시간과 참여 인원</a:t>
            </a:r>
          </a:p>
          <a:p xmlns:a="http://schemas.openxmlformats.org/drawingml/2006/main">
            <a:r>
              <a:t/>
            </a:r>
          </a:p>
          <a:p xmlns:a="http://schemas.openxmlformats.org/drawingml/2006/main">
            <a:r>
              <a:t>운영 결과와 실제 활동일, 콜백싯, 효과적인 접근 방식</a:t>
            </a:r>
          </a:p>
          <a:p xmlns:a="http://schemas.openxmlformats.org/drawingml/2006/main">
            <a:r>
              <a:t/>
            </a:r>
          </a:p>
          <a:p xmlns:a="http://schemas.openxmlformats.org/drawingml/2006/main">
            <a:r>
              <a:t>주의할 점과 예비 사이트 정보</a:t>
            </a:r>
          </a:p>
          <a:p xmlns:a="http://schemas.openxmlformats.org/drawingml/2006/main">
            <a:r>
              <a:t/>
            </a:r>
          </a:p>
          <a:p xmlns:a="http://schemas.openxmlformats.org/drawingml/2006/main">
            <a:r>
              <a:t>자료 요청 예시</a:t>
            </a:r>
          </a:p>
          <a:p xmlns:a="http://schemas.openxmlformats.org/drawingml/2006/main">
            <a:r>
              <a:t/>
            </a:r>
          </a:p>
          <a:p xmlns:a="http://schemas.openxmlformats.org/drawingml/2006/main">
            <a:r>
              <a:t>안녕하세요. [날짜]에 [지역] 트립을 준비하고 있습니다. 최근 사이트명과 지도 링크, 셋업 위치 사진, 운영 날짜·시간과 참여 인원·결과 기록을 공유받을 수 있을까요? 잘 통했던 방식이나 주의할 점, 예비 자리도 함께 알려주시면 계획에 반영하겠습니다.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지도 활용의 원칙</a:t>
            </a:r>
          </a:p>
          <a:p xmlns:a="http://schemas.openxmlformats.org/drawingml/2006/main">
            <a:r>
              <a:t/>
            </a:r>
          </a:p>
          <a:p xmlns:a="http://schemas.openxmlformats.org/drawingml/2006/main">
            <a:r>
              <a:t>사이트명은 카카오맵 기준, 도로뷰는 네이버지도를 먼저 확인합니다.</a:t>
            </a:r>
          </a:p>
          <a:p xmlns:a="http://schemas.openxmlformats.org/drawingml/2006/main">
            <a:r>
              <a:t/>
            </a:r>
          </a:p>
          <a:p xmlns:a="http://schemas.openxmlformats.org/drawingml/2006/main">
            <a:r>
              <a:t>카카오맵</a:t>
            </a:r>
          </a:p>
          <a:p xmlns:a="http://schemas.openxmlformats.org/drawingml/2006/main">
            <a:r>
              <a:t/>
            </a:r>
          </a:p>
          <a:p xmlns:a="http://schemas.openxmlformats.org/drawingml/2006/main">
            <a:r>
              <a:t>표시 장소명·지점명으로 사이트 이름을 통일합니다. 주소와 링크를 기록하고 정확한 셋업 위치는 별도 설명을 붙입니다.</a:t>
            </a:r>
          </a:p>
          <a:p xmlns:a="http://schemas.openxmlformats.org/drawingml/2006/main">
            <a:r>
              <a:t/>
            </a:r>
          </a:p>
          <a:p xmlns:a="http://schemas.openxmlformats.org/drawingml/2006/main">
            <a:r>
              <a:t>네이버지도</a:t>
            </a:r>
          </a:p>
          <a:p xmlns:a="http://schemas.openxmlformats.org/drawingml/2006/main">
            <a:r>
              <a:t/>
            </a:r>
          </a:p>
          <a:p xmlns:a="http://schemas.openxmlformats.org/drawingml/2006/main">
            <a:r>
              <a:t>도로뷰를 먼저 확인한 후 카카오맵 로드뷰와 촬영 날짜를 비교합니다. 출입구·보도폭·공사·이동 동선을 살펴봅니다.</a:t>
            </a:r>
          </a:p>
          <a:p xmlns:a="http://schemas.openxmlformats.org/drawingml/2006/main">
            <a:r>
              <a:t/>
            </a:r>
          </a:p>
          <a:p xmlns:a="http://schemas.openxmlformats.org/drawingml/2006/main">
            <a:r>
              <a:t>현장 확인</a:t>
            </a:r>
          </a:p>
          <a:p xmlns:a="http://schemas.openxmlformats.org/drawingml/2006/main">
            <a:r>
              <a:t/>
            </a:r>
          </a:p>
          <a:p xmlns:a="http://schemas.openxmlformats.org/drawingml/2006/main">
            <a:r>
              <a:t>더 최근 촬영본과 현장 정보를 함께 활용합니다. 네이버가 모든 지역에서 더 최신인 것은 아니며, 공간이 보이는 것과 사용 가능한 것은 다르므로 사용 가능 여부를 별도로 확인합니다.</a:t>
            </a:r>
          </a:p>
          <a:p xmlns:a="http://schemas.openxmlformats.org/drawingml/2006/main">
            <a:r>
              <a:t/>
            </a:r>
          </a:p>
          <a:p xmlns:a="http://schemas.openxmlformats.org/drawingml/2006/main">
            <a:r>
              <a:t>지도 활용 순서는 Presence의 요청된 운영 기준입니다.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사이트 기록표 작성</a:t>
            </a:r>
          </a:p>
          <a:p xmlns:a="http://schemas.openxmlformats.org/drawingml/2006/main">
            <a:r>
              <a:t/>
            </a:r>
          </a:p>
          <a:p xmlns:a="http://schemas.openxmlformats.org/drawingml/2006/main">
            <a:r>
              <a:t>다른 리더도 같은 자리를 찾고 준비할 수 있도록 기록합니다.</a:t>
            </a:r>
          </a:p>
          <a:p xmlns:a="http://schemas.openxmlformats.org/drawingml/2006/main">
            <a:r>
              <a:t/>
            </a:r>
          </a:p>
          <a:p xmlns:a="http://schemas.openxmlformats.org/drawingml/2006/main">
            <a:r>
              <a:t>기록 항목</a:t>
            </a:r>
          </a:p>
          <a:p xmlns:a="http://schemas.openxmlformats.org/drawingml/2006/main">
            <a:r>
              <a:t/>
            </a:r>
          </a:p>
          <a:p xmlns:a="http://schemas.openxmlformats.org/drawingml/2006/main">
            <a:r>
              <a:t>항목 / 내용</a:t>
            </a:r>
          </a:p>
          <a:p xmlns:a="http://schemas.openxmlformats.org/drawingml/2006/main">
            <a:r>
              <a:t/>
            </a:r>
          </a:p>
          <a:p xmlns:a="http://schemas.openxmlformats.org/drawingml/2006/main">
            <a:r>
              <a:t>사이트명 / 카카오맵 표시 장소명·지점명</a:t>
            </a:r>
          </a:p>
          <a:p xmlns:a="http://schemas.openxmlformats.org/drawingml/2006/main">
            <a:r>
              <a:t/>
            </a:r>
          </a:p>
          <a:p xmlns:a="http://schemas.openxmlformats.org/drawingml/2006/main">
            <a:r>
              <a:t>주소·지도 링크·셋업 위치 / 정확한 위치 설명과 셋업 사진</a:t>
            </a:r>
          </a:p>
          <a:p xmlns:a="http://schemas.openxmlformats.org/drawingml/2006/main">
            <a:r>
              <a:t/>
            </a:r>
          </a:p>
          <a:p xmlns:a="http://schemas.openxmlformats.org/drawingml/2006/main">
            <a:r>
              <a:t>확인 날짜·도로뷰 촬영일 / 정보의 시점을 기록</a:t>
            </a:r>
          </a:p>
          <a:p xmlns:a="http://schemas.openxmlformats.org/drawingml/2006/main">
            <a:r>
              <a:t/>
            </a:r>
          </a:p>
          <a:p xmlns:a="http://schemas.openxmlformats.org/drawingml/2006/main">
            <a:r>
              <a:t>운영 요일과 피드백 / 언제 운영했고 어떤 결과였는지</a:t>
            </a:r>
          </a:p>
          <a:p xmlns:a="http://schemas.openxmlformats.org/drawingml/2006/main">
            <a:r>
              <a:t/>
            </a:r>
          </a:p>
          <a:p xmlns:a="http://schemas.openxmlformats.org/drawingml/2006/main">
            <a:r>
              <a:t>사용 상태 / 확인 중 / 사용 가능 확인 / 예비</a:t>
            </a:r>
          </a:p>
          <a:p xmlns:a="http://schemas.openxmlformats.org/drawingml/2006/main">
            <a:r>
              <a:t/>
            </a:r>
          </a:p>
          <a:p xmlns:a="http://schemas.openxmlformats.org/drawingml/2006/main">
            <a:r>
              <a:t>담당자 / 누가 확인하고 다음 점검을 맡는지</a:t>
            </a:r>
          </a:p>
          <a:p xmlns:a="http://schemas.openxmlformats.org/drawingml/2006/main">
            <a:r>
              <a:t/>
            </a:r>
          </a:p>
          <a:p xmlns:a="http://schemas.openxmlformats.org/drawingml/2006/main">
            <a:r>
              <a:t>후보 사이트와 실제로 사용 가능한 자리를 구분해 기록합니다.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테리토리 확보의 목표</a:t>
            </a:r>
          </a:p>
          <a:p xmlns:a="http://schemas.openxmlformats.org/drawingml/2006/main">
            <a:r>
              <a:t/>
            </a:r>
          </a:p>
          <a:p xmlns:a="http://schemas.openxmlformats.org/drawingml/2006/main">
            <a:r>
              <a:t>교육용 예시 · 운영 단위 한 팀 기준</a:t>
            </a:r>
          </a:p>
          <a:p xmlns:a="http://schemas.openxmlformats.org/drawingml/2006/main">
            <a:r>
              <a:t/>
            </a:r>
          </a:p>
          <a:p xmlns:a="http://schemas.openxmlformats.org/drawingml/2006/main">
            <a:r>
              <a:t>Best / Good / Minimum</a:t>
            </a:r>
          </a:p>
          <a:p xmlns:a="http://schemas.openxmlformats.org/drawingml/2006/main">
            <a:r>
              <a:t/>
            </a:r>
          </a:p>
          <a:p xmlns:a="http://schemas.openxmlformats.org/drawingml/2006/main">
            <a:r>
              <a:t>수준 / 주요 사이트 / 예비 사이트</a:t>
            </a:r>
          </a:p>
          <a:p xmlns:a="http://schemas.openxmlformats.org/drawingml/2006/main">
            <a:r>
              <a:t/>
            </a:r>
          </a:p>
          <a:p xmlns:a="http://schemas.openxmlformats.org/drawingml/2006/main">
            <a:r>
              <a:t>Best / 2곳 / 2곳</a:t>
            </a:r>
          </a:p>
          <a:p xmlns:a="http://schemas.openxmlformats.org/drawingml/2006/main">
            <a:r>
              <a:t/>
            </a:r>
          </a:p>
          <a:p xmlns:a="http://schemas.openxmlformats.org/drawingml/2006/main">
            <a:r>
              <a:t>Good / 1곳 / 2곳</a:t>
            </a:r>
          </a:p>
          <a:p xmlns:a="http://schemas.openxmlformats.org/drawingml/2006/main">
            <a:r>
              <a:t/>
            </a:r>
          </a:p>
          <a:p xmlns:a="http://schemas.openxmlformats.org/drawingml/2006/main">
            <a:r>
              <a:t>Minimum / 1곳 / 1곳</a:t>
            </a:r>
          </a:p>
          <a:p xmlns:a="http://schemas.openxmlformats.org/drawingml/2006/main">
            <a:r>
              <a:t/>
            </a:r>
          </a:p>
          <a:p xmlns:a="http://schemas.openxmlformats.org/drawingml/2006/main">
            <a:r>
              <a:t>각 사이트의 날짜·시간·인원에 맞는 사용 가능 확인을 완료해야 확보로 기록합니다. 여러 팀이 동시에 운영하면 운영 단위별로 필요한 자리를 다시 계산합니다.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Profit · 인컴 극대화와 몰입</a:t>
            </a:r>
          </a:p>
          <a:p xmlns:a="http://schemas.openxmlformats.org/drawingml/2006/main">
            <a:r>
              <a:t/>
            </a:r>
          </a:p>
          <a:p xmlns:a="http://schemas.openxmlformats.org/drawingml/2006/main">
            <a:r>
              <a:t>필드 시간을 확보하고 일에 몰입해 성과와 인컴을 높입니다.</a:t>
            </a:r>
          </a:p>
          <a:p xmlns:a="http://schemas.openxmlformats.org/drawingml/2006/main">
            <a:r>
              <a:t/>
            </a:r>
          </a:p>
          <a:p xmlns:a="http://schemas.openxmlformats.org/drawingml/2006/main">
            <a:r>
              <a:t>세 단계 목표</a:t>
            </a:r>
          </a:p>
          <a:p xmlns:a="http://schemas.openxmlformats.org/drawingml/2006/main">
            <a:r>
              <a:t/>
            </a:r>
          </a:p>
          <a:p xmlns:a="http://schemas.openxmlformats.org/drawingml/2006/main">
            <a:r>
              <a:t>Best는 최고의 결과, Good은 좋은 결과, Minimum은 최소한 달성해야 할 결과입니다.</a:t>
            </a:r>
          </a:p>
          <a:p xmlns:a="http://schemas.openxmlformats.org/drawingml/2006/main">
            <a:r>
              <a:t/>
            </a:r>
          </a:p>
          <a:p xmlns:a="http://schemas.openxmlformats.org/drawingml/2006/main">
            <a:r>
              <a:t>같은 기준으로 비교</a:t>
            </a:r>
          </a:p>
          <a:p xmlns:a="http://schemas.openxmlformats.org/drawingml/2006/main">
            <a:r>
              <a:t/>
            </a:r>
          </a:p>
          <a:p xmlns:a="http://schemas.openxmlformats.org/drawingml/2006/main">
            <a:r>
              <a:t>세 수준은 같은 기간·같은 기준으로 비교합니다. 담당자와 점검 시점을 정하고, 개인별 목표 합계를 팀 목표와 맞춥니다.</a:t>
            </a:r>
          </a:p>
          <a:p xmlns:a="http://schemas.openxmlformats.org/drawingml/2006/main">
            <a:r>
              <a:t/>
            </a:r>
          </a:p>
          <a:p xmlns:a="http://schemas.openxmlformats.org/drawingml/2006/main">
            <a:r>
              <a:t>교육용 목표 예시</a:t>
            </a:r>
          </a:p>
          <a:p xmlns:a="http://schemas.openxmlformats.org/drawingml/2006/main">
            <a:r>
              <a:t/>
            </a:r>
          </a:p>
          <a:p xmlns:a="http://schemas.openxmlformats.org/drawingml/2006/main">
            <a:r>
              <a:t>수준 / 팀 AVG / 목표 건수</a:t>
            </a:r>
          </a:p>
          <a:p xmlns:a="http://schemas.openxmlformats.org/drawingml/2006/main">
            <a:r>
              <a:t/>
            </a:r>
          </a:p>
          <a:p xmlns:a="http://schemas.openxmlformats.org/drawingml/2006/main">
            <a:r>
              <a:t>Best / 2.0 / 32건</a:t>
            </a:r>
          </a:p>
          <a:p xmlns:a="http://schemas.openxmlformats.org/drawingml/2006/main">
            <a:r>
              <a:t/>
            </a:r>
          </a:p>
          <a:p xmlns:a="http://schemas.openxmlformats.org/drawingml/2006/main">
            <a:r>
              <a:t>Good / 1.5 / 24건</a:t>
            </a:r>
          </a:p>
          <a:p xmlns:a="http://schemas.openxmlformats.org/drawingml/2006/main">
            <a:r>
              <a:t/>
            </a:r>
          </a:p>
          <a:p xmlns:a="http://schemas.openxmlformats.org/drawingml/2006/main">
            <a:r>
              <a:t>Minimum / 1.0 / 16건</a:t>
            </a:r>
          </a:p>
          <a:p xmlns:a="http://schemas.openxmlformats.org/drawingml/2006/main">
            <a:r>
              <a:t/>
            </a:r>
          </a:p>
          <a:p xmlns:a="http://schemas.openxmlformats.org/drawingml/2006/main">
            <a:r>
              <a:t>4명이 4일 모두 활동해 계획 활동일 합계가 16인일인 경우입니다. 목표 건수 = 목표 AVG × 계획 인일. 군산 트립의 실제 사전 목표가 아닌 설명용 가정입니다.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Progress · 잘하는 사람의 A to Z</a:t>
            </a:r>
          </a:p>
          <a:p xmlns:a="http://schemas.openxmlformats.org/drawingml/2006/main">
            <a:r>
              <a:t/>
            </a:r>
          </a:p>
          <a:p xmlns:a="http://schemas.openxmlformats.org/drawingml/2006/main">
            <a:r>
              <a:t>함께 보내는 시간이 배움의 시간입니다. 관찰한 방식을 직접 적용하고 재현합니다.</a:t>
            </a:r>
          </a:p>
          <a:p xmlns:a="http://schemas.openxmlformats.org/drawingml/2006/main">
            <a:r>
              <a:t/>
            </a:r>
          </a:p>
          <a:p xmlns:a="http://schemas.openxmlformats.org/drawingml/2006/main">
            <a:r>
              <a:t>Best / Good / Minimum</a:t>
            </a:r>
          </a:p>
          <a:p xmlns:a="http://schemas.openxmlformats.org/drawingml/2006/main">
            <a:r>
              <a:t/>
            </a:r>
          </a:p>
          <a:p xmlns:a="http://schemas.openxmlformats.org/drawingml/2006/main">
            <a:r>
              <a:t>수준 / 달성 기준</a:t>
            </a:r>
          </a:p>
          <a:p xmlns:a="http://schemas.openxmlformats.org/drawingml/2006/main">
            <a:r>
              <a:t/>
            </a:r>
          </a:p>
          <a:p xmlns:a="http://schemas.openxmlformats.org/drawingml/2006/main">
            <a:r>
              <a:t>Best / Good을 충족하고 동료에게 설명·시연해 피드백 받기</a:t>
            </a:r>
          </a:p>
          <a:p xmlns:a="http://schemas.openxmlformats.org/drawingml/2006/main">
            <a:r>
              <a:t/>
            </a:r>
          </a:p>
          <a:p xmlns:a="http://schemas.openxmlformats.org/drawingml/2006/main">
            <a:r>
              <a:t>Good / Minimum을 충족하고 현장에 적용한 사례 1개 기록</a:t>
            </a:r>
          </a:p>
          <a:p xmlns:a="http://schemas.openxmlformats.org/drawingml/2006/main">
            <a:r>
              <a:t/>
            </a:r>
          </a:p>
          <a:p xmlns:a="http://schemas.openxmlformats.org/drawingml/2006/main">
            <a:r>
              <a:t>Minimum / 배울 루틴·스킬 1개 관찰, 질문·피드백 1회, 다음 행동 1개 기록</a:t>
            </a:r>
          </a:p>
          <a:p xmlns:a="http://schemas.openxmlformats.org/drawingml/2006/main">
            <a:r>
              <a:t/>
            </a:r>
          </a:p>
          <a:p xmlns:a="http://schemas.openxmlformats.org/drawingml/2006/main">
            <a:r>
              <a:t>무엇을 배울 것인가</a:t>
            </a:r>
          </a:p>
          <a:p xmlns:a="http://schemas.openxmlformats.org/drawingml/2006/main">
            <a:r>
              <a:t/>
            </a:r>
          </a:p>
          <a:p xmlns:a="http://schemas.openxmlformats.org/drawingml/2006/main">
            <a:r>
              <a:t>하루의 준비·활동·마무리 루틴, 네트워킹과 토픽 교류, 트립 오피스 운영을 배웁니다. 문제 해결 과정과 현장 판단·직관, B2B 세일즈 방법도 관찰합니다. 니즈파악 질문·설명·오브젝션 대응 등 개인에게 필요한 스킬을 선택해 연습합니다.</a:t>
            </a:r>
          </a:p>
          <a:p xmlns:a="http://schemas.openxmlformats.org/drawingml/2006/main">
            <a:r>
              <a:t/>
            </a:r>
          </a:p>
          <a:p xmlns:a="http://schemas.openxmlformats.org/drawingml/2006/main">
            <a:r>
              <a:t>교육용 예시 · 트립 전체, 개인별 기준입니다.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 함께 리프레시하기</a:t>
            </a:r>
          </a:p>
          <a:p xmlns:a="http://schemas.openxmlformats.org/drawingml/2006/main">
            <a:r>
              <a:t/>
            </a:r>
          </a:p>
          <a:p xmlns:a="http://schemas.openxmlformats.org/drawingml/2006/main">
            <a:r>
              <a:t>새로운 장소에서 함께 생활하며 기분을 전환하고 함께 기억할 시간을 만듭니다.</a:t>
            </a:r>
          </a:p>
          <a:p xmlns:a="http://schemas.openxmlformats.org/drawingml/2006/main">
            <a:r>
              <a:t/>
            </a:r>
          </a:p>
          <a:p xmlns:a="http://schemas.openxmlformats.org/drawingml/2006/main">
            <a:r>
              <a:t>Best / Good / Minimum</a:t>
            </a:r>
          </a:p>
          <a:p xmlns:a="http://schemas.openxmlformats.org/drawingml/2006/main">
            <a:r>
              <a:t/>
            </a:r>
          </a:p>
          <a:p xmlns:a="http://schemas.openxmlformats.org/drawingml/2006/main">
            <a:r>
              <a:t>수준 / 달성 기준</a:t>
            </a:r>
          </a:p>
          <a:p xmlns:a="http://schemas.openxmlformats.org/drawingml/2006/main">
            <a:r>
              <a:t/>
            </a:r>
          </a:p>
          <a:p xmlns:a="http://schemas.openxmlformats.org/drawingml/2006/main">
            <a:r>
              <a:t>Best / Good을 충족하고 전원의 사진·한 줄 후기를 앨범으로 정리</a:t>
            </a:r>
          </a:p>
          <a:p xmlns:a="http://schemas.openxmlformats.org/drawingml/2006/main">
            <a:r>
              <a:t/>
            </a:r>
          </a:p>
          <a:p xmlns:a="http://schemas.openxmlformats.org/drawingml/2006/main">
            <a:r>
              <a:t>Good / Minimum을 충족하고 함께하는 식사·산책 등 활동 1회</a:t>
            </a:r>
          </a:p>
          <a:p xmlns:a="http://schemas.openxmlformats.org/drawingml/2006/main">
            <a:r>
              <a:t/>
            </a:r>
          </a:p>
          <a:p xmlns:a="http://schemas.openxmlformats.org/drawingml/2006/main">
            <a:r>
              <a:t>Minimum / 팀 기념사진 1장과 서로에게 감사 한마디</a:t>
            </a:r>
          </a:p>
          <a:p xmlns:a="http://schemas.openxmlformats.org/drawingml/2006/main">
            <a:r>
              <a:t/>
            </a:r>
          </a:p>
          <a:p xmlns:a="http://schemas.openxmlformats.org/drawingml/2006/main">
            <a:r>
              <a:t>낯선 장소로의 이동에서 여행 같은 기분 전환을 느끼고, 함께 숙박하며 대화하는 시간을 보냅니다. 새로운 환경과 사이트에서 긍정적인 자극을 얻되, 체력과 개인의 편안함을 고려해 활동을 선택합니다. 교육용 목표 예시는 트립 전체, 팀 기준입니다.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요일별 테마 구성</a:t>
            </a:r>
          </a:p>
          <a:p xmlns:a="http://schemas.openxmlformats.org/drawingml/2006/main">
            <a:r>
              <a:t/>
            </a:r>
          </a:p>
          <a:p xmlns:a="http://schemas.openxmlformats.org/drawingml/2006/main">
            <a:r>
              <a:t>하루의 테마 안에 Profit·Progress·People 계획을 각각 하나씩 넣습니다.</a:t>
            </a:r>
          </a:p>
          <a:p xmlns:a="http://schemas.openxmlformats.org/drawingml/2006/main">
            <a:r>
              <a:t/>
            </a:r>
          </a:p>
          <a:p xmlns:a="http://schemas.openxmlformats.org/drawingml/2006/main">
            <a:r>
              <a:t>교육용 테마 예시</a:t>
            </a:r>
          </a:p>
          <a:p xmlns:a="http://schemas.openxmlformats.org/drawingml/2006/main">
            <a:r>
              <a:t/>
            </a:r>
          </a:p>
          <a:p xmlns:a="http://schemas.openxmlformats.org/drawingml/2006/main">
            <a:r>
              <a:t>요일 / 테마 / Profit / Progress / People</a:t>
            </a:r>
          </a:p>
          <a:p xmlns:a="http://schemas.openxmlformats.org/drawingml/2006/main">
            <a:r>
              <a:t/>
            </a:r>
          </a:p>
          <a:p xmlns:a="http://schemas.openxmlformats.org/drawingml/2006/main">
            <a:r>
              <a:t>목 / 현장 적응 / 현장 반응 확인 / 개선 포인트 관찰 / 기대 나누기</a:t>
            </a:r>
          </a:p>
          <a:p xmlns:a="http://schemas.openxmlformats.org/drawingml/2006/main">
            <a:r>
              <a:t/>
            </a:r>
          </a:p>
          <a:p xmlns:a="http://schemas.openxmlformats.org/drawingml/2006/main">
            <a:r>
              <a:t>금 / 배움 적용 / 접근 방식 수정 / 스킬 적용 / 함께 저녁</a:t>
            </a:r>
          </a:p>
          <a:p xmlns:a="http://schemas.openxmlformats.org/drawingml/2006/main">
            <a:r>
              <a:t/>
            </a:r>
          </a:p>
          <a:p xmlns:a="http://schemas.openxmlformats.org/drawingml/2006/main">
            <a:r>
              <a:t>토 / 팀워크와 도전 / 도전 목표 점검 / 방법 공유 / 현장 사진</a:t>
            </a:r>
          </a:p>
          <a:p xmlns:a="http://schemas.openxmlformats.org/drawingml/2006/main">
            <a:r>
              <a:t/>
            </a:r>
          </a:p>
          <a:p xmlns:a="http://schemas.openxmlformats.org/drawingml/2006/main">
            <a:r>
              <a:t>일 / 마무리와 회고 / 결과 마감 / 배움 정리 / 감사 한마디</a:t>
            </a:r>
          </a:p>
          <a:p xmlns:a="http://schemas.openxmlformats.org/drawingml/2006/main">
            <a:r>
              <a:t/>
            </a:r>
          </a:p>
          <a:p xmlns:a="http://schemas.openxmlformats.org/drawingml/2006/main">
            <a:r>
              <a:t>실제 군산의 사전 테마가 아닌 교육용 제안입니다. 복귀일은 활동 시간에 맞춰 목표를 정합니다.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하루 운영 루틴</a:t>
            </a:r>
          </a:p>
          <a:p xmlns:a="http://schemas.openxmlformats.org/drawingml/2006/main">
            <a:r>
              <a:t/>
            </a:r>
          </a:p>
          <a:p xmlns:a="http://schemas.openxmlformats.org/drawingml/2006/main">
            <a:r>
              <a:t>트립에서도 작은 오피스를 운영하며 잘하는 사람의 루틴과 판단 기준을 배웁니다.</a:t>
            </a:r>
          </a:p>
          <a:p xmlns:a="http://schemas.openxmlformats.org/drawingml/2006/main">
            <a:r>
              <a:t/>
            </a:r>
          </a:p>
          <a:p xmlns:a="http://schemas.openxmlformats.org/drawingml/2006/main">
            <a:r>
              <a:t>시작 전</a:t>
            </a:r>
          </a:p>
          <a:p xmlns:a="http://schemas.openxmlformats.org/drawingml/2006/main">
            <a:r>
              <a:t/>
            </a:r>
          </a:p>
          <a:p xmlns:a="http://schemas.openxmlformats.org/drawingml/2006/main">
            <a:r>
              <a:t>짧은 목표 미팅과 토픽으로 하루를 시작합니다. 개인별 Best / Good / Minimum, 배울 루틴·스킬, 주요·예비 동선을 함께 확인합니다.</a:t>
            </a:r>
          </a:p>
          <a:p xmlns:a="http://schemas.openxmlformats.org/drawingml/2006/main">
            <a:r>
              <a:t/>
            </a:r>
          </a:p>
          <a:p xmlns:a="http://schemas.openxmlformats.org/drawingml/2006/main">
            <a:r>
              <a:t>운영 중</a:t>
            </a:r>
          </a:p>
          <a:p xmlns:a="http://schemas.openxmlformats.org/drawingml/2006/main">
            <a:r>
              <a:t/>
            </a:r>
          </a:p>
          <a:p xmlns:a="http://schemas.openxmlformats.org/drawingml/2006/main">
            <a:r>
              <a:t>현장 반응에 맞춰 자리·접근 방식·도움을 조정합니다. 문제를 함께 해결하고, 판단 이유와 피드백을 나눕니다. 휴식과 복귀 기준도 지킵니다.</a:t>
            </a:r>
          </a:p>
          <a:p xmlns:a="http://schemas.openxmlformats.org/drawingml/2006/main">
            <a:r>
              <a:t/>
            </a:r>
          </a:p>
          <a:p xmlns:a="http://schemas.openxmlformats.org/drawingml/2006/main">
            <a:r>
              <a:t>종료 후</a:t>
            </a:r>
          </a:p>
          <a:p xmlns:a="http://schemas.openxmlformats.org/drawingml/2006/main">
            <a:r>
              <a:t/>
            </a:r>
          </a:p>
          <a:p xmlns:a="http://schemas.openxmlformats.org/drawingml/2006/main">
            <a:r>
              <a:t>실적과 활동 여부를 기록합니다. 배운 방식과 리프레시한 순간을 공유하고 다음 날 바꿀 행동을 한 가지 정합니다.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군산 사례와 여러 지역 트립 사진</a:t>
            </a:r>
          </a:p>
          <a:p xmlns:a="http://schemas.openxmlformats.org/drawingml/2006/main">
            <a:r>
              <a:t/>
            </a:r>
          </a:p>
          <a:p xmlns:a="http://schemas.openxmlformats.org/drawingml/2006/main">
            <a:r>
              <a:t>2026년 9월 10일(목)~13일(일)</a:t>
            </a:r>
          </a:p>
          <a:p xmlns:a="http://schemas.openxmlformats.org/drawingml/2006/main">
            <a:r>
              <a:t/>
            </a:r>
          </a:p>
          <a:p xmlns:a="http://schemas.openxmlformats.org/drawingml/2006/main">
            <a:r>
              <a:t>참가자</a:t>
            </a:r>
          </a:p>
          <a:p xmlns:a="http://schemas.openxmlformats.org/drawingml/2006/main">
            <a:r>
              <a:t/>
            </a:r>
          </a:p>
          <a:p xmlns:a="http://schemas.openxmlformats.org/drawingml/2006/main">
            <a:r>
              <a:t>임재영 · 윤채영 · 민병준 · 황혜진</a:t>
            </a:r>
          </a:p>
          <a:p xmlns:a="http://schemas.openxmlformats.org/drawingml/2006/main">
            <a:r>
              <a:t/>
            </a:r>
          </a:p>
          <a:p xmlns:a="http://schemas.openxmlformats.org/drawingml/2006/main">
            <a:r>
              <a:t>군산 사례 기록</a:t>
            </a:r>
          </a:p>
          <a:p xmlns:a="http://schemas.openxmlformats.org/drawingml/2006/main">
            <a:r>
              <a:t/>
            </a:r>
          </a:p>
          <a:p xmlns:a="http://schemas.openxmlformats.org/drawingml/2006/main">
            <a:r>
              <a:t>개인별 활동 일정과 결과를 구분해 실적을 정리합니다.</a:t>
            </a:r>
          </a:p>
          <a:p xmlns:a="http://schemas.openxmlformats.org/drawingml/2006/main">
            <a:r>
              <a:t/>
            </a:r>
          </a:p>
          <a:p xmlns:a="http://schemas.openxmlformats.org/drawingml/2006/main">
            <a:r>
              <a:t>사진 안내</a:t>
            </a:r>
          </a:p>
          <a:p xmlns:a="http://schemas.openxmlformats.org/drawingml/2006/main">
            <a:r>
              <a:t/>
            </a:r>
          </a:p>
          <a:p xmlns:a="http://schemas.openxmlformats.org/drawingml/2006/main">
            <a:r>
              <a:t>제공된 앨범에는 철원·강릉·거제·통영·원주 등 여러 지역 사진이 섞여 있습니다. 자료의 사진은 트립 운영을 보여 주는 참고 사진이며, 개별 촬영 지역을 특정하지 않았습니다.</a:t>
            </a:r>
          </a:p>
          <a:p xmlns:a="http://schemas.openxmlformats.org/drawingml/2006/main">
            <a:r>
              <a:t/>
            </a:r>
          </a:p>
          <a:p xmlns:a="http://schemas.openxmlformats.org/drawingml/2006/main">
            <a:r>
              <a:t>참가자는 사용자 확인. 사진은 사용자가 제공한 여러 지역의 트립사진공유 앨범.</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군산 실적 기록</a:t>
            </a:r>
          </a:p>
          <a:p xmlns:a="http://schemas.openxmlformats.org/drawingml/2006/main">
            <a:r>
              <a:t/>
            </a:r>
          </a:p>
          <a:p xmlns:a="http://schemas.openxmlformats.org/drawingml/2006/main">
            <a:r>
              <a:t>현재 입력된 실적 합계 31건</a:t>
            </a:r>
          </a:p>
          <a:p xmlns:a="http://schemas.openxmlformats.org/drawingml/2006/main">
            <a:r>
              <a:t/>
            </a:r>
          </a:p>
          <a:p xmlns:a="http://schemas.openxmlformats.org/drawingml/2006/main">
            <a:r>
              <a:t>팀원별 일일 성과</a:t>
            </a:r>
          </a:p>
          <a:p xmlns:a="http://schemas.openxmlformats.org/drawingml/2006/main">
            <a:r>
              <a:t/>
            </a:r>
          </a:p>
          <a:p xmlns:a="http://schemas.openxmlformats.org/drawingml/2006/main">
            <a:r>
              <a:t>팀원 / 목 9/10 / 금 9/11 / 토 9/12 / 일 9/13 / 기록 합계</a:t>
            </a:r>
          </a:p>
          <a:p xmlns:a="http://schemas.openxmlformats.org/drawingml/2006/main">
            <a:r>
              <a:t/>
            </a:r>
          </a:p>
          <a:p xmlns:a="http://schemas.openxmlformats.org/drawingml/2006/main">
            <a:r>
              <a:t>임재영 / 3 / 3 / 3 / 1 / 10건</a:t>
            </a:r>
          </a:p>
          <a:p xmlns:a="http://schemas.openxmlformats.org/drawingml/2006/main">
            <a:r>
              <a:t/>
            </a:r>
          </a:p>
          <a:p xmlns:a="http://schemas.openxmlformats.org/drawingml/2006/main">
            <a:r>
              <a:t>윤채영 / 2 / 5 / 2 / 1 / 10건</a:t>
            </a:r>
          </a:p>
          <a:p xmlns:a="http://schemas.openxmlformats.org/drawingml/2006/main">
            <a:r>
              <a:t/>
            </a:r>
          </a:p>
          <a:p xmlns:a="http://schemas.openxmlformats.org/drawingml/2006/main">
            <a:r>
              <a:t>민병준 / 1 / 2 / 2 / 미입력 / 5건</a:t>
            </a:r>
          </a:p>
          <a:p xmlns:a="http://schemas.openxmlformats.org/drawingml/2006/main">
            <a:r>
              <a:t/>
            </a:r>
          </a:p>
          <a:p xmlns:a="http://schemas.openxmlformats.org/drawingml/2006/main">
            <a:r>
              <a:t>황혜진 / 2 / 2 / 2 / 0 / 6건</a:t>
            </a:r>
          </a:p>
          <a:p xmlns:a="http://schemas.openxmlformats.org/drawingml/2006/main">
            <a:r>
              <a:t/>
            </a:r>
          </a:p>
          <a:p xmlns:a="http://schemas.openxmlformats.org/drawingml/2006/main">
            <a:r>
              <a:t>집계 상태</a:t>
            </a:r>
          </a:p>
          <a:p xmlns:a="http://schemas.openxmlformats.org/drawingml/2006/main">
            <a:r>
              <a:t/>
            </a:r>
          </a:p>
          <a:p xmlns:a="http://schemas.openxmlformats.org/drawingml/2006/main">
            <a:r>
              <a:t>민병준님의 일요일 활동 여부와 결과 확인 전이므로 최종 팀 AVG는 확정하지 않았습니다. 미입력은 0건이나 휴무로 임의 처리하지 않습니다.</a:t>
            </a:r>
          </a:p>
          <a:p xmlns:a="http://schemas.openxmlformats.org/drawingml/2006/main">
            <a:r>
              <a:t/>
            </a:r>
          </a:p>
          <a:p xmlns:a="http://schemas.openxmlformats.org/drawingml/2006/main">
            <a:r>
              <a:t>출처: Presence Profit · 일일 결과, 2026년 9월 14일 조회. 9월 10~13일 참가자 기록만 사용.</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AVG와 회고 기준</a:t>
            </a:r>
          </a:p>
          <a:p xmlns:a="http://schemas.openxmlformats.org/drawingml/2006/main">
            <a:r>
              <a:t/>
            </a:r>
          </a:p>
          <a:p xmlns:a="http://schemas.openxmlformats.org/drawingml/2006/main">
            <a:r>
              <a:t>팀 AVG = 총 세일즈 ÷ 실제 활동일 합계</a:t>
            </a:r>
          </a:p>
          <a:p xmlns:a="http://schemas.openxmlformats.org/drawingml/2006/main">
            <a:r>
              <a:t/>
            </a:r>
          </a:p>
          <a:p xmlns:a="http://schemas.openxmlformats.org/drawingml/2006/main">
            <a:r>
              <a:t>집계 원칙</a:t>
            </a:r>
          </a:p>
          <a:p xmlns:a="http://schemas.openxmlformats.org/drawingml/2006/main">
            <a:r>
              <a:t/>
            </a:r>
          </a:p>
          <a:p xmlns:a="http://schemas.openxmlformats.org/drawingml/2006/main">
            <a:r>
              <a:t>실제 활동한 0건은 분모에 포함합니다.</a:t>
            </a:r>
          </a:p>
          <a:p xmlns:a="http://schemas.openxmlformats.org/drawingml/2006/main">
            <a:r>
              <a:t/>
            </a:r>
          </a:p>
          <a:p xmlns:a="http://schemas.openxmlformats.org/drawingml/2006/main">
            <a:r>
              <a:t>휴무는 분모에서 제외합니다.</a:t>
            </a:r>
          </a:p>
          <a:p xmlns:a="http://schemas.openxmlformats.org/drawingml/2006/main">
            <a:r>
              <a:t/>
            </a:r>
          </a:p>
          <a:p xmlns:a="http://schemas.openxmlformats.org/drawingml/2006/main">
            <a:r>
              <a:t>미입력은 활동 여부와 결과를 확인합니다.</a:t>
            </a:r>
          </a:p>
          <a:p xmlns:a="http://schemas.openxmlformats.org/drawingml/2006/main">
            <a:r>
              <a:t/>
            </a:r>
          </a:p>
          <a:p xmlns:a="http://schemas.openxmlformats.org/drawingml/2006/main">
            <a:r>
              <a:t>일정의 일부만 참석한 팀원은 실제 참여한 날짜만 포함합니다.</a:t>
            </a:r>
          </a:p>
          <a:p xmlns:a="http://schemas.openxmlformats.org/drawingml/2006/main">
            <a:r>
              <a:t/>
            </a:r>
          </a:p>
          <a:p xmlns:a="http://schemas.openxmlformats.org/drawingml/2006/main">
            <a:r>
              <a:t>함께 돌아볼 내용</a:t>
            </a:r>
          </a:p>
          <a:p xmlns:a="http://schemas.openxmlformats.org/drawingml/2006/main">
            <a:r>
              <a:t/>
            </a:r>
          </a:p>
          <a:p xmlns:a="http://schemas.openxmlformats.org/drawingml/2006/main">
            <a:r>
              <a:t>Profit: 성과와 필드 시간, 몰입할 수 있는 여건은 어땠는가?</a:t>
            </a:r>
          </a:p>
          <a:p xmlns:a="http://schemas.openxmlformats.org/drawingml/2006/main">
            <a:r>
              <a:t/>
            </a:r>
          </a:p>
          <a:p xmlns:a="http://schemas.openxmlformats.org/drawingml/2006/main">
            <a:r>
              <a:t>Progress: 루틴·문제 해결·현장 판단·B2B에서 무엇을 배웠고 다음에도 재현할 수 있는가?</a:t>
            </a:r>
          </a:p>
          <a:p xmlns:a="http://schemas.openxmlformats.org/drawingml/2006/main">
            <a:r>
              <a:t/>
            </a:r>
          </a:p>
          <a:p xmlns:a="http://schemas.openxmlformats.org/drawingml/2006/main">
            <a:r>
              <a:t>People: 리프레시한 순간, 새롭게 받은 자극과 고마웠던 행동은 무엇인가?</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다양한 지역에서 남긴 트립 사진</a:t>
            </a:r>
          </a:p>
          <a:p xmlns:a="http://schemas.openxmlformats.org/drawingml/2006/main">
            <a:r>
              <a:t/>
            </a:r>
          </a:p>
          <a:p xmlns:a="http://schemas.openxmlformats.org/drawingml/2006/main">
            <a:r>
              <a:t>함께 일하고, 함께 쉬고, 함께 기억하는 트립의 순간</a:t>
            </a:r>
          </a:p>
          <a:p xmlns:a="http://schemas.openxmlformats.org/drawingml/2006/main">
            <a:r>
              <a:t/>
            </a:r>
          </a:p>
          <a:p xmlns:a="http://schemas.openxmlformats.org/drawingml/2006/main">
            <a:r>
              <a:t>현장</a:t>
            </a:r>
          </a:p>
          <a:p xmlns:a="http://schemas.openxmlformats.org/drawingml/2006/main">
            <a:r>
              <a:t/>
            </a:r>
          </a:p>
          <a:p xmlns:a="http://schemas.openxmlformats.org/drawingml/2006/main">
            <a:r>
              <a:t>팀이 함께한 필드의 순간</a:t>
            </a:r>
          </a:p>
          <a:p xmlns:a="http://schemas.openxmlformats.org/drawingml/2006/main">
            <a:r>
              <a:t/>
            </a:r>
          </a:p>
          <a:p xmlns:a="http://schemas.openxmlformats.org/drawingml/2006/main">
            <a:r>
              <a:t>함께한 시간</a:t>
            </a:r>
          </a:p>
          <a:p xmlns:a="http://schemas.openxmlformats.org/drawingml/2006/main">
            <a:r>
              <a:t/>
            </a:r>
          </a:p>
          <a:p xmlns:a="http://schemas.openxmlformats.org/drawingml/2006/main">
            <a:r>
              <a:t>함께 나눈 식사와 대화</a:t>
            </a:r>
          </a:p>
          <a:p xmlns:a="http://schemas.openxmlformats.org/drawingml/2006/main">
            <a:r>
              <a:t/>
            </a:r>
          </a:p>
          <a:p xmlns:a="http://schemas.openxmlformats.org/drawingml/2006/main">
            <a:r>
              <a:t>하루의 끝</a:t>
            </a:r>
          </a:p>
          <a:p xmlns:a="http://schemas.openxmlformats.org/drawingml/2006/main">
            <a:r>
              <a:t/>
            </a:r>
          </a:p>
          <a:p xmlns:a="http://schemas.openxmlformats.org/drawingml/2006/main">
            <a:r>
              <a:t>하루를 마무리하며 본 풍경</a:t>
            </a:r>
          </a:p>
          <a:p xmlns:a="http://schemas.openxmlformats.org/drawingml/2006/main">
            <a:r>
              <a:t/>
            </a:r>
          </a:p>
          <a:p xmlns:a="http://schemas.openxmlformats.org/drawingml/2006/main">
            <a:r>
              <a:t>사용자가 제공한 여러 지역의 트립 사진. 사진별 촬영 지역을 임의로 지정하지 않았습니다.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출발 전 체크리스트</a:t>
            </a:r>
          </a:p>
          <a:p xmlns:a="http://schemas.openxmlformats.org/drawingml/2006/main">
            <a:r>
              <a:t/>
            </a:r>
          </a:p>
          <a:p xmlns:a="http://schemas.openxmlformats.org/drawingml/2006/main">
            <a:r>
              <a:t>출발 전, 담당자와 함께 준비 상태를 확인합니다.</a:t>
            </a:r>
          </a:p>
          <a:p xmlns:a="http://schemas.openxmlformats.org/drawingml/2006/main">
            <a:r>
              <a:t/>
            </a:r>
          </a:p>
          <a:p xmlns:a="http://schemas.openxmlformats.org/drawingml/2006/main">
            <a:r>
              <a:t>지역·날짜·참가자별 일정 확정, 동료·CTM 자료 수집</a:t>
            </a:r>
          </a:p>
          <a:p xmlns:a="http://schemas.openxmlformats.org/drawingml/2006/main">
            <a:r>
              <a:t/>
            </a:r>
          </a:p>
          <a:p xmlns:a="http://schemas.openxmlformats.org/drawingml/2006/main">
            <a:r>
              <a:t>카카오맵 기준 사이트명·도로뷰 확인, 주요·예비 자리 확보</a:t>
            </a:r>
          </a:p>
          <a:p xmlns:a="http://schemas.openxmlformats.org/drawingml/2006/main">
            <a:r>
              <a:t/>
            </a:r>
          </a:p>
          <a:p xmlns:a="http://schemas.openxmlformats.org/drawingml/2006/main">
            <a:r>
              <a:t>Profit·Progress·People의 Best / Good / Minimum 설정</a:t>
            </a:r>
          </a:p>
          <a:p xmlns:a="http://schemas.openxmlformats.org/drawingml/2006/main">
            <a:r>
              <a:t/>
            </a:r>
          </a:p>
          <a:p xmlns:a="http://schemas.openxmlformats.org/drawingml/2006/main">
            <a:r>
              <a:t>요일별 테마와 개인 역할, 중간 점검 방식</a:t>
            </a:r>
          </a:p>
          <a:p xmlns:a="http://schemas.openxmlformats.org/drawingml/2006/main">
            <a:r>
              <a:t/>
            </a:r>
          </a:p>
          <a:p xmlns:a="http://schemas.openxmlformats.org/drawingml/2006/main">
            <a:r>
              <a:t>교통·숙소·비용·장비·휴식·복귀 계획</a:t>
            </a:r>
          </a:p>
          <a:p xmlns:a="http://schemas.openxmlformats.org/drawingml/2006/main">
            <a:r>
              <a:t/>
            </a:r>
          </a:p>
          <a:p xmlns:a="http://schemas.openxmlformats.org/drawingml/2006/main">
            <a:r>
              <a:t>결과 기록·회고·사진 정리 담당자 지정</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트립 계획서</a:t>
            </a:r>
          </a:p>
          <a:p xmlns:a="http://schemas.openxmlformats.org/drawingml/2006/main">
            <a:r>
              <a:t/>
            </a:r>
          </a:p>
          <a:p xmlns:a="http://schemas.openxmlformats.org/drawingml/2006/main">
            <a:r>
              <a:t>지역 ______  날짜 ______  참가자 ______  운영 단위 ______</a:t>
            </a:r>
          </a:p>
          <a:p xmlns:a="http://schemas.openxmlformats.org/drawingml/2006/main">
            <a:r>
              <a:t/>
            </a:r>
          </a:p>
          <a:p xmlns:a="http://schemas.openxmlformats.org/drawingml/2006/main">
            <a:r>
              <a:t>우리 팀의 세 단계 목표</a:t>
            </a:r>
          </a:p>
          <a:p xmlns:a="http://schemas.openxmlformats.org/drawingml/2006/main">
            <a:r>
              <a:t/>
            </a:r>
          </a:p>
          <a:p xmlns:a="http://schemas.openxmlformats.org/drawingml/2006/main">
            <a:r>
              <a:t>영역 / Best / Good / Minimum / 담당·확인 시점</a:t>
            </a:r>
          </a:p>
          <a:p xmlns:a="http://schemas.openxmlformats.org/drawingml/2006/main">
            <a:r>
              <a:t/>
            </a:r>
          </a:p>
          <a:p xmlns:a="http://schemas.openxmlformats.org/drawingml/2006/main">
            <a:r>
              <a:t>Profit / ______ / ______ / ______ / ______</a:t>
            </a:r>
          </a:p>
          <a:p xmlns:a="http://schemas.openxmlformats.org/drawingml/2006/main">
            <a:r>
              <a:t/>
            </a:r>
          </a:p>
          <a:p xmlns:a="http://schemas.openxmlformats.org/drawingml/2006/main">
            <a:r>
              <a:t>Progress / ______ / ______ / ______ / ______</a:t>
            </a:r>
          </a:p>
          <a:p xmlns:a="http://schemas.openxmlformats.org/drawingml/2006/main">
            <a:r>
              <a:t/>
            </a:r>
          </a:p>
          <a:p xmlns:a="http://schemas.openxmlformats.org/drawingml/2006/main">
            <a:r>
              <a:t>People / ______ / ______ / ______ / ______</a:t>
            </a:r>
          </a:p>
          <a:p xmlns:a="http://schemas.openxmlformats.org/drawingml/2006/main">
            <a:r>
              <a:t/>
            </a:r>
          </a:p>
          <a:p xmlns:a="http://schemas.openxmlformats.org/drawingml/2006/main">
            <a:r>
              <a:t>테리토리 / ______ / ______ / ______ / ______</a:t>
            </a:r>
          </a:p>
          <a:p xmlns:a="http://schemas.openxmlformats.org/drawingml/2006/main">
            <a:r>
              <a:t/>
            </a:r>
          </a:p>
          <a:p xmlns:a="http://schemas.openxmlformats.org/drawingml/2006/main">
            <a:r>
              <a:t>요일별 테마 ______</a:t>
            </a:r>
          </a:p>
          <a:p xmlns:a="http://schemas.openxmlformats.org/drawingml/2006/main">
            <a:r>
              <a:t>주요 사이트 ______ / 예비 사이트 ______</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리더를 위한 기록</a:t>
            </a:r>
          </a:p>
          <a:p xmlns:a="http://schemas.openxmlformats.org/drawingml/2006/main">
            <a:r>
              <a:t/>
            </a:r>
          </a:p>
          <a:p xmlns:a="http://schemas.openxmlformats.org/drawingml/2006/main">
            <a:r>
              <a:t>트립에서 얻은 정보를 다음 팀이 바로 쓸 수 있게 남깁니다.</a:t>
            </a:r>
          </a:p>
          <a:p xmlns:a="http://schemas.openxmlformats.org/drawingml/2006/main">
            <a:r>
              <a:t/>
            </a:r>
          </a:p>
          <a:p xmlns:a="http://schemas.openxmlformats.org/drawingml/2006/main">
            <a:r>
              <a:t>사이트 정보</a:t>
            </a:r>
          </a:p>
          <a:p xmlns:a="http://schemas.openxmlformats.org/drawingml/2006/main">
            <a:r>
              <a:t/>
            </a:r>
          </a:p>
          <a:p xmlns:a="http://schemas.openxmlformats.org/drawingml/2006/main">
            <a:r>
              <a:t>카카오맵 기준 이름, 정확한 셋업 위치, 사용 조건, 최근 운영 피드백을 함께 정리합니다.</a:t>
            </a:r>
          </a:p>
          <a:p xmlns:a="http://schemas.openxmlformats.org/drawingml/2006/main">
            <a:r>
              <a:t/>
            </a:r>
          </a:p>
          <a:p xmlns:a="http://schemas.openxmlformats.org/drawingml/2006/main">
            <a:r>
              <a:t>성과와 배움</a:t>
            </a:r>
          </a:p>
          <a:p xmlns:a="http://schemas.openxmlformats.org/drawingml/2006/main">
            <a:r>
              <a:t/>
            </a:r>
          </a:p>
          <a:p xmlns:a="http://schemas.openxmlformats.org/drawingml/2006/main">
            <a:r>
              <a:t>활동일과 실적을 확인하고 효과가 있었던 접근과 다음에 바꿀 행동을 남깁니다.</a:t>
            </a:r>
          </a:p>
          <a:p xmlns:a="http://schemas.openxmlformats.org/drawingml/2006/main">
            <a:r>
              <a:t/>
            </a:r>
          </a:p>
          <a:p xmlns:a="http://schemas.openxmlformats.org/drawingml/2006/main">
            <a:r>
              <a:t>추억과 공유</a:t>
            </a:r>
          </a:p>
          <a:p xmlns:a="http://schemas.openxmlformats.org/drawingml/2006/main">
            <a:r>
              <a:t/>
            </a:r>
          </a:p>
          <a:p xmlns:a="http://schemas.openxmlformats.org/drawingml/2006/main">
            <a:r>
              <a:t>사진·한 줄 후기를 앨범에 모으고 동료·CTM에게 유용한 운영 자료를 정리합니다.</a:t>
            </a:r>
          </a:p>
          <a:p xmlns:a="http://schemas.openxmlformats.org/drawingml/2006/main">
            <a:r>
              <a:t/>
            </a:r>
          </a:p>
          <a:p xmlns:a="http://schemas.openxmlformats.org/drawingml/2006/main">
            <a:r>
              <a:t>편집 원본: https://www.miricanvas.com/v2/ko/design2/ead92b3e-05d8-45b9-9ece-e597096c73ff</a:t>
            </a:r>
          </a:p>
          <a:p xmlns:a="http://schemas.openxmlformats.org/drawingml/2006/main">
            <a:r>
              <a:t/>
            </a:r>
          </a:p>
          <a:p xmlns:a="http://schemas.openxmlformats.org/drawingml/2006/main">
            <a:r>
              <a:t>디자인 및 기본 시각 자료: MiriCanvas에서 선택한 템플릿. 트립 참고 사진: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5c065c195fa42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eb21c3cb92493d" /><Relationship Type="http://schemas.openxmlformats.org/officeDocument/2006/relationships/slideLayout" Target="/ppt/slideLayouts/slideLayout1.xml" Id="R5cfd6892ba414a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fd6892ba414a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79448235434926" /><Relationship Type="http://schemas.openxmlformats.org/officeDocument/2006/relationships/image" Target="/ppt/media/image.png" Id="Rccd55066b89f4c12" /><Relationship Type="http://schemas.openxmlformats.org/officeDocument/2006/relationships/notesSlide" Target="/ppt/notesSlides/notesSlide1.xml" Id="Rda559c44a9e748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2039eacb542485b" /><Relationship Type="http://schemas.openxmlformats.org/officeDocument/2006/relationships/image" Target="/ppt/media/image2.png" Id="Rf874000fbafc440c" /><Relationship Type="http://schemas.openxmlformats.org/officeDocument/2006/relationships/notesSlide" Target="/ppt/notesSlides/notesSlide2.xml" Id="R53ad45a9a8c44a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9f1f919917b4d95" /><Relationship Type="http://schemas.openxmlformats.org/officeDocument/2006/relationships/image" Target="/ppt/media/image3.png" Id="R72246eb3b8f3487f" /><Relationship Type="http://schemas.openxmlformats.org/officeDocument/2006/relationships/notesSlide" Target="/ppt/notesSlides/notesSlide3.xml" Id="R1682653bca274c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7ef22c5e1e04d46" /><Relationship Type="http://schemas.openxmlformats.org/officeDocument/2006/relationships/image" Target="/ppt/media/image4.png" Id="R9397cceba2594b0a" /><Relationship Type="http://schemas.openxmlformats.org/officeDocument/2006/relationships/notesSlide" Target="/ppt/notesSlides/notesSlide4.xml" Id="Rb0b42ca56c3f4e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7e976ab65d942fc" /><Relationship Type="http://schemas.openxmlformats.org/officeDocument/2006/relationships/image" Target="/ppt/media/image5.png" Id="R9ac594b0a08c4f1e" /><Relationship Type="http://schemas.openxmlformats.org/officeDocument/2006/relationships/notesSlide" Target="/ppt/notesSlides/notesSlide5.xml" Id="R1f2c33e8fd0142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eb4a3d9043431f" /><Relationship Type="http://schemas.openxmlformats.org/officeDocument/2006/relationships/image" Target="/ppt/media/image6.png" Id="R0f6bd430b1e24e05" /><Relationship Type="http://schemas.openxmlformats.org/officeDocument/2006/relationships/notesSlide" Target="/ppt/notesSlides/notesSlide6.xml" Id="R73e438c088e647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ed0c0787cc4ea4" /><Relationship Type="http://schemas.openxmlformats.org/officeDocument/2006/relationships/image" Target="/ppt/media/image7.png" Id="R2a306002d72d4830" /><Relationship Type="http://schemas.openxmlformats.org/officeDocument/2006/relationships/notesSlide" Target="/ppt/notesSlides/notesSlide7.xml" Id="R7ffcc55ce75c4bb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5b1573efce42b8" /><Relationship Type="http://schemas.openxmlformats.org/officeDocument/2006/relationships/image" Target="/ppt/media/image8.png" Id="R1fb34ec4f40545c2" /><Relationship Type="http://schemas.openxmlformats.org/officeDocument/2006/relationships/notesSlide" Target="/ppt/notesSlides/notesSlide8.xml" Id="R115d0f7f457c46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d7054edde74716" /><Relationship Type="http://schemas.openxmlformats.org/officeDocument/2006/relationships/image" Target="/ppt/media/image9.png" Id="R654cf3eda0ff4ccb" /><Relationship Type="http://schemas.openxmlformats.org/officeDocument/2006/relationships/notesSlide" Target="/ppt/notesSlides/notesSlide9.xml" Id="R05b437e2eca14e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8aeb6ca2a948f7" /><Relationship Type="http://schemas.openxmlformats.org/officeDocument/2006/relationships/image" Target="/ppt/media/image10.png" Id="R0dcb93f8244f48cb" /><Relationship Type="http://schemas.openxmlformats.org/officeDocument/2006/relationships/notesSlide" Target="/ppt/notesSlides/notesSlide10.xml" Id="Rc93dc99448b6466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c4f86f476bf4869" /><Relationship Type="http://schemas.openxmlformats.org/officeDocument/2006/relationships/image" Target="/ppt/media/image11.png" Id="R336775cf61624ea0" /><Relationship Type="http://schemas.openxmlformats.org/officeDocument/2006/relationships/notesSlide" Target="/ppt/notesSlides/notesSlide11.xml" Id="Rb31815ac5bca44c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e558395f904046" /><Relationship Type="http://schemas.openxmlformats.org/officeDocument/2006/relationships/image" Target="/ppt/media/image12.png" Id="R412dd991b64e4dba" /><Relationship Type="http://schemas.openxmlformats.org/officeDocument/2006/relationships/notesSlide" Target="/ppt/notesSlides/notesSlide12.xml" Id="R3911848c6f2848f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79f05e698a34a51" /><Relationship Type="http://schemas.openxmlformats.org/officeDocument/2006/relationships/image" Target="/ppt/media/image13.png" Id="Rc2e5de7934a047f4" /><Relationship Type="http://schemas.openxmlformats.org/officeDocument/2006/relationships/notesSlide" Target="/ppt/notesSlides/notesSlide13.xml" Id="R3c9ca94adc5d4a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8dcc40173447ed" /><Relationship Type="http://schemas.openxmlformats.org/officeDocument/2006/relationships/image" Target="/ppt/media/image14.png" Id="R0511018834494df5" /><Relationship Type="http://schemas.openxmlformats.org/officeDocument/2006/relationships/notesSlide" Target="/ppt/notesSlides/notesSlide14.xml" Id="R8941f12207424e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cc830f3c70f4432" /><Relationship Type="http://schemas.openxmlformats.org/officeDocument/2006/relationships/image" Target="/ppt/media/image15.png" Id="Rccc8f6826b0d4e28" /><Relationship Type="http://schemas.openxmlformats.org/officeDocument/2006/relationships/notesSlide" Target="/ppt/notesSlides/notesSlide15.xml" Id="R731acda6cbdd483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7208e606b6c470b" /><Relationship Type="http://schemas.openxmlformats.org/officeDocument/2006/relationships/image" Target="/ppt/media/image16.png" Id="Rd8dbd40c7d2240d5" /><Relationship Type="http://schemas.openxmlformats.org/officeDocument/2006/relationships/notesSlide" Target="/ppt/notesSlides/notesSlide16.xml" Id="Rd586a966995747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1813418f9c34ed9" /><Relationship Type="http://schemas.openxmlformats.org/officeDocument/2006/relationships/image" Target="/ppt/media/image17.png" Id="R3664c3f903d94fcf" /><Relationship Type="http://schemas.openxmlformats.org/officeDocument/2006/relationships/notesSlide" Target="/ppt/notesSlides/notesSlide17.xml" Id="R5a09ce48794f4fc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232b28141914d0a" /><Relationship Type="http://schemas.openxmlformats.org/officeDocument/2006/relationships/image" Target="/ppt/media/image18.png" Id="R4a7cf8c1c5074ede" /><Relationship Type="http://schemas.openxmlformats.org/officeDocument/2006/relationships/notesSlide" Target="/ppt/notesSlides/notesSlide18.xml" Id="Rf028dcd90b624b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e8e5c174cd44dd5" /><Relationship Type="http://schemas.openxmlformats.org/officeDocument/2006/relationships/image" Target="/ppt/media/image19.png" Id="Rfcb5b261cf6542aa" /><Relationship Type="http://schemas.openxmlformats.org/officeDocument/2006/relationships/notesSlide" Target="/ppt/notesSlides/notesSlide19.xml" Id="Rfead0e7e5231409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079855209f84e3d" /><Relationship Type="http://schemas.openxmlformats.org/officeDocument/2006/relationships/image" Target="/ppt/media/image20.png" Id="Re6ea2f5df75b44f7" /><Relationship Type="http://schemas.openxmlformats.org/officeDocument/2006/relationships/notesSlide" Target="/ppt/notesSlides/notesSlide20.xml" Id="Ra566a66844a9422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cd55066b89f4c12"/>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68398721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874000fbafc440c"/>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2458708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2246eb3b8f3487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0593692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397cceba2594b0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90232884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ac594b0a08c4f1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45420715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f6bd430b1e24e05"/>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81560246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a306002d72d483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72251768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fb34ec4f40545c2"/>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9183585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4cf3eda0ff4ccb"/>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9316313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dcb93f8244f48cb"/>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39266410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36775cf61624ea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206926879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12dd991b64e4db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52463550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e5de7934a047f4"/>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37896254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511018834494df5"/>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32269023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cc8f6826b0d4e2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56205421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8dbd40c7d2240d5"/>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78810919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664c3f903d94fc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49715588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a7cf8c1c5074ed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202918594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b5b261cf6542a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9917324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6ea2f5df75b44f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Tree>
    <p:extLst>
      <p:ext uri="{BB962C8B-B14F-4D97-AF65-F5344CB8AC3E}">
        <p14:creationId xmlns:p14="http://schemas.microsoft.com/office/powerpoint/2010/main" val="14076697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2026-09-14T11:47:17.3500000Z</dcterms:created>
  <dcterms:modified xsi:type="dcterms:W3CDTF">2026-09-14T11:47:17.3500000Z</dcterms:modified>
</coreProperties>
</file>