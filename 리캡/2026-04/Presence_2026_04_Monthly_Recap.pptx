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378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208" y="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22222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1주(3/23)</c:v>
                </c:pt>
                <c:pt idx="1">
                  <c:v>2주(3/30)</c:v>
                </c:pt>
                <c:pt idx="2">
                  <c:v>3주(4/6)</c:v>
                </c:pt>
                <c:pt idx="3">
                  <c:v>4주(4/13)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28</c:v>
                </c:pt>
                <c:pt idx="1">
                  <c:v>26</c:v>
                </c:pt>
                <c:pt idx="2">
                  <c:v>30</c:v>
                </c:pt>
                <c:pt idx="3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A5A-0B4D-8930-DB34204E742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5515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5515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</c:v>
                </c:pt>
              </c:strCache>
            </c:strRef>
          </c:tx>
          <c:spPr>
            <a:ln w="38100" cap="flat">
              <a:solidFill>
                <a:srgbClr val="1456F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456F0"/>
              </a:solidFill>
              <a:ln w="9525" cap="flat">
                <a:solidFill>
                  <a:srgbClr val="1456F0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layout>
                <c:manualLayout>
                  <c:x val="-3.5132096683530074E-2"/>
                  <c:y val="0.111111111111111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968-304E-A359-8D91CC88A266}"/>
                </c:ext>
              </c:extLst>
            </c:dLbl>
            <c:dLbl>
              <c:idx val="1"/>
              <c:layout>
                <c:manualLayout>
                  <c:x val="-4.2158516020236091E-2"/>
                  <c:y val="0.1041666666666666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7968-304E-A359-8D91CC88A266}"/>
                </c:ext>
              </c:extLst>
            </c:dLbl>
            <c:dLbl>
              <c:idx val="2"/>
              <c:layout>
                <c:manualLayout>
                  <c:x val="-3.7474236462432163E-2"/>
                  <c:y val="0.111111111111111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968-304E-A359-8D91CC88A266}"/>
                </c:ext>
              </c:extLst>
            </c:dLbl>
            <c:dLbl>
              <c:idx val="3"/>
              <c:layout>
                <c:manualLayout>
                  <c:x val="-4.4500655799138089E-2"/>
                  <c:y val="0.1041666666666666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7968-304E-A359-8D91CC88A266}"/>
                </c:ext>
              </c:extLst>
            </c:dLbl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22222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1주(3/23)</c:v>
                </c:pt>
                <c:pt idx="1">
                  <c:v>2주(3/30)</c:v>
                </c:pt>
                <c:pt idx="2">
                  <c:v>3주(4/6)</c:v>
                </c:pt>
                <c:pt idx="3">
                  <c:v>4주(4/13)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1.4</c:v>
                </c:pt>
                <c:pt idx="1">
                  <c:v>1.5</c:v>
                </c:pt>
                <c:pt idx="2">
                  <c:v>1.2</c:v>
                </c:pt>
                <c:pt idx="3">
                  <c:v>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7968-304E-A359-8D91CC88A26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5515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5515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실인컴(원)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임재영</c:v>
                </c:pt>
                <c:pt idx="1">
                  <c:v>서경욱</c:v>
                </c:pt>
                <c:pt idx="2">
                  <c:v>고윤경</c:v>
                </c:pt>
                <c:pt idx="3">
                  <c:v>박인선</c:v>
                </c:pt>
                <c:pt idx="4">
                  <c:v>김하진</c:v>
                </c:pt>
                <c:pt idx="5">
                  <c:v>윤채영</c:v>
                </c:pt>
                <c:pt idx="6">
                  <c:v>손예진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1896207</c:v>
                </c:pt>
                <c:pt idx="1">
                  <c:v>376075</c:v>
                </c:pt>
                <c:pt idx="2">
                  <c:v>2432699</c:v>
                </c:pt>
                <c:pt idx="3">
                  <c:v>1271316</c:v>
                </c:pt>
                <c:pt idx="4">
                  <c:v>68032</c:v>
                </c:pt>
                <c:pt idx="5">
                  <c:v>2508542</c:v>
                </c:pt>
                <c:pt idx="6">
                  <c:v>2764934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0A3-7F46-9DEC-DFE1B9FC98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5515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000000"/>
        </c:scaling>
        <c:delete val="0"/>
        <c:axPos val="b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5515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1주(3/23)</c:v>
                </c:pt>
              </c:strCache>
            </c:strRef>
          </c:tx>
          <c:spPr>
            <a:solidFill>
              <a:srgbClr val="1456F0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임재영</c:v>
                </c:pt>
                <c:pt idx="1">
                  <c:v>서경욱</c:v>
                </c:pt>
                <c:pt idx="2">
                  <c:v>고윤경</c:v>
                </c:pt>
                <c:pt idx="3">
                  <c:v>박인선</c:v>
                </c:pt>
                <c:pt idx="4">
                  <c:v>김하진</c:v>
                </c:pt>
                <c:pt idx="5">
                  <c:v>윤채영</c:v>
                </c:pt>
                <c:pt idx="6">
                  <c:v>손예진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13</c:v>
                </c:pt>
                <c:pt idx="1">
                  <c:v>6</c:v>
                </c:pt>
                <c:pt idx="2">
                  <c:v>8</c:v>
                </c:pt>
                <c:pt idx="3">
                  <c:v>5</c:v>
                </c:pt>
                <c:pt idx="4">
                  <c:v>1</c:v>
                </c:pt>
                <c:pt idx="5">
                  <c:v>8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449-1D4C-9539-04DC101B3E9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2주(3/30)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임재영</c:v>
                </c:pt>
                <c:pt idx="1">
                  <c:v>서경욱</c:v>
                </c:pt>
                <c:pt idx="2">
                  <c:v>고윤경</c:v>
                </c:pt>
                <c:pt idx="3">
                  <c:v>박인선</c:v>
                </c:pt>
                <c:pt idx="4">
                  <c:v>김하진</c:v>
                </c:pt>
                <c:pt idx="5">
                  <c:v>윤채영</c:v>
                </c:pt>
                <c:pt idx="6">
                  <c:v>손예진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4</c:v>
                </c:pt>
                <c:pt idx="1">
                  <c:v>2</c:v>
                </c:pt>
                <c:pt idx="2">
                  <c:v>9</c:v>
                </c:pt>
                <c:pt idx="3">
                  <c:v>4</c:v>
                </c:pt>
                <c:pt idx="4">
                  <c:v>0</c:v>
                </c:pt>
                <c:pt idx="5">
                  <c:v>10</c:v>
                </c:pt>
                <c:pt idx="6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449-1D4C-9539-04DC101B3E9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3주(4/6)</c:v>
                </c:pt>
              </c:strCache>
            </c:strRef>
          </c:tx>
          <c:spPr>
            <a:solidFill>
              <a:srgbClr val="60A5FA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임재영</c:v>
                </c:pt>
                <c:pt idx="1">
                  <c:v>서경욱</c:v>
                </c:pt>
                <c:pt idx="2">
                  <c:v>고윤경</c:v>
                </c:pt>
                <c:pt idx="3">
                  <c:v>박인선</c:v>
                </c:pt>
                <c:pt idx="4">
                  <c:v>김하진</c:v>
                </c:pt>
                <c:pt idx="5">
                  <c:v>윤채영</c:v>
                </c:pt>
                <c:pt idx="6">
                  <c:v>손예진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36</c:v>
                </c:pt>
                <c:pt idx="1">
                  <c:v>1</c:v>
                </c:pt>
                <c:pt idx="2">
                  <c:v>9</c:v>
                </c:pt>
                <c:pt idx="3">
                  <c:v>3</c:v>
                </c:pt>
                <c:pt idx="4">
                  <c:v>0</c:v>
                </c:pt>
                <c:pt idx="5">
                  <c:v>8</c:v>
                </c:pt>
                <c:pt idx="6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449-1D4C-9539-04DC101B3E95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4주(4/13)</c:v>
                </c:pt>
              </c:strCache>
            </c:strRef>
          </c:tx>
          <c:spPr>
            <a:solidFill>
              <a:srgbClr val="BFDBFE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임재영</c:v>
                </c:pt>
                <c:pt idx="1">
                  <c:v>서경욱</c:v>
                </c:pt>
                <c:pt idx="2">
                  <c:v>고윤경</c:v>
                </c:pt>
                <c:pt idx="3">
                  <c:v>박인선</c:v>
                </c:pt>
                <c:pt idx="4">
                  <c:v>김하진</c:v>
                </c:pt>
                <c:pt idx="5">
                  <c:v>윤채영</c:v>
                </c:pt>
                <c:pt idx="6">
                  <c:v>손예진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17</c:v>
                </c:pt>
                <c:pt idx="1">
                  <c:v>0</c:v>
                </c:pt>
                <c:pt idx="2">
                  <c:v>9</c:v>
                </c:pt>
                <c:pt idx="3">
                  <c:v>0</c:v>
                </c:pt>
                <c:pt idx="4">
                  <c:v>0</c:v>
                </c:pt>
                <c:pt idx="5">
                  <c:v>13</c:v>
                </c:pt>
                <c:pt idx="6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449-1D4C-9539-04DC101B3E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5515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5515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세일즈 기여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456F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4AE-C64C-B568-A75424EFC0E4}"/>
              </c:ext>
            </c:extLst>
          </c:dPt>
          <c:dPt>
            <c:idx val="1"/>
            <c:bubble3D val="0"/>
            <c:spPr>
              <a:solidFill>
                <a:srgbClr val="17437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4AE-C64C-B568-A75424EFC0E4}"/>
              </c:ext>
            </c:extLst>
          </c:dPt>
          <c:dPt>
            <c:idx val="2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4AE-C64C-B568-A75424EFC0E4}"/>
              </c:ext>
            </c:extLst>
          </c:dPt>
          <c:dPt>
            <c:idx val="3"/>
            <c:bubble3D val="0"/>
            <c:spPr>
              <a:solidFill>
                <a:srgbClr val="60A5F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4AE-C64C-B568-A75424EFC0E4}"/>
              </c:ext>
            </c:extLst>
          </c:dPt>
          <c:dPt>
            <c:idx val="4"/>
            <c:bubble3D val="0"/>
            <c:spPr>
              <a:solidFill>
                <a:srgbClr val="BFDBF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94AE-C64C-B568-A75424EFC0E4}"/>
              </c:ext>
            </c:extLst>
          </c:dPt>
          <c:dPt>
            <c:idx val="5"/>
            <c:bubble3D val="0"/>
            <c:spPr>
              <a:solidFill>
                <a:srgbClr val="EA5EC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94AE-C64C-B568-A75424EFC0E4}"/>
              </c:ext>
            </c:extLst>
          </c:dPt>
          <c:dPt>
            <c:idx val="6"/>
            <c:bubble3D val="0"/>
            <c:spPr>
              <a:solidFill>
                <a:srgbClr val="60D39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94AE-C64C-B568-A75424EFC0E4}"/>
              </c:ext>
            </c:extLst>
          </c:dPt>
          <c:cat>
            <c:strRef>
              <c:f>Sheet1!$A$2:$A$8</c:f>
              <c:strCache>
                <c:ptCount val="7"/>
                <c:pt idx="0">
                  <c:v>임재영 AOP(27)</c:v>
                </c:pt>
                <c:pt idx="1">
                  <c:v>서경욱 LR(7)</c:v>
                </c:pt>
                <c:pt idx="2">
                  <c:v>고윤경 LR(36)</c:v>
                </c:pt>
                <c:pt idx="3">
                  <c:v>박인선 LR(17)</c:v>
                </c:pt>
                <c:pt idx="4">
                  <c:v>김하진 IC(0)</c:v>
                </c:pt>
                <c:pt idx="5">
                  <c:v>윤채영 TL(39)</c:v>
                </c:pt>
                <c:pt idx="6">
                  <c:v>손예진 LR(34)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27</c:v>
                </c:pt>
                <c:pt idx="1">
                  <c:v>7</c:v>
                </c:pt>
                <c:pt idx="2">
                  <c:v>36</c:v>
                </c:pt>
                <c:pt idx="3">
                  <c:v>17</c:v>
                </c:pt>
                <c:pt idx="4">
                  <c:v>0</c:v>
                </c:pt>
                <c:pt idx="5">
                  <c:v>39</c:v>
                </c:pt>
                <c:pt idx="6">
                  <c:v>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94AE-C64C-B568-A75424EFC0E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3353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3034" y="164592"/>
            <a:ext cx="721462" cy="65836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1920240"/>
            <a:ext cx="11277295" cy="4114800"/>
          </a:xfrm>
          <a:prstGeom prst="roundRect">
            <a:avLst>
              <a:gd name="adj" fmla="val 4889"/>
            </a:avLst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  <a:effectLst>
            <a:outerShdw blurRad="190500" dist="50800" dir="8100000" algn="bl" rotWithShape="0">
              <a:srgbClr val="2C1E74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"/>
          <p:cNvSpPr/>
          <p:nvPr/>
        </p:nvSpPr>
        <p:spPr>
          <a:xfrm>
            <a:off x="822960" y="2286000"/>
            <a:ext cx="1737360" cy="329184"/>
          </a:xfrm>
          <a:prstGeom prst="roundRect">
            <a:avLst>
              <a:gd name="adj" fmla="val 41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2"/>
          <p:cNvSpPr/>
          <p:nvPr/>
        </p:nvSpPr>
        <p:spPr>
          <a:xfrm>
            <a:off x="822960" y="228600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2026.04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22960" y="27432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26년 4월 Recap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822960" y="382219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기간: 2026.03.23 – 2026.04.19  |  Presence Team · 임재영 AOP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434340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160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194560" y="437083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pcs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2960" y="48006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월간 총 세일즈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520440" y="4370832"/>
            <a:ext cx="0" cy="640080"/>
          </a:xfrm>
          <a:prstGeom prst="line">
            <a:avLst/>
          </a:prstGeom>
          <a:noFill/>
          <a:ln w="12700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3611880" y="434340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₩11,317,805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3611880" y="48006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월간 실인컴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309360" y="4370832"/>
            <a:ext cx="0" cy="640080"/>
          </a:xfrm>
          <a:prstGeom prst="line">
            <a:avLst/>
          </a:prstGeom>
          <a:noFill/>
          <a:ln w="12700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6400800" y="434340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1.5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7772400" y="437083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AVG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400800" y="48006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월간 AVG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9098280" y="4370832"/>
            <a:ext cx="0" cy="640080"/>
          </a:xfrm>
          <a:prstGeom prst="line">
            <a:avLst/>
          </a:prstGeom>
          <a:noFill/>
          <a:ln w="12700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9189720" y="434340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105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10561320" y="437083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9189720" y="48006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Field H/C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57200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목차</a:t>
            </a:r>
            <a:endParaRPr lang="en-US" sz="1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3034" y="164592"/>
            <a:ext cx="721462" cy="6583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리캡 목차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457200" y="149047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6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이번 달 성과와 세일즈 분석, 팀원 현황, 그리고 5월 플랜을 담았습니다.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2276856"/>
            <a:ext cx="3566160" cy="1417320"/>
          </a:xfrm>
          <a:prstGeom prst="roundRect">
            <a:avLst>
              <a:gd name="adj" fmla="val 838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640080" y="2459736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640080" y="24597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0080" y="284378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세일즈 현황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40080" y="324612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주차별 Sales/AVG 추이 · 월간 총합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251960" y="2276856"/>
            <a:ext cx="3566160" cy="1417320"/>
          </a:xfrm>
          <a:prstGeom prst="roundRect">
            <a:avLst>
              <a:gd name="adj" fmla="val 838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434840" y="2459736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4434840" y="24597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434840" y="284378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세일즈 디테일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434840" y="324612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팀원별 세일즈 · 실인컴 · 리젝 · 리섭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046720" y="2276856"/>
            <a:ext cx="3566160" cy="1417320"/>
          </a:xfrm>
          <a:prstGeom prst="roundRect">
            <a:avLst>
              <a:gd name="adj" fmla="val 838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5"/>
          <p:cNvSpPr/>
          <p:nvPr/>
        </p:nvSpPr>
        <p:spPr>
          <a:xfrm>
            <a:off x="8229600" y="2459736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8229600" y="24597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8229600" y="284378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생산성 분석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8229600" y="324612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주차별 인컴 추이 · 팀원별 실인컴 비교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57200" y="3877056"/>
            <a:ext cx="3566160" cy="1417320"/>
          </a:xfrm>
          <a:prstGeom prst="roundRect">
            <a:avLst>
              <a:gd name="adj" fmla="val 838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0"/>
          <p:cNvSpPr/>
          <p:nvPr/>
        </p:nvSpPr>
        <p:spPr>
          <a:xfrm>
            <a:off x="640080" y="4059936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/>
          <p:nvPr/>
        </p:nvSpPr>
        <p:spPr>
          <a:xfrm>
            <a:off x="640080" y="40599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40080" y="444398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팀원별 성과 카드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640080" y="484632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개인 KPI · 주차별 세일즈 흐름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251960" y="3877056"/>
            <a:ext cx="3566160" cy="1417320"/>
          </a:xfrm>
          <a:prstGeom prst="roundRect">
            <a:avLst>
              <a:gd name="adj" fmla="val 838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5"/>
          <p:cNvSpPr/>
          <p:nvPr/>
        </p:nvSpPr>
        <p:spPr>
          <a:xfrm>
            <a:off x="4434840" y="4059936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/>
          <p:nvPr/>
        </p:nvSpPr>
        <p:spPr>
          <a:xfrm>
            <a:off x="4434840" y="40599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4434840" y="444398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리쿠르팅 &amp; H/C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4434840" y="484632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팀 구성 · 손예진 신규 합류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8046720" y="3877056"/>
            <a:ext cx="3566160" cy="1417320"/>
          </a:xfrm>
          <a:prstGeom prst="roundRect">
            <a:avLst>
              <a:gd name="adj" fmla="val 838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0"/>
          <p:cNvSpPr/>
          <p:nvPr/>
        </p:nvSpPr>
        <p:spPr>
          <a:xfrm>
            <a:off x="8229600" y="4059936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1"/>
          <p:cNvSpPr/>
          <p:nvPr/>
        </p:nvSpPr>
        <p:spPr>
          <a:xfrm>
            <a:off x="8229600" y="40599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8229600" y="444398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5월 Goal &amp; Plan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8229600" y="484632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목표 · 실행 전략 · NO ZERO DAYS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세일즈 현황</a:t>
            </a:r>
            <a:endParaRPr lang="en-US" sz="1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3034" y="164592"/>
            <a:ext cx="721462" cy="6583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주차별 팀 세일즈 현황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457200" y="149047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6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4주간 Sales · AVG 추이 (2026.03.23 – 04.19)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2276856"/>
            <a:ext cx="2633472" cy="1170432"/>
          </a:xfrm>
          <a:prstGeom prst="roundRect">
            <a:avLst>
              <a:gd name="adj" fmla="val 101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640080" y="2414016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160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640080" y="2414016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13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pcs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" y="3008376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Gross 세일즈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09544" y="2276856"/>
            <a:ext cx="2633472" cy="1170432"/>
          </a:xfrm>
          <a:prstGeom prst="roundRect">
            <a:avLst>
              <a:gd name="adj" fmla="val 101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3392424" y="2414016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1.5</a:t>
            </a:r>
            <a:endParaRPr lang="en-US" sz="3400" dirty="0"/>
          </a:p>
        </p:txBody>
      </p:sp>
      <p:sp>
        <p:nvSpPr>
          <p:cNvPr id="13" name="Text 10"/>
          <p:cNvSpPr/>
          <p:nvPr/>
        </p:nvSpPr>
        <p:spPr>
          <a:xfrm>
            <a:off x="3392424" y="2414016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13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AVG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392424" y="3008376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월간 팀 AVG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961888" y="2276856"/>
            <a:ext cx="2633472" cy="1170432"/>
          </a:xfrm>
          <a:prstGeom prst="roundRect">
            <a:avLst>
              <a:gd name="adj" fmla="val 101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6144768" y="2414016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105</a:t>
            </a:r>
            <a:endParaRPr lang="en-US" sz="3400" dirty="0"/>
          </a:p>
        </p:txBody>
      </p:sp>
      <p:sp>
        <p:nvSpPr>
          <p:cNvPr id="17" name="Text 14"/>
          <p:cNvSpPr/>
          <p:nvPr/>
        </p:nvSpPr>
        <p:spPr>
          <a:xfrm>
            <a:off x="6144768" y="2414016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13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144768" y="3008376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 Field H/C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714232" y="2276856"/>
            <a:ext cx="2633472" cy="1170432"/>
          </a:xfrm>
          <a:prstGeom prst="roundRect">
            <a:avLst>
              <a:gd name="adj" fmla="val 101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/>
          <p:nvPr/>
        </p:nvSpPr>
        <p:spPr>
          <a:xfrm>
            <a:off x="8897112" y="2414016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113</a:t>
            </a:r>
            <a:endParaRPr lang="en-US" sz="3400" dirty="0"/>
          </a:p>
        </p:txBody>
      </p:sp>
      <p:sp>
        <p:nvSpPr>
          <p:cNvPr id="21" name="Text 18"/>
          <p:cNvSpPr/>
          <p:nvPr/>
        </p:nvSpPr>
        <p:spPr>
          <a:xfrm>
            <a:off x="8897112" y="2414016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13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pcs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897112" y="3008376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Net 세일즈 (리젝 제외)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57200" y="3703320"/>
            <a:ext cx="5486400" cy="2514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/>
          <p:nvPr/>
        </p:nvSpPr>
        <p:spPr>
          <a:xfrm>
            <a:off x="640080" y="38404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주차별 Sales 추이</a:t>
            </a:r>
            <a:endParaRPr lang="en-US" sz="1400" dirty="0"/>
          </a:p>
        </p:txBody>
      </p:sp>
      <p:graphicFrame>
        <p:nvGraphicFramePr>
          <p:cNvPr id="25" name="Chart 0"/>
          <p:cNvGraphicFramePr/>
          <p:nvPr/>
        </p:nvGraphicFramePr>
        <p:xfrm>
          <a:off x="548640" y="4160520"/>
          <a:ext cx="530352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6" name="Text 22"/>
          <p:cNvSpPr/>
          <p:nvPr/>
        </p:nvSpPr>
        <p:spPr>
          <a:xfrm>
            <a:off x="640080" y="5961888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단위: pcs  |  Field H/C 기준 집계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6126480" y="3703320"/>
            <a:ext cx="5605272" cy="2514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4"/>
          <p:cNvSpPr/>
          <p:nvPr/>
        </p:nvSpPr>
        <p:spPr>
          <a:xfrm>
            <a:off x="6309360" y="38404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주차별 AVG 추이</a:t>
            </a:r>
            <a:endParaRPr lang="en-US" sz="1400" dirty="0"/>
          </a:p>
        </p:txBody>
      </p:sp>
      <p:graphicFrame>
        <p:nvGraphicFramePr>
          <p:cNvPr id="29" name="Chart 1"/>
          <p:cNvGraphicFramePr/>
          <p:nvPr>
            <p:extLst>
              <p:ext uri="{D42A27DB-BD31-4B8C-83A1-F6EECF244321}">
                <p14:modId xmlns:p14="http://schemas.microsoft.com/office/powerpoint/2010/main" val="2419370413"/>
              </p:ext>
            </p:extLst>
          </p:nvPr>
        </p:nvGraphicFramePr>
        <p:xfrm>
          <a:off x="6217920" y="4160520"/>
          <a:ext cx="5422392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0" name="Text 25"/>
          <p:cNvSpPr/>
          <p:nvPr/>
        </p:nvSpPr>
        <p:spPr>
          <a:xfrm>
            <a:off x="6309360" y="5961888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A3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↑ 4주 연속 상승 추세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세일즈 디테일</a:t>
            </a:r>
            <a:endParaRPr lang="en-US" sz="1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3034" y="164592"/>
            <a:ext cx="721462" cy="6583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팀원별 세일즈 성과 상세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457200" y="149047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6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월간 세일즈 · 실인컴 · 리젝 · 리섭 종합 (2026년 4월)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2276856"/>
            <a:ext cx="11277295" cy="493776"/>
          </a:xfrm>
          <a:prstGeom prst="roundRect">
            <a:avLst>
              <a:gd name="adj" fmla="val 18519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457200" y="2276856"/>
            <a:ext cx="1572768" cy="493776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팀원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029968" y="2276856"/>
            <a:ext cx="100218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필드일수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032150" y="2276856"/>
            <a:ext cx="100218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세일즈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034333" y="2276856"/>
            <a:ext cx="1691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실인컴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725973" y="2276856"/>
            <a:ext cx="100218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리젝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728155" y="2276856"/>
            <a:ext cx="100218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리섭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730338" y="2276856"/>
            <a:ext cx="100218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1주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732520" y="2276856"/>
            <a:ext cx="100218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2주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9734702" y="2276856"/>
            <a:ext cx="100218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3주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0736885" y="2276856"/>
            <a:ext cx="100218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4주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7200" y="3264408"/>
            <a:ext cx="112772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457200" y="2770632"/>
            <a:ext cx="1572768" cy="493776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임재영 AOP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2029968" y="2770632"/>
            <a:ext cx="100218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14일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3032150" y="2770632"/>
            <a:ext cx="100218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27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034333" y="2770632"/>
            <a:ext cx="1691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₩1,896,207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725973" y="2770632"/>
            <a:ext cx="100218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F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728155" y="2770632"/>
            <a:ext cx="100218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7730338" y="2770632"/>
            <a:ext cx="100218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8732520" y="2770632"/>
            <a:ext cx="100218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9734702" y="2770632"/>
            <a:ext cx="100218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10736885" y="2770632"/>
            <a:ext cx="100218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264408"/>
            <a:ext cx="11277295" cy="493776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7"/>
          <p:cNvSpPr/>
          <p:nvPr/>
        </p:nvSpPr>
        <p:spPr>
          <a:xfrm>
            <a:off x="457200" y="3758184"/>
            <a:ext cx="112772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8"/>
          <p:cNvSpPr/>
          <p:nvPr/>
        </p:nvSpPr>
        <p:spPr>
          <a:xfrm>
            <a:off x="457200" y="3264408"/>
            <a:ext cx="1572768" cy="493776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서경욱 LR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2029968" y="3264408"/>
            <a:ext cx="100218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6일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3032150" y="3264408"/>
            <a:ext cx="100218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4034333" y="3264408"/>
            <a:ext cx="1691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₩376,075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5725973" y="3264408"/>
            <a:ext cx="100218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728155" y="3264408"/>
            <a:ext cx="100218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7730338" y="3264408"/>
            <a:ext cx="100218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8732520" y="3264408"/>
            <a:ext cx="100218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9734702" y="3264408"/>
            <a:ext cx="100218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10736885" y="3264408"/>
            <a:ext cx="100218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457200" y="4251960"/>
            <a:ext cx="112772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9"/>
          <p:cNvSpPr/>
          <p:nvPr/>
        </p:nvSpPr>
        <p:spPr>
          <a:xfrm>
            <a:off x="457200" y="3758184"/>
            <a:ext cx="1572768" cy="493776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고윤경 LR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2029968" y="3758184"/>
            <a:ext cx="100218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23일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3032150" y="3758184"/>
            <a:ext cx="100218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36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4034333" y="3758184"/>
            <a:ext cx="1691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₩2,432,699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5725973" y="3758184"/>
            <a:ext cx="100218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6728155" y="3758184"/>
            <a:ext cx="100218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00" dirty="0"/>
          </a:p>
        </p:txBody>
      </p:sp>
      <p:sp>
        <p:nvSpPr>
          <p:cNvPr id="48" name="Text 45"/>
          <p:cNvSpPr/>
          <p:nvPr/>
        </p:nvSpPr>
        <p:spPr>
          <a:xfrm>
            <a:off x="7730338" y="3758184"/>
            <a:ext cx="100218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</a:t>
            </a:r>
            <a:endParaRPr lang="en-US" sz="1100" dirty="0"/>
          </a:p>
        </p:txBody>
      </p:sp>
      <p:sp>
        <p:nvSpPr>
          <p:cNvPr id="49" name="Text 46"/>
          <p:cNvSpPr/>
          <p:nvPr/>
        </p:nvSpPr>
        <p:spPr>
          <a:xfrm>
            <a:off x="8732520" y="3758184"/>
            <a:ext cx="100218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</a:t>
            </a:r>
            <a:endParaRPr lang="en-US" sz="1100" dirty="0"/>
          </a:p>
        </p:txBody>
      </p:sp>
      <p:sp>
        <p:nvSpPr>
          <p:cNvPr id="50" name="Text 47"/>
          <p:cNvSpPr/>
          <p:nvPr/>
        </p:nvSpPr>
        <p:spPr>
          <a:xfrm>
            <a:off x="9734702" y="3758184"/>
            <a:ext cx="100218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</a:t>
            </a:r>
            <a:endParaRPr lang="en-US" sz="1100" dirty="0"/>
          </a:p>
        </p:txBody>
      </p:sp>
      <p:sp>
        <p:nvSpPr>
          <p:cNvPr id="51" name="Text 48"/>
          <p:cNvSpPr/>
          <p:nvPr/>
        </p:nvSpPr>
        <p:spPr>
          <a:xfrm>
            <a:off x="10736885" y="3758184"/>
            <a:ext cx="100218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1100" dirty="0"/>
          </a:p>
        </p:txBody>
      </p:sp>
      <p:sp>
        <p:nvSpPr>
          <p:cNvPr id="52" name="Shape 49"/>
          <p:cNvSpPr/>
          <p:nvPr/>
        </p:nvSpPr>
        <p:spPr>
          <a:xfrm>
            <a:off x="457200" y="4251960"/>
            <a:ext cx="11277295" cy="493776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0"/>
          <p:cNvSpPr/>
          <p:nvPr/>
        </p:nvSpPr>
        <p:spPr>
          <a:xfrm>
            <a:off x="457200" y="4745736"/>
            <a:ext cx="112772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1"/>
          <p:cNvSpPr/>
          <p:nvPr/>
        </p:nvSpPr>
        <p:spPr>
          <a:xfrm>
            <a:off x="457200" y="4251960"/>
            <a:ext cx="1572768" cy="493776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박인선 LR</a:t>
            </a:r>
            <a:endParaRPr lang="en-US" sz="1100" dirty="0"/>
          </a:p>
        </p:txBody>
      </p:sp>
      <p:sp>
        <p:nvSpPr>
          <p:cNvPr id="55" name="Text 52"/>
          <p:cNvSpPr/>
          <p:nvPr/>
        </p:nvSpPr>
        <p:spPr>
          <a:xfrm>
            <a:off x="2029968" y="4251960"/>
            <a:ext cx="100218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19일</a:t>
            </a:r>
            <a:endParaRPr lang="en-US" sz="1100" dirty="0"/>
          </a:p>
        </p:txBody>
      </p:sp>
      <p:sp>
        <p:nvSpPr>
          <p:cNvPr id="56" name="Text 53"/>
          <p:cNvSpPr/>
          <p:nvPr/>
        </p:nvSpPr>
        <p:spPr>
          <a:xfrm>
            <a:off x="3032150" y="4251960"/>
            <a:ext cx="100218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</a:t>
            </a:r>
            <a:endParaRPr lang="en-US" sz="1100" dirty="0"/>
          </a:p>
        </p:txBody>
      </p:sp>
      <p:sp>
        <p:nvSpPr>
          <p:cNvPr id="57" name="Text 54"/>
          <p:cNvSpPr/>
          <p:nvPr/>
        </p:nvSpPr>
        <p:spPr>
          <a:xfrm>
            <a:off x="4034333" y="4251960"/>
            <a:ext cx="1691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₩1,271,316</a:t>
            </a:r>
            <a:endParaRPr lang="en-US" sz="1100" dirty="0"/>
          </a:p>
        </p:txBody>
      </p:sp>
      <p:sp>
        <p:nvSpPr>
          <p:cNvPr id="58" name="Text 55"/>
          <p:cNvSpPr/>
          <p:nvPr/>
        </p:nvSpPr>
        <p:spPr>
          <a:xfrm>
            <a:off x="5725973" y="4251960"/>
            <a:ext cx="100218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00" dirty="0"/>
          </a:p>
        </p:txBody>
      </p:sp>
      <p:sp>
        <p:nvSpPr>
          <p:cNvPr id="59" name="Text 56"/>
          <p:cNvSpPr/>
          <p:nvPr/>
        </p:nvSpPr>
        <p:spPr>
          <a:xfrm>
            <a:off x="6728155" y="4251960"/>
            <a:ext cx="100218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</a:t>
            </a:r>
            <a:endParaRPr lang="en-US" sz="1100" dirty="0"/>
          </a:p>
        </p:txBody>
      </p:sp>
      <p:sp>
        <p:nvSpPr>
          <p:cNvPr id="60" name="Text 57"/>
          <p:cNvSpPr/>
          <p:nvPr/>
        </p:nvSpPr>
        <p:spPr>
          <a:xfrm>
            <a:off x="7730338" y="4251960"/>
            <a:ext cx="100218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100" dirty="0"/>
          </a:p>
        </p:txBody>
      </p:sp>
      <p:sp>
        <p:nvSpPr>
          <p:cNvPr id="61" name="Text 58"/>
          <p:cNvSpPr/>
          <p:nvPr/>
        </p:nvSpPr>
        <p:spPr>
          <a:xfrm>
            <a:off x="8732520" y="4251960"/>
            <a:ext cx="100218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100" dirty="0"/>
          </a:p>
        </p:txBody>
      </p:sp>
      <p:sp>
        <p:nvSpPr>
          <p:cNvPr id="62" name="Text 59"/>
          <p:cNvSpPr/>
          <p:nvPr/>
        </p:nvSpPr>
        <p:spPr>
          <a:xfrm>
            <a:off x="9734702" y="4251960"/>
            <a:ext cx="100218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00" dirty="0"/>
          </a:p>
        </p:txBody>
      </p:sp>
      <p:sp>
        <p:nvSpPr>
          <p:cNvPr id="63" name="Text 60"/>
          <p:cNvSpPr/>
          <p:nvPr/>
        </p:nvSpPr>
        <p:spPr>
          <a:xfrm>
            <a:off x="10736885" y="4251960"/>
            <a:ext cx="100218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100" dirty="0"/>
          </a:p>
        </p:txBody>
      </p:sp>
      <p:sp>
        <p:nvSpPr>
          <p:cNvPr id="64" name="Shape 61"/>
          <p:cNvSpPr/>
          <p:nvPr/>
        </p:nvSpPr>
        <p:spPr>
          <a:xfrm>
            <a:off x="457200" y="5239512"/>
            <a:ext cx="112772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Text 62"/>
          <p:cNvSpPr/>
          <p:nvPr/>
        </p:nvSpPr>
        <p:spPr>
          <a:xfrm>
            <a:off x="457200" y="4745736"/>
            <a:ext cx="1572768" cy="493776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김하진 IC</a:t>
            </a:r>
            <a:endParaRPr lang="en-US" sz="1100" dirty="0"/>
          </a:p>
        </p:txBody>
      </p:sp>
      <p:sp>
        <p:nvSpPr>
          <p:cNvPr id="66" name="Text 63"/>
          <p:cNvSpPr/>
          <p:nvPr/>
        </p:nvSpPr>
        <p:spPr>
          <a:xfrm>
            <a:off x="2029968" y="4745736"/>
            <a:ext cx="100218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3일</a:t>
            </a:r>
            <a:endParaRPr lang="en-US" sz="1100" dirty="0"/>
          </a:p>
        </p:txBody>
      </p:sp>
      <p:sp>
        <p:nvSpPr>
          <p:cNvPr id="67" name="Text 64"/>
          <p:cNvSpPr/>
          <p:nvPr/>
        </p:nvSpPr>
        <p:spPr>
          <a:xfrm>
            <a:off x="3032150" y="4745736"/>
            <a:ext cx="100218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</a:t>
            </a:r>
            <a:endParaRPr lang="en-US" sz="1100" dirty="0"/>
          </a:p>
        </p:txBody>
      </p:sp>
      <p:sp>
        <p:nvSpPr>
          <p:cNvPr id="68" name="Text 65"/>
          <p:cNvSpPr/>
          <p:nvPr/>
        </p:nvSpPr>
        <p:spPr>
          <a:xfrm>
            <a:off x="4034333" y="4745736"/>
            <a:ext cx="1691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₩68,032</a:t>
            </a:r>
            <a:endParaRPr lang="en-US" sz="1100" dirty="0"/>
          </a:p>
        </p:txBody>
      </p:sp>
      <p:sp>
        <p:nvSpPr>
          <p:cNvPr id="69" name="Text 66"/>
          <p:cNvSpPr/>
          <p:nvPr/>
        </p:nvSpPr>
        <p:spPr>
          <a:xfrm>
            <a:off x="5725973" y="4745736"/>
            <a:ext cx="100218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00" dirty="0"/>
          </a:p>
        </p:txBody>
      </p:sp>
      <p:sp>
        <p:nvSpPr>
          <p:cNvPr id="70" name="Text 67"/>
          <p:cNvSpPr/>
          <p:nvPr/>
        </p:nvSpPr>
        <p:spPr>
          <a:xfrm>
            <a:off x="6728155" y="4745736"/>
            <a:ext cx="100218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</a:t>
            </a:r>
            <a:endParaRPr lang="en-US" sz="1100" dirty="0"/>
          </a:p>
        </p:txBody>
      </p:sp>
      <p:sp>
        <p:nvSpPr>
          <p:cNvPr id="71" name="Text 68"/>
          <p:cNvSpPr/>
          <p:nvPr/>
        </p:nvSpPr>
        <p:spPr>
          <a:xfrm>
            <a:off x="7730338" y="4745736"/>
            <a:ext cx="100218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</a:t>
            </a:r>
            <a:endParaRPr lang="en-US" sz="1100" dirty="0"/>
          </a:p>
        </p:txBody>
      </p:sp>
      <p:sp>
        <p:nvSpPr>
          <p:cNvPr id="72" name="Text 69"/>
          <p:cNvSpPr/>
          <p:nvPr/>
        </p:nvSpPr>
        <p:spPr>
          <a:xfrm>
            <a:off x="8732520" y="4745736"/>
            <a:ext cx="100218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</a:t>
            </a:r>
            <a:endParaRPr lang="en-US" sz="1100" dirty="0"/>
          </a:p>
        </p:txBody>
      </p:sp>
      <p:sp>
        <p:nvSpPr>
          <p:cNvPr id="73" name="Text 70"/>
          <p:cNvSpPr/>
          <p:nvPr/>
        </p:nvSpPr>
        <p:spPr>
          <a:xfrm>
            <a:off x="9734702" y="4745736"/>
            <a:ext cx="100218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</a:t>
            </a:r>
            <a:endParaRPr lang="en-US" sz="1100" dirty="0"/>
          </a:p>
        </p:txBody>
      </p:sp>
      <p:sp>
        <p:nvSpPr>
          <p:cNvPr id="74" name="Text 71"/>
          <p:cNvSpPr/>
          <p:nvPr/>
        </p:nvSpPr>
        <p:spPr>
          <a:xfrm>
            <a:off x="10736885" y="4745736"/>
            <a:ext cx="100218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</a:t>
            </a:r>
            <a:endParaRPr lang="en-US" sz="1100" dirty="0"/>
          </a:p>
        </p:txBody>
      </p:sp>
      <p:sp>
        <p:nvSpPr>
          <p:cNvPr id="75" name="Shape 72"/>
          <p:cNvSpPr/>
          <p:nvPr/>
        </p:nvSpPr>
        <p:spPr>
          <a:xfrm>
            <a:off x="457200" y="5239512"/>
            <a:ext cx="11277295" cy="493776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Shape 73"/>
          <p:cNvSpPr/>
          <p:nvPr/>
        </p:nvSpPr>
        <p:spPr>
          <a:xfrm>
            <a:off x="457200" y="5733288"/>
            <a:ext cx="112772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7" name="Text 74"/>
          <p:cNvSpPr/>
          <p:nvPr/>
        </p:nvSpPr>
        <p:spPr>
          <a:xfrm>
            <a:off x="457200" y="5239512"/>
            <a:ext cx="1572768" cy="493776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윤채영 TL</a:t>
            </a:r>
            <a:endParaRPr lang="en-US" sz="1100" dirty="0"/>
          </a:p>
        </p:txBody>
      </p:sp>
      <p:sp>
        <p:nvSpPr>
          <p:cNvPr id="78" name="Text 75"/>
          <p:cNvSpPr/>
          <p:nvPr/>
        </p:nvSpPr>
        <p:spPr>
          <a:xfrm>
            <a:off x="2029968" y="5239512"/>
            <a:ext cx="100218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19일</a:t>
            </a:r>
            <a:endParaRPr lang="en-US" sz="1100" dirty="0"/>
          </a:p>
        </p:txBody>
      </p:sp>
      <p:sp>
        <p:nvSpPr>
          <p:cNvPr id="79" name="Text 76"/>
          <p:cNvSpPr/>
          <p:nvPr/>
        </p:nvSpPr>
        <p:spPr>
          <a:xfrm>
            <a:off x="3032150" y="5239512"/>
            <a:ext cx="100218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39</a:t>
            </a:r>
            <a:endParaRPr lang="en-US" sz="1100" dirty="0"/>
          </a:p>
        </p:txBody>
      </p:sp>
      <p:sp>
        <p:nvSpPr>
          <p:cNvPr id="80" name="Text 77"/>
          <p:cNvSpPr/>
          <p:nvPr/>
        </p:nvSpPr>
        <p:spPr>
          <a:xfrm>
            <a:off x="4034333" y="5239512"/>
            <a:ext cx="1691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₩2,508,542</a:t>
            </a:r>
            <a:endParaRPr lang="en-US" sz="1100" dirty="0"/>
          </a:p>
        </p:txBody>
      </p:sp>
      <p:sp>
        <p:nvSpPr>
          <p:cNvPr id="81" name="Text 78"/>
          <p:cNvSpPr/>
          <p:nvPr/>
        </p:nvSpPr>
        <p:spPr>
          <a:xfrm>
            <a:off x="5725973" y="5239512"/>
            <a:ext cx="100218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F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</a:t>
            </a:r>
            <a:endParaRPr lang="en-US" sz="1100" dirty="0"/>
          </a:p>
        </p:txBody>
      </p:sp>
      <p:sp>
        <p:nvSpPr>
          <p:cNvPr id="82" name="Text 79"/>
          <p:cNvSpPr/>
          <p:nvPr/>
        </p:nvSpPr>
        <p:spPr>
          <a:xfrm>
            <a:off x="6728155" y="5239512"/>
            <a:ext cx="100218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00" dirty="0"/>
          </a:p>
        </p:txBody>
      </p:sp>
      <p:sp>
        <p:nvSpPr>
          <p:cNvPr id="83" name="Text 80"/>
          <p:cNvSpPr/>
          <p:nvPr/>
        </p:nvSpPr>
        <p:spPr>
          <a:xfrm>
            <a:off x="7730338" y="5239512"/>
            <a:ext cx="100218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</a:t>
            </a:r>
            <a:endParaRPr lang="en-US" sz="1100" dirty="0"/>
          </a:p>
        </p:txBody>
      </p:sp>
      <p:sp>
        <p:nvSpPr>
          <p:cNvPr id="84" name="Text 81"/>
          <p:cNvSpPr/>
          <p:nvPr/>
        </p:nvSpPr>
        <p:spPr>
          <a:xfrm>
            <a:off x="8732520" y="5239512"/>
            <a:ext cx="100218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1100" dirty="0"/>
          </a:p>
        </p:txBody>
      </p:sp>
      <p:sp>
        <p:nvSpPr>
          <p:cNvPr id="85" name="Text 82"/>
          <p:cNvSpPr/>
          <p:nvPr/>
        </p:nvSpPr>
        <p:spPr>
          <a:xfrm>
            <a:off x="9734702" y="5239512"/>
            <a:ext cx="100218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</a:t>
            </a:r>
            <a:endParaRPr lang="en-US" sz="1100" dirty="0"/>
          </a:p>
        </p:txBody>
      </p:sp>
      <p:sp>
        <p:nvSpPr>
          <p:cNvPr id="86" name="Text 83"/>
          <p:cNvSpPr/>
          <p:nvPr/>
        </p:nvSpPr>
        <p:spPr>
          <a:xfrm>
            <a:off x="10736885" y="5239512"/>
            <a:ext cx="100218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</a:t>
            </a:r>
            <a:endParaRPr lang="en-US" sz="1100" dirty="0"/>
          </a:p>
        </p:txBody>
      </p:sp>
      <p:sp>
        <p:nvSpPr>
          <p:cNvPr id="87" name="Shape 84"/>
          <p:cNvSpPr/>
          <p:nvPr/>
        </p:nvSpPr>
        <p:spPr>
          <a:xfrm>
            <a:off x="457200" y="6227064"/>
            <a:ext cx="112772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8" name="Text 85"/>
          <p:cNvSpPr/>
          <p:nvPr/>
        </p:nvSpPr>
        <p:spPr>
          <a:xfrm>
            <a:off x="457200" y="5733288"/>
            <a:ext cx="1572768" cy="493776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손예진 LR</a:t>
            </a:r>
            <a:endParaRPr lang="en-US" sz="1100" dirty="0"/>
          </a:p>
        </p:txBody>
      </p:sp>
      <p:sp>
        <p:nvSpPr>
          <p:cNvPr id="89" name="Text 86"/>
          <p:cNvSpPr/>
          <p:nvPr/>
        </p:nvSpPr>
        <p:spPr>
          <a:xfrm>
            <a:off x="2029968" y="5733288"/>
            <a:ext cx="100218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21일</a:t>
            </a:r>
            <a:endParaRPr lang="en-US" sz="1100" dirty="0"/>
          </a:p>
        </p:txBody>
      </p:sp>
      <p:sp>
        <p:nvSpPr>
          <p:cNvPr id="90" name="Text 87"/>
          <p:cNvSpPr/>
          <p:nvPr/>
        </p:nvSpPr>
        <p:spPr>
          <a:xfrm>
            <a:off x="3032150" y="5733288"/>
            <a:ext cx="100218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34</a:t>
            </a:r>
            <a:endParaRPr lang="en-US" sz="1100" dirty="0"/>
          </a:p>
        </p:txBody>
      </p:sp>
      <p:sp>
        <p:nvSpPr>
          <p:cNvPr id="91" name="Text 88"/>
          <p:cNvSpPr/>
          <p:nvPr/>
        </p:nvSpPr>
        <p:spPr>
          <a:xfrm>
            <a:off x="4034333" y="5733288"/>
            <a:ext cx="1691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₩2,764,934</a:t>
            </a:r>
            <a:endParaRPr lang="en-US" sz="1100" dirty="0"/>
          </a:p>
        </p:txBody>
      </p:sp>
      <p:sp>
        <p:nvSpPr>
          <p:cNvPr id="92" name="Text 89"/>
          <p:cNvSpPr/>
          <p:nvPr/>
        </p:nvSpPr>
        <p:spPr>
          <a:xfrm>
            <a:off x="5725973" y="5733288"/>
            <a:ext cx="100218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100" dirty="0"/>
          </a:p>
        </p:txBody>
      </p:sp>
      <p:sp>
        <p:nvSpPr>
          <p:cNvPr id="93" name="Text 90"/>
          <p:cNvSpPr/>
          <p:nvPr/>
        </p:nvSpPr>
        <p:spPr>
          <a:xfrm>
            <a:off x="6728155" y="5733288"/>
            <a:ext cx="100218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00" dirty="0"/>
          </a:p>
        </p:txBody>
      </p:sp>
      <p:sp>
        <p:nvSpPr>
          <p:cNvPr id="94" name="Text 91"/>
          <p:cNvSpPr/>
          <p:nvPr/>
        </p:nvSpPr>
        <p:spPr>
          <a:xfrm>
            <a:off x="7730338" y="5733288"/>
            <a:ext cx="100218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00" dirty="0"/>
          </a:p>
        </p:txBody>
      </p:sp>
      <p:sp>
        <p:nvSpPr>
          <p:cNvPr id="95" name="Text 92"/>
          <p:cNvSpPr/>
          <p:nvPr/>
        </p:nvSpPr>
        <p:spPr>
          <a:xfrm>
            <a:off x="8732520" y="5733288"/>
            <a:ext cx="100218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</a:t>
            </a:r>
            <a:endParaRPr lang="en-US" sz="1100" dirty="0"/>
          </a:p>
        </p:txBody>
      </p:sp>
      <p:sp>
        <p:nvSpPr>
          <p:cNvPr id="96" name="Text 93"/>
          <p:cNvSpPr/>
          <p:nvPr/>
        </p:nvSpPr>
        <p:spPr>
          <a:xfrm>
            <a:off x="9734702" y="5733288"/>
            <a:ext cx="100218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</a:t>
            </a:r>
            <a:endParaRPr lang="en-US" sz="1100" dirty="0"/>
          </a:p>
        </p:txBody>
      </p:sp>
      <p:sp>
        <p:nvSpPr>
          <p:cNvPr id="97" name="Text 94"/>
          <p:cNvSpPr/>
          <p:nvPr/>
        </p:nvSpPr>
        <p:spPr>
          <a:xfrm>
            <a:off x="10736885" y="5733288"/>
            <a:ext cx="100218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endParaRPr lang="en-US" sz="1100" dirty="0"/>
          </a:p>
        </p:txBody>
      </p:sp>
      <p:sp>
        <p:nvSpPr>
          <p:cNvPr id="98" name="Shape 95"/>
          <p:cNvSpPr/>
          <p:nvPr/>
        </p:nvSpPr>
        <p:spPr>
          <a:xfrm>
            <a:off x="457200" y="6227064"/>
            <a:ext cx="11277295" cy="493776"/>
          </a:xfrm>
          <a:prstGeom prst="roundRect">
            <a:avLst>
              <a:gd name="adj" fmla="val 14815"/>
            </a:avLst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9" name="Text 96"/>
          <p:cNvSpPr/>
          <p:nvPr/>
        </p:nvSpPr>
        <p:spPr>
          <a:xfrm>
            <a:off x="457200" y="6227064"/>
            <a:ext cx="1572768" cy="493776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합계</a:t>
            </a:r>
            <a:endParaRPr lang="en-US" sz="1100" dirty="0"/>
          </a:p>
        </p:txBody>
      </p:sp>
      <p:sp>
        <p:nvSpPr>
          <p:cNvPr id="100" name="Text 97"/>
          <p:cNvSpPr/>
          <p:nvPr/>
        </p:nvSpPr>
        <p:spPr>
          <a:xfrm>
            <a:off x="2029968" y="6227064"/>
            <a:ext cx="100218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105일</a:t>
            </a:r>
            <a:endParaRPr lang="en-US" sz="1100" dirty="0"/>
          </a:p>
        </p:txBody>
      </p:sp>
      <p:sp>
        <p:nvSpPr>
          <p:cNvPr id="101" name="Text 98"/>
          <p:cNvSpPr/>
          <p:nvPr/>
        </p:nvSpPr>
        <p:spPr>
          <a:xfrm>
            <a:off x="3032150" y="6227064"/>
            <a:ext cx="100218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160</a:t>
            </a:r>
            <a:endParaRPr lang="en-US" sz="1100" dirty="0"/>
          </a:p>
        </p:txBody>
      </p:sp>
      <p:sp>
        <p:nvSpPr>
          <p:cNvPr id="102" name="Text 99"/>
          <p:cNvSpPr/>
          <p:nvPr/>
        </p:nvSpPr>
        <p:spPr>
          <a:xfrm>
            <a:off x="4034333" y="6227064"/>
            <a:ext cx="1691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₩11,317,805</a:t>
            </a:r>
            <a:endParaRPr lang="en-US" sz="1100" dirty="0"/>
          </a:p>
        </p:txBody>
      </p:sp>
      <p:sp>
        <p:nvSpPr>
          <p:cNvPr id="103" name="Text 100"/>
          <p:cNvSpPr/>
          <p:nvPr/>
        </p:nvSpPr>
        <p:spPr>
          <a:xfrm>
            <a:off x="5725973" y="6227064"/>
            <a:ext cx="100218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47</a:t>
            </a:r>
            <a:endParaRPr lang="en-US" sz="1100" dirty="0"/>
          </a:p>
        </p:txBody>
      </p:sp>
      <p:sp>
        <p:nvSpPr>
          <p:cNvPr id="104" name="Text 101"/>
          <p:cNvSpPr/>
          <p:nvPr/>
        </p:nvSpPr>
        <p:spPr>
          <a:xfrm>
            <a:off x="6728155" y="6227064"/>
            <a:ext cx="100218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100" dirty="0"/>
          </a:p>
        </p:txBody>
      </p:sp>
      <p:sp>
        <p:nvSpPr>
          <p:cNvPr id="105" name="Text 102"/>
          <p:cNvSpPr/>
          <p:nvPr/>
        </p:nvSpPr>
        <p:spPr>
          <a:xfrm>
            <a:off x="7730338" y="6227064"/>
            <a:ext cx="100218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39</a:t>
            </a:r>
            <a:endParaRPr lang="en-US" sz="1100" dirty="0"/>
          </a:p>
        </p:txBody>
      </p:sp>
      <p:sp>
        <p:nvSpPr>
          <p:cNvPr id="106" name="Text 103"/>
          <p:cNvSpPr/>
          <p:nvPr/>
        </p:nvSpPr>
        <p:spPr>
          <a:xfrm>
            <a:off x="8732520" y="6227064"/>
            <a:ext cx="100218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40</a:t>
            </a:r>
            <a:endParaRPr lang="en-US" sz="1100" dirty="0"/>
          </a:p>
        </p:txBody>
      </p:sp>
      <p:sp>
        <p:nvSpPr>
          <p:cNvPr id="107" name="Text 104"/>
          <p:cNvSpPr/>
          <p:nvPr/>
        </p:nvSpPr>
        <p:spPr>
          <a:xfrm>
            <a:off x="9734702" y="6227064"/>
            <a:ext cx="100218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37</a:t>
            </a:r>
            <a:endParaRPr lang="en-US" sz="1100" dirty="0"/>
          </a:p>
        </p:txBody>
      </p:sp>
      <p:sp>
        <p:nvSpPr>
          <p:cNvPr id="108" name="Text 105"/>
          <p:cNvSpPr/>
          <p:nvPr/>
        </p:nvSpPr>
        <p:spPr>
          <a:xfrm>
            <a:off x="10736885" y="6227064"/>
            <a:ext cx="100218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31</a:t>
            </a:r>
            <a:endParaRPr lang="en-US" sz="1100" dirty="0"/>
          </a:p>
        </p:txBody>
      </p:sp>
      <p:sp>
        <p:nvSpPr>
          <p:cNvPr id="109" name="Text 106"/>
          <p:cNvSpPr/>
          <p:nvPr/>
        </p:nvSpPr>
        <p:spPr>
          <a:xfrm>
            <a:off x="457200" y="6775704"/>
            <a:ext cx="112772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* 손예진: 3/25 첫 세일즈  |  서경욱: 4월 3~4주 부재  |  1~4주 값은 주요 주차 세일즈 pcs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생산성 분석</a:t>
            </a:r>
            <a:endParaRPr lang="en-US" sz="1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3034" y="164592"/>
            <a:ext cx="721462" cy="6583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팀원별 실인컴 &amp; 생산성 분석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457200" y="149047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6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월간 실인컴 비교 · 주차별 인컴 추이 (2026년 4월)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2276856"/>
            <a:ext cx="6858000" cy="3986784"/>
          </a:xfrm>
          <a:prstGeom prst="roundRect">
            <a:avLst>
              <a:gd name="adj" fmla="val 252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640080" y="2414016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팀원별 실인컴 비교</a:t>
            </a:r>
            <a:endParaRPr lang="en-US" sz="14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548640" y="2734056"/>
          <a:ext cx="6675120" cy="32735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 6"/>
          <p:cNvSpPr/>
          <p:nvPr/>
        </p:nvSpPr>
        <p:spPr>
          <a:xfrm>
            <a:off x="5043040" y="543023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₩1,896,207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2252597" y="5018697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₩376,075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6027856" y="4607165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₩2,432,699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3895954" y="4195633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₩1,271,316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1687136" y="3784101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₩68,032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167078" y="337256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₩2,508,542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6637726" y="296103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₩2,764,934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640080" y="6007608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단위: 원(KRW)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7498080" y="2276856"/>
            <a:ext cx="4233672" cy="1191768"/>
          </a:xfrm>
          <a:prstGeom prst="roundRect">
            <a:avLst>
              <a:gd name="adj" fmla="val 92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5"/>
          <p:cNvSpPr/>
          <p:nvPr/>
        </p:nvSpPr>
        <p:spPr>
          <a:xfrm>
            <a:off x="7680960" y="2414016"/>
            <a:ext cx="475488" cy="256032"/>
          </a:xfrm>
          <a:prstGeom prst="roundRect">
            <a:avLst>
              <a:gd name="adj" fmla="val 28571"/>
            </a:avLst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6"/>
          <p:cNvSpPr/>
          <p:nvPr/>
        </p:nvSpPr>
        <p:spPr>
          <a:xfrm>
            <a:off x="7680960" y="2414016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1위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8275320" y="2395728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손예진 LR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7680960" y="2679192"/>
            <a:ext cx="3959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₩2,764,934</a:t>
            </a:r>
            <a:endParaRPr lang="en-US" sz="2600" dirty="0"/>
          </a:p>
        </p:txBody>
      </p:sp>
      <p:sp>
        <p:nvSpPr>
          <p:cNvPr id="23" name="Text 19"/>
          <p:cNvSpPr/>
          <p:nvPr/>
        </p:nvSpPr>
        <p:spPr>
          <a:xfrm>
            <a:off x="7680960" y="3185160"/>
            <a:ext cx="3959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34pcs · 리젝 5건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7498080" y="3651504"/>
            <a:ext cx="4233672" cy="1191768"/>
          </a:xfrm>
          <a:prstGeom prst="roundRect">
            <a:avLst>
              <a:gd name="adj" fmla="val 92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1"/>
          <p:cNvSpPr/>
          <p:nvPr/>
        </p:nvSpPr>
        <p:spPr>
          <a:xfrm>
            <a:off x="7680960" y="3788664"/>
            <a:ext cx="475488" cy="256032"/>
          </a:xfrm>
          <a:prstGeom prst="roundRect">
            <a:avLst>
              <a:gd name="adj" fmla="val 28571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2"/>
          <p:cNvSpPr/>
          <p:nvPr/>
        </p:nvSpPr>
        <p:spPr>
          <a:xfrm>
            <a:off x="7680960" y="3788664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2위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8275320" y="3770376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윤채영 TL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7680960" y="4053840"/>
            <a:ext cx="3959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B82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₩2,508,542</a:t>
            </a:r>
            <a:endParaRPr lang="en-US" sz="2600" dirty="0"/>
          </a:p>
        </p:txBody>
      </p:sp>
      <p:sp>
        <p:nvSpPr>
          <p:cNvPr id="29" name="Text 25"/>
          <p:cNvSpPr/>
          <p:nvPr/>
        </p:nvSpPr>
        <p:spPr>
          <a:xfrm>
            <a:off x="7680960" y="4559808"/>
            <a:ext cx="3959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39pcs · 리젝 14건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7498080" y="5026152"/>
            <a:ext cx="4233672" cy="1191768"/>
          </a:xfrm>
          <a:prstGeom prst="roundRect">
            <a:avLst>
              <a:gd name="adj" fmla="val 92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7"/>
          <p:cNvSpPr/>
          <p:nvPr/>
        </p:nvSpPr>
        <p:spPr>
          <a:xfrm>
            <a:off x="7680960" y="5163312"/>
            <a:ext cx="475488" cy="256032"/>
          </a:xfrm>
          <a:prstGeom prst="roundRect">
            <a:avLst>
              <a:gd name="adj" fmla="val 28571"/>
            </a:avLst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8"/>
          <p:cNvSpPr/>
          <p:nvPr/>
        </p:nvSpPr>
        <p:spPr>
          <a:xfrm>
            <a:off x="7680960" y="5163312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3위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8275320" y="5145024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고윤경 LR</a:t>
            </a:r>
            <a:endParaRPr lang="en-US" sz="1200" dirty="0"/>
          </a:p>
        </p:txBody>
      </p:sp>
      <p:sp>
        <p:nvSpPr>
          <p:cNvPr id="34" name="Text 30"/>
          <p:cNvSpPr/>
          <p:nvPr/>
        </p:nvSpPr>
        <p:spPr>
          <a:xfrm>
            <a:off x="7680960" y="5428488"/>
            <a:ext cx="3959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₩2,432,699</a:t>
            </a:r>
            <a:endParaRPr lang="en-US" sz="2600" dirty="0"/>
          </a:p>
        </p:txBody>
      </p:sp>
      <p:sp>
        <p:nvSpPr>
          <p:cNvPr id="35" name="Text 31"/>
          <p:cNvSpPr/>
          <p:nvPr/>
        </p:nvSpPr>
        <p:spPr>
          <a:xfrm>
            <a:off x="7680960" y="5934456"/>
            <a:ext cx="3959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36pcs · 리젝 8건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세일즈 디테일</a:t>
            </a:r>
            <a:endParaRPr lang="en-US" sz="1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3034" y="164592"/>
            <a:ext cx="721462" cy="6583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팀원별 주차별 세일즈 흐름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457200" y="149047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6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4주 개인 세일즈 패턴 · 컨시스턴시 분석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2276856"/>
            <a:ext cx="11277295" cy="3941064"/>
          </a:xfrm>
          <a:prstGeom prst="roundRect">
            <a:avLst>
              <a:gd name="adj" fmla="val 301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640080" y="2414016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팀원별 주차별 세일즈 (pcs)</a:t>
            </a:r>
            <a:endParaRPr lang="en-US" sz="14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594360" y="2752344"/>
          <a:ext cx="11002975" cy="31638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 6"/>
          <p:cNvSpPr/>
          <p:nvPr/>
        </p:nvSpPr>
        <p:spPr>
          <a:xfrm>
            <a:off x="640080" y="5961888"/>
            <a:ext cx="1091153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단위: pcs  |  손예진: 3/25 첫 세일즈 이후 집계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리쿠르팅 &amp; H/C</a:t>
            </a:r>
            <a:endParaRPr lang="en-US" sz="1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3034" y="164592"/>
            <a:ext cx="721462" cy="6583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구성 &amp; 리쿠르팅 현황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457200" y="149047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6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월간 Field H/C 105명 · 신규 합류 · 역할별 구성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2276856"/>
            <a:ext cx="3679850" cy="9144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640080" y="2386584"/>
            <a:ext cx="331409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640080" y="2386584"/>
            <a:ext cx="331409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14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0080" y="2971800"/>
            <a:ext cx="33140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 팀원 수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255922" y="2276856"/>
            <a:ext cx="3679850" cy="9144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4438802" y="2386584"/>
            <a:ext cx="331409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B82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105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4438802" y="2386584"/>
            <a:ext cx="331409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14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438802" y="2971800"/>
            <a:ext cx="33140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월간 Field H/C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054645" y="2276856"/>
            <a:ext cx="3679850" cy="9144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8237525" y="2386584"/>
            <a:ext cx="331409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A3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3200" dirty="0"/>
          </a:p>
        </p:txBody>
      </p:sp>
      <p:sp>
        <p:nvSpPr>
          <p:cNvPr id="17" name="Text 14"/>
          <p:cNvSpPr/>
          <p:nvPr/>
        </p:nvSpPr>
        <p:spPr>
          <a:xfrm>
            <a:off x="8237525" y="2386584"/>
            <a:ext cx="331409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14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237525" y="2971800"/>
            <a:ext cx="33140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신규 합류 (손예진)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3419856"/>
            <a:ext cx="5349240" cy="2798064"/>
          </a:xfrm>
          <a:prstGeom prst="roundRect">
            <a:avLst>
              <a:gd name="adj" fmla="val 42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/>
          <p:nvPr/>
        </p:nvSpPr>
        <p:spPr>
          <a:xfrm>
            <a:off x="685800" y="3584448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팀 구성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58368" y="3895344"/>
            <a:ext cx="4919472" cy="329184"/>
          </a:xfrm>
          <a:prstGeom prst="roundRect">
            <a:avLst>
              <a:gd name="adj" fmla="val 19444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9"/>
          <p:cNvSpPr/>
          <p:nvPr/>
        </p:nvSpPr>
        <p:spPr>
          <a:xfrm>
            <a:off x="704088" y="3950208"/>
            <a:ext cx="438912" cy="256032"/>
          </a:xfrm>
          <a:prstGeom prst="roundRect">
            <a:avLst>
              <a:gd name="adj" fmla="val 28571"/>
            </a:avLst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/>
          <p:nvPr/>
        </p:nvSpPr>
        <p:spPr>
          <a:xfrm>
            <a:off x="704088" y="3950208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AOP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280160" y="39502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임재영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2743200" y="39502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27pcs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58368" y="4197096"/>
            <a:ext cx="4919472" cy="329184"/>
          </a:xfrm>
          <a:prstGeom prst="roundRect">
            <a:avLst>
              <a:gd name="adj" fmla="val 19444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4"/>
          <p:cNvSpPr/>
          <p:nvPr/>
        </p:nvSpPr>
        <p:spPr>
          <a:xfrm>
            <a:off x="704088" y="4251960"/>
            <a:ext cx="438912" cy="256032"/>
          </a:xfrm>
          <a:prstGeom prst="roundRect">
            <a:avLst>
              <a:gd name="adj" fmla="val 28571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5"/>
          <p:cNvSpPr/>
          <p:nvPr/>
        </p:nvSpPr>
        <p:spPr>
          <a:xfrm>
            <a:off x="704088" y="4251960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LR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1280160" y="42519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서경욱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2743200" y="42519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7pcs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58368" y="4498848"/>
            <a:ext cx="4919472" cy="329184"/>
          </a:xfrm>
          <a:prstGeom prst="roundRect">
            <a:avLst>
              <a:gd name="adj" fmla="val 19444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9"/>
          <p:cNvSpPr/>
          <p:nvPr/>
        </p:nvSpPr>
        <p:spPr>
          <a:xfrm>
            <a:off x="704088" y="4553712"/>
            <a:ext cx="438912" cy="256032"/>
          </a:xfrm>
          <a:prstGeom prst="roundRect">
            <a:avLst>
              <a:gd name="adj" fmla="val 28571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0"/>
          <p:cNvSpPr/>
          <p:nvPr/>
        </p:nvSpPr>
        <p:spPr>
          <a:xfrm>
            <a:off x="704088" y="4553712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LR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1280160" y="45537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고윤경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2743200" y="45537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36pcs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58368" y="4800600"/>
            <a:ext cx="4919472" cy="329184"/>
          </a:xfrm>
          <a:prstGeom prst="roundRect">
            <a:avLst>
              <a:gd name="adj" fmla="val 19444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4"/>
          <p:cNvSpPr/>
          <p:nvPr/>
        </p:nvSpPr>
        <p:spPr>
          <a:xfrm>
            <a:off x="704088" y="4855464"/>
            <a:ext cx="438912" cy="256032"/>
          </a:xfrm>
          <a:prstGeom prst="roundRect">
            <a:avLst>
              <a:gd name="adj" fmla="val 28571"/>
            </a:avLst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5"/>
          <p:cNvSpPr/>
          <p:nvPr/>
        </p:nvSpPr>
        <p:spPr>
          <a:xfrm>
            <a:off x="704088" y="4855464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LR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1280160" y="48554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박인선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2743200" y="48554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17pcs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658368" y="5102352"/>
            <a:ext cx="4919472" cy="329184"/>
          </a:xfrm>
          <a:prstGeom prst="roundRect">
            <a:avLst>
              <a:gd name="adj" fmla="val 19444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39"/>
          <p:cNvSpPr/>
          <p:nvPr/>
        </p:nvSpPr>
        <p:spPr>
          <a:xfrm>
            <a:off x="704088" y="5157216"/>
            <a:ext cx="438912" cy="256032"/>
          </a:xfrm>
          <a:prstGeom prst="roundRect">
            <a:avLst>
              <a:gd name="adj" fmla="val 28571"/>
            </a:avLst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0"/>
          <p:cNvSpPr/>
          <p:nvPr/>
        </p:nvSpPr>
        <p:spPr>
          <a:xfrm>
            <a:off x="704088" y="5157216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IC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1280160" y="51572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김하진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2743200" y="515721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0pcs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658368" y="5404104"/>
            <a:ext cx="4919472" cy="329184"/>
          </a:xfrm>
          <a:prstGeom prst="roundRect">
            <a:avLst>
              <a:gd name="adj" fmla="val 19444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4"/>
          <p:cNvSpPr/>
          <p:nvPr/>
        </p:nvSpPr>
        <p:spPr>
          <a:xfrm>
            <a:off x="704088" y="5458968"/>
            <a:ext cx="438912" cy="256032"/>
          </a:xfrm>
          <a:prstGeom prst="roundRect">
            <a:avLst>
              <a:gd name="adj" fmla="val 28571"/>
            </a:avLst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5"/>
          <p:cNvSpPr/>
          <p:nvPr/>
        </p:nvSpPr>
        <p:spPr>
          <a:xfrm>
            <a:off x="704088" y="5458968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TL</a:t>
            </a:r>
            <a:endParaRPr lang="en-US" sz="1000" dirty="0"/>
          </a:p>
        </p:txBody>
      </p:sp>
      <p:sp>
        <p:nvSpPr>
          <p:cNvPr id="49" name="Text 46"/>
          <p:cNvSpPr/>
          <p:nvPr/>
        </p:nvSpPr>
        <p:spPr>
          <a:xfrm>
            <a:off x="1280160" y="54589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윤채영</a:t>
            </a:r>
            <a:endParaRPr lang="en-US" sz="1200" dirty="0"/>
          </a:p>
        </p:txBody>
      </p:sp>
      <p:sp>
        <p:nvSpPr>
          <p:cNvPr id="50" name="Text 47"/>
          <p:cNvSpPr/>
          <p:nvPr/>
        </p:nvSpPr>
        <p:spPr>
          <a:xfrm>
            <a:off x="2743200" y="54589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39pcs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658368" y="5705856"/>
            <a:ext cx="4919472" cy="329184"/>
          </a:xfrm>
          <a:prstGeom prst="roundRect">
            <a:avLst>
              <a:gd name="adj" fmla="val 19444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49"/>
          <p:cNvSpPr/>
          <p:nvPr/>
        </p:nvSpPr>
        <p:spPr>
          <a:xfrm>
            <a:off x="704088" y="5760720"/>
            <a:ext cx="438912" cy="256032"/>
          </a:xfrm>
          <a:prstGeom prst="roundRect">
            <a:avLst>
              <a:gd name="adj" fmla="val 28571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0"/>
          <p:cNvSpPr/>
          <p:nvPr/>
        </p:nvSpPr>
        <p:spPr>
          <a:xfrm>
            <a:off x="704088" y="5760720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LR</a:t>
            </a:r>
            <a:endParaRPr lang="en-US" sz="1000" dirty="0"/>
          </a:p>
        </p:txBody>
      </p:sp>
      <p:sp>
        <p:nvSpPr>
          <p:cNvPr id="54" name="Text 51"/>
          <p:cNvSpPr/>
          <p:nvPr/>
        </p:nvSpPr>
        <p:spPr>
          <a:xfrm>
            <a:off x="1280160" y="57607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손예진 🆕</a:t>
            </a:r>
            <a:endParaRPr lang="en-US" sz="1200" dirty="0"/>
          </a:p>
        </p:txBody>
      </p:sp>
      <p:sp>
        <p:nvSpPr>
          <p:cNvPr id="55" name="Text 52"/>
          <p:cNvSpPr/>
          <p:nvPr/>
        </p:nvSpPr>
        <p:spPr>
          <a:xfrm>
            <a:off x="2743200" y="57607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3/25 첫 세일즈 · 34pcs</a:t>
            </a:r>
            <a:endParaRPr lang="en-US" sz="1100" dirty="0"/>
          </a:p>
        </p:txBody>
      </p:sp>
      <p:sp>
        <p:nvSpPr>
          <p:cNvPr id="56" name="Shape 53"/>
          <p:cNvSpPr/>
          <p:nvPr/>
        </p:nvSpPr>
        <p:spPr>
          <a:xfrm>
            <a:off x="6035040" y="3419856"/>
            <a:ext cx="5696712" cy="2798064"/>
          </a:xfrm>
          <a:prstGeom prst="roundRect">
            <a:avLst>
              <a:gd name="adj" fmla="val 42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4"/>
          <p:cNvSpPr/>
          <p:nvPr/>
        </p:nvSpPr>
        <p:spPr>
          <a:xfrm>
            <a:off x="6263640" y="358444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팀원별 세일즈 기여 비중</a:t>
            </a:r>
            <a:endParaRPr lang="en-US" sz="1400" dirty="0"/>
          </a:p>
        </p:txBody>
      </p:sp>
      <p:graphicFrame>
        <p:nvGraphicFramePr>
          <p:cNvPr id="58" name="Chart 0"/>
          <p:cNvGraphicFramePr/>
          <p:nvPr/>
        </p:nvGraphicFramePr>
        <p:xfrm>
          <a:off x="6126480" y="3895344"/>
          <a:ext cx="5605272" cy="21579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리쿠르팅 &amp; H/C</a:t>
            </a:r>
            <a:endParaRPr lang="en-US" sz="1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3034" y="164592"/>
            <a:ext cx="721462" cy="6583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4월 리쿠르팅 상세 분석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457200" y="149047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6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리쿠터별 면접 · 쇼업 · 노쇼 현황 (총 20명 면접)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2276856"/>
            <a:ext cx="3679850" cy="896112"/>
          </a:xfrm>
          <a:prstGeom prst="roundRect">
            <a:avLst>
              <a:gd name="adj" fmla="val 132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640080" y="2368296"/>
            <a:ext cx="331409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640080" y="2368296"/>
            <a:ext cx="331409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13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" y="2843784"/>
            <a:ext cx="33140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 면접 제안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255922" y="2276856"/>
            <a:ext cx="3679850" cy="896112"/>
          </a:xfrm>
          <a:prstGeom prst="roundRect">
            <a:avLst>
              <a:gd name="adj" fmla="val 132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4438802" y="2368296"/>
            <a:ext cx="331409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A3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4438802" y="2368296"/>
            <a:ext cx="331409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13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438802" y="2843784"/>
            <a:ext cx="33140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쇼업 (50%)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054645" y="2276856"/>
            <a:ext cx="3679850" cy="896112"/>
          </a:xfrm>
          <a:prstGeom prst="roundRect">
            <a:avLst>
              <a:gd name="adj" fmla="val 132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8237525" y="2368296"/>
            <a:ext cx="331409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F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8237525" y="2368296"/>
            <a:ext cx="331409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13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237525" y="2843784"/>
            <a:ext cx="33140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노쇼 (50%)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3374136"/>
            <a:ext cx="3679850" cy="2843784"/>
          </a:xfrm>
          <a:prstGeom prst="roundRect">
            <a:avLst>
              <a:gd name="adj" fmla="val 418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7"/>
          <p:cNvSpPr/>
          <p:nvPr/>
        </p:nvSpPr>
        <p:spPr>
          <a:xfrm>
            <a:off x="640080" y="3538728"/>
            <a:ext cx="530352" cy="256032"/>
          </a:xfrm>
          <a:prstGeom prst="roundRect">
            <a:avLst>
              <a:gd name="adj" fmla="val 28571"/>
            </a:avLst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/>
          <p:nvPr/>
        </p:nvSpPr>
        <p:spPr>
          <a:xfrm>
            <a:off x="640080" y="3538728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4명 쇼업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234440" y="3520440"/>
            <a:ext cx="26740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임재영 AOP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3176930" y="348386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50%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2536850" y="372160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8명 중 4명 쇼업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640080" y="3941064"/>
            <a:ext cx="331409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3"/>
          <p:cNvSpPr/>
          <p:nvPr/>
        </p:nvSpPr>
        <p:spPr>
          <a:xfrm>
            <a:off x="658368" y="404164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/>
          <p:nvPr/>
        </p:nvSpPr>
        <p:spPr>
          <a:xfrm>
            <a:off x="850392" y="3950208"/>
            <a:ext cx="25825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오혜림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3222650" y="3950208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20대여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2417978" y="3995928"/>
            <a:ext cx="530352" cy="219456"/>
          </a:xfrm>
          <a:prstGeom prst="roundRect">
            <a:avLst>
              <a:gd name="adj" fmla="val 33333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7"/>
          <p:cNvSpPr/>
          <p:nvPr/>
        </p:nvSpPr>
        <p:spPr>
          <a:xfrm>
            <a:off x="2417978" y="3995928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A3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쇼업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658368" y="430225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9"/>
          <p:cNvSpPr/>
          <p:nvPr/>
        </p:nvSpPr>
        <p:spPr>
          <a:xfrm>
            <a:off x="850392" y="4210812"/>
            <a:ext cx="25825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오승훈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3222650" y="4210812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20대남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2417978" y="4256532"/>
            <a:ext cx="530352" cy="219456"/>
          </a:xfrm>
          <a:prstGeom prst="roundRect">
            <a:avLst>
              <a:gd name="adj" fmla="val 33333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2"/>
          <p:cNvSpPr/>
          <p:nvPr/>
        </p:nvSpPr>
        <p:spPr>
          <a:xfrm>
            <a:off x="2417978" y="4256532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노쇼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658368" y="456285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4"/>
          <p:cNvSpPr/>
          <p:nvPr/>
        </p:nvSpPr>
        <p:spPr>
          <a:xfrm>
            <a:off x="850392" y="4471416"/>
            <a:ext cx="25825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김희중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3222650" y="44714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20대남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2417978" y="4517136"/>
            <a:ext cx="530352" cy="219456"/>
          </a:xfrm>
          <a:prstGeom prst="roundRect">
            <a:avLst>
              <a:gd name="adj" fmla="val 33333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7"/>
          <p:cNvSpPr/>
          <p:nvPr/>
        </p:nvSpPr>
        <p:spPr>
          <a:xfrm>
            <a:off x="2417978" y="4517136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A3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쇼업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658368" y="482346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9"/>
          <p:cNvSpPr/>
          <p:nvPr/>
        </p:nvSpPr>
        <p:spPr>
          <a:xfrm>
            <a:off x="850392" y="4732020"/>
            <a:ext cx="25825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한승우</a:t>
            </a:r>
            <a:endParaRPr lang="en-US" sz="1050" dirty="0"/>
          </a:p>
        </p:txBody>
      </p:sp>
      <p:sp>
        <p:nvSpPr>
          <p:cNvPr id="43" name="Text 40"/>
          <p:cNvSpPr/>
          <p:nvPr/>
        </p:nvSpPr>
        <p:spPr>
          <a:xfrm>
            <a:off x="3222650" y="4732020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27세남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2417978" y="4777740"/>
            <a:ext cx="530352" cy="219456"/>
          </a:xfrm>
          <a:prstGeom prst="roundRect">
            <a:avLst>
              <a:gd name="adj" fmla="val 33333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2"/>
          <p:cNvSpPr/>
          <p:nvPr/>
        </p:nvSpPr>
        <p:spPr>
          <a:xfrm>
            <a:off x="2417978" y="4777740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A3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쇼업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658368" y="508406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4"/>
          <p:cNvSpPr/>
          <p:nvPr/>
        </p:nvSpPr>
        <p:spPr>
          <a:xfrm>
            <a:off x="850392" y="4992624"/>
            <a:ext cx="25825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이유민</a:t>
            </a:r>
            <a:endParaRPr lang="en-US" sz="1050" dirty="0"/>
          </a:p>
        </p:txBody>
      </p:sp>
      <p:sp>
        <p:nvSpPr>
          <p:cNvPr id="48" name="Text 45"/>
          <p:cNvSpPr/>
          <p:nvPr/>
        </p:nvSpPr>
        <p:spPr>
          <a:xfrm>
            <a:off x="3222650" y="4992624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31세남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2417978" y="5038344"/>
            <a:ext cx="530352" cy="219456"/>
          </a:xfrm>
          <a:prstGeom prst="roundRect">
            <a:avLst>
              <a:gd name="adj" fmla="val 33333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7"/>
          <p:cNvSpPr/>
          <p:nvPr/>
        </p:nvSpPr>
        <p:spPr>
          <a:xfrm>
            <a:off x="2417978" y="5038344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노쇼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658368" y="534466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49"/>
          <p:cNvSpPr/>
          <p:nvPr/>
        </p:nvSpPr>
        <p:spPr>
          <a:xfrm>
            <a:off x="850392" y="5253228"/>
            <a:ext cx="25825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이건희</a:t>
            </a:r>
            <a:endParaRPr lang="en-US" sz="1050" dirty="0"/>
          </a:p>
        </p:txBody>
      </p:sp>
      <p:sp>
        <p:nvSpPr>
          <p:cNvPr id="53" name="Text 50"/>
          <p:cNvSpPr/>
          <p:nvPr/>
        </p:nvSpPr>
        <p:spPr>
          <a:xfrm>
            <a:off x="3222650" y="5253228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20대남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2417978" y="5298948"/>
            <a:ext cx="530352" cy="219456"/>
          </a:xfrm>
          <a:prstGeom prst="roundRect">
            <a:avLst>
              <a:gd name="adj" fmla="val 33333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2"/>
          <p:cNvSpPr/>
          <p:nvPr/>
        </p:nvSpPr>
        <p:spPr>
          <a:xfrm>
            <a:off x="2417978" y="5298948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노쇼</a:t>
            </a:r>
            <a:endParaRPr lang="en-US" sz="1000" dirty="0"/>
          </a:p>
        </p:txBody>
      </p:sp>
      <p:sp>
        <p:nvSpPr>
          <p:cNvPr id="56" name="Shape 53"/>
          <p:cNvSpPr/>
          <p:nvPr/>
        </p:nvSpPr>
        <p:spPr>
          <a:xfrm>
            <a:off x="658368" y="560527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4"/>
          <p:cNvSpPr/>
          <p:nvPr/>
        </p:nvSpPr>
        <p:spPr>
          <a:xfrm>
            <a:off x="850392" y="5513832"/>
            <a:ext cx="25825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조재훈</a:t>
            </a:r>
            <a:endParaRPr lang="en-US" sz="1050" dirty="0"/>
          </a:p>
        </p:txBody>
      </p:sp>
      <p:sp>
        <p:nvSpPr>
          <p:cNvPr id="58" name="Text 55"/>
          <p:cNvSpPr/>
          <p:nvPr/>
        </p:nvSpPr>
        <p:spPr>
          <a:xfrm>
            <a:off x="3222650" y="5513832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20대남</a:t>
            </a:r>
            <a:endParaRPr lang="en-US" sz="1000" dirty="0"/>
          </a:p>
        </p:txBody>
      </p:sp>
      <p:sp>
        <p:nvSpPr>
          <p:cNvPr id="59" name="Shape 56"/>
          <p:cNvSpPr/>
          <p:nvPr/>
        </p:nvSpPr>
        <p:spPr>
          <a:xfrm>
            <a:off x="2417978" y="5559552"/>
            <a:ext cx="530352" cy="219456"/>
          </a:xfrm>
          <a:prstGeom prst="roundRect">
            <a:avLst>
              <a:gd name="adj" fmla="val 33333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 57"/>
          <p:cNvSpPr/>
          <p:nvPr/>
        </p:nvSpPr>
        <p:spPr>
          <a:xfrm>
            <a:off x="2417978" y="5559552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A3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쇼업</a:t>
            </a:r>
            <a:endParaRPr lang="en-US" sz="1000" dirty="0"/>
          </a:p>
        </p:txBody>
      </p:sp>
      <p:sp>
        <p:nvSpPr>
          <p:cNvPr id="61" name="Shape 58"/>
          <p:cNvSpPr/>
          <p:nvPr/>
        </p:nvSpPr>
        <p:spPr>
          <a:xfrm>
            <a:off x="658368" y="586587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Text 59"/>
          <p:cNvSpPr/>
          <p:nvPr/>
        </p:nvSpPr>
        <p:spPr>
          <a:xfrm>
            <a:off x="850392" y="5774436"/>
            <a:ext cx="25825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최수지</a:t>
            </a:r>
            <a:endParaRPr lang="en-US" sz="1050" dirty="0"/>
          </a:p>
        </p:txBody>
      </p:sp>
      <p:sp>
        <p:nvSpPr>
          <p:cNvPr id="63" name="Text 60"/>
          <p:cNvSpPr/>
          <p:nvPr/>
        </p:nvSpPr>
        <p:spPr>
          <a:xfrm>
            <a:off x="3222650" y="577443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30대여</a:t>
            </a:r>
            <a:endParaRPr lang="en-US" sz="1000" dirty="0"/>
          </a:p>
        </p:txBody>
      </p:sp>
      <p:sp>
        <p:nvSpPr>
          <p:cNvPr id="64" name="Shape 61"/>
          <p:cNvSpPr/>
          <p:nvPr/>
        </p:nvSpPr>
        <p:spPr>
          <a:xfrm>
            <a:off x="2417978" y="5820156"/>
            <a:ext cx="530352" cy="219456"/>
          </a:xfrm>
          <a:prstGeom prst="roundRect">
            <a:avLst>
              <a:gd name="adj" fmla="val 33333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Text 62"/>
          <p:cNvSpPr/>
          <p:nvPr/>
        </p:nvSpPr>
        <p:spPr>
          <a:xfrm>
            <a:off x="2417978" y="5820156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노쇼</a:t>
            </a:r>
            <a:endParaRPr lang="en-US" sz="1000" dirty="0"/>
          </a:p>
        </p:txBody>
      </p:sp>
      <p:sp>
        <p:nvSpPr>
          <p:cNvPr id="66" name="Shape 63"/>
          <p:cNvSpPr/>
          <p:nvPr/>
        </p:nvSpPr>
        <p:spPr>
          <a:xfrm>
            <a:off x="4255922" y="3374136"/>
            <a:ext cx="3679850" cy="2843784"/>
          </a:xfrm>
          <a:prstGeom prst="roundRect">
            <a:avLst>
              <a:gd name="adj" fmla="val 418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7" name="Shape 64"/>
          <p:cNvSpPr/>
          <p:nvPr/>
        </p:nvSpPr>
        <p:spPr>
          <a:xfrm>
            <a:off x="4438802" y="3538728"/>
            <a:ext cx="530352" cy="256032"/>
          </a:xfrm>
          <a:prstGeom prst="roundRect">
            <a:avLst>
              <a:gd name="adj" fmla="val 28571"/>
            </a:avLst>
          </a:prstGeom>
          <a:solidFill>
            <a:srgbClr val="EA5EC1"/>
          </a:solidFill>
          <a:ln w="12700">
            <a:solidFill>
              <a:srgbClr val="EA5EC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Text 65"/>
          <p:cNvSpPr/>
          <p:nvPr/>
        </p:nvSpPr>
        <p:spPr>
          <a:xfrm>
            <a:off x="4438802" y="3538728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3명 쇼업</a:t>
            </a:r>
            <a:endParaRPr lang="en-US" sz="1000" dirty="0"/>
          </a:p>
        </p:txBody>
      </p:sp>
      <p:sp>
        <p:nvSpPr>
          <p:cNvPr id="69" name="Text 66"/>
          <p:cNvSpPr/>
          <p:nvPr/>
        </p:nvSpPr>
        <p:spPr>
          <a:xfrm>
            <a:off x="5033162" y="3520440"/>
            <a:ext cx="26740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윤채영 TL</a:t>
            </a:r>
            <a:endParaRPr lang="en-US" sz="1300" dirty="0"/>
          </a:p>
        </p:txBody>
      </p:sp>
      <p:sp>
        <p:nvSpPr>
          <p:cNvPr id="70" name="Text 67"/>
          <p:cNvSpPr/>
          <p:nvPr/>
        </p:nvSpPr>
        <p:spPr>
          <a:xfrm>
            <a:off x="6975653" y="348386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EA5EC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43%</a:t>
            </a:r>
            <a:endParaRPr lang="en-US" sz="1500" dirty="0"/>
          </a:p>
        </p:txBody>
      </p:sp>
      <p:sp>
        <p:nvSpPr>
          <p:cNvPr id="71" name="Text 68"/>
          <p:cNvSpPr/>
          <p:nvPr/>
        </p:nvSpPr>
        <p:spPr>
          <a:xfrm>
            <a:off x="6335573" y="372160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7명 중 3명 쇼업</a:t>
            </a:r>
            <a:endParaRPr lang="en-US" sz="950" dirty="0"/>
          </a:p>
        </p:txBody>
      </p:sp>
      <p:sp>
        <p:nvSpPr>
          <p:cNvPr id="72" name="Shape 69"/>
          <p:cNvSpPr/>
          <p:nvPr/>
        </p:nvSpPr>
        <p:spPr>
          <a:xfrm>
            <a:off x="4438802" y="3941064"/>
            <a:ext cx="331409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" name="Shape 70"/>
          <p:cNvSpPr/>
          <p:nvPr/>
        </p:nvSpPr>
        <p:spPr>
          <a:xfrm>
            <a:off x="4457090" y="404164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Text 71"/>
          <p:cNvSpPr/>
          <p:nvPr/>
        </p:nvSpPr>
        <p:spPr>
          <a:xfrm>
            <a:off x="4649114" y="3950208"/>
            <a:ext cx="25825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박수현</a:t>
            </a:r>
            <a:endParaRPr lang="en-US" sz="1050" dirty="0"/>
          </a:p>
        </p:txBody>
      </p:sp>
      <p:sp>
        <p:nvSpPr>
          <p:cNvPr id="75" name="Text 72"/>
          <p:cNvSpPr/>
          <p:nvPr/>
        </p:nvSpPr>
        <p:spPr>
          <a:xfrm>
            <a:off x="7021373" y="3950208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23세여</a:t>
            </a:r>
            <a:endParaRPr lang="en-US" sz="1000" dirty="0"/>
          </a:p>
        </p:txBody>
      </p:sp>
      <p:sp>
        <p:nvSpPr>
          <p:cNvPr id="76" name="Shape 73"/>
          <p:cNvSpPr/>
          <p:nvPr/>
        </p:nvSpPr>
        <p:spPr>
          <a:xfrm>
            <a:off x="6216701" y="3995928"/>
            <a:ext cx="530352" cy="219456"/>
          </a:xfrm>
          <a:prstGeom prst="roundRect">
            <a:avLst>
              <a:gd name="adj" fmla="val 33333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7" name="Text 74"/>
          <p:cNvSpPr/>
          <p:nvPr/>
        </p:nvSpPr>
        <p:spPr>
          <a:xfrm>
            <a:off x="6216701" y="3995928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노쇼</a:t>
            </a:r>
            <a:endParaRPr lang="en-US" sz="1000" dirty="0"/>
          </a:p>
        </p:txBody>
      </p:sp>
      <p:sp>
        <p:nvSpPr>
          <p:cNvPr id="78" name="Shape 75"/>
          <p:cNvSpPr/>
          <p:nvPr/>
        </p:nvSpPr>
        <p:spPr>
          <a:xfrm>
            <a:off x="4457090" y="430225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9" name="Text 76"/>
          <p:cNvSpPr/>
          <p:nvPr/>
        </p:nvSpPr>
        <p:spPr>
          <a:xfrm>
            <a:off x="4649114" y="4210812"/>
            <a:ext cx="25825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이주찬</a:t>
            </a:r>
            <a:endParaRPr lang="en-US" sz="1050" dirty="0"/>
          </a:p>
        </p:txBody>
      </p:sp>
      <p:sp>
        <p:nvSpPr>
          <p:cNvPr id="80" name="Text 77"/>
          <p:cNvSpPr/>
          <p:nvPr/>
        </p:nvSpPr>
        <p:spPr>
          <a:xfrm>
            <a:off x="7021373" y="4210812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23세남</a:t>
            </a:r>
            <a:endParaRPr lang="en-US" sz="1000" dirty="0"/>
          </a:p>
        </p:txBody>
      </p:sp>
      <p:sp>
        <p:nvSpPr>
          <p:cNvPr id="81" name="Shape 78"/>
          <p:cNvSpPr/>
          <p:nvPr/>
        </p:nvSpPr>
        <p:spPr>
          <a:xfrm>
            <a:off x="6216701" y="4256532"/>
            <a:ext cx="530352" cy="219456"/>
          </a:xfrm>
          <a:prstGeom prst="roundRect">
            <a:avLst>
              <a:gd name="adj" fmla="val 33333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2" name="Text 79"/>
          <p:cNvSpPr/>
          <p:nvPr/>
        </p:nvSpPr>
        <p:spPr>
          <a:xfrm>
            <a:off x="6216701" y="4256532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노쇼</a:t>
            </a:r>
            <a:endParaRPr lang="en-US" sz="1000" dirty="0"/>
          </a:p>
        </p:txBody>
      </p:sp>
      <p:sp>
        <p:nvSpPr>
          <p:cNvPr id="83" name="Shape 80"/>
          <p:cNvSpPr/>
          <p:nvPr/>
        </p:nvSpPr>
        <p:spPr>
          <a:xfrm>
            <a:off x="4457090" y="456285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4" name="Text 81"/>
          <p:cNvSpPr/>
          <p:nvPr/>
        </p:nvSpPr>
        <p:spPr>
          <a:xfrm>
            <a:off x="4649114" y="4471416"/>
            <a:ext cx="25825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최종선</a:t>
            </a:r>
            <a:endParaRPr lang="en-US" sz="1050" dirty="0"/>
          </a:p>
        </p:txBody>
      </p:sp>
      <p:sp>
        <p:nvSpPr>
          <p:cNvPr id="85" name="Text 82"/>
          <p:cNvSpPr/>
          <p:nvPr/>
        </p:nvSpPr>
        <p:spPr>
          <a:xfrm>
            <a:off x="7021373" y="44714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32세남</a:t>
            </a:r>
            <a:endParaRPr lang="en-US" sz="1000" dirty="0"/>
          </a:p>
        </p:txBody>
      </p:sp>
      <p:sp>
        <p:nvSpPr>
          <p:cNvPr id="86" name="Shape 83"/>
          <p:cNvSpPr/>
          <p:nvPr/>
        </p:nvSpPr>
        <p:spPr>
          <a:xfrm>
            <a:off x="6216701" y="4517136"/>
            <a:ext cx="530352" cy="219456"/>
          </a:xfrm>
          <a:prstGeom prst="roundRect">
            <a:avLst>
              <a:gd name="adj" fmla="val 33333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7" name="Text 84"/>
          <p:cNvSpPr/>
          <p:nvPr/>
        </p:nvSpPr>
        <p:spPr>
          <a:xfrm>
            <a:off x="6216701" y="4517136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노쇼</a:t>
            </a:r>
            <a:endParaRPr lang="en-US" sz="1000" dirty="0"/>
          </a:p>
        </p:txBody>
      </p:sp>
      <p:sp>
        <p:nvSpPr>
          <p:cNvPr id="88" name="Shape 85"/>
          <p:cNvSpPr/>
          <p:nvPr/>
        </p:nvSpPr>
        <p:spPr>
          <a:xfrm>
            <a:off x="4457090" y="482346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9" name="Text 86"/>
          <p:cNvSpPr/>
          <p:nvPr/>
        </p:nvSpPr>
        <p:spPr>
          <a:xfrm>
            <a:off x="4649114" y="4732020"/>
            <a:ext cx="25825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정교선</a:t>
            </a:r>
            <a:endParaRPr lang="en-US" sz="1050" dirty="0"/>
          </a:p>
        </p:txBody>
      </p:sp>
      <p:sp>
        <p:nvSpPr>
          <p:cNvPr id="90" name="Text 87"/>
          <p:cNvSpPr/>
          <p:nvPr/>
        </p:nvSpPr>
        <p:spPr>
          <a:xfrm>
            <a:off x="7021373" y="4732020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30세남</a:t>
            </a:r>
            <a:endParaRPr lang="en-US" sz="1000" dirty="0"/>
          </a:p>
        </p:txBody>
      </p:sp>
      <p:sp>
        <p:nvSpPr>
          <p:cNvPr id="91" name="Shape 88"/>
          <p:cNvSpPr/>
          <p:nvPr/>
        </p:nvSpPr>
        <p:spPr>
          <a:xfrm>
            <a:off x="6216701" y="4777740"/>
            <a:ext cx="530352" cy="219456"/>
          </a:xfrm>
          <a:prstGeom prst="roundRect">
            <a:avLst>
              <a:gd name="adj" fmla="val 33333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2" name="Text 89"/>
          <p:cNvSpPr/>
          <p:nvPr/>
        </p:nvSpPr>
        <p:spPr>
          <a:xfrm>
            <a:off x="6216701" y="4777740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A3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쇼업</a:t>
            </a:r>
            <a:endParaRPr lang="en-US" sz="1000" dirty="0"/>
          </a:p>
        </p:txBody>
      </p:sp>
      <p:sp>
        <p:nvSpPr>
          <p:cNvPr id="93" name="Shape 90"/>
          <p:cNvSpPr/>
          <p:nvPr/>
        </p:nvSpPr>
        <p:spPr>
          <a:xfrm>
            <a:off x="4457090" y="508406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4" name="Text 91"/>
          <p:cNvSpPr/>
          <p:nvPr/>
        </p:nvSpPr>
        <p:spPr>
          <a:xfrm>
            <a:off x="4649114" y="4992624"/>
            <a:ext cx="25825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강준혁</a:t>
            </a:r>
            <a:endParaRPr lang="en-US" sz="1050" dirty="0"/>
          </a:p>
        </p:txBody>
      </p:sp>
      <p:sp>
        <p:nvSpPr>
          <p:cNvPr id="95" name="Text 92"/>
          <p:cNvSpPr/>
          <p:nvPr/>
        </p:nvSpPr>
        <p:spPr>
          <a:xfrm>
            <a:off x="7021373" y="4992624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29세남</a:t>
            </a:r>
            <a:endParaRPr lang="en-US" sz="1000" dirty="0"/>
          </a:p>
        </p:txBody>
      </p:sp>
      <p:sp>
        <p:nvSpPr>
          <p:cNvPr id="96" name="Shape 93"/>
          <p:cNvSpPr/>
          <p:nvPr/>
        </p:nvSpPr>
        <p:spPr>
          <a:xfrm>
            <a:off x="6216701" y="5038344"/>
            <a:ext cx="530352" cy="219456"/>
          </a:xfrm>
          <a:prstGeom prst="roundRect">
            <a:avLst>
              <a:gd name="adj" fmla="val 33333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7" name="Text 94"/>
          <p:cNvSpPr/>
          <p:nvPr/>
        </p:nvSpPr>
        <p:spPr>
          <a:xfrm>
            <a:off x="6216701" y="5038344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노쇼</a:t>
            </a:r>
            <a:endParaRPr lang="en-US" sz="1000" dirty="0"/>
          </a:p>
        </p:txBody>
      </p:sp>
      <p:sp>
        <p:nvSpPr>
          <p:cNvPr id="98" name="Shape 95"/>
          <p:cNvSpPr/>
          <p:nvPr/>
        </p:nvSpPr>
        <p:spPr>
          <a:xfrm>
            <a:off x="4457090" y="534466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9" name="Text 96"/>
          <p:cNvSpPr/>
          <p:nvPr/>
        </p:nvSpPr>
        <p:spPr>
          <a:xfrm>
            <a:off x="4649114" y="5253228"/>
            <a:ext cx="25825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홍서영</a:t>
            </a:r>
            <a:endParaRPr lang="en-US" sz="1050" dirty="0"/>
          </a:p>
        </p:txBody>
      </p:sp>
      <p:sp>
        <p:nvSpPr>
          <p:cNvPr id="100" name="Text 97"/>
          <p:cNvSpPr/>
          <p:nvPr/>
        </p:nvSpPr>
        <p:spPr>
          <a:xfrm>
            <a:off x="7021373" y="5253228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22세여</a:t>
            </a:r>
            <a:endParaRPr lang="en-US" sz="1000" dirty="0"/>
          </a:p>
        </p:txBody>
      </p:sp>
      <p:sp>
        <p:nvSpPr>
          <p:cNvPr id="101" name="Shape 98"/>
          <p:cNvSpPr/>
          <p:nvPr/>
        </p:nvSpPr>
        <p:spPr>
          <a:xfrm>
            <a:off x="6216701" y="5298948"/>
            <a:ext cx="530352" cy="219456"/>
          </a:xfrm>
          <a:prstGeom prst="roundRect">
            <a:avLst>
              <a:gd name="adj" fmla="val 33333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2" name="Text 99"/>
          <p:cNvSpPr/>
          <p:nvPr/>
        </p:nvSpPr>
        <p:spPr>
          <a:xfrm>
            <a:off x="6216701" y="5298948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A3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쇼업</a:t>
            </a:r>
            <a:endParaRPr lang="en-US" sz="1000" dirty="0"/>
          </a:p>
        </p:txBody>
      </p:sp>
      <p:sp>
        <p:nvSpPr>
          <p:cNvPr id="103" name="Shape 100"/>
          <p:cNvSpPr/>
          <p:nvPr/>
        </p:nvSpPr>
        <p:spPr>
          <a:xfrm>
            <a:off x="4457090" y="560527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4" name="Text 101"/>
          <p:cNvSpPr/>
          <p:nvPr/>
        </p:nvSpPr>
        <p:spPr>
          <a:xfrm>
            <a:off x="4649114" y="5513832"/>
            <a:ext cx="25825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이사랑</a:t>
            </a:r>
            <a:endParaRPr lang="en-US" sz="1050" dirty="0"/>
          </a:p>
        </p:txBody>
      </p:sp>
      <p:sp>
        <p:nvSpPr>
          <p:cNvPr id="105" name="Text 102"/>
          <p:cNvSpPr/>
          <p:nvPr/>
        </p:nvSpPr>
        <p:spPr>
          <a:xfrm>
            <a:off x="7021373" y="5513832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30대남</a:t>
            </a:r>
            <a:endParaRPr lang="en-US" sz="1000" dirty="0"/>
          </a:p>
        </p:txBody>
      </p:sp>
      <p:sp>
        <p:nvSpPr>
          <p:cNvPr id="106" name="Shape 103"/>
          <p:cNvSpPr/>
          <p:nvPr/>
        </p:nvSpPr>
        <p:spPr>
          <a:xfrm>
            <a:off x="6216701" y="5559552"/>
            <a:ext cx="530352" cy="219456"/>
          </a:xfrm>
          <a:prstGeom prst="roundRect">
            <a:avLst>
              <a:gd name="adj" fmla="val 33333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7" name="Text 104"/>
          <p:cNvSpPr/>
          <p:nvPr/>
        </p:nvSpPr>
        <p:spPr>
          <a:xfrm>
            <a:off x="6216701" y="5559552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A3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쇼업</a:t>
            </a:r>
            <a:endParaRPr lang="en-US" sz="1000" dirty="0"/>
          </a:p>
        </p:txBody>
      </p:sp>
      <p:sp>
        <p:nvSpPr>
          <p:cNvPr id="108" name="Shape 105"/>
          <p:cNvSpPr/>
          <p:nvPr/>
        </p:nvSpPr>
        <p:spPr>
          <a:xfrm>
            <a:off x="8054645" y="3374136"/>
            <a:ext cx="3679850" cy="2843784"/>
          </a:xfrm>
          <a:prstGeom prst="roundRect">
            <a:avLst>
              <a:gd name="adj" fmla="val 418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9" name="Shape 106"/>
          <p:cNvSpPr/>
          <p:nvPr/>
        </p:nvSpPr>
        <p:spPr>
          <a:xfrm>
            <a:off x="8237525" y="3538728"/>
            <a:ext cx="530352" cy="256032"/>
          </a:xfrm>
          <a:prstGeom prst="roundRect">
            <a:avLst>
              <a:gd name="adj" fmla="val 28571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0" name="Text 107"/>
          <p:cNvSpPr/>
          <p:nvPr/>
        </p:nvSpPr>
        <p:spPr>
          <a:xfrm>
            <a:off x="8237525" y="3538728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3명 쇼업</a:t>
            </a:r>
            <a:endParaRPr lang="en-US" sz="1000" dirty="0"/>
          </a:p>
        </p:txBody>
      </p:sp>
      <p:sp>
        <p:nvSpPr>
          <p:cNvPr id="111" name="Text 108"/>
          <p:cNvSpPr/>
          <p:nvPr/>
        </p:nvSpPr>
        <p:spPr>
          <a:xfrm>
            <a:off x="8831885" y="3520440"/>
            <a:ext cx="26740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고윤경 LR</a:t>
            </a:r>
            <a:endParaRPr lang="en-US" sz="1300" dirty="0"/>
          </a:p>
        </p:txBody>
      </p:sp>
      <p:sp>
        <p:nvSpPr>
          <p:cNvPr id="112" name="Text 109"/>
          <p:cNvSpPr/>
          <p:nvPr/>
        </p:nvSpPr>
        <p:spPr>
          <a:xfrm>
            <a:off x="10774375" y="348386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3B82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60%</a:t>
            </a:r>
            <a:endParaRPr lang="en-US" sz="1500" dirty="0"/>
          </a:p>
        </p:txBody>
      </p:sp>
      <p:sp>
        <p:nvSpPr>
          <p:cNvPr id="113" name="Text 110"/>
          <p:cNvSpPr/>
          <p:nvPr/>
        </p:nvSpPr>
        <p:spPr>
          <a:xfrm>
            <a:off x="10134295" y="372160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5명 중 3명 쇼업</a:t>
            </a:r>
            <a:endParaRPr lang="en-US" sz="950" dirty="0"/>
          </a:p>
        </p:txBody>
      </p:sp>
      <p:sp>
        <p:nvSpPr>
          <p:cNvPr id="114" name="Shape 111"/>
          <p:cNvSpPr/>
          <p:nvPr/>
        </p:nvSpPr>
        <p:spPr>
          <a:xfrm>
            <a:off x="8237525" y="3941064"/>
            <a:ext cx="331409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5" name="Shape 112"/>
          <p:cNvSpPr/>
          <p:nvPr/>
        </p:nvSpPr>
        <p:spPr>
          <a:xfrm>
            <a:off x="8255813" y="404164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6" name="Text 113"/>
          <p:cNvSpPr/>
          <p:nvPr/>
        </p:nvSpPr>
        <p:spPr>
          <a:xfrm>
            <a:off x="8447837" y="3950208"/>
            <a:ext cx="25825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김정아</a:t>
            </a:r>
            <a:endParaRPr lang="en-US" sz="1050" dirty="0"/>
          </a:p>
        </p:txBody>
      </p:sp>
      <p:sp>
        <p:nvSpPr>
          <p:cNvPr id="117" name="Text 114"/>
          <p:cNvSpPr/>
          <p:nvPr/>
        </p:nvSpPr>
        <p:spPr>
          <a:xfrm>
            <a:off x="10820095" y="3950208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25세여</a:t>
            </a:r>
            <a:endParaRPr lang="en-US" sz="1000" dirty="0"/>
          </a:p>
        </p:txBody>
      </p:sp>
      <p:sp>
        <p:nvSpPr>
          <p:cNvPr id="118" name="Shape 115"/>
          <p:cNvSpPr/>
          <p:nvPr/>
        </p:nvSpPr>
        <p:spPr>
          <a:xfrm>
            <a:off x="10015423" y="3995928"/>
            <a:ext cx="530352" cy="219456"/>
          </a:xfrm>
          <a:prstGeom prst="roundRect">
            <a:avLst>
              <a:gd name="adj" fmla="val 33333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9" name="Text 116"/>
          <p:cNvSpPr/>
          <p:nvPr/>
        </p:nvSpPr>
        <p:spPr>
          <a:xfrm>
            <a:off x="10015423" y="3995928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노쇼</a:t>
            </a:r>
            <a:endParaRPr lang="en-US" sz="1000" dirty="0"/>
          </a:p>
        </p:txBody>
      </p:sp>
      <p:sp>
        <p:nvSpPr>
          <p:cNvPr id="120" name="Shape 117"/>
          <p:cNvSpPr/>
          <p:nvPr/>
        </p:nvSpPr>
        <p:spPr>
          <a:xfrm>
            <a:off x="8255813" y="430225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1" name="Text 118"/>
          <p:cNvSpPr/>
          <p:nvPr/>
        </p:nvSpPr>
        <p:spPr>
          <a:xfrm>
            <a:off x="8447837" y="4210812"/>
            <a:ext cx="25825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김승재</a:t>
            </a:r>
            <a:endParaRPr lang="en-US" sz="1050" dirty="0"/>
          </a:p>
        </p:txBody>
      </p:sp>
      <p:sp>
        <p:nvSpPr>
          <p:cNvPr id="122" name="Text 119"/>
          <p:cNvSpPr/>
          <p:nvPr/>
        </p:nvSpPr>
        <p:spPr>
          <a:xfrm>
            <a:off x="10820095" y="4210812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26세남</a:t>
            </a:r>
            <a:endParaRPr lang="en-US" sz="1000" dirty="0"/>
          </a:p>
        </p:txBody>
      </p:sp>
      <p:sp>
        <p:nvSpPr>
          <p:cNvPr id="123" name="Shape 120"/>
          <p:cNvSpPr/>
          <p:nvPr/>
        </p:nvSpPr>
        <p:spPr>
          <a:xfrm>
            <a:off x="10015423" y="4256532"/>
            <a:ext cx="530352" cy="219456"/>
          </a:xfrm>
          <a:prstGeom prst="roundRect">
            <a:avLst>
              <a:gd name="adj" fmla="val 33333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4" name="Text 121"/>
          <p:cNvSpPr/>
          <p:nvPr/>
        </p:nvSpPr>
        <p:spPr>
          <a:xfrm>
            <a:off x="10015423" y="4256532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A3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쇼업</a:t>
            </a:r>
            <a:endParaRPr lang="en-US" sz="1000" dirty="0"/>
          </a:p>
        </p:txBody>
      </p:sp>
      <p:sp>
        <p:nvSpPr>
          <p:cNvPr id="125" name="Shape 122"/>
          <p:cNvSpPr/>
          <p:nvPr/>
        </p:nvSpPr>
        <p:spPr>
          <a:xfrm>
            <a:off x="8255813" y="456285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6" name="Text 123"/>
          <p:cNvSpPr/>
          <p:nvPr/>
        </p:nvSpPr>
        <p:spPr>
          <a:xfrm>
            <a:off x="8447837" y="4471416"/>
            <a:ext cx="25825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김경만</a:t>
            </a:r>
            <a:endParaRPr lang="en-US" sz="1050" dirty="0"/>
          </a:p>
        </p:txBody>
      </p:sp>
      <p:sp>
        <p:nvSpPr>
          <p:cNvPr id="127" name="Text 124"/>
          <p:cNvSpPr/>
          <p:nvPr/>
        </p:nvSpPr>
        <p:spPr>
          <a:xfrm>
            <a:off x="10820095" y="44714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31세남</a:t>
            </a:r>
            <a:endParaRPr lang="en-US" sz="1000" dirty="0"/>
          </a:p>
        </p:txBody>
      </p:sp>
      <p:sp>
        <p:nvSpPr>
          <p:cNvPr id="128" name="Shape 125"/>
          <p:cNvSpPr/>
          <p:nvPr/>
        </p:nvSpPr>
        <p:spPr>
          <a:xfrm>
            <a:off x="10015423" y="4517136"/>
            <a:ext cx="530352" cy="219456"/>
          </a:xfrm>
          <a:prstGeom prst="roundRect">
            <a:avLst>
              <a:gd name="adj" fmla="val 33333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9" name="Text 126"/>
          <p:cNvSpPr/>
          <p:nvPr/>
        </p:nvSpPr>
        <p:spPr>
          <a:xfrm>
            <a:off x="10015423" y="4517136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A3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쇼업</a:t>
            </a:r>
            <a:endParaRPr lang="en-US" sz="1000" dirty="0"/>
          </a:p>
        </p:txBody>
      </p:sp>
      <p:sp>
        <p:nvSpPr>
          <p:cNvPr id="130" name="Shape 127"/>
          <p:cNvSpPr/>
          <p:nvPr/>
        </p:nvSpPr>
        <p:spPr>
          <a:xfrm>
            <a:off x="8255813" y="482346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1" name="Text 128"/>
          <p:cNvSpPr/>
          <p:nvPr/>
        </p:nvSpPr>
        <p:spPr>
          <a:xfrm>
            <a:off x="8447837" y="4732020"/>
            <a:ext cx="25825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정재훈</a:t>
            </a:r>
            <a:endParaRPr lang="en-US" sz="1050" dirty="0"/>
          </a:p>
        </p:txBody>
      </p:sp>
      <p:sp>
        <p:nvSpPr>
          <p:cNvPr id="132" name="Text 129"/>
          <p:cNvSpPr/>
          <p:nvPr/>
        </p:nvSpPr>
        <p:spPr>
          <a:xfrm>
            <a:off x="10820095" y="4732020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26세남</a:t>
            </a:r>
            <a:endParaRPr lang="en-US" sz="1000" dirty="0"/>
          </a:p>
        </p:txBody>
      </p:sp>
      <p:sp>
        <p:nvSpPr>
          <p:cNvPr id="133" name="Shape 130"/>
          <p:cNvSpPr/>
          <p:nvPr/>
        </p:nvSpPr>
        <p:spPr>
          <a:xfrm>
            <a:off x="10015423" y="4777740"/>
            <a:ext cx="530352" cy="219456"/>
          </a:xfrm>
          <a:prstGeom prst="roundRect">
            <a:avLst>
              <a:gd name="adj" fmla="val 33333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4" name="Text 131"/>
          <p:cNvSpPr/>
          <p:nvPr/>
        </p:nvSpPr>
        <p:spPr>
          <a:xfrm>
            <a:off x="10015423" y="4777740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노쇼</a:t>
            </a:r>
            <a:endParaRPr lang="en-US" sz="1000" dirty="0"/>
          </a:p>
        </p:txBody>
      </p:sp>
      <p:sp>
        <p:nvSpPr>
          <p:cNvPr id="135" name="Shape 132"/>
          <p:cNvSpPr/>
          <p:nvPr/>
        </p:nvSpPr>
        <p:spPr>
          <a:xfrm>
            <a:off x="8255813" y="508406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6" name="Text 133"/>
          <p:cNvSpPr/>
          <p:nvPr/>
        </p:nvSpPr>
        <p:spPr>
          <a:xfrm>
            <a:off x="8447837" y="4992624"/>
            <a:ext cx="25825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김범준</a:t>
            </a:r>
            <a:endParaRPr lang="en-US" sz="1050" dirty="0"/>
          </a:p>
        </p:txBody>
      </p:sp>
      <p:sp>
        <p:nvSpPr>
          <p:cNvPr id="137" name="Text 134"/>
          <p:cNvSpPr/>
          <p:nvPr/>
        </p:nvSpPr>
        <p:spPr>
          <a:xfrm>
            <a:off x="10820095" y="4992624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28세남</a:t>
            </a:r>
            <a:endParaRPr lang="en-US" sz="1000" dirty="0"/>
          </a:p>
        </p:txBody>
      </p:sp>
      <p:sp>
        <p:nvSpPr>
          <p:cNvPr id="138" name="Shape 135"/>
          <p:cNvSpPr/>
          <p:nvPr/>
        </p:nvSpPr>
        <p:spPr>
          <a:xfrm>
            <a:off x="10015423" y="5038344"/>
            <a:ext cx="530352" cy="219456"/>
          </a:xfrm>
          <a:prstGeom prst="roundRect">
            <a:avLst>
              <a:gd name="adj" fmla="val 33333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9" name="Text 136"/>
          <p:cNvSpPr/>
          <p:nvPr/>
        </p:nvSpPr>
        <p:spPr>
          <a:xfrm>
            <a:off x="10015423" y="5038344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A3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쇼업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챌린지 &amp; 액션</a:t>
            </a:r>
            <a:endParaRPr lang="en-US" sz="1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3034" y="164592"/>
            <a:ext cx="721462" cy="6583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Challenge &amp; Solution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457200" y="149047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6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이달의 핵심 도전과 해결책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2276856"/>
            <a:ext cx="11277295" cy="1240536"/>
          </a:xfrm>
          <a:prstGeom prst="roundRect">
            <a:avLst>
              <a:gd name="adj" fmla="val 95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640080" y="2414016"/>
            <a:ext cx="914400" cy="256032"/>
          </a:xfrm>
          <a:prstGeom prst="roundRect">
            <a:avLst>
              <a:gd name="adj" fmla="val 28571"/>
            </a:avLst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640080" y="241401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MANAGE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389120" y="2350008"/>
            <a:ext cx="0" cy="1103376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8366760" y="2350008"/>
            <a:ext cx="0" cy="1103376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640080" y="273405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CHALLENGE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40080" y="293522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오리나 LR 개인사로 셋업 제한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0080" y="3282696"/>
            <a:ext cx="35661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가정사 + 개인 병력으로 긴밀한 케어 필요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572000" y="273405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SOLUTION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572000" y="2935224"/>
            <a:ext cx="3657600" cy="490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Presence 팀 안에서 해결 · 가능하면 상위 리더가 직접 케어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549640" y="2734056"/>
            <a:ext cx="32305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RESULT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8549640" y="2935224"/>
            <a:ext cx="3230575" cy="490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다른 팀원들과의 영향 최소화 ·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 err="1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남은</a:t>
            </a: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기간 TL 생산성 달성에 집중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3617976"/>
            <a:ext cx="11277295" cy="1240536"/>
          </a:xfrm>
          <a:prstGeom prst="roundRect">
            <a:avLst>
              <a:gd name="adj" fmla="val 95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7"/>
          <p:cNvSpPr/>
          <p:nvPr/>
        </p:nvSpPr>
        <p:spPr>
          <a:xfrm>
            <a:off x="640080" y="3755136"/>
            <a:ext cx="914400" cy="256032"/>
          </a:xfrm>
          <a:prstGeom prst="roundRect">
            <a:avLst>
              <a:gd name="adj" fmla="val 28571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/>
          <p:nvPr/>
        </p:nvSpPr>
        <p:spPr>
          <a:xfrm>
            <a:off x="640080" y="375513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RECRUIT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389120" y="3691128"/>
            <a:ext cx="0" cy="1103376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0"/>
          <p:cNvSpPr/>
          <p:nvPr/>
        </p:nvSpPr>
        <p:spPr>
          <a:xfrm>
            <a:off x="8366760" y="3691128"/>
            <a:ext cx="0" cy="1103376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/>
          <p:nvPr/>
        </p:nvSpPr>
        <p:spPr>
          <a:xfrm>
            <a:off x="640080" y="407517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CHALLENGE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40080" y="427634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당근 PR 채널 막힘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40080" y="4623816"/>
            <a:ext cx="35661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당근마켓 채널에서 이용 제한 발생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4572000" y="407517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SOLUTION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4572000" y="4276344"/>
            <a:ext cx="3657600" cy="490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공고 주기에 텀 만들기 · 공고 내용 추가 </a:t>
            </a:r>
            <a:r>
              <a:rPr lang="en-US" sz="1100" dirty="0" err="1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수정</a:t>
            </a: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 err="1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인선·예진</a:t>
            </a: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개인 사업자 활용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8549640" y="4075176"/>
            <a:ext cx="32305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RESULT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8549640" y="4276344"/>
            <a:ext cx="3230575" cy="490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막히지 않은 인원들 통해 광고 </a:t>
            </a:r>
            <a:r>
              <a:rPr lang="en-US" sz="1100" dirty="0" err="1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</a:t>
            </a: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 err="1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일부</a:t>
            </a: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인원 공고 재개 가능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457200" y="4959096"/>
            <a:ext cx="11277295" cy="1240536"/>
          </a:xfrm>
          <a:prstGeom prst="roundRect">
            <a:avLst>
              <a:gd name="adj" fmla="val 95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9"/>
          <p:cNvSpPr/>
          <p:nvPr/>
        </p:nvSpPr>
        <p:spPr>
          <a:xfrm>
            <a:off x="640080" y="5096256"/>
            <a:ext cx="914400" cy="256032"/>
          </a:xfrm>
          <a:prstGeom prst="roundRect">
            <a:avLst>
              <a:gd name="adj" fmla="val 28571"/>
            </a:avLst>
          </a:prstGeom>
          <a:solidFill>
            <a:srgbClr val="EA5EC1"/>
          </a:solidFill>
          <a:ln w="12700">
            <a:solidFill>
              <a:srgbClr val="EA5EC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0"/>
          <p:cNvSpPr/>
          <p:nvPr/>
        </p:nvSpPr>
        <p:spPr>
          <a:xfrm>
            <a:off x="640080" y="509625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GROWTH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4389120" y="5032248"/>
            <a:ext cx="0" cy="1103376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2"/>
          <p:cNvSpPr/>
          <p:nvPr/>
        </p:nvSpPr>
        <p:spPr>
          <a:xfrm>
            <a:off x="8366760" y="5032248"/>
            <a:ext cx="0" cy="1103376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3"/>
          <p:cNvSpPr/>
          <p:nvPr/>
        </p:nvSpPr>
        <p:spPr>
          <a:xfrm>
            <a:off x="640080" y="541629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CHALLENGE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640080" y="561746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리젝율 관리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640080" y="5964936"/>
            <a:ext cx="35661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전체 리젝 47건 </a:t>
            </a:r>
            <a:r>
              <a:rPr lang="en-US" sz="1050" dirty="0" err="1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발생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4572000" y="541629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SOLUTION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4572000" y="5617464"/>
            <a:ext cx="3657600" cy="490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 err="1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신청인</a:t>
            </a: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서명전</a:t>
            </a: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</a:t>
            </a:r>
            <a:r>
              <a:rPr lang="en-US" sz="1100" dirty="0" err="1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미리보기</a:t>
            </a: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단계에서</a:t>
            </a: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정기</a:t>
            </a: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여부 + ₩30,000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 err="1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워터버켓</a:t>
            </a: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지원 재확인 · 클로징 스크립트 보완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8549640" y="5416296"/>
            <a:ext cx="32305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RESULT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8549640" y="5617464"/>
            <a:ext cx="3230575" cy="490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 err="1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리젝전환</a:t>
            </a: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가능성</a:t>
            </a: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사전</a:t>
            </a: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더블체크</a:t>
            </a:r>
            <a:endParaRPr lang="en-US" sz="1100" dirty="0">
              <a:solidFill>
                <a:srgbClr val="45515E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능동적 퀄리파잉 진행 중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챌린지 &amp; 액션</a:t>
            </a:r>
            <a:endParaRPr lang="en-US" sz="1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3034" y="164592"/>
            <a:ext cx="721462" cy="6583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Win &amp; How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457200" y="149047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6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이달의 </a:t>
            </a:r>
            <a:r>
              <a:rPr lang="en-US" sz="1600" dirty="0" err="1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</a:t>
            </a:r>
            <a:r>
              <a:rPr lang="en-US" sz="16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600" dirty="0" err="1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성과</a:t>
            </a:r>
            <a:r>
              <a:rPr lang="en-US" sz="16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600" dirty="0" err="1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및</a:t>
            </a:r>
            <a:r>
              <a:rPr lang="en-US" altLang="ko-KR" sz="16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6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600" dirty="0" err="1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실행전략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457200" y="4338828"/>
            <a:ext cx="11277295" cy="1924812"/>
          </a:xfrm>
          <a:prstGeom prst="roundRect">
            <a:avLst>
              <a:gd name="adj" fmla="val 617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2"/>
          <p:cNvSpPr/>
          <p:nvPr/>
        </p:nvSpPr>
        <p:spPr>
          <a:xfrm>
            <a:off x="640080" y="4503420"/>
            <a:ext cx="822960" cy="274320"/>
          </a:xfrm>
          <a:prstGeom prst="roundRect">
            <a:avLst>
              <a:gd name="adj" fmla="val 26667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/>
          <p:nvPr/>
        </p:nvSpPr>
        <p:spPr>
          <a:xfrm>
            <a:off x="640080" y="45034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SALES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1600200" y="44759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4월 한달간 S.W TOP 3 이내 AOP 팀 · 기복 없는 안정적 인컴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640080" y="4905756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WIN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658368" y="5198364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7"/>
          <p:cNvSpPr/>
          <p:nvPr/>
        </p:nvSpPr>
        <p:spPr>
          <a:xfrm>
            <a:off x="841248" y="51435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기복 없이 안정적 인컴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658368" y="5545836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9"/>
          <p:cNvSpPr/>
          <p:nvPr/>
        </p:nvSpPr>
        <p:spPr>
          <a:xfrm>
            <a:off x="841248" y="549097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꾸준한 세일즈 증명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4572000" y="4869180"/>
            <a:ext cx="0" cy="1266444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1"/>
          <p:cNvSpPr/>
          <p:nvPr/>
        </p:nvSpPr>
        <p:spPr>
          <a:xfrm>
            <a:off x="4800600" y="4905756"/>
            <a:ext cx="6888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HOW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818888" y="5207508"/>
            <a:ext cx="91440" cy="91440"/>
          </a:xfrm>
          <a:prstGeom prst="roundRect">
            <a:avLst>
              <a:gd name="adj" fmla="val 50000"/>
            </a:avLst>
          </a:prstGeom>
          <a:solidFill>
            <a:srgbClr val="60D394"/>
          </a:solidFill>
          <a:ln w="12700">
            <a:solidFill>
              <a:srgbClr val="60D39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3"/>
          <p:cNvSpPr/>
          <p:nvPr/>
        </p:nvSpPr>
        <p:spPr>
          <a:xfrm>
            <a:off x="4974336" y="5161788"/>
            <a:ext cx="6613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새로운 피치 계속 연구하고 만들기 · 신입이 임펄스 오르는 피치로 전환 (예진)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4818888" y="5536692"/>
            <a:ext cx="91440" cy="91440"/>
          </a:xfrm>
          <a:prstGeom prst="roundRect">
            <a:avLst>
              <a:gd name="adj" fmla="val 50000"/>
            </a:avLst>
          </a:prstGeom>
          <a:solidFill>
            <a:srgbClr val="60D394"/>
          </a:solidFill>
          <a:ln w="12700">
            <a:solidFill>
              <a:srgbClr val="60D39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5"/>
          <p:cNvSpPr/>
          <p:nvPr/>
        </p:nvSpPr>
        <p:spPr>
          <a:xfrm>
            <a:off x="4974336" y="5490972"/>
            <a:ext cx="6613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내 롤모델 — 좋은 여성 리더상 존재 (윤경, 채영)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818888" y="5865876"/>
            <a:ext cx="91440" cy="91440"/>
          </a:xfrm>
          <a:prstGeom prst="roundRect">
            <a:avLst>
              <a:gd name="adj" fmla="val 50000"/>
            </a:avLst>
          </a:prstGeom>
          <a:solidFill>
            <a:srgbClr val="60D394"/>
          </a:solidFill>
          <a:ln w="12700">
            <a:solidFill>
              <a:srgbClr val="60D39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7"/>
          <p:cNvSpPr/>
          <p:nvPr/>
        </p:nvSpPr>
        <p:spPr>
          <a:xfrm>
            <a:off x="4974336" y="5820156"/>
            <a:ext cx="6613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팀에 기여하는 좋은 예시가 되려는 마음가짐 (인선) · 더 많이 배우려는 자세 (네트워킹)</a:t>
            </a:r>
            <a:endParaRPr lang="en-US" sz="1100" dirty="0"/>
          </a:p>
        </p:txBody>
      </p:sp>
      <p:sp>
        <p:nvSpPr>
          <p:cNvPr id="41" name="Shape 4">
            <a:extLst>
              <a:ext uri="{FF2B5EF4-FFF2-40B4-BE49-F238E27FC236}">
                <a16:creationId xmlns:a16="http://schemas.microsoft.com/office/drawing/2014/main" id="{68CC89EE-59C9-587E-4EC9-F9B974DCED59}"/>
              </a:ext>
            </a:extLst>
          </p:cNvPr>
          <p:cNvSpPr/>
          <p:nvPr/>
        </p:nvSpPr>
        <p:spPr>
          <a:xfrm>
            <a:off x="457200" y="2276856"/>
            <a:ext cx="11277295" cy="1924812"/>
          </a:xfrm>
          <a:prstGeom prst="roundRect">
            <a:avLst>
              <a:gd name="adj" fmla="val 617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5">
            <a:extLst>
              <a:ext uri="{FF2B5EF4-FFF2-40B4-BE49-F238E27FC236}">
                <a16:creationId xmlns:a16="http://schemas.microsoft.com/office/drawing/2014/main" id="{D098810A-455D-9D8A-357C-6563C8104E46}"/>
              </a:ext>
            </a:extLst>
          </p:cNvPr>
          <p:cNvSpPr/>
          <p:nvPr/>
        </p:nvSpPr>
        <p:spPr>
          <a:xfrm>
            <a:off x="640080" y="2441448"/>
            <a:ext cx="822960" cy="274320"/>
          </a:xfrm>
          <a:prstGeom prst="roundRect">
            <a:avLst>
              <a:gd name="adj" fmla="val 26667"/>
            </a:avLst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6">
            <a:extLst>
              <a:ext uri="{FF2B5EF4-FFF2-40B4-BE49-F238E27FC236}">
                <a16:creationId xmlns:a16="http://schemas.microsoft.com/office/drawing/2014/main" id="{90995338-49C4-50F0-C879-5B55FA352740}"/>
              </a:ext>
            </a:extLst>
          </p:cNvPr>
          <p:cNvSpPr/>
          <p:nvPr/>
        </p:nvSpPr>
        <p:spPr>
          <a:xfrm>
            <a:off x="640080" y="244144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MANAGE</a:t>
            </a:r>
            <a:endParaRPr lang="en-US" sz="1000" dirty="0"/>
          </a:p>
        </p:txBody>
      </p:sp>
      <p:sp>
        <p:nvSpPr>
          <p:cNvPr id="44" name="Text 7">
            <a:extLst>
              <a:ext uri="{FF2B5EF4-FFF2-40B4-BE49-F238E27FC236}">
                <a16:creationId xmlns:a16="http://schemas.microsoft.com/office/drawing/2014/main" id="{B777738E-7384-989E-D29D-F07EB993FA82}"/>
              </a:ext>
            </a:extLst>
          </p:cNvPr>
          <p:cNvSpPr/>
          <p:nvPr/>
        </p:nvSpPr>
        <p:spPr>
          <a:xfrm>
            <a:off x="1600200" y="241401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팀원 Q.C · 교육 퀄리티 UP</a:t>
            </a:r>
            <a:endParaRPr lang="en-US" sz="1500" dirty="0"/>
          </a:p>
        </p:txBody>
      </p:sp>
      <p:sp>
        <p:nvSpPr>
          <p:cNvPr id="45" name="Text 8">
            <a:extLst>
              <a:ext uri="{FF2B5EF4-FFF2-40B4-BE49-F238E27FC236}">
                <a16:creationId xmlns:a16="http://schemas.microsoft.com/office/drawing/2014/main" id="{673ADB86-330E-1F36-953D-70110214C151}"/>
              </a:ext>
            </a:extLst>
          </p:cNvPr>
          <p:cNvSpPr/>
          <p:nvPr/>
        </p:nvSpPr>
        <p:spPr>
          <a:xfrm>
            <a:off x="640080" y="2843784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WIN</a:t>
            </a:r>
            <a:endParaRPr lang="en-US" sz="1000" dirty="0"/>
          </a:p>
        </p:txBody>
      </p:sp>
      <p:sp>
        <p:nvSpPr>
          <p:cNvPr id="46" name="Shape 9">
            <a:extLst>
              <a:ext uri="{FF2B5EF4-FFF2-40B4-BE49-F238E27FC236}">
                <a16:creationId xmlns:a16="http://schemas.microsoft.com/office/drawing/2014/main" id="{CD9ADEB9-FD97-A380-011B-199BE37C700E}"/>
              </a:ext>
            </a:extLst>
          </p:cNvPr>
          <p:cNvSpPr/>
          <p:nvPr/>
        </p:nvSpPr>
        <p:spPr>
          <a:xfrm>
            <a:off x="658368" y="313639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10">
            <a:extLst>
              <a:ext uri="{FF2B5EF4-FFF2-40B4-BE49-F238E27FC236}">
                <a16:creationId xmlns:a16="http://schemas.microsoft.com/office/drawing/2014/main" id="{27AC0855-A8D1-3146-603F-C5BF6B54362A}"/>
              </a:ext>
            </a:extLst>
          </p:cNvPr>
          <p:cNvSpPr/>
          <p:nvPr/>
        </p:nvSpPr>
        <p:spPr>
          <a:xfrm>
            <a:off x="841248" y="308152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팀원 Q.C 강화</a:t>
            </a:r>
            <a:endParaRPr lang="en-US" sz="1200" dirty="0"/>
          </a:p>
        </p:txBody>
      </p:sp>
      <p:sp>
        <p:nvSpPr>
          <p:cNvPr id="48" name="Shape 11">
            <a:extLst>
              <a:ext uri="{FF2B5EF4-FFF2-40B4-BE49-F238E27FC236}">
                <a16:creationId xmlns:a16="http://schemas.microsoft.com/office/drawing/2014/main" id="{B7AAD560-858F-CF25-6671-B5749E270974}"/>
              </a:ext>
            </a:extLst>
          </p:cNvPr>
          <p:cNvSpPr/>
          <p:nvPr/>
        </p:nvSpPr>
        <p:spPr>
          <a:xfrm>
            <a:off x="658368" y="3483864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12">
            <a:extLst>
              <a:ext uri="{FF2B5EF4-FFF2-40B4-BE49-F238E27FC236}">
                <a16:creationId xmlns:a16="http://schemas.microsoft.com/office/drawing/2014/main" id="{168FD5E5-4934-BB2D-A11F-82079E653F1E}"/>
              </a:ext>
            </a:extLst>
          </p:cNvPr>
          <p:cNvSpPr/>
          <p:nvPr/>
        </p:nvSpPr>
        <p:spPr>
          <a:xfrm>
            <a:off x="841248" y="34290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교육 퀄리티 UP</a:t>
            </a:r>
            <a:endParaRPr lang="en-US" sz="1200" dirty="0"/>
          </a:p>
        </p:txBody>
      </p:sp>
      <p:sp>
        <p:nvSpPr>
          <p:cNvPr id="50" name="Shape 13">
            <a:extLst>
              <a:ext uri="{FF2B5EF4-FFF2-40B4-BE49-F238E27FC236}">
                <a16:creationId xmlns:a16="http://schemas.microsoft.com/office/drawing/2014/main" id="{8952EB4C-542F-B5C1-0522-DECDA220A236}"/>
              </a:ext>
            </a:extLst>
          </p:cNvPr>
          <p:cNvSpPr/>
          <p:nvPr/>
        </p:nvSpPr>
        <p:spPr>
          <a:xfrm>
            <a:off x="4572000" y="2807208"/>
            <a:ext cx="0" cy="1266444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14">
            <a:extLst>
              <a:ext uri="{FF2B5EF4-FFF2-40B4-BE49-F238E27FC236}">
                <a16:creationId xmlns:a16="http://schemas.microsoft.com/office/drawing/2014/main" id="{1A26DA5D-713D-D176-D7E7-6F64BEC3F2BF}"/>
              </a:ext>
            </a:extLst>
          </p:cNvPr>
          <p:cNvSpPr/>
          <p:nvPr/>
        </p:nvSpPr>
        <p:spPr>
          <a:xfrm>
            <a:off x="4800600" y="2843784"/>
            <a:ext cx="6888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HOW</a:t>
            </a:r>
            <a:endParaRPr lang="en-US" sz="1000" dirty="0"/>
          </a:p>
        </p:txBody>
      </p:sp>
      <p:sp>
        <p:nvSpPr>
          <p:cNvPr id="52" name="Shape 15">
            <a:extLst>
              <a:ext uri="{FF2B5EF4-FFF2-40B4-BE49-F238E27FC236}">
                <a16:creationId xmlns:a16="http://schemas.microsoft.com/office/drawing/2014/main" id="{F06590EB-EDA6-77FB-C2B6-548E9A7ACE42}"/>
              </a:ext>
            </a:extLst>
          </p:cNvPr>
          <p:cNvSpPr/>
          <p:nvPr/>
        </p:nvSpPr>
        <p:spPr>
          <a:xfrm>
            <a:off x="4818888" y="3145536"/>
            <a:ext cx="91440" cy="91440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16">
            <a:extLst>
              <a:ext uri="{FF2B5EF4-FFF2-40B4-BE49-F238E27FC236}">
                <a16:creationId xmlns:a16="http://schemas.microsoft.com/office/drawing/2014/main" id="{6FEA9445-CB6D-A0DF-0316-F1082760AE91}"/>
              </a:ext>
            </a:extLst>
          </p:cNvPr>
          <p:cNvSpPr/>
          <p:nvPr/>
        </p:nvSpPr>
        <p:spPr>
          <a:xfrm>
            <a:off x="4974336" y="3099816"/>
            <a:ext cx="6613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좋은 </a:t>
            </a:r>
            <a:r>
              <a:rPr lang="en-US" sz="1100" dirty="0" err="1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팀원</a:t>
            </a: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유입</a:t>
            </a:r>
            <a:r>
              <a:rPr lang="ko-KR" altLang="en-US" sz="1100" dirty="0" err="1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</a:t>
            </a:r>
            <a:r>
              <a:rPr lang="ko-KR" alt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따라 퀄리티 애매한 팀원 </a:t>
            </a:r>
            <a:r>
              <a:rPr lang="en-US" sz="1100" dirty="0" err="1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빠르게</a:t>
            </a:r>
            <a:r>
              <a:rPr lang="ko-KR" alt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100" dirty="0" err="1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퀄리파잉</a:t>
            </a:r>
            <a:r>
              <a:rPr lang="ko-KR" alt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 </a:t>
            </a:r>
            <a:r>
              <a:rPr lang="ko-KR" alt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예진</a:t>
            </a:r>
            <a:r>
              <a:rPr lang="en-US" altLang="ko-KR" sz="1100" dirty="0" err="1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ic</a:t>
            </a:r>
            <a:r>
              <a:rPr lang="en-US" altLang="ko-KR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-&gt; Leader</a:t>
            </a:r>
            <a:endParaRPr lang="en-US" sz="1100" dirty="0"/>
          </a:p>
        </p:txBody>
      </p:sp>
      <p:sp>
        <p:nvSpPr>
          <p:cNvPr id="54" name="Shape 17">
            <a:extLst>
              <a:ext uri="{FF2B5EF4-FFF2-40B4-BE49-F238E27FC236}">
                <a16:creationId xmlns:a16="http://schemas.microsoft.com/office/drawing/2014/main" id="{EB4CDBBA-4A58-5803-FD94-A6641A07F634}"/>
              </a:ext>
            </a:extLst>
          </p:cNvPr>
          <p:cNvSpPr/>
          <p:nvPr/>
        </p:nvSpPr>
        <p:spPr>
          <a:xfrm>
            <a:off x="4818888" y="3474720"/>
            <a:ext cx="91440" cy="91440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18">
            <a:extLst>
              <a:ext uri="{FF2B5EF4-FFF2-40B4-BE49-F238E27FC236}">
                <a16:creationId xmlns:a16="http://schemas.microsoft.com/office/drawing/2014/main" id="{4CFEE974-AFD4-01E2-0057-95BEE3DB2035}"/>
              </a:ext>
            </a:extLst>
          </p:cNvPr>
          <p:cNvSpPr/>
          <p:nvPr/>
        </p:nvSpPr>
        <p:spPr>
          <a:xfrm>
            <a:off x="4974336" y="3429000"/>
            <a:ext cx="6613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상대방을 위한 </a:t>
            </a:r>
            <a:r>
              <a:rPr lang="en-US" sz="1100" dirty="0" err="1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퀄리파잉</a:t>
            </a: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—</a:t>
            </a:r>
            <a:r>
              <a:rPr lang="ko-KR" alt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오너와 상의가 끝나면 </a:t>
            </a:r>
            <a:r>
              <a:rPr lang="en-US" sz="1100" dirty="0" err="1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올바른</a:t>
            </a: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결정임을 이해한 뒤 과감하게 소통</a:t>
            </a:r>
            <a:endParaRPr lang="en-US" sz="1100" dirty="0"/>
          </a:p>
        </p:txBody>
      </p:sp>
      <p:sp>
        <p:nvSpPr>
          <p:cNvPr id="56" name="Shape 19">
            <a:extLst>
              <a:ext uri="{FF2B5EF4-FFF2-40B4-BE49-F238E27FC236}">
                <a16:creationId xmlns:a16="http://schemas.microsoft.com/office/drawing/2014/main" id="{40E8015B-8F89-BFB2-2E88-12105703B7A0}"/>
              </a:ext>
            </a:extLst>
          </p:cNvPr>
          <p:cNvSpPr/>
          <p:nvPr/>
        </p:nvSpPr>
        <p:spPr>
          <a:xfrm>
            <a:off x="4818888" y="3803904"/>
            <a:ext cx="91440" cy="91440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20">
            <a:extLst>
              <a:ext uri="{FF2B5EF4-FFF2-40B4-BE49-F238E27FC236}">
                <a16:creationId xmlns:a16="http://schemas.microsoft.com/office/drawing/2014/main" id="{B79D8F6C-4458-1C8B-FC2F-97C076EC4D71}"/>
              </a:ext>
            </a:extLst>
          </p:cNvPr>
          <p:cNvSpPr/>
          <p:nvPr/>
        </p:nvSpPr>
        <p:spPr>
          <a:xfrm>
            <a:off x="4974336" y="3758184"/>
            <a:ext cx="6613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</a:rPr>
              <a:t>First </a:t>
            </a:r>
            <a:r>
              <a:rPr lang="en-US" sz="1100" dirty="0" err="1">
                <a:solidFill>
                  <a:srgbClr val="45515E"/>
                </a:solidFill>
                <a:latin typeface="Pretendard" pitchFamily="34" charset="0"/>
                <a:ea typeface="Pretendard" pitchFamily="34" charset="-122"/>
              </a:rPr>
              <a:t>아니라도</a:t>
            </a: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</a:rPr>
              <a:t> </a:t>
            </a:r>
            <a:r>
              <a:rPr lang="en-US" sz="1100" dirty="0" err="1">
                <a:solidFill>
                  <a:srgbClr val="45515E"/>
                </a:solidFill>
                <a:latin typeface="Pretendard" pitchFamily="34" charset="0"/>
                <a:ea typeface="Pretendard" pitchFamily="34" charset="-122"/>
              </a:rPr>
              <a:t>자주</a:t>
            </a: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</a:rPr>
              <a:t> </a:t>
            </a:r>
            <a:r>
              <a:rPr lang="en-US" sz="1100" dirty="0" err="1">
                <a:solidFill>
                  <a:srgbClr val="45515E"/>
                </a:solidFill>
                <a:latin typeface="Pretendard" pitchFamily="34" charset="0"/>
                <a:ea typeface="Pretendard" pitchFamily="34" charset="-122"/>
              </a:rPr>
              <a:t>꾸준히</a:t>
            </a: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</a:rPr>
              <a:t> </a:t>
            </a:r>
            <a:r>
              <a:rPr lang="en-US" sz="1100" dirty="0" err="1">
                <a:solidFill>
                  <a:srgbClr val="45515E"/>
                </a:solidFill>
                <a:latin typeface="Pretendard" pitchFamily="34" charset="0"/>
                <a:ea typeface="Pretendard" pitchFamily="34" charset="-122"/>
              </a:rPr>
              <a:t>연락</a:t>
            </a:r>
            <a:r>
              <a:rPr lang="en-US" altLang="ko-KR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</a:rPr>
              <a:t>,</a:t>
            </a: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</a:rPr>
              <a:t> </a:t>
            </a:r>
            <a:r>
              <a:rPr lang="en-US" sz="1100" dirty="0" err="1">
                <a:solidFill>
                  <a:srgbClr val="45515E"/>
                </a:solidFill>
                <a:latin typeface="Pretendard" pitchFamily="34" charset="0"/>
                <a:ea typeface="Pretendard" pitchFamily="34" charset="-122"/>
              </a:rPr>
              <a:t>보완점</a:t>
            </a: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</a:rPr>
              <a:t> </a:t>
            </a:r>
            <a:r>
              <a:rPr lang="en-US" sz="1100" dirty="0" err="1">
                <a:solidFill>
                  <a:srgbClr val="45515E"/>
                </a:solidFill>
                <a:latin typeface="Pretendard" pitchFamily="34" charset="0"/>
                <a:ea typeface="Pretendard" pitchFamily="34" charset="-122"/>
              </a:rPr>
              <a:t>피드백</a:t>
            </a: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</a:rPr>
              <a:t> </a:t>
            </a:r>
            <a:r>
              <a:rPr lang="en-US" sz="1100" dirty="0" err="1">
                <a:solidFill>
                  <a:srgbClr val="45515E"/>
                </a:solidFill>
                <a:latin typeface="Pretendard" pitchFamily="34" charset="0"/>
                <a:ea typeface="Pretendard" pitchFamily="34" charset="-122"/>
              </a:rPr>
              <a:t>수시로</a:t>
            </a: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</a:rPr>
              <a:t> </a:t>
            </a:r>
            <a:r>
              <a:rPr lang="en-US" altLang="ko-KR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</a:rPr>
              <a:t>, </a:t>
            </a:r>
            <a:r>
              <a:rPr lang="ko-KR" alt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</a:rPr>
              <a:t>특히 지점장님과 </a:t>
            </a:r>
            <a:r>
              <a:rPr lang="en-US" altLang="ko-KR" sz="1100" dirty="0" err="1">
                <a:solidFill>
                  <a:srgbClr val="45515E"/>
                </a:solidFill>
                <a:latin typeface="Pretendard" pitchFamily="34" charset="0"/>
                <a:ea typeface="Pretendard" pitchFamily="34" charset="-122"/>
              </a:rPr>
              <a:t>ic</a:t>
            </a:r>
            <a:r>
              <a:rPr lang="en-US" altLang="ko-KR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</a:rPr>
              <a:t> </a:t>
            </a:r>
            <a:r>
              <a:rPr lang="ko-KR" alt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</a:rPr>
              <a:t>함께하는 </a:t>
            </a:r>
            <a:r>
              <a:rPr lang="ko-KR" altLang="en-US" sz="1100" dirty="0" err="1">
                <a:solidFill>
                  <a:srgbClr val="45515E"/>
                </a:solidFill>
                <a:latin typeface="Pretendard" pitchFamily="34" charset="0"/>
                <a:ea typeface="Pretendard" pitchFamily="34" charset="-122"/>
              </a:rPr>
              <a:t>카톡방</a:t>
            </a:r>
            <a:r>
              <a:rPr lang="ko-KR" alt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</a:rPr>
              <a:t> 활용</a:t>
            </a:r>
            <a:endParaRPr lang="en-US" sz="1100" dirty="0"/>
          </a:p>
        </p:txBody>
      </p:sp>
      <p:sp>
        <p:nvSpPr>
          <p:cNvPr id="58" name="Shape 21">
            <a:extLst>
              <a:ext uri="{FF2B5EF4-FFF2-40B4-BE49-F238E27FC236}">
                <a16:creationId xmlns:a16="http://schemas.microsoft.com/office/drawing/2014/main" id="{9F4CBE1D-483F-6FC4-225B-B529AF14F651}"/>
              </a:ext>
            </a:extLst>
          </p:cNvPr>
          <p:cNvSpPr/>
          <p:nvPr/>
        </p:nvSpPr>
        <p:spPr>
          <a:xfrm>
            <a:off x="457200" y="4338828"/>
            <a:ext cx="11277295" cy="1924812"/>
          </a:xfrm>
          <a:prstGeom prst="roundRect">
            <a:avLst>
              <a:gd name="adj" fmla="val 617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22">
            <a:extLst>
              <a:ext uri="{FF2B5EF4-FFF2-40B4-BE49-F238E27FC236}">
                <a16:creationId xmlns:a16="http://schemas.microsoft.com/office/drawing/2014/main" id="{10DCE582-955A-8EAC-47FF-83834430DD6F}"/>
              </a:ext>
            </a:extLst>
          </p:cNvPr>
          <p:cNvSpPr/>
          <p:nvPr/>
        </p:nvSpPr>
        <p:spPr>
          <a:xfrm>
            <a:off x="640080" y="4503420"/>
            <a:ext cx="822960" cy="274320"/>
          </a:xfrm>
          <a:prstGeom prst="roundRect">
            <a:avLst>
              <a:gd name="adj" fmla="val 26667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 23">
            <a:extLst>
              <a:ext uri="{FF2B5EF4-FFF2-40B4-BE49-F238E27FC236}">
                <a16:creationId xmlns:a16="http://schemas.microsoft.com/office/drawing/2014/main" id="{7865380E-3486-4F3C-24FD-63AF1F53DE14}"/>
              </a:ext>
            </a:extLst>
          </p:cNvPr>
          <p:cNvSpPr/>
          <p:nvPr/>
        </p:nvSpPr>
        <p:spPr>
          <a:xfrm>
            <a:off x="640080" y="45034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SALES</a:t>
            </a:r>
            <a:endParaRPr lang="en-US" sz="1000" dirty="0"/>
          </a:p>
        </p:txBody>
      </p:sp>
      <p:sp>
        <p:nvSpPr>
          <p:cNvPr id="61" name="Text 24">
            <a:extLst>
              <a:ext uri="{FF2B5EF4-FFF2-40B4-BE49-F238E27FC236}">
                <a16:creationId xmlns:a16="http://schemas.microsoft.com/office/drawing/2014/main" id="{A86A9374-4D6B-9B22-A7F1-88BB8DA70916}"/>
              </a:ext>
            </a:extLst>
          </p:cNvPr>
          <p:cNvSpPr/>
          <p:nvPr/>
        </p:nvSpPr>
        <p:spPr>
          <a:xfrm>
            <a:off x="1600200" y="447598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15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</a:rPr>
              <a:t>4</a:t>
            </a:r>
            <a:r>
              <a:rPr lang="ko-KR" altLang="en-US" sz="15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</a:rPr>
              <a:t>월 한달간 </a:t>
            </a:r>
            <a:r>
              <a:rPr lang="en-US" altLang="ko-KR" sz="15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</a:rPr>
              <a:t>S.W  TOP 3</a:t>
            </a:r>
            <a:r>
              <a:rPr lang="ko-KR" altLang="en-US" sz="15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</a:rPr>
              <a:t> 이내 </a:t>
            </a:r>
            <a:r>
              <a:rPr lang="en-US" altLang="ko-KR" sz="15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</a:rPr>
              <a:t>AOP</a:t>
            </a:r>
            <a:r>
              <a:rPr lang="ko-KR" altLang="en-US" sz="15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</a:rPr>
              <a:t> 팀</a:t>
            </a:r>
            <a:endParaRPr lang="en-US" sz="1500" dirty="0"/>
          </a:p>
        </p:txBody>
      </p:sp>
      <p:sp>
        <p:nvSpPr>
          <p:cNvPr id="62" name="Text 25">
            <a:extLst>
              <a:ext uri="{FF2B5EF4-FFF2-40B4-BE49-F238E27FC236}">
                <a16:creationId xmlns:a16="http://schemas.microsoft.com/office/drawing/2014/main" id="{1FAA6265-4135-0768-B7DF-3BC2C2EC5669}"/>
              </a:ext>
            </a:extLst>
          </p:cNvPr>
          <p:cNvSpPr/>
          <p:nvPr/>
        </p:nvSpPr>
        <p:spPr>
          <a:xfrm>
            <a:off x="640080" y="4905756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WIN</a:t>
            </a:r>
            <a:endParaRPr lang="en-US" sz="1000" dirty="0"/>
          </a:p>
        </p:txBody>
      </p:sp>
      <p:sp>
        <p:nvSpPr>
          <p:cNvPr id="63" name="Shape 26">
            <a:extLst>
              <a:ext uri="{FF2B5EF4-FFF2-40B4-BE49-F238E27FC236}">
                <a16:creationId xmlns:a16="http://schemas.microsoft.com/office/drawing/2014/main" id="{39D23C1C-40D9-D718-259D-4D13EE41A53F}"/>
              </a:ext>
            </a:extLst>
          </p:cNvPr>
          <p:cNvSpPr/>
          <p:nvPr/>
        </p:nvSpPr>
        <p:spPr>
          <a:xfrm>
            <a:off x="658368" y="5198364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Text 27">
            <a:extLst>
              <a:ext uri="{FF2B5EF4-FFF2-40B4-BE49-F238E27FC236}">
                <a16:creationId xmlns:a16="http://schemas.microsoft.com/office/drawing/2014/main" id="{B739EFBE-2D06-08B2-A743-F5E1C040B5E3}"/>
              </a:ext>
            </a:extLst>
          </p:cNvPr>
          <p:cNvSpPr/>
          <p:nvPr/>
        </p:nvSpPr>
        <p:spPr>
          <a:xfrm>
            <a:off x="841248" y="51435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기복 </a:t>
            </a:r>
            <a:r>
              <a:rPr lang="en-US" sz="1200" b="1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없이</a:t>
            </a:r>
            <a:r>
              <a:rPr lang="en-US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안정적</a:t>
            </a:r>
            <a:r>
              <a:rPr lang="en-US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b="1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세일즈</a:t>
            </a:r>
            <a:r>
              <a:rPr lang="en-US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b="1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및</a:t>
            </a:r>
            <a:r>
              <a:rPr lang="en-US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b="1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인컴</a:t>
            </a:r>
            <a:endParaRPr lang="en-US" sz="1200" dirty="0"/>
          </a:p>
        </p:txBody>
      </p:sp>
      <p:sp>
        <p:nvSpPr>
          <p:cNvPr id="65" name="Shape 28">
            <a:extLst>
              <a:ext uri="{FF2B5EF4-FFF2-40B4-BE49-F238E27FC236}">
                <a16:creationId xmlns:a16="http://schemas.microsoft.com/office/drawing/2014/main" id="{C12D5662-F32C-E152-78D8-899D799D90B2}"/>
              </a:ext>
            </a:extLst>
          </p:cNvPr>
          <p:cNvSpPr/>
          <p:nvPr/>
        </p:nvSpPr>
        <p:spPr>
          <a:xfrm>
            <a:off x="658368" y="5545836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Text 29">
            <a:extLst>
              <a:ext uri="{FF2B5EF4-FFF2-40B4-BE49-F238E27FC236}">
                <a16:creationId xmlns:a16="http://schemas.microsoft.com/office/drawing/2014/main" id="{FD43809D-5E64-BEC3-38FC-3483A098466D}"/>
              </a:ext>
            </a:extLst>
          </p:cNvPr>
          <p:cNvSpPr/>
          <p:nvPr/>
        </p:nvSpPr>
        <p:spPr>
          <a:xfrm>
            <a:off x="841248" y="549097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팀내</a:t>
            </a:r>
            <a:r>
              <a:rPr lang="en-US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b="1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첫</a:t>
            </a:r>
            <a:r>
              <a:rPr lang="en-US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BIG </a:t>
            </a:r>
            <a:r>
              <a:rPr lang="en-US" sz="1200" b="1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프로모션</a:t>
            </a:r>
            <a:r>
              <a:rPr lang="en-US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b="1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윤채영</a:t>
            </a:r>
            <a:r>
              <a:rPr lang="en-US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LR -&gt; TL </a:t>
            </a:r>
            <a:endParaRPr lang="en-US" sz="1200" dirty="0"/>
          </a:p>
        </p:txBody>
      </p:sp>
      <p:sp>
        <p:nvSpPr>
          <p:cNvPr id="67" name="Shape 30">
            <a:extLst>
              <a:ext uri="{FF2B5EF4-FFF2-40B4-BE49-F238E27FC236}">
                <a16:creationId xmlns:a16="http://schemas.microsoft.com/office/drawing/2014/main" id="{1AAF36A5-0F06-DAD0-4FB9-7369DB96EFE5}"/>
              </a:ext>
            </a:extLst>
          </p:cNvPr>
          <p:cNvSpPr/>
          <p:nvPr/>
        </p:nvSpPr>
        <p:spPr>
          <a:xfrm>
            <a:off x="4572000" y="4869180"/>
            <a:ext cx="0" cy="1266444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Text 31">
            <a:extLst>
              <a:ext uri="{FF2B5EF4-FFF2-40B4-BE49-F238E27FC236}">
                <a16:creationId xmlns:a16="http://schemas.microsoft.com/office/drawing/2014/main" id="{A46F0369-8EA1-F16B-B9D1-7FA0D9AD1FBD}"/>
              </a:ext>
            </a:extLst>
          </p:cNvPr>
          <p:cNvSpPr/>
          <p:nvPr/>
        </p:nvSpPr>
        <p:spPr>
          <a:xfrm>
            <a:off x="4800600" y="4905756"/>
            <a:ext cx="6888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HOW</a:t>
            </a:r>
            <a:endParaRPr lang="en-US" sz="1000" dirty="0"/>
          </a:p>
        </p:txBody>
      </p:sp>
      <p:sp>
        <p:nvSpPr>
          <p:cNvPr id="69" name="Shape 32">
            <a:extLst>
              <a:ext uri="{FF2B5EF4-FFF2-40B4-BE49-F238E27FC236}">
                <a16:creationId xmlns:a16="http://schemas.microsoft.com/office/drawing/2014/main" id="{3E6644AE-BD2A-5C4A-56E4-7D70B182D32E}"/>
              </a:ext>
            </a:extLst>
          </p:cNvPr>
          <p:cNvSpPr/>
          <p:nvPr/>
        </p:nvSpPr>
        <p:spPr>
          <a:xfrm>
            <a:off x="4818888" y="5207508"/>
            <a:ext cx="91440" cy="91440"/>
          </a:xfrm>
          <a:prstGeom prst="roundRect">
            <a:avLst>
              <a:gd name="adj" fmla="val 50000"/>
            </a:avLst>
          </a:prstGeom>
          <a:solidFill>
            <a:srgbClr val="60D394"/>
          </a:solidFill>
          <a:ln w="12700">
            <a:solidFill>
              <a:srgbClr val="60D39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Text 33">
            <a:extLst>
              <a:ext uri="{FF2B5EF4-FFF2-40B4-BE49-F238E27FC236}">
                <a16:creationId xmlns:a16="http://schemas.microsoft.com/office/drawing/2014/main" id="{CF4AE17D-1FF2-ACD4-94E3-9AAE51C24185}"/>
              </a:ext>
            </a:extLst>
          </p:cNvPr>
          <p:cNvSpPr/>
          <p:nvPr/>
        </p:nvSpPr>
        <p:spPr>
          <a:xfrm>
            <a:off x="4974336" y="5161788"/>
            <a:ext cx="6613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새로운 피치 계속 </a:t>
            </a:r>
            <a:r>
              <a:rPr lang="en-US" sz="1100" dirty="0" err="1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연구하고</a:t>
            </a: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만들기</a:t>
            </a:r>
            <a:r>
              <a:rPr lang="en-US" altLang="ko-KR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</a:t>
            </a:r>
            <a:r>
              <a:rPr lang="ko-KR" alt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신입이 </a:t>
            </a:r>
            <a:r>
              <a:rPr lang="ko-KR" altLang="en-US" sz="1100" dirty="0" err="1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임펄스</a:t>
            </a:r>
            <a:r>
              <a:rPr lang="ko-KR" alt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오르는 피치로 전환시켜주기 </a:t>
            </a:r>
            <a:r>
              <a:rPr lang="en-US" altLang="ko-KR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</a:t>
            </a:r>
            <a:r>
              <a:rPr lang="ko-KR" alt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예진</a:t>
            </a:r>
            <a:r>
              <a:rPr lang="en-US" altLang="ko-KR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)</a:t>
            </a:r>
            <a:endParaRPr lang="en-US" sz="1100" dirty="0"/>
          </a:p>
        </p:txBody>
      </p:sp>
      <p:sp>
        <p:nvSpPr>
          <p:cNvPr id="71" name="Shape 34">
            <a:extLst>
              <a:ext uri="{FF2B5EF4-FFF2-40B4-BE49-F238E27FC236}">
                <a16:creationId xmlns:a16="http://schemas.microsoft.com/office/drawing/2014/main" id="{6C86361C-1AEA-8DA0-15A6-A1689F5545C6}"/>
              </a:ext>
            </a:extLst>
          </p:cNvPr>
          <p:cNvSpPr/>
          <p:nvPr/>
        </p:nvSpPr>
        <p:spPr>
          <a:xfrm>
            <a:off x="4818888" y="5536692"/>
            <a:ext cx="91440" cy="91440"/>
          </a:xfrm>
          <a:prstGeom prst="roundRect">
            <a:avLst>
              <a:gd name="adj" fmla="val 50000"/>
            </a:avLst>
          </a:prstGeom>
          <a:solidFill>
            <a:srgbClr val="60D394"/>
          </a:solidFill>
          <a:ln w="12700">
            <a:solidFill>
              <a:srgbClr val="60D39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Text 35">
            <a:extLst>
              <a:ext uri="{FF2B5EF4-FFF2-40B4-BE49-F238E27FC236}">
                <a16:creationId xmlns:a16="http://schemas.microsoft.com/office/drawing/2014/main" id="{48A19A86-9508-6379-B170-B4700B20A301}"/>
              </a:ext>
            </a:extLst>
          </p:cNvPr>
          <p:cNvSpPr/>
          <p:nvPr/>
        </p:nvSpPr>
        <p:spPr>
          <a:xfrm>
            <a:off x="4974336" y="5490972"/>
            <a:ext cx="6613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dirty="0">
                <a:solidFill>
                  <a:srgbClr val="45515E"/>
                </a:solidFill>
                <a:latin typeface="Pretendard" pitchFamily="34" charset="0"/>
              </a:rPr>
              <a:t>팀내 롤 </a:t>
            </a:r>
            <a:r>
              <a:rPr lang="ko-KR" altLang="en-US" sz="1100" dirty="0" err="1">
                <a:solidFill>
                  <a:srgbClr val="45515E"/>
                </a:solidFill>
                <a:latin typeface="Pretendard" pitchFamily="34" charset="0"/>
              </a:rPr>
              <a:t>모델로서의</a:t>
            </a:r>
            <a:r>
              <a:rPr lang="ko-KR" altLang="en-US" sz="1100" dirty="0">
                <a:solidFill>
                  <a:srgbClr val="45515E"/>
                </a:solidFill>
                <a:latin typeface="Pretendard" pitchFamily="34" charset="0"/>
              </a:rPr>
              <a:t> 예시로 좋은 여성리더상 존재 </a:t>
            </a:r>
            <a:r>
              <a:rPr lang="en-US" altLang="ko-KR" sz="1100" dirty="0">
                <a:solidFill>
                  <a:srgbClr val="45515E"/>
                </a:solidFill>
                <a:latin typeface="Pretendard" pitchFamily="34" charset="0"/>
              </a:rPr>
              <a:t>(</a:t>
            </a:r>
            <a:r>
              <a:rPr lang="ko-KR" altLang="en-US" sz="1100" dirty="0">
                <a:solidFill>
                  <a:srgbClr val="45515E"/>
                </a:solidFill>
                <a:latin typeface="Pretendard" pitchFamily="34" charset="0"/>
              </a:rPr>
              <a:t>윤경</a:t>
            </a:r>
            <a:r>
              <a:rPr lang="en-US" altLang="ko-KR" sz="1100" dirty="0">
                <a:solidFill>
                  <a:srgbClr val="45515E"/>
                </a:solidFill>
                <a:latin typeface="Pretendard" pitchFamily="34" charset="0"/>
              </a:rPr>
              <a:t>,</a:t>
            </a:r>
            <a:r>
              <a:rPr lang="ko-KR" altLang="en-US" sz="1100" dirty="0">
                <a:solidFill>
                  <a:srgbClr val="45515E"/>
                </a:solidFill>
                <a:latin typeface="Pretendard" pitchFamily="34" charset="0"/>
              </a:rPr>
              <a:t> 채영</a:t>
            </a:r>
            <a:r>
              <a:rPr lang="en-US" altLang="ko-KR" sz="1100" dirty="0">
                <a:solidFill>
                  <a:srgbClr val="45515E"/>
                </a:solidFill>
                <a:latin typeface="Pretendard" pitchFamily="34" charset="0"/>
              </a:rPr>
              <a:t>)</a:t>
            </a:r>
            <a:endParaRPr lang="en-US" sz="1100" dirty="0"/>
          </a:p>
        </p:txBody>
      </p:sp>
      <p:sp>
        <p:nvSpPr>
          <p:cNvPr id="73" name="Shape 36">
            <a:extLst>
              <a:ext uri="{FF2B5EF4-FFF2-40B4-BE49-F238E27FC236}">
                <a16:creationId xmlns:a16="http://schemas.microsoft.com/office/drawing/2014/main" id="{79874E68-2E96-62D4-2277-8B83BB6FA655}"/>
              </a:ext>
            </a:extLst>
          </p:cNvPr>
          <p:cNvSpPr/>
          <p:nvPr/>
        </p:nvSpPr>
        <p:spPr>
          <a:xfrm>
            <a:off x="4818888" y="5865876"/>
            <a:ext cx="91440" cy="91440"/>
          </a:xfrm>
          <a:prstGeom prst="roundRect">
            <a:avLst>
              <a:gd name="adj" fmla="val 50000"/>
            </a:avLst>
          </a:prstGeom>
          <a:solidFill>
            <a:srgbClr val="60D394"/>
          </a:solidFill>
          <a:ln w="12700">
            <a:solidFill>
              <a:srgbClr val="60D39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Text 37">
            <a:extLst>
              <a:ext uri="{FF2B5EF4-FFF2-40B4-BE49-F238E27FC236}">
                <a16:creationId xmlns:a16="http://schemas.microsoft.com/office/drawing/2014/main" id="{E6F7DEC7-C954-8ACA-C70B-EF040EFEE3DA}"/>
              </a:ext>
            </a:extLst>
          </p:cNvPr>
          <p:cNvSpPr/>
          <p:nvPr/>
        </p:nvSpPr>
        <p:spPr>
          <a:xfrm>
            <a:off x="4974336" y="5820156"/>
            <a:ext cx="6613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모두가 </a:t>
            </a:r>
            <a:r>
              <a:rPr lang="en-US" altLang="ko-KR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TL </a:t>
            </a:r>
            <a:r>
              <a:rPr lang="ko-KR" alt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도전할 수 있도록 팀원들의 </a:t>
            </a:r>
            <a:r>
              <a:rPr lang="en-US" altLang="ko-KR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LR HIT </a:t>
            </a:r>
            <a:r>
              <a:rPr lang="ko-KR" alt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 필요한 지원에 최선을 다함</a:t>
            </a:r>
            <a:r>
              <a:rPr lang="en-US" altLang="ko-KR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+ </a:t>
            </a:r>
            <a:r>
              <a:rPr lang="ko-KR" alt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채영리의 압도적 퍼포먼스</a:t>
            </a:r>
            <a:endParaRPr lang="en-US" altLang="ko-KR" sz="1100" dirty="0">
              <a:solidFill>
                <a:srgbClr val="45515E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sp>
        <p:nvSpPr>
          <p:cNvPr id="75" name="Shape 28">
            <a:extLst>
              <a:ext uri="{FF2B5EF4-FFF2-40B4-BE49-F238E27FC236}">
                <a16:creationId xmlns:a16="http://schemas.microsoft.com/office/drawing/2014/main" id="{548B54B8-1D93-69B3-64F3-5E1D741E4F9D}"/>
              </a:ext>
            </a:extLst>
          </p:cNvPr>
          <p:cNvSpPr/>
          <p:nvPr/>
        </p:nvSpPr>
        <p:spPr>
          <a:xfrm>
            <a:off x="658368" y="5929884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Text 29">
            <a:extLst>
              <a:ext uri="{FF2B5EF4-FFF2-40B4-BE49-F238E27FC236}">
                <a16:creationId xmlns:a16="http://schemas.microsoft.com/office/drawing/2014/main" id="{91A57542-90E9-CE86-3DE3-8BF5AF31042F}"/>
              </a:ext>
            </a:extLst>
          </p:cNvPr>
          <p:cNvSpPr/>
          <p:nvPr/>
        </p:nvSpPr>
        <p:spPr>
          <a:xfrm>
            <a:off x="841248" y="58750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더 많이 배우려는 자세 </a:t>
            </a:r>
            <a:r>
              <a:rPr lang="en-US" altLang="ko-KR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</a:t>
            </a:r>
            <a:r>
              <a:rPr lang="ko-KR" altLang="en-US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네트워킹 활발</a:t>
            </a:r>
            <a:r>
              <a:rPr lang="en-US" altLang="ko-KR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)</a:t>
            </a:r>
            <a:endParaRPr lang="en-US" sz="1200" dirty="0"/>
          </a:p>
        </p:txBody>
      </p:sp>
      <p:sp>
        <p:nvSpPr>
          <p:cNvPr id="7" name="Shape 11">
            <a:extLst>
              <a:ext uri="{FF2B5EF4-FFF2-40B4-BE49-F238E27FC236}">
                <a16:creationId xmlns:a16="http://schemas.microsoft.com/office/drawing/2014/main" id="{74290A9B-4EB0-1855-8CFA-7287B554C841}"/>
              </a:ext>
            </a:extLst>
          </p:cNvPr>
          <p:cNvSpPr/>
          <p:nvPr/>
        </p:nvSpPr>
        <p:spPr>
          <a:xfrm>
            <a:off x="658368" y="3822023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12">
            <a:extLst>
              <a:ext uri="{FF2B5EF4-FFF2-40B4-BE49-F238E27FC236}">
                <a16:creationId xmlns:a16="http://schemas.microsoft.com/office/drawing/2014/main" id="{2DAB61EA-9865-6BF0-8B8E-7AD01BB53106}"/>
              </a:ext>
            </a:extLst>
          </p:cNvPr>
          <p:cNvSpPr/>
          <p:nvPr/>
        </p:nvSpPr>
        <p:spPr>
          <a:xfrm>
            <a:off x="841248" y="3767159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세일즈</a:t>
            </a:r>
            <a:r>
              <a:rPr lang="en-US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b="1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문제로</a:t>
            </a:r>
            <a:r>
              <a:rPr lang="en-US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b="1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어려운</a:t>
            </a:r>
            <a:r>
              <a:rPr lang="en-US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b="1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팀원</a:t>
            </a:r>
            <a:r>
              <a:rPr lang="en-US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Down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5월 Goal &amp; Plan</a:t>
            </a:r>
            <a:endParaRPr lang="en-US" sz="1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3034" y="164592"/>
            <a:ext cx="721462" cy="6583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5월 Goal &amp; Action Plan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457200" y="149047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600" dirty="0" err="1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</a:t>
            </a:r>
            <a:r>
              <a:rPr lang="en-US" sz="16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목표 · Reward · Learning Plan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2258568"/>
            <a:ext cx="11277295" cy="822960"/>
          </a:xfrm>
          <a:prstGeom prst="roundRect">
            <a:avLst>
              <a:gd name="adj" fmla="val 14444"/>
            </a:avLst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731520" y="2331720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 ZERO DAYS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31520" y="2761488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매일 세일즈 · 컨시스턴시 · 팀 AVG 2.0 유지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412480" y="2313432"/>
            <a:ext cx="3136392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8549640" y="233172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5월 팀 목표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549640" y="256946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200pcs+  /  ₩</a:t>
            </a:r>
            <a:r>
              <a:rPr lang="en-US" altLang="ko-KR" sz="14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15,000,000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3172968"/>
            <a:ext cx="11277295" cy="1508760"/>
          </a:xfrm>
          <a:prstGeom prst="roundRect">
            <a:avLst>
              <a:gd name="adj" fmla="val 787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640080" y="33009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Goal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58368" y="3611880"/>
            <a:ext cx="91440" cy="91440"/>
          </a:xfrm>
          <a:prstGeom prst="roundRect">
            <a:avLst>
              <a:gd name="adj" fmla="val 50000"/>
            </a:avLst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804672" y="356616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 ZERO 300 DAYS 달성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3867912"/>
            <a:ext cx="91440" cy="91440"/>
          </a:xfrm>
          <a:prstGeom prst="roundRect">
            <a:avLst>
              <a:gd name="adj" fmla="val 50000"/>
            </a:avLst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804672" y="3822192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윤경 LR → TL / First LR 1 확보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58368" y="4123944"/>
            <a:ext cx="91440" cy="91440"/>
          </a:xfrm>
          <a:prstGeom prst="roundRect">
            <a:avLst>
              <a:gd name="adj" fmla="val 50000"/>
            </a:avLst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/>
          <p:nvPr/>
        </p:nvSpPr>
        <p:spPr>
          <a:xfrm>
            <a:off x="804672" y="4078224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김하진 IC 리더힛 · New IC 스타터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58368" y="4379976"/>
            <a:ext cx="91440" cy="91440"/>
          </a:xfrm>
          <a:prstGeom prst="roundRect">
            <a:avLst>
              <a:gd name="adj" fmla="val 50000"/>
            </a:avLst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804672" y="4334256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 참여자 최소 주 3회 이상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3547872" y="3264408"/>
            <a:ext cx="0" cy="132588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/>
          <p:nvPr/>
        </p:nvSpPr>
        <p:spPr>
          <a:xfrm>
            <a:off x="3730752" y="3300984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Action Plan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3749040" y="3611880"/>
            <a:ext cx="91440" cy="91440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/>
          <p:nvPr/>
        </p:nvSpPr>
        <p:spPr>
          <a:xfrm>
            <a:off x="3895344" y="3566160"/>
            <a:ext cx="5166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KPI 의거 CLOSE 계획 · 챌린지를 위한 충분한 필드시간 확보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749040" y="3867912"/>
            <a:ext cx="91440" cy="91440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5"/>
          <p:cNvSpPr/>
          <p:nvPr/>
        </p:nvSpPr>
        <p:spPr>
          <a:xfrm>
            <a:off x="3895344" y="3822192"/>
            <a:ext cx="5166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평일 SNS 5부킹 · 주말 PR 콜링 스타트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3749040" y="4123944"/>
            <a:ext cx="91440" cy="91440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7"/>
          <p:cNvSpPr/>
          <p:nvPr/>
        </p:nvSpPr>
        <p:spPr>
          <a:xfrm>
            <a:off x="3895344" y="4078224"/>
            <a:ext cx="5166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신입 수준과 상황에 맞는 피치 디테일 변경 + 사이트 계획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3749040" y="4379976"/>
            <a:ext cx="91440" cy="91440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9"/>
          <p:cNvSpPr/>
          <p:nvPr/>
        </p:nvSpPr>
        <p:spPr>
          <a:xfrm>
            <a:off x="3895344" y="4334256"/>
            <a:ext cx="5166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팀내 PR 방 운영 · 주간 PR 목표 공유 및 동기부여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9345168" y="3264408"/>
            <a:ext cx="0" cy="132588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1"/>
          <p:cNvSpPr/>
          <p:nvPr/>
        </p:nvSpPr>
        <p:spPr>
          <a:xfrm>
            <a:off x="9509760" y="330098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Reward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9509760" y="3593592"/>
            <a:ext cx="1645920" cy="694944"/>
          </a:xfrm>
          <a:prstGeom prst="roundRect">
            <a:avLst>
              <a:gd name="adj" fmla="val 13158"/>
            </a:avLst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3"/>
          <p:cNvSpPr/>
          <p:nvPr/>
        </p:nvSpPr>
        <p:spPr>
          <a:xfrm>
            <a:off x="9509760" y="3630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혼자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9509760" y="392277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여행 ✈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457200" y="4861618"/>
            <a:ext cx="11277295" cy="1399032"/>
          </a:xfrm>
          <a:prstGeom prst="roundRect">
            <a:avLst>
              <a:gd name="adj" fmla="val 849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6"/>
          <p:cNvSpPr/>
          <p:nvPr/>
        </p:nvSpPr>
        <p:spPr>
          <a:xfrm>
            <a:off x="457200" y="4861618"/>
            <a:ext cx="11277295" cy="320040"/>
          </a:xfrm>
          <a:prstGeom prst="roundRect">
            <a:avLst>
              <a:gd name="adj" fmla="val 28571"/>
            </a:avLst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7"/>
          <p:cNvSpPr/>
          <p:nvPr/>
        </p:nvSpPr>
        <p:spPr>
          <a:xfrm>
            <a:off x="457200" y="4861618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Learning Plan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685800" y="5245666"/>
            <a:ext cx="1371600" cy="166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Networking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2286000" y="5245666"/>
            <a:ext cx="9174175" cy="166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임재영AOP – 이상훈 OP (Team on 1)  |  임재영AOP·윤채영LR – 정윤영 OWNER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640080" y="5449120"/>
            <a:ext cx="109115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1"/>
          <p:cNvSpPr/>
          <p:nvPr/>
        </p:nvSpPr>
        <p:spPr>
          <a:xfrm>
            <a:off x="685800" y="5503984"/>
            <a:ext cx="1371600" cy="166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Training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2286000" y="5503984"/>
            <a:ext cx="9174175" cy="166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B2B 트레이닝 A to Z / 이성식 OWNER</a:t>
            </a:r>
            <a:endParaRPr lang="en-US" sz="1050" dirty="0"/>
          </a:p>
        </p:txBody>
      </p:sp>
      <p:sp>
        <p:nvSpPr>
          <p:cNvPr id="46" name="Shape 43"/>
          <p:cNvSpPr/>
          <p:nvPr/>
        </p:nvSpPr>
        <p:spPr>
          <a:xfrm>
            <a:off x="640080" y="5707438"/>
            <a:ext cx="109115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4"/>
          <p:cNvSpPr/>
          <p:nvPr/>
        </p:nvSpPr>
        <p:spPr>
          <a:xfrm>
            <a:off x="685800" y="5762302"/>
            <a:ext cx="1371600" cy="166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Reading</a:t>
            </a:r>
            <a:endParaRPr lang="en-US" sz="1100" dirty="0"/>
          </a:p>
        </p:txBody>
      </p:sp>
      <p:sp>
        <p:nvSpPr>
          <p:cNvPr id="48" name="Text 45"/>
          <p:cNvSpPr/>
          <p:nvPr/>
        </p:nvSpPr>
        <p:spPr>
          <a:xfrm>
            <a:off x="2286000" y="5762302"/>
            <a:ext cx="9174175" cy="166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발타자르 그라시안 "완전한 인간"</a:t>
            </a:r>
            <a:endParaRPr lang="en-US" sz="1050" dirty="0"/>
          </a:p>
        </p:txBody>
      </p:sp>
      <p:sp>
        <p:nvSpPr>
          <p:cNvPr id="49" name="Shape 46"/>
          <p:cNvSpPr/>
          <p:nvPr/>
        </p:nvSpPr>
        <p:spPr>
          <a:xfrm>
            <a:off x="640080" y="5965756"/>
            <a:ext cx="109115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7"/>
          <p:cNvSpPr/>
          <p:nvPr/>
        </p:nvSpPr>
        <p:spPr>
          <a:xfrm>
            <a:off x="685800" y="6020620"/>
            <a:ext cx="1371600" cy="166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 on 1</a:t>
            </a:r>
            <a:endParaRPr lang="en-US" sz="1100" dirty="0"/>
          </a:p>
        </p:txBody>
      </p:sp>
      <p:sp>
        <p:nvSpPr>
          <p:cNvPr id="51" name="Text 48"/>
          <p:cNvSpPr/>
          <p:nvPr/>
        </p:nvSpPr>
        <p:spPr>
          <a:xfrm>
            <a:off x="2286000" y="6020620"/>
            <a:ext cx="9174175" cy="166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고윤경 LR – 김충만 OWNER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리쿠르팅 &amp; H/C</a:t>
            </a:r>
            <a:endParaRPr lang="en-US" sz="1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3034" y="164592"/>
            <a:ext cx="721462" cy="6583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주차별 IN &amp; OUT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457200" y="149047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6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신규 IC 합류 · 프로모션 · 터미네이션 주간 흐름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2276856"/>
            <a:ext cx="11277295" cy="621792"/>
          </a:xfrm>
          <a:prstGeom prst="roundRect">
            <a:avLst>
              <a:gd name="adj" fmla="val 14706"/>
            </a:avLst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457200" y="2276856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Ending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103120" y="2276856"/>
            <a:ext cx="731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H/C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834640" y="2276856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New IC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035040" y="2276856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Promotion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229600" y="2276856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Termination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3520440"/>
            <a:ext cx="112772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457200" y="2898648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03.28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2103120" y="2898648"/>
            <a:ext cx="731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2834640" y="2898648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손예진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035040" y="2898648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229600" y="2898648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57200" y="3520440"/>
            <a:ext cx="11277295" cy="621792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7"/>
          <p:cNvSpPr/>
          <p:nvPr/>
        </p:nvSpPr>
        <p:spPr>
          <a:xfrm>
            <a:off x="457200" y="4142232"/>
            <a:ext cx="112772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/>
          <p:nvPr/>
        </p:nvSpPr>
        <p:spPr>
          <a:xfrm>
            <a:off x="457200" y="3520440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04.05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2103120" y="3520440"/>
            <a:ext cx="731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2834640" y="3520440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035040" y="3520440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8229600" y="3520440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57200" y="4764024"/>
            <a:ext cx="112772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/>
          <p:nvPr/>
        </p:nvSpPr>
        <p:spPr>
          <a:xfrm>
            <a:off x="457200" y="4142232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04.12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2103120" y="4142232"/>
            <a:ext cx="731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</a:t>
            </a:r>
            <a:endParaRPr lang="en-US" sz="2200" dirty="0"/>
          </a:p>
        </p:txBody>
      </p:sp>
      <p:sp>
        <p:nvSpPr>
          <p:cNvPr id="29" name="Text 26"/>
          <p:cNvSpPr/>
          <p:nvPr/>
        </p:nvSpPr>
        <p:spPr>
          <a:xfrm>
            <a:off x="2834640" y="4142232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6035040" y="4142232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8229600" y="4142232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457200" y="4764024"/>
            <a:ext cx="11277295" cy="621792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0"/>
          <p:cNvSpPr/>
          <p:nvPr/>
        </p:nvSpPr>
        <p:spPr>
          <a:xfrm>
            <a:off x="457200" y="5385816"/>
            <a:ext cx="112772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1"/>
          <p:cNvSpPr/>
          <p:nvPr/>
        </p:nvSpPr>
        <p:spPr>
          <a:xfrm>
            <a:off x="457200" y="4764024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04.19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2103120" y="4764024"/>
            <a:ext cx="731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</a:t>
            </a:r>
            <a:endParaRPr lang="en-US" sz="2200" dirty="0"/>
          </a:p>
        </p:txBody>
      </p:sp>
      <p:sp>
        <p:nvSpPr>
          <p:cNvPr id="36" name="Text 33"/>
          <p:cNvSpPr/>
          <p:nvPr/>
        </p:nvSpPr>
        <p:spPr>
          <a:xfrm>
            <a:off x="2834640" y="4764024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6035040" y="4764024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8229600" y="4764024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457200" y="6007608"/>
            <a:ext cx="112772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7"/>
          <p:cNvSpPr/>
          <p:nvPr/>
        </p:nvSpPr>
        <p:spPr>
          <a:xfrm>
            <a:off x="457200" y="5385816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04.26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2103120" y="5385816"/>
            <a:ext cx="731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</a:t>
            </a:r>
            <a:endParaRPr lang="en-US" sz="2200" dirty="0"/>
          </a:p>
        </p:txBody>
      </p:sp>
      <p:sp>
        <p:nvSpPr>
          <p:cNvPr id="42" name="Text 39"/>
          <p:cNvSpPr/>
          <p:nvPr/>
        </p:nvSpPr>
        <p:spPr>
          <a:xfrm>
            <a:off x="2834640" y="5385816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6035040" y="5385816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8229600" y="5385816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</a:t>
            </a:r>
            <a:endParaRPr lang="en-US" sz="1200" dirty="0"/>
          </a:p>
        </p:txBody>
      </p:sp>
      <p:sp>
        <p:nvSpPr>
          <p:cNvPr id="45" name="Shape 42"/>
          <p:cNvSpPr/>
          <p:nvPr/>
        </p:nvSpPr>
        <p:spPr>
          <a:xfrm>
            <a:off x="457200" y="6172200"/>
            <a:ext cx="11277295" cy="45720"/>
          </a:xfrm>
          <a:prstGeom prst="roundRect">
            <a:avLst>
              <a:gd name="adj" fmla="val 260000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3"/>
          <p:cNvSpPr/>
          <p:nvPr/>
        </p:nvSpPr>
        <p:spPr>
          <a:xfrm>
            <a:off x="685800" y="62819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월간 총괄</a:t>
            </a:r>
            <a:endParaRPr lang="en-US" sz="1200" dirty="0"/>
          </a:p>
        </p:txBody>
      </p:sp>
      <p:sp>
        <p:nvSpPr>
          <p:cNvPr id="47" name="Text 44"/>
          <p:cNvSpPr/>
          <p:nvPr/>
        </p:nvSpPr>
        <p:spPr>
          <a:xfrm>
            <a:off x="685800" y="6519672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신규 유입: 손예진 1명 (3/25 첫 세일즈)  |  터미네이션: 없음  |  프로모션: 없음  |  최종 Active H/C: 7명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구성</a:t>
            </a:r>
            <a:endParaRPr lang="en-US" sz="1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3034" y="164592"/>
            <a:ext cx="721462" cy="6583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Presence Team Tree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457200" y="149047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6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팀 조직도 · 역할별 구성 · 확장 계획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686300" y="2231136"/>
            <a:ext cx="1508760" cy="457200"/>
          </a:xfrm>
          <a:prstGeom prst="roundRect">
            <a:avLst>
              <a:gd name="adj" fmla="val 22000"/>
            </a:avLst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4686300" y="2231136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임재영 AOP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40680" y="2688336"/>
            <a:ext cx="0" cy="329184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1394460" y="3017520"/>
            <a:ext cx="80924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1394460" y="3017520"/>
            <a:ext cx="0" cy="237744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640080" y="3255264"/>
            <a:ext cx="1508760" cy="457200"/>
          </a:xfrm>
          <a:prstGeom prst="roundRect">
            <a:avLst>
              <a:gd name="adj" fmla="val 22000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640080" y="3255264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B82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New IC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091940" y="3017520"/>
            <a:ext cx="0" cy="237744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3337560" y="3255264"/>
            <a:ext cx="1508760" cy="457200"/>
          </a:xfrm>
          <a:prstGeom prst="roundRect">
            <a:avLst>
              <a:gd name="adj" fmla="val 22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3337560" y="3255264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고윤경 LR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789420" y="3017520"/>
            <a:ext cx="0" cy="237744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5"/>
          <p:cNvSpPr/>
          <p:nvPr/>
        </p:nvSpPr>
        <p:spPr>
          <a:xfrm>
            <a:off x="6035040" y="3255264"/>
            <a:ext cx="1508760" cy="457200"/>
          </a:xfrm>
          <a:prstGeom prst="roundRect">
            <a:avLst>
              <a:gd name="adj" fmla="val 22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6035040" y="3255264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박인선 LR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9486900" y="3017520"/>
            <a:ext cx="0" cy="237744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8"/>
          <p:cNvSpPr/>
          <p:nvPr/>
        </p:nvSpPr>
        <p:spPr>
          <a:xfrm>
            <a:off x="8732520" y="3255264"/>
            <a:ext cx="1508760" cy="457200"/>
          </a:xfrm>
          <a:prstGeom prst="roundRect">
            <a:avLst>
              <a:gd name="adj" fmla="val 22000"/>
            </a:avLst>
          </a:prstGeom>
          <a:solidFill>
            <a:srgbClr val="EA5EC1"/>
          </a:solidFill>
          <a:ln w="12700">
            <a:solidFill>
              <a:srgbClr val="EA5EC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8732520" y="3255264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윤채영 TL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4091940" y="3712464"/>
            <a:ext cx="0" cy="329184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1"/>
          <p:cNvSpPr/>
          <p:nvPr/>
        </p:nvSpPr>
        <p:spPr>
          <a:xfrm>
            <a:off x="3131820" y="4041648"/>
            <a:ext cx="1920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2"/>
          <p:cNvSpPr/>
          <p:nvPr/>
        </p:nvSpPr>
        <p:spPr>
          <a:xfrm>
            <a:off x="3131820" y="4041648"/>
            <a:ext cx="0" cy="237744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3"/>
          <p:cNvSpPr/>
          <p:nvPr/>
        </p:nvSpPr>
        <p:spPr>
          <a:xfrm>
            <a:off x="5052060" y="4041648"/>
            <a:ext cx="0" cy="237744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4"/>
          <p:cNvSpPr/>
          <p:nvPr/>
        </p:nvSpPr>
        <p:spPr>
          <a:xfrm>
            <a:off x="2377440" y="4279392"/>
            <a:ext cx="1508760" cy="457200"/>
          </a:xfrm>
          <a:prstGeom prst="roundRect">
            <a:avLst>
              <a:gd name="adj" fmla="val 22000"/>
            </a:avLst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5"/>
          <p:cNvSpPr/>
          <p:nvPr/>
        </p:nvSpPr>
        <p:spPr>
          <a:xfrm>
            <a:off x="2377440" y="427939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김하진 IC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4297680" y="4279392"/>
            <a:ext cx="1508760" cy="457200"/>
          </a:xfrm>
          <a:prstGeom prst="roundRect">
            <a:avLst>
              <a:gd name="adj" fmla="val 22000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7"/>
          <p:cNvSpPr/>
          <p:nvPr/>
        </p:nvSpPr>
        <p:spPr>
          <a:xfrm>
            <a:off x="4297680" y="427939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1150" dirty="0">
                <a:solidFill>
                  <a:srgbClr val="3B82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New IC</a:t>
            </a:r>
            <a:endParaRPr lang="en-US" altLang="ko-KR" sz="1150" dirty="0"/>
          </a:p>
        </p:txBody>
      </p:sp>
      <p:sp>
        <p:nvSpPr>
          <p:cNvPr id="31" name="Shape 28"/>
          <p:cNvSpPr/>
          <p:nvPr/>
        </p:nvSpPr>
        <p:spPr>
          <a:xfrm>
            <a:off x="6789420" y="3712464"/>
            <a:ext cx="0" cy="329184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9"/>
          <p:cNvSpPr/>
          <p:nvPr/>
        </p:nvSpPr>
        <p:spPr>
          <a:xfrm>
            <a:off x="6652260" y="4041648"/>
            <a:ext cx="0" cy="237744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0"/>
          <p:cNvSpPr/>
          <p:nvPr/>
        </p:nvSpPr>
        <p:spPr>
          <a:xfrm>
            <a:off x="6652260" y="4041648"/>
            <a:ext cx="1371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1"/>
          <p:cNvSpPr/>
          <p:nvPr/>
        </p:nvSpPr>
        <p:spPr>
          <a:xfrm>
            <a:off x="5897880" y="4279392"/>
            <a:ext cx="1508760" cy="457200"/>
          </a:xfrm>
          <a:prstGeom prst="roundRect">
            <a:avLst>
              <a:gd name="adj" fmla="val 22000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2"/>
          <p:cNvSpPr/>
          <p:nvPr/>
        </p:nvSpPr>
        <p:spPr>
          <a:xfrm>
            <a:off x="5897880" y="427939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1150" dirty="0">
                <a:solidFill>
                  <a:srgbClr val="3B82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New IC</a:t>
            </a:r>
            <a:endParaRPr lang="en-US" altLang="ko-KR" sz="1150" dirty="0"/>
          </a:p>
        </p:txBody>
      </p:sp>
      <p:sp>
        <p:nvSpPr>
          <p:cNvPr id="36" name="Shape 33"/>
          <p:cNvSpPr/>
          <p:nvPr/>
        </p:nvSpPr>
        <p:spPr>
          <a:xfrm>
            <a:off x="9486900" y="3712464"/>
            <a:ext cx="0" cy="329184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4"/>
          <p:cNvSpPr/>
          <p:nvPr/>
        </p:nvSpPr>
        <p:spPr>
          <a:xfrm>
            <a:off x="8526780" y="4041648"/>
            <a:ext cx="1920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5"/>
          <p:cNvSpPr/>
          <p:nvPr/>
        </p:nvSpPr>
        <p:spPr>
          <a:xfrm>
            <a:off x="8526780" y="4041648"/>
            <a:ext cx="0" cy="237744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6"/>
          <p:cNvSpPr/>
          <p:nvPr/>
        </p:nvSpPr>
        <p:spPr>
          <a:xfrm>
            <a:off x="10447020" y="4041648"/>
            <a:ext cx="0" cy="237744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7"/>
          <p:cNvSpPr/>
          <p:nvPr/>
        </p:nvSpPr>
        <p:spPr>
          <a:xfrm>
            <a:off x="7772400" y="4279392"/>
            <a:ext cx="1508760" cy="457200"/>
          </a:xfrm>
          <a:prstGeom prst="roundRect">
            <a:avLst>
              <a:gd name="adj" fmla="val 22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8"/>
          <p:cNvSpPr/>
          <p:nvPr/>
        </p:nvSpPr>
        <p:spPr>
          <a:xfrm>
            <a:off x="7772400" y="427939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손예진 LR</a:t>
            </a:r>
            <a:endParaRPr lang="en-US" sz="1150" dirty="0"/>
          </a:p>
        </p:txBody>
      </p:sp>
      <p:sp>
        <p:nvSpPr>
          <p:cNvPr id="42" name="Shape 39"/>
          <p:cNvSpPr/>
          <p:nvPr/>
        </p:nvSpPr>
        <p:spPr>
          <a:xfrm>
            <a:off x="9692640" y="4279392"/>
            <a:ext cx="1508760" cy="457200"/>
          </a:xfrm>
          <a:prstGeom prst="roundRect">
            <a:avLst>
              <a:gd name="adj" fmla="val 22000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0"/>
          <p:cNvSpPr/>
          <p:nvPr/>
        </p:nvSpPr>
        <p:spPr>
          <a:xfrm>
            <a:off x="9692640" y="427939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1150" dirty="0">
                <a:solidFill>
                  <a:srgbClr val="3B82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New IC</a:t>
            </a:r>
            <a:endParaRPr lang="en-US" altLang="ko-KR" sz="1150" dirty="0"/>
          </a:p>
        </p:txBody>
      </p:sp>
      <p:sp>
        <p:nvSpPr>
          <p:cNvPr id="44" name="Shape 41"/>
          <p:cNvSpPr/>
          <p:nvPr/>
        </p:nvSpPr>
        <p:spPr>
          <a:xfrm>
            <a:off x="8526780" y="4736592"/>
            <a:ext cx="0" cy="566928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2"/>
          <p:cNvSpPr/>
          <p:nvPr/>
        </p:nvSpPr>
        <p:spPr>
          <a:xfrm>
            <a:off x="7772400" y="5303520"/>
            <a:ext cx="1508760" cy="457200"/>
          </a:xfrm>
          <a:prstGeom prst="roundRect">
            <a:avLst>
              <a:gd name="adj" fmla="val 22000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3"/>
          <p:cNvSpPr/>
          <p:nvPr/>
        </p:nvSpPr>
        <p:spPr>
          <a:xfrm>
            <a:off x="7772400" y="53035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B82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New IC</a:t>
            </a:r>
            <a:endParaRPr lang="en-US" sz="1150" dirty="0"/>
          </a:p>
        </p:txBody>
      </p:sp>
      <p:sp>
        <p:nvSpPr>
          <p:cNvPr id="47" name="Shape 44"/>
          <p:cNvSpPr/>
          <p:nvPr/>
        </p:nvSpPr>
        <p:spPr>
          <a:xfrm>
            <a:off x="1752448" y="6208776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5"/>
          <p:cNvSpPr/>
          <p:nvPr/>
        </p:nvSpPr>
        <p:spPr>
          <a:xfrm>
            <a:off x="1990192" y="61722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AOP</a:t>
            </a:r>
            <a:endParaRPr lang="en-US" sz="950" dirty="0"/>
          </a:p>
        </p:txBody>
      </p:sp>
      <p:sp>
        <p:nvSpPr>
          <p:cNvPr id="49" name="Shape 46"/>
          <p:cNvSpPr/>
          <p:nvPr/>
        </p:nvSpPr>
        <p:spPr>
          <a:xfrm>
            <a:off x="3489808" y="6208776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EA5EC1"/>
          </a:solidFill>
          <a:ln w="12700">
            <a:solidFill>
              <a:srgbClr val="EA5EC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7"/>
          <p:cNvSpPr/>
          <p:nvPr/>
        </p:nvSpPr>
        <p:spPr>
          <a:xfrm>
            <a:off x="3727552" y="61722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TL</a:t>
            </a:r>
            <a:endParaRPr lang="en-US" sz="950" dirty="0"/>
          </a:p>
        </p:txBody>
      </p:sp>
      <p:sp>
        <p:nvSpPr>
          <p:cNvPr id="51" name="Shape 48"/>
          <p:cNvSpPr/>
          <p:nvPr/>
        </p:nvSpPr>
        <p:spPr>
          <a:xfrm>
            <a:off x="5227168" y="6208776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49"/>
          <p:cNvSpPr/>
          <p:nvPr/>
        </p:nvSpPr>
        <p:spPr>
          <a:xfrm>
            <a:off x="5464912" y="61722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LR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6964528" y="6208776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1"/>
          <p:cNvSpPr/>
          <p:nvPr/>
        </p:nvSpPr>
        <p:spPr>
          <a:xfrm>
            <a:off x="7202272" y="61722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IC</a:t>
            </a:r>
            <a:endParaRPr lang="en-US" sz="950" dirty="0"/>
          </a:p>
        </p:txBody>
      </p:sp>
      <p:sp>
        <p:nvSpPr>
          <p:cNvPr id="55" name="Shape 52"/>
          <p:cNvSpPr/>
          <p:nvPr/>
        </p:nvSpPr>
        <p:spPr>
          <a:xfrm>
            <a:off x="8701888" y="6208776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3"/>
          <p:cNvSpPr/>
          <p:nvPr/>
        </p:nvSpPr>
        <p:spPr>
          <a:xfrm>
            <a:off x="8939632" y="61722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신규 예정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프로모션 계획</a:t>
            </a:r>
            <a:endParaRPr lang="en-US" sz="1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3034" y="164592"/>
            <a:ext cx="721462" cy="6583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성장 &amp; 프로모션 계획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457200" y="149047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altLang="ko-KR" sz="16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New </a:t>
            </a:r>
            <a:r>
              <a:rPr lang="en-US" altLang="ko-KR" sz="1600" dirty="0" err="1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ic</a:t>
            </a:r>
            <a:r>
              <a:rPr lang="en-US" altLang="ko-KR" sz="16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600" dirty="0" err="1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스타터</a:t>
            </a:r>
            <a:r>
              <a:rPr lang="ko-KR" altLang="en-US" sz="16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공급 및 </a:t>
            </a:r>
            <a:r>
              <a:rPr lang="en-US" sz="16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IC </a:t>
            </a:r>
            <a:r>
              <a:rPr lang="en-US" altLang="ko-KR" sz="16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-&gt; Leader Hit </a:t>
            </a:r>
            <a:r>
              <a:rPr lang="ko-KR" altLang="en-US" sz="16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이후 </a:t>
            </a:r>
            <a:r>
              <a:rPr lang="en-US" sz="1600" dirty="0" err="1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리테인</a:t>
            </a:r>
            <a:r>
              <a:rPr lang="en-US" sz="16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600" dirty="0" err="1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전략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2258568"/>
            <a:ext cx="11277295" cy="1005840"/>
          </a:xfrm>
          <a:prstGeom prst="roundRect">
            <a:avLst>
              <a:gd name="adj" fmla="val 11818"/>
            </a:avLst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731520" y="23500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확장 비전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31520" y="278892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</a:t>
            </a:r>
            <a:r>
              <a:rPr lang="en-US" sz="1200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LR이상</a:t>
            </a: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인원들이</a:t>
            </a: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독립 팀을 이끌 수 </a:t>
            </a:r>
            <a:r>
              <a:rPr lang="en-US" sz="1200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있도록</a:t>
            </a: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교육</a:t>
            </a: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및</a:t>
            </a: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가이드제공</a:t>
            </a: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신규</a:t>
            </a: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IC </a:t>
            </a:r>
            <a:r>
              <a:rPr lang="en-US" sz="1200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공급</a:t>
            </a: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→ LR </a:t>
            </a:r>
            <a:r>
              <a:rPr lang="en-US" sz="1200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프로모션</a:t>
            </a: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→ </a:t>
            </a:r>
            <a:r>
              <a:rPr lang="en-US" sz="1200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신규</a:t>
            </a: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</a:t>
            </a: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빌더</a:t>
            </a: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발생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3401568"/>
            <a:ext cx="3679850" cy="1508760"/>
          </a:xfrm>
          <a:prstGeom prst="roundRect">
            <a:avLst>
              <a:gd name="adj" fmla="val 787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640080" y="3547872"/>
            <a:ext cx="3314090" cy="274320"/>
          </a:xfrm>
          <a:prstGeom prst="roundRect">
            <a:avLst>
              <a:gd name="adj" fmla="val 26667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640080" y="3547872"/>
            <a:ext cx="33140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임재영 AOP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40080" y="3922776"/>
            <a:ext cx="33140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40080" y="4105656"/>
            <a:ext cx="33140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5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주에 최소 </a:t>
            </a:r>
            <a:r>
              <a:rPr lang="en-US" altLang="ko-KR" sz="105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</a:t>
            </a:r>
            <a:r>
              <a:rPr lang="ko-KR" altLang="en-US" sz="1050" b="1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부킹</a:t>
            </a:r>
            <a:r>
              <a:rPr lang="ko-KR" altLang="en-US" sz="105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05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 </a:t>
            </a:r>
            <a:r>
              <a:rPr lang="ko-KR" altLang="en-US" sz="105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당근 </a:t>
            </a:r>
            <a:r>
              <a:rPr lang="en-US" altLang="ko-KR" sz="105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r>
              <a:rPr lang="ko-KR" altLang="en-US" sz="1050" b="1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부킹</a:t>
            </a:r>
            <a:r>
              <a:rPr lang="ko-KR" altLang="en-US" sz="105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목표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58368" y="4535424"/>
            <a:ext cx="91440" cy="9144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804672" y="4462272"/>
            <a:ext cx="31769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신규</a:t>
            </a: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Fist </a:t>
            </a:r>
            <a:r>
              <a:rPr lang="ko-KR" alt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리더 직접 양육 및 팀원에게 </a:t>
            </a:r>
            <a:r>
              <a:rPr lang="en-US" altLang="ko-KR" sz="1000" dirty="0" err="1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ic</a:t>
            </a:r>
            <a:r>
              <a:rPr lang="en-US" altLang="ko-KR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공급</a:t>
            </a:r>
            <a:endParaRPr lang="en-US" altLang="ko-KR" sz="1000" dirty="0">
              <a:solidFill>
                <a:srgbClr val="45515E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2948330" y="3538728"/>
            <a:ext cx="960120" cy="256032"/>
          </a:xfrm>
          <a:prstGeom prst="roundRect">
            <a:avLst>
              <a:gd name="adj" fmla="val 28571"/>
            </a:avLst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2948330" y="353872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⏱ 2년 </a:t>
            </a:r>
            <a:r>
              <a:rPr lang="en-US" altLang="ko-KR" sz="10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r>
              <a:rPr lang="en-US" sz="10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개월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255922" y="3401568"/>
            <a:ext cx="3679850" cy="1508760"/>
          </a:xfrm>
          <a:prstGeom prst="roundRect">
            <a:avLst>
              <a:gd name="adj" fmla="val 787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7"/>
          <p:cNvSpPr/>
          <p:nvPr/>
        </p:nvSpPr>
        <p:spPr>
          <a:xfrm>
            <a:off x="4438802" y="3547872"/>
            <a:ext cx="3314090" cy="274320"/>
          </a:xfrm>
          <a:prstGeom prst="roundRect">
            <a:avLst>
              <a:gd name="adj" fmla="val 26667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/>
          <p:nvPr/>
        </p:nvSpPr>
        <p:spPr>
          <a:xfrm>
            <a:off x="4438802" y="3547872"/>
            <a:ext cx="33140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고윤경 LR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438802" y="3922776"/>
            <a:ext cx="33140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438802" y="4105656"/>
            <a:ext cx="33140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김하진</a:t>
            </a:r>
            <a:r>
              <a:rPr lang="en-US" sz="105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IC → LR </a:t>
            </a:r>
            <a:r>
              <a:rPr lang="en-US" altLang="ko-KR" sz="105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 New </a:t>
            </a:r>
            <a:r>
              <a:rPr lang="en-US" altLang="ko-KR" sz="1050" b="1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ic</a:t>
            </a:r>
            <a:r>
              <a:rPr lang="en-US" altLang="ko-KR" sz="105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050" b="1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스타터</a:t>
            </a:r>
            <a:r>
              <a:rPr lang="ko-KR" altLang="en-US" sz="105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05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r>
              <a:rPr lang="ko-KR" altLang="en-US" sz="105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주내 </a:t>
            </a:r>
            <a:r>
              <a:rPr lang="ko-KR" altLang="en-US" sz="1050" b="1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리더힛</a:t>
            </a:r>
            <a:r>
              <a:rPr lang="ko-KR" altLang="en-US" sz="105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전략</a:t>
            </a:r>
            <a:r>
              <a:rPr lang="en-US" sz="105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4457090" y="4535424"/>
            <a:ext cx="91440" cy="9144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/>
          <p:nvPr/>
        </p:nvSpPr>
        <p:spPr>
          <a:xfrm>
            <a:off x="4603394" y="4462272"/>
            <a:ext cx="31769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1000" dirty="0" err="1">
                <a:solidFill>
                  <a:srgbClr val="45515E"/>
                </a:solidFill>
                <a:latin typeface="Pretendard" pitchFamily="34" charset="0"/>
                <a:ea typeface="Pretendard" pitchFamily="34" charset="-122"/>
              </a:rPr>
              <a:t>Ic</a:t>
            </a:r>
            <a:r>
              <a:rPr lang="en-US" altLang="ko-KR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</a:rPr>
              <a:t> </a:t>
            </a:r>
            <a:r>
              <a:rPr lang="ko-KR" altLang="en-US" sz="1000" dirty="0" err="1">
                <a:solidFill>
                  <a:srgbClr val="45515E"/>
                </a:solidFill>
                <a:latin typeface="Pretendard" pitchFamily="34" charset="0"/>
                <a:ea typeface="Pretendard" pitchFamily="34" charset="-122"/>
              </a:rPr>
              <a:t>스타터</a:t>
            </a:r>
            <a:r>
              <a:rPr lang="ko-KR" alt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</a:rPr>
              <a:t> </a:t>
            </a:r>
            <a:r>
              <a:rPr lang="en-US" altLang="ko-KR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</a:rPr>
              <a:t>2</a:t>
            </a:r>
            <a:r>
              <a:rPr lang="ko-KR" alt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</a:rPr>
              <a:t>주차에 </a:t>
            </a:r>
            <a:r>
              <a:rPr lang="ko-KR" altLang="en-US" sz="1000" dirty="0" err="1">
                <a:solidFill>
                  <a:srgbClr val="45515E"/>
                </a:solidFill>
                <a:latin typeface="Pretendard" pitchFamily="34" charset="0"/>
                <a:ea typeface="Pretendard" pitchFamily="34" charset="-122"/>
              </a:rPr>
              <a:t>트립운영</a:t>
            </a:r>
            <a:r>
              <a:rPr lang="ko-KR" alt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</a:rPr>
              <a:t> 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6747053" y="3538728"/>
            <a:ext cx="960120" cy="256032"/>
          </a:xfrm>
          <a:prstGeom prst="roundRect">
            <a:avLst>
              <a:gd name="adj" fmla="val 28571"/>
            </a:avLst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/>
          <p:nvPr/>
        </p:nvSpPr>
        <p:spPr>
          <a:xfrm>
            <a:off x="6747053" y="353872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⏱ </a:t>
            </a:r>
            <a:r>
              <a:rPr lang="en-US" altLang="ko-KR" sz="10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r>
              <a:rPr lang="en-US" sz="10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개월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8054645" y="3401568"/>
            <a:ext cx="3679850" cy="1508760"/>
          </a:xfrm>
          <a:prstGeom prst="roundRect">
            <a:avLst>
              <a:gd name="adj" fmla="val 787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6"/>
          <p:cNvSpPr/>
          <p:nvPr/>
        </p:nvSpPr>
        <p:spPr>
          <a:xfrm>
            <a:off x="8237525" y="3547872"/>
            <a:ext cx="3314090" cy="274320"/>
          </a:xfrm>
          <a:prstGeom prst="roundRect">
            <a:avLst>
              <a:gd name="adj" fmla="val 26667"/>
            </a:avLst>
          </a:prstGeom>
          <a:solidFill>
            <a:srgbClr val="EA5EC1"/>
          </a:solidFill>
          <a:ln w="12700">
            <a:solidFill>
              <a:srgbClr val="EA5EC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7"/>
          <p:cNvSpPr/>
          <p:nvPr/>
        </p:nvSpPr>
        <p:spPr>
          <a:xfrm>
            <a:off x="8237525" y="3547872"/>
            <a:ext cx="33140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윤채영 TL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8237525" y="3922776"/>
            <a:ext cx="33140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8237525" y="4105656"/>
            <a:ext cx="33140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</a:t>
            </a:r>
            <a:r>
              <a:rPr lang="en-US" sz="1050" b="1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</a:t>
            </a:r>
            <a:r>
              <a:rPr lang="en-US" sz="105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050" b="1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</a:t>
            </a:r>
            <a:r>
              <a:rPr lang="en-US" sz="105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050" b="1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빌더</a:t>
            </a:r>
            <a:r>
              <a:rPr lang="en-US" altLang="ko-KR" sz="105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</a:t>
            </a:r>
            <a:r>
              <a:rPr lang="ko-KR" altLang="en-US" sz="105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예진</a:t>
            </a:r>
            <a:r>
              <a:rPr lang="en-US" altLang="ko-KR" sz="105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)</a:t>
            </a:r>
            <a:r>
              <a:rPr lang="en-US" sz="105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050" b="1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교육</a:t>
            </a:r>
            <a:r>
              <a:rPr lang="en-US" sz="105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05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 new First 1 </a:t>
            </a:r>
            <a:r>
              <a:rPr lang="en-US" sz="105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</a:t>
            </a:r>
            <a:r>
              <a:rPr lang="en-US" sz="1050" b="1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</a:t>
            </a:r>
            <a:r>
              <a:rPr lang="en-US" sz="105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050" b="1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확장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8255813" y="4535424"/>
            <a:ext cx="91440" cy="91440"/>
          </a:xfrm>
          <a:prstGeom prst="roundRect">
            <a:avLst>
              <a:gd name="adj" fmla="val 50000"/>
            </a:avLst>
          </a:prstGeom>
          <a:solidFill>
            <a:srgbClr val="EA5EC1"/>
          </a:solidFill>
          <a:ln w="12700">
            <a:solidFill>
              <a:srgbClr val="EA5EC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1"/>
          <p:cNvSpPr/>
          <p:nvPr/>
        </p:nvSpPr>
        <p:spPr>
          <a:xfrm>
            <a:off x="8402117" y="4462272"/>
            <a:ext cx="31769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당근</a:t>
            </a: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000" dirty="0" err="1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이외에도</a:t>
            </a: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000" dirty="0" err="1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스트릿</a:t>
            </a: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 </a:t>
            </a:r>
            <a:r>
              <a:rPr lang="en-US" sz="1000" dirty="0" err="1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콜링병행</a:t>
            </a: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000" dirty="0" err="1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예정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10545775" y="3538728"/>
            <a:ext cx="960120" cy="256032"/>
          </a:xfrm>
          <a:prstGeom prst="roundRect">
            <a:avLst>
              <a:gd name="adj" fmla="val 28571"/>
            </a:avLst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3"/>
          <p:cNvSpPr/>
          <p:nvPr/>
        </p:nvSpPr>
        <p:spPr>
          <a:xfrm>
            <a:off x="10545775" y="353872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⏱ </a:t>
            </a:r>
            <a:r>
              <a:rPr lang="en-US" altLang="ko-KR" sz="10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r>
              <a:rPr lang="en-US" sz="10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개월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457200" y="5074920"/>
            <a:ext cx="11277295" cy="1143000"/>
          </a:xfrm>
          <a:prstGeom prst="roundRect">
            <a:avLst>
              <a:gd name="adj" fmla="val 104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5"/>
          <p:cNvSpPr/>
          <p:nvPr/>
        </p:nvSpPr>
        <p:spPr>
          <a:xfrm>
            <a:off x="685800" y="51846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신규 IC 유입 전략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685800" y="5513832"/>
            <a:ext cx="2636444" cy="612648"/>
          </a:xfrm>
          <a:prstGeom prst="roundRect">
            <a:avLst>
              <a:gd name="adj" fmla="val 14925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7"/>
          <p:cNvSpPr/>
          <p:nvPr/>
        </p:nvSpPr>
        <p:spPr>
          <a:xfrm>
            <a:off x="822960" y="5550408"/>
            <a:ext cx="23621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당근마켓 PR + SNS 주 5회 이상 부킹 관리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3505124" y="5513832"/>
            <a:ext cx="2636444" cy="612648"/>
          </a:xfrm>
          <a:prstGeom prst="roundRect">
            <a:avLst>
              <a:gd name="adj" fmla="val 14925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9"/>
          <p:cNvSpPr/>
          <p:nvPr/>
        </p:nvSpPr>
        <p:spPr>
          <a:xfrm>
            <a:off x="3642284" y="5550408"/>
            <a:ext cx="23621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50" dirty="0" err="1"/>
              <a:t>팀내</a:t>
            </a:r>
            <a:r>
              <a:rPr lang="en-US" sz="1050" dirty="0"/>
              <a:t> </a:t>
            </a:r>
            <a:r>
              <a:rPr lang="en-US" sz="1050" dirty="0" err="1"/>
              <a:t>피알방</a:t>
            </a:r>
            <a:r>
              <a:rPr lang="en-US" sz="1050" dirty="0"/>
              <a:t> </a:t>
            </a:r>
            <a:r>
              <a:rPr lang="en-US" sz="1050" dirty="0" err="1"/>
              <a:t>개설</a:t>
            </a:r>
            <a:r>
              <a:rPr lang="en-US" altLang="ko-KR" sz="1050" dirty="0"/>
              <a:t>! </a:t>
            </a:r>
            <a:r>
              <a:rPr lang="en-US" sz="1050" dirty="0"/>
              <a:t>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050" dirty="0" err="1"/>
              <a:t>주간목표</a:t>
            </a:r>
            <a:r>
              <a:rPr lang="en-US" sz="1050" dirty="0"/>
              <a:t> </a:t>
            </a:r>
            <a:r>
              <a:rPr lang="en-US" sz="1050" dirty="0" err="1"/>
              <a:t>달성도</a:t>
            </a:r>
            <a:r>
              <a:rPr lang="en-US" sz="1050" dirty="0"/>
              <a:t> </a:t>
            </a:r>
            <a:r>
              <a:rPr lang="en-US" sz="1050" dirty="0" err="1"/>
              <a:t>체크</a:t>
            </a:r>
            <a:r>
              <a:rPr lang="en-US" sz="1050" dirty="0"/>
              <a:t> </a:t>
            </a:r>
            <a:r>
              <a:rPr lang="en-US" sz="1050" dirty="0" err="1"/>
              <a:t>동기부여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6324448" y="5513832"/>
            <a:ext cx="2636444" cy="612648"/>
          </a:xfrm>
          <a:prstGeom prst="roundRect">
            <a:avLst>
              <a:gd name="adj" fmla="val 14925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1"/>
          <p:cNvSpPr/>
          <p:nvPr/>
        </p:nvSpPr>
        <p:spPr>
          <a:xfrm>
            <a:off x="6461608" y="5550408"/>
            <a:ext cx="23621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50" dirty="0" err="1">
                <a:solidFill>
                  <a:srgbClr val="45515E"/>
                </a:solidFill>
                <a:latin typeface="Pretendard" pitchFamily="34" charset="0"/>
                <a:ea typeface="Pretendard" pitchFamily="34" charset="-122"/>
              </a:rPr>
              <a:t>마지막주</a:t>
            </a:r>
            <a:r>
              <a:rPr lang="en-US" sz="105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</a:rPr>
              <a:t> </a:t>
            </a:r>
            <a:r>
              <a:rPr lang="en-US" sz="1050" dirty="0" err="1">
                <a:solidFill>
                  <a:srgbClr val="45515E"/>
                </a:solidFill>
                <a:latin typeface="Pretendard" pitchFamily="34" charset="0"/>
                <a:ea typeface="Pretendard" pitchFamily="34" charset="-122"/>
              </a:rPr>
              <a:t>팀나잇</a:t>
            </a:r>
            <a:r>
              <a:rPr lang="en-US" sz="105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</a:rPr>
              <a:t> </a:t>
            </a:r>
            <a:r>
              <a:rPr lang="en-US" sz="1050" dirty="0" err="1">
                <a:solidFill>
                  <a:srgbClr val="45515E"/>
                </a:solidFill>
                <a:latin typeface="Pretendard" pitchFamily="34" charset="0"/>
                <a:ea typeface="Pretendard" pitchFamily="34" charset="-122"/>
              </a:rPr>
              <a:t>등</a:t>
            </a:r>
            <a:r>
              <a:rPr lang="en-US" sz="105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</a:rPr>
              <a:t> </a:t>
            </a:r>
            <a:r>
              <a:rPr lang="en-US" sz="1050" dirty="0" err="1">
                <a:solidFill>
                  <a:srgbClr val="45515E"/>
                </a:solidFill>
                <a:latin typeface="Pretendard" pitchFamily="34" charset="0"/>
                <a:ea typeface="Pretendard" pitchFamily="34" charset="-122"/>
              </a:rPr>
              <a:t>액티비티</a:t>
            </a:r>
            <a:r>
              <a:rPr lang="en-US" sz="105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</a:rPr>
              <a:t> </a:t>
            </a:r>
            <a:r>
              <a:rPr lang="en-US" sz="1050" dirty="0" err="1">
                <a:solidFill>
                  <a:srgbClr val="45515E"/>
                </a:solidFill>
                <a:latin typeface="Pretendard" pitchFamily="34" charset="0"/>
                <a:ea typeface="Pretendard" pitchFamily="34" charset="-122"/>
              </a:rPr>
              <a:t>계획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9143771" y="5513832"/>
            <a:ext cx="2636444" cy="612648"/>
          </a:xfrm>
          <a:prstGeom prst="roundRect">
            <a:avLst>
              <a:gd name="adj" fmla="val 14925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3"/>
          <p:cNvSpPr/>
          <p:nvPr/>
        </p:nvSpPr>
        <p:spPr>
          <a:xfrm>
            <a:off x="9280931" y="5550408"/>
            <a:ext cx="23621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LR별 최소 1명 이상 신규 IC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050" dirty="0" err="1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트레이닝</a:t>
            </a:r>
            <a:r>
              <a:rPr lang="en-US" sz="105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050" dirty="0" err="1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할</a:t>
            </a:r>
            <a:r>
              <a:rPr lang="en-US" sz="105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050" dirty="0" err="1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</a:t>
            </a:r>
            <a:r>
              <a:rPr lang="en-US" sz="105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050" dirty="0" err="1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있도록</a:t>
            </a:r>
            <a:r>
              <a:rPr lang="en-US" sz="105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050" dirty="0" err="1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서포팅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81E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3034" y="164592"/>
            <a:ext cx="721462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71600" y="1828800"/>
            <a:ext cx="94484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감사합니다</a:t>
            </a:r>
            <a:endParaRPr lang="en-US" sz="5600" dirty="0"/>
          </a:p>
        </p:txBody>
      </p:sp>
      <p:sp>
        <p:nvSpPr>
          <p:cNvPr id="4" name="Text 1"/>
          <p:cNvSpPr/>
          <p:nvPr/>
        </p:nvSpPr>
        <p:spPr>
          <a:xfrm>
            <a:off x="1371600" y="3337560"/>
            <a:ext cx="9448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Presence Team · 임재영 AOP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1828800" y="4023360"/>
            <a:ext cx="8534095" cy="1737360"/>
          </a:xfrm>
          <a:prstGeom prst="roundRect">
            <a:avLst>
              <a:gd name="adj" fmla="val 9474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2103120" y="4187952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160pcs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2103120" y="48463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 세일즈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206240" y="4187952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₩11,317,805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206240" y="48463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 실인컴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309360" y="4187952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AVG 1.5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6309360" y="48463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월간 AVG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412480" y="4187952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105명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8412480" y="48463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Field H/C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1546</Words>
  <Application>Microsoft Macintosh PowerPoint</Application>
  <PresentationFormat>와이드스크린</PresentationFormat>
  <Paragraphs>514</Paragraphs>
  <Slides>15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8" baseType="lpstr">
      <vt:lpstr>Pretendard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임재영</cp:lastModifiedBy>
  <cp:revision>3</cp:revision>
  <dcterms:created xsi:type="dcterms:W3CDTF">2026-05-09T11:42:34Z</dcterms:created>
  <dcterms:modified xsi:type="dcterms:W3CDTF">2026-05-10T06:56:38Z</dcterms:modified>
</cp:coreProperties>
</file>