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73" r:id="rId14"/>
    <p:sldId id="274" r:id="rId15"/>
    <p:sldId id="267" r:id="rId16"/>
    <p:sldId id="268" r:id="rId17"/>
    <p:sldId id="269" r:id="rId18"/>
    <p:sldId id="270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85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6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1주(4/20)</c:v>
                </c:pt>
                <c:pt idx="1">
                  <c:v>2주(4/27)</c:v>
                </c:pt>
                <c:pt idx="2">
                  <c:v>3주(5/4)</c:v>
                </c:pt>
                <c:pt idx="3">
                  <c:v>4주(5/11)</c:v>
                </c:pt>
                <c:pt idx="4">
                  <c:v>5주(5/18)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48</c:v>
                </c:pt>
                <c:pt idx="2">
                  <c:v>46</c:v>
                </c:pt>
                <c:pt idx="3">
                  <c:v>52</c:v>
                </c:pt>
                <c:pt idx="4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5A-0B4D-8930-DB34204E74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</c:v>
                </c:pt>
              </c:strCache>
            </c:strRef>
          </c:tx>
          <c:spPr>
            <a:ln w="38100" cap="flat">
              <a:solidFill>
                <a:srgbClr val="1456F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456F0"/>
              </a:solidFill>
              <a:ln w="9525" cap="flat">
                <a:solidFill>
                  <a:srgbClr val="1456F0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3.5132096683530074E-2"/>
                  <c:y val="0.111111111111111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968-304E-A359-8D91CC88A266}"/>
                </c:ext>
              </c:extLst>
            </c:dLbl>
            <c:dLbl>
              <c:idx val="1"/>
              <c:layout>
                <c:manualLayout>
                  <c:x val="-4.2158516020236091E-2"/>
                  <c:y val="0.1041666666666666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968-304E-A359-8D91CC88A266}"/>
                </c:ext>
              </c:extLst>
            </c:dLbl>
            <c:dLbl>
              <c:idx val="2"/>
              <c:layout>
                <c:manualLayout>
                  <c:x val="-3.7474236462432163E-2"/>
                  <c:y val="0.111111111111111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968-304E-A359-8D91CC88A266}"/>
                </c:ext>
              </c:extLst>
            </c:dLbl>
            <c:dLbl>
              <c:idx val="3"/>
              <c:layout>
                <c:manualLayout>
                  <c:x val="-4.4500655799138089E-2"/>
                  <c:y val="0.1041666666666666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968-304E-A359-8D91CC88A266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1주(4/20)</c:v>
                </c:pt>
                <c:pt idx="1">
                  <c:v>2주(4/27)</c:v>
                </c:pt>
                <c:pt idx="2">
                  <c:v>3주(5/4)</c:v>
                </c:pt>
                <c:pt idx="3">
                  <c:v>4주(5/11)</c:v>
                </c:pt>
                <c:pt idx="4">
                  <c:v>5주(5/18)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</c:v>
                </c:pt>
                <c:pt idx="1">
                  <c:v>1.9</c:v>
                </c:pt>
                <c:pt idx="2">
                  <c:v>1.7</c:v>
                </c:pt>
                <c:pt idx="3">
                  <c:v>2.5</c:v>
                </c:pt>
                <c:pt idx="4">
                  <c:v>1.1000000000000001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968-304E-A359-8D91CC88A2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실인컴(원)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임재영</c:v>
                </c:pt>
                <c:pt idx="1">
                  <c:v>고윤경</c:v>
                </c:pt>
                <c:pt idx="2">
                  <c:v>박인선</c:v>
                </c:pt>
                <c:pt idx="3">
                  <c:v>김하진</c:v>
                </c:pt>
                <c:pt idx="4">
                  <c:v>윤채영</c:v>
                </c:pt>
                <c:pt idx="5">
                  <c:v>손예진</c:v>
                </c:pt>
                <c:pt idx="6">
                  <c:v>간승학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3699707</c:v>
                </c:pt>
                <c:pt idx="1">
                  <c:v>3414606</c:v>
                </c:pt>
                <c:pt idx="2">
                  <c:v>1276150</c:v>
                </c:pt>
                <c:pt idx="3">
                  <c:v>206404</c:v>
                </c:pt>
                <c:pt idx="4">
                  <c:v>3674356</c:v>
                </c:pt>
                <c:pt idx="5">
                  <c:v>3196599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A3-7F46-9DEC-DFE1B9FC98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000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1주(4/20)</c:v>
                </c:pt>
              </c:strCache>
            </c:strRef>
          </c:tx>
          <c:spPr>
            <a:solidFill>
              <a:srgbClr val="1456F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임재영</c:v>
                </c:pt>
                <c:pt idx="1">
                  <c:v>고윤경</c:v>
                </c:pt>
                <c:pt idx="2">
                  <c:v>박인선</c:v>
                </c:pt>
                <c:pt idx="3">
                  <c:v>김하진</c:v>
                </c:pt>
                <c:pt idx="4">
                  <c:v>윤채영</c:v>
                </c:pt>
                <c:pt idx="5">
                  <c:v>손예진</c:v>
                </c:pt>
                <c:pt idx="6">
                  <c:v>간승학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1</c:v>
                </c:pt>
                <c:pt idx="3">
                  <c:v>1</c:v>
                </c:pt>
                <c:pt idx="4">
                  <c:v>10</c:v>
                </c:pt>
                <c:pt idx="5">
                  <c:v>9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49-1D4C-9539-04DC101B3E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2주(4/27)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임재영</c:v>
                </c:pt>
                <c:pt idx="1">
                  <c:v>고윤경</c:v>
                </c:pt>
                <c:pt idx="2">
                  <c:v>박인선</c:v>
                </c:pt>
                <c:pt idx="3">
                  <c:v>김하진</c:v>
                </c:pt>
                <c:pt idx="4">
                  <c:v>윤채영</c:v>
                </c:pt>
                <c:pt idx="5">
                  <c:v>손예진</c:v>
                </c:pt>
                <c:pt idx="6">
                  <c:v>간승학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</c:v>
                </c:pt>
                <c:pt idx="1">
                  <c:v>9</c:v>
                </c:pt>
                <c:pt idx="2">
                  <c:v>5</c:v>
                </c:pt>
                <c:pt idx="3">
                  <c:v>0</c:v>
                </c:pt>
                <c:pt idx="4">
                  <c:v>11</c:v>
                </c:pt>
                <c:pt idx="5">
                  <c:v>15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49-1D4C-9539-04DC101B3E9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3주(5/4)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임재영</c:v>
                </c:pt>
                <c:pt idx="1">
                  <c:v>고윤경</c:v>
                </c:pt>
                <c:pt idx="2">
                  <c:v>박인선</c:v>
                </c:pt>
                <c:pt idx="3">
                  <c:v>김하진</c:v>
                </c:pt>
                <c:pt idx="4">
                  <c:v>윤채영</c:v>
                </c:pt>
                <c:pt idx="5">
                  <c:v>손예진</c:v>
                </c:pt>
                <c:pt idx="6">
                  <c:v>간승학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</c:v>
                </c:pt>
                <c:pt idx="1">
                  <c:v>11</c:v>
                </c:pt>
                <c:pt idx="2">
                  <c:v>5</c:v>
                </c:pt>
                <c:pt idx="3">
                  <c:v>2</c:v>
                </c:pt>
                <c:pt idx="4">
                  <c:v>11</c:v>
                </c:pt>
                <c:pt idx="5">
                  <c:v>7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49-1D4C-9539-04DC101B3E9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4주(5/11)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임재영</c:v>
                </c:pt>
                <c:pt idx="1">
                  <c:v>고윤경</c:v>
                </c:pt>
                <c:pt idx="2">
                  <c:v>박인선</c:v>
                </c:pt>
                <c:pt idx="3">
                  <c:v>김하진</c:v>
                </c:pt>
                <c:pt idx="4">
                  <c:v>윤채영</c:v>
                </c:pt>
                <c:pt idx="5">
                  <c:v>손예진</c:v>
                </c:pt>
                <c:pt idx="6">
                  <c:v>간승학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15</c:v>
                </c:pt>
                <c:pt idx="1">
                  <c:v>13</c:v>
                </c:pt>
                <c:pt idx="2">
                  <c:v>1</c:v>
                </c:pt>
                <c:pt idx="3">
                  <c:v>0</c:v>
                </c:pt>
                <c:pt idx="4">
                  <c:v>16</c:v>
                </c:pt>
                <c:pt idx="5">
                  <c:v>7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449-1D4C-9539-04DC101B3E9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5주(5/18)</c:v>
                </c:pt>
              </c:strCache>
            </c:strRef>
          </c:tx>
          <c:spPr>
            <a:solidFill>
              <a:srgbClr val="BFDBF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임재영</c:v>
                </c:pt>
                <c:pt idx="1">
                  <c:v>고윤경</c:v>
                </c:pt>
                <c:pt idx="2">
                  <c:v>박인선</c:v>
                </c:pt>
                <c:pt idx="3">
                  <c:v>김하진</c:v>
                </c:pt>
                <c:pt idx="4">
                  <c:v>윤채영</c:v>
                </c:pt>
                <c:pt idx="5">
                  <c:v>손예진</c:v>
                </c:pt>
                <c:pt idx="6">
                  <c:v>간승학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11</c:v>
                </c:pt>
                <c:pt idx="1">
                  <c:v>6</c:v>
                </c:pt>
                <c:pt idx="2">
                  <c:v>6</c:v>
                </c:pt>
                <c:pt idx="3">
                  <c:v>1</c:v>
                </c:pt>
                <c:pt idx="4">
                  <c:v>4</c:v>
                </c:pt>
                <c:pt idx="5">
                  <c:v>4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5A-0B4D-8930-DB34204E74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1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세일즈 기여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56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4AE-C64C-B568-A75424EFC0E4}"/>
              </c:ext>
            </c:extLst>
          </c:dPt>
          <c:dPt>
            <c:idx val="1"/>
            <c:bubble3D val="0"/>
            <c:spPr>
              <a:solidFill>
                <a:srgbClr val="1743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4AE-C64C-B568-A75424EFC0E4}"/>
              </c:ext>
            </c:extLst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4AE-C64C-B568-A75424EFC0E4}"/>
              </c:ext>
            </c:extLst>
          </c:dPt>
          <c:dPt>
            <c:idx val="3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4AE-C64C-B568-A75424EFC0E4}"/>
              </c:ext>
            </c:extLst>
          </c:dPt>
          <c:dPt>
            <c:idx val="4"/>
            <c:bubble3D val="0"/>
            <c:spPr>
              <a:solidFill>
                <a:srgbClr val="BFDBF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4AE-C64C-B568-A75424EFC0E4}"/>
              </c:ext>
            </c:extLst>
          </c:dPt>
          <c:dPt>
            <c:idx val="5"/>
            <c:bubble3D val="0"/>
            <c:spPr>
              <a:solidFill>
                <a:srgbClr val="EA5E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4AE-C64C-B568-A75424EFC0E4}"/>
              </c:ext>
            </c:extLst>
          </c:dPt>
          <c:dPt>
            <c:idx val="6"/>
            <c:bubble3D val="0"/>
            <c:spPr>
              <a:solidFill>
                <a:srgbClr val="60D39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4AE-C64C-B568-A75424EFC0E4}"/>
              </c:ext>
            </c:extLst>
          </c:dPt>
          <c:cat>
            <c:strRef>
              <c:f>Sheet1!$A$2:$A$8</c:f>
              <c:strCache>
                <c:ptCount val="7"/>
                <c:pt idx="0">
                  <c:v>임재영 AOP(51)</c:v>
                </c:pt>
                <c:pt idx="1">
                  <c:v>고윤경 LR(45)</c:v>
                </c:pt>
                <c:pt idx="2">
                  <c:v>박인선 LR(18)</c:v>
                </c:pt>
                <c:pt idx="3">
                  <c:v>김하진 IC(4)</c:v>
                </c:pt>
                <c:pt idx="4">
                  <c:v>윤채영 TL(52)</c:v>
                </c:pt>
                <c:pt idx="5">
                  <c:v>손예진 LR(42)</c:v>
                </c:pt>
                <c:pt idx="6">
                  <c:v>간승학 LR(0)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51</c:v>
                </c:pt>
                <c:pt idx="1">
                  <c:v>45</c:v>
                </c:pt>
                <c:pt idx="2">
                  <c:v>18</c:v>
                </c:pt>
                <c:pt idx="3">
                  <c:v>4</c:v>
                </c:pt>
                <c:pt idx="4">
                  <c:v>52</c:v>
                </c:pt>
                <c:pt idx="5">
                  <c:v>42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4AE-C64C-B568-A75424EFC0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335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920240"/>
            <a:ext cx="11277295" cy="4114800"/>
          </a:xfrm>
          <a:prstGeom prst="roundRect">
            <a:avLst>
              <a:gd name="adj" fmla="val 4889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  <a:effectLst>
            <a:outerShdw blurRad="190500" dist="50800" dir="8100000" algn="bl" rotWithShape="0">
              <a:srgbClr val="2C1E74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822960" y="2286000"/>
            <a:ext cx="1737360" cy="329184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822960" y="22860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" y="2743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26년 5월 Recap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22960" y="38221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기간: 2026.04.20 – 2026.05.24  |  Presence Team · 임재영 AOP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194560" y="4370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총 세일즈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20440" y="4370832"/>
            <a:ext cx="0" cy="64008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3611880" y="4343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₩15,467,822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61188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실인컴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4370832"/>
            <a:ext cx="0" cy="64008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400800" y="4343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1.7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772400" y="4370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월간 AVG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98280" y="4370832"/>
            <a:ext cx="0" cy="64008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189720" y="43434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0561320" y="4370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8972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Field H/C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리캡 목차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달 성과와 세일즈 분석, 팀원 현황, 그리고 6월 플랜을 담았습니다.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40080" y="24597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40080" y="2459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843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세일즈 현황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32461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Sales/AVG 추이 · 월간 총합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51960" y="22768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434840" y="24597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434840" y="2459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434840" y="2843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세일즈 디테일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434840" y="32461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세일즈 · 실인컴 · 리젝 · 리섭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0" y="22768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8229600" y="24597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8229600" y="2459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29600" y="2843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생산성 분석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229600" y="32461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인컴 추이 · 팀원별 실인컴 비교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8770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640080" y="40599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40080" y="4059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" y="44439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성과 카드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40080" y="4846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KPI · 주차별 세일즈 흐름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251960" y="38770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4434840" y="40599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4434840" y="4059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434840" y="44439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리쿠르팅 &amp; H/C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434840" y="4846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팀 구성 · 간승학 신규 합류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046720" y="3877056"/>
            <a:ext cx="35661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8229600" y="4059936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8229600" y="4059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229600" y="44439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6월 Goal &amp; Plan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229600" y="4846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목표 · 실행 전략 · NO ZERO DAYS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세일즈 현황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팀 세일즈 현황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5주간 Sales · AVG 추이 (2026.04.20 – 05.24)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2633472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212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40080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00837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Gross 세일즈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9544" y="2276856"/>
            <a:ext cx="2633472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3392424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1.7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392424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92424" y="300837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팀 AVG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61888" y="2276856"/>
            <a:ext cx="2633472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144768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6144768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44768" y="300837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Field H/C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714232" y="2276856"/>
            <a:ext cx="2633472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897112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112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8897112" y="2414016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897112" y="300837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 세일즈 (리젝 제외)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703320"/>
            <a:ext cx="548640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40080" y="3840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Sales 추이</a:t>
            </a:r>
            <a:endParaRPr lang="en-US" sz="14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548640" y="4160520"/>
          <a:ext cx="53035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 22"/>
          <p:cNvSpPr/>
          <p:nvPr/>
        </p:nvSpPr>
        <p:spPr>
          <a:xfrm>
            <a:off x="640080" y="59618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pcs  |  Field H/C 기준 집계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126480" y="3703320"/>
            <a:ext cx="5605272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6309360" y="3840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AVG 추이</a:t>
            </a:r>
            <a:endParaRPr lang="en-US" sz="1400" dirty="0"/>
          </a:p>
        </p:txBody>
      </p:sp>
      <p:graphicFrame>
        <p:nvGraphicFramePr>
          <p:cNvPr id="29" name="Chart 1"/>
          <p:cNvGraphicFramePr/>
          <p:nvPr>
            <p:extLst>
              <p:ext uri="{D42A27DB-BD31-4B8C-83A1-F6EECF244321}">
                <p14:modId xmlns:p14="http://schemas.microsoft.com/office/powerpoint/2010/main" val="2419370413"/>
              </p:ext>
            </p:extLst>
          </p:nvPr>
        </p:nvGraphicFramePr>
        <p:xfrm>
          <a:off x="6217920" y="4160520"/>
          <a:ext cx="5422392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Text 25"/>
          <p:cNvSpPr/>
          <p:nvPr/>
        </p:nvSpPr>
        <p:spPr>
          <a:xfrm>
            <a:off x="6309360" y="596188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↑ 4주차 AVG 2.5 월간 최고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세일즈 디테일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세일즈 성과 상세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세일즈 · 실인컴 · 리젝 · 리섭 종합 (2026년 5월)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11277295" cy="493776"/>
          </a:xfrm>
          <a:prstGeom prst="roundRect">
            <a:avLst>
              <a:gd name="adj" fmla="val 1851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57200" y="2276856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029968" y="227685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필드일수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920796" y="227685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세일즈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11624" y="2276856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실인컴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03264" y="227685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리젝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94092" y="227685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리섭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284920" y="227685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5748" y="227685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066576" y="227685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957404" y="227685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264408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57200" y="2770632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AOP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29968" y="277063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21일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920796" y="277063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811624" y="277063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₩3,699,707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503264" y="277063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394092" y="277063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284920" y="277063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75748" y="277063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066576" y="277063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957404" y="277063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264408"/>
            <a:ext cx="11277295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457200" y="3758184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457200" y="3264408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간승학 LR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029968" y="326440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6일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920796" y="326440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811624" y="3264408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₩0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503264" y="326440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394092" y="326440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284920" y="326440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175748" y="326440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9066576" y="326440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957404" y="326440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7200" y="425196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457200" y="3758184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고윤경 LR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2029968" y="375818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23일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2920796" y="375818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3811624" y="3758184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₩3,414,606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5503264" y="375818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394092" y="375818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284920" y="375818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175748" y="375818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9066576" y="375818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9957404" y="375818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457200" y="4251960"/>
            <a:ext cx="11277295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0"/>
          <p:cNvSpPr/>
          <p:nvPr/>
        </p:nvSpPr>
        <p:spPr>
          <a:xfrm>
            <a:off x="457200" y="4745736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457200" y="4251960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박인선 LR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2029968" y="4251960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20일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2920796" y="4251960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3811624" y="425196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₩1,276,150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5503264" y="4251960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6394092" y="4251960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7284920" y="4251960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8175748" y="4251960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9066576" y="4251960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9957404" y="4251960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457200" y="5239512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/>
          <p:nvPr/>
        </p:nvSpPr>
        <p:spPr>
          <a:xfrm>
            <a:off x="457200" y="4745736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김하진 IC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2029968" y="474573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4일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2920796" y="474573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3811624" y="4745736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₩206,404</a:t>
            </a:r>
            <a:endParaRPr lang="en-US" sz="1100" dirty="0"/>
          </a:p>
        </p:txBody>
      </p:sp>
      <p:sp>
        <p:nvSpPr>
          <p:cNvPr id="69" name="Text 66"/>
          <p:cNvSpPr/>
          <p:nvPr/>
        </p:nvSpPr>
        <p:spPr>
          <a:xfrm>
            <a:off x="5503264" y="474573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6394092" y="474573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7284920" y="474573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72" name="Text 69"/>
          <p:cNvSpPr/>
          <p:nvPr/>
        </p:nvSpPr>
        <p:spPr>
          <a:xfrm>
            <a:off x="8175748" y="474573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9066576" y="474573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74" name="Text 71"/>
          <p:cNvSpPr/>
          <p:nvPr/>
        </p:nvSpPr>
        <p:spPr>
          <a:xfrm>
            <a:off x="9957404" y="474573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457200" y="5239512"/>
            <a:ext cx="11277295" cy="49377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3"/>
          <p:cNvSpPr/>
          <p:nvPr/>
        </p:nvSpPr>
        <p:spPr>
          <a:xfrm>
            <a:off x="457200" y="5733288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/>
          <p:nvPr/>
        </p:nvSpPr>
        <p:spPr>
          <a:xfrm>
            <a:off x="457200" y="5239512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윤채영 TL</a:t>
            </a:r>
            <a:endParaRPr lang="en-US" sz="1100" dirty="0"/>
          </a:p>
        </p:txBody>
      </p:sp>
      <p:sp>
        <p:nvSpPr>
          <p:cNvPr id="78" name="Text 75"/>
          <p:cNvSpPr/>
          <p:nvPr/>
        </p:nvSpPr>
        <p:spPr>
          <a:xfrm>
            <a:off x="2029968" y="523951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26일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2920796" y="523951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</a:t>
            </a:r>
            <a:endParaRPr lang="en-US" sz="1100" dirty="0"/>
          </a:p>
        </p:txBody>
      </p:sp>
      <p:sp>
        <p:nvSpPr>
          <p:cNvPr id="80" name="Text 77"/>
          <p:cNvSpPr/>
          <p:nvPr/>
        </p:nvSpPr>
        <p:spPr>
          <a:xfrm>
            <a:off x="3811624" y="523951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₩3,674,356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5503264" y="523951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1100" dirty="0"/>
          </a:p>
        </p:txBody>
      </p:sp>
      <p:sp>
        <p:nvSpPr>
          <p:cNvPr id="82" name="Text 79"/>
          <p:cNvSpPr/>
          <p:nvPr/>
        </p:nvSpPr>
        <p:spPr>
          <a:xfrm>
            <a:off x="6394092" y="523951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83" name="Text 80"/>
          <p:cNvSpPr/>
          <p:nvPr/>
        </p:nvSpPr>
        <p:spPr>
          <a:xfrm>
            <a:off x="7284920" y="523951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84" name="Text 81"/>
          <p:cNvSpPr/>
          <p:nvPr/>
        </p:nvSpPr>
        <p:spPr>
          <a:xfrm>
            <a:off x="8175748" y="523951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85" name="Text 82"/>
          <p:cNvSpPr/>
          <p:nvPr/>
        </p:nvSpPr>
        <p:spPr>
          <a:xfrm>
            <a:off x="9066576" y="523951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86" name="Text 83"/>
          <p:cNvSpPr/>
          <p:nvPr/>
        </p:nvSpPr>
        <p:spPr>
          <a:xfrm>
            <a:off x="9957404" y="523951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100" dirty="0"/>
          </a:p>
        </p:txBody>
      </p:sp>
      <p:sp>
        <p:nvSpPr>
          <p:cNvPr id="87" name="Shape 84"/>
          <p:cNvSpPr/>
          <p:nvPr/>
        </p:nvSpPr>
        <p:spPr>
          <a:xfrm>
            <a:off x="457200" y="6227064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5"/>
          <p:cNvSpPr/>
          <p:nvPr/>
        </p:nvSpPr>
        <p:spPr>
          <a:xfrm>
            <a:off x="457200" y="5733288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손예진 LR</a:t>
            </a:r>
            <a:endParaRPr lang="en-US" sz="1100" dirty="0"/>
          </a:p>
        </p:txBody>
      </p:sp>
      <p:sp>
        <p:nvSpPr>
          <p:cNvPr id="89" name="Text 86"/>
          <p:cNvSpPr/>
          <p:nvPr/>
        </p:nvSpPr>
        <p:spPr>
          <a:xfrm>
            <a:off x="2029968" y="573328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28일</a:t>
            </a:r>
            <a:endParaRPr lang="en-US" sz="1100" dirty="0"/>
          </a:p>
        </p:txBody>
      </p:sp>
      <p:sp>
        <p:nvSpPr>
          <p:cNvPr id="90" name="Text 87"/>
          <p:cNvSpPr/>
          <p:nvPr/>
        </p:nvSpPr>
        <p:spPr>
          <a:xfrm>
            <a:off x="2920796" y="573328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</a:t>
            </a:r>
            <a:endParaRPr lang="en-US" sz="1100" dirty="0"/>
          </a:p>
        </p:txBody>
      </p:sp>
      <p:sp>
        <p:nvSpPr>
          <p:cNvPr id="91" name="Text 88"/>
          <p:cNvSpPr/>
          <p:nvPr/>
        </p:nvSpPr>
        <p:spPr>
          <a:xfrm>
            <a:off x="3811624" y="5733288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₩3,196,599</a:t>
            </a:r>
            <a:endParaRPr lang="en-US" sz="1100" dirty="0"/>
          </a:p>
        </p:txBody>
      </p:sp>
      <p:sp>
        <p:nvSpPr>
          <p:cNvPr id="92" name="Text 89"/>
          <p:cNvSpPr/>
          <p:nvPr/>
        </p:nvSpPr>
        <p:spPr>
          <a:xfrm>
            <a:off x="5503264" y="573328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00" dirty="0"/>
          </a:p>
        </p:txBody>
      </p:sp>
      <p:sp>
        <p:nvSpPr>
          <p:cNvPr id="93" name="Text 90"/>
          <p:cNvSpPr/>
          <p:nvPr/>
        </p:nvSpPr>
        <p:spPr>
          <a:xfrm>
            <a:off x="6394092" y="573328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94" name="Text 91"/>
          <p:cNvSpPr/>
          <p:nvPr/>
        </p:nvSpPr>
        <p:spPr>
          <a:xfrm>
            <a:off x="7284920" y="573328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100" dirty="0"/>
          </a:p>
        </p:txBody>
      </p:sp>
      <p:sp>
        <p:nvSpPr>
          <p:cNvPr id="95" name="Text 92"/>
          <p:cNvSpPr/>
          <p:nvPr/>
        </p:nvSpPr>
        <p:spPr>
          <a:xfrm>
            <a:off x="8175748" y="573328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100" dirty="0"/>
          </a:p>
        </p:txBody>
      </p:sp>
      <p:sp>
        <p:nvSpPr>
          <p:cNvPr id="96" name="Text 93"/>
          <p:cNvSpPr/>
          <p:nvPr/>
        </p:nvSpPr>
        <p:spPr>
          <a:xfrm>
            <a:off x="9066576" y="573328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  <p:sp>
        <p:nvSpPr>
          <p:cNvPr id="97" name="Text 94"/>
          <p:cNvSpPr/>
          <p:nvPr/>
        </p:nvSpPr>
        <p:spPr>
          <a:xfrm>
            <a:off x="9957404" y="573328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457200" y="6227064"/>
            <a:ext cx="11277295" cy="493776"/>
          </a:xfrm>
          <a:prstGeom prst="roundRect">
            <a:avLst>
              <a:gd name="adj" fmla="val 14815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6"/>
          <p:cNvSpPr/>
          <p:nvPr/>
        </p:nvSpPr>
        <p:spPr>
          <a:xfrm>
            <a:off x="457200" y="6227064"/>
            <a:ext cx="1572768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100" dirty="0"/>
          </a:p>
        </p:txBody>
      </p:sp>
      <p:sp>
        <p:nvSpPr>
          <p:cNvPr id="100" name="Text 97"/>
          <p:cNvSpPr/>
          <p:nvPr/>
        </p:nvSpPr>
        <p:spPr>
          <a:xfrm>
            <a:off x="2029968" y="622706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128일</a:t>
            </a:r>
            <a:endParaRPr lang="en-US" sz="1100" dirty="0"/>
          </a:p>
        </p:txBody>
      </p:sp>
      <p:sp>
        <p:nvSpPr>
          <p:cNvPr id="101" name="Text 98"/>
          <p:cNvSpPr/>
          <p:nvPr/>
        </p:nvSpPr>
        <p:spPr>
          <a:xfrm>
            <a:off x="2920796" y="622706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212</a:t>
            </a:r>
            <a:endParaRPr lang="en-US" sz="1100" dirty="0"/>
          </a:p>
        </p:txBody>
      </p:sp>
      <p:sp>
        <p:nvSpPr>
          <p:cNvPr id="102" name="Text 99"/>
          <p:cNvSpPr/>
          <p:nvPr/>
        </p:nvSpPr>
        <p:spPr>
          <a:xfrm>
            <a:off x="3811624" y="6227064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₩15,467,822</a:t>
            </a:r>
            <a:endParaRPr lang="en-US" sz="1100" dirty="0"/>
          </a:p>
        </p:txBody>
      </p:sp>
      <p:sp>
        <p:nvSpPr>
          <p:cNvPr id="103" name="Text 100"/>
          <p:cNvSpPr/>
          <p:nvPr/>
        </p:nvSpPr>
        <p:spPr>
          <a:xfrm>
            <a:off x="5503264" y="622706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100" dirty="0"/>
          </a:p>
        </p:txBody>
      </p:sp>
      <p:sp>
        <p:nvSpPr>
          <p:cNvPr id="104" name="Text 101"/>
          <p:cNvSpPr/>
          <p:nvPr/>
        </p:nvSpPr>
        <p:spPr>
          <a:xfrm>
            <a:off x="6394092" y="622706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  <p:sp>
        <p:nvSpPr>
          <p:cNvPr id="105" name="Text 102"/>
          <p:cNvSpPr/>
          <p:nvPr/>
        </p:nvSpPr>
        <p:spPr>
          <a:xfrm>
            <a:off x="7284920" y="622706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</a:t>
            </a:r>
            <a:endParaRPr lang="en-US" sz="1100" dirty="0"/>
          </a:p>
        </p:txBody>
      </p:sp>
      <p:sp>
        <p:nvSpPr>
          <p:cNvPr id="106" name="Text 103"/>
          <p:cNvSpPr/>
          <p:nvPr/>
        </p:nvSpPr>
        <p:spPr>
          <a:xfrm>
            <a:off x="8175748" y="622706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</a:t>
            </a:r>
            <a:endParaRPr lang="en-US" sz="1100" dirty="0"/>
          </a:p>
        </p:txBody>
      </p:sp>
      <p:sp>
        <p:nvSpPr>
          <p:cNvPr id="107" name="Text 104"/>
          <p:cNvSpPr/>
          <p:nvPr/>
        </p:nvSpPr>
        <p:spPr>
          <a:xfrm>
            <a:off x="9066576" y="622706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</a:t>
            </a:r>
            <a:endParaRPr lang="en-US" sz="1100" dirty="0"/>
          </a:p>
        </p:txBody>
      </p:sp>
      <p:sp>
        <p:nvSpPr>
          <p:cNvPr id="108" name="Text 105"/>
          <p:cNvSpPr/>
          <p:nvPr/>
        </p:nvSpPr>
        <p:spPr>
          <a:xfrm>
            <a:off x="9957404" y="622706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</a:t>
            </a:r>
            <a:endParaRPr lang="en-US" sz="1100" dirty="0"/>
          </a:p>
        </p:txBody>
      </p:sp>
      <p:sp>
        <p:nvSpPr>
          <p:cNvPr id="109" name="Text 106"/>
          <p:cNvSpPr/>
          <p:nvPr/>
        </p:nvSpPr>
        <p:spPr>
          <a:xfrm>
            <a:off x="457200" y="6775704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간승학: 5/13 첫 필드 (신규 합류)  |  서경욱: 5월 전체 부재  |  1~5주 값은 주차별 세일즈 pcs</a:t>
            </a:r>
            <a:endParaRPr lang="en-US" sz="900" dirty="0"/>
          </a:p>
        </p:txBody>
      </p:sp>
      <p:sp>
        <p:nvSpPr>
          <p:cNvPr id="110" name="Text 14"/>
          <p:cNvSpPr/>
          <p:nvPr/>
        </p:nvSpPr>
        <p:spPr>
          <a:xfrm>
            <a:off x="10848232" y="227685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</a:t>
            </a:r>
            <a:endParaRPr lang="en-US" sz="1100" dirty="0"/>
          </a:p>
        </p:txBody>
      </p:sp>
      <p:sp>
        <p:nvSpPr>
          <p:cNvPr id="111" name="Text 25"/>
          <p:cNvSpPr/>
          <p:nvPr/>
        </p:nvSpPr>
        <p:spPr>
          <a:xfrm>
            <a:off x="10848232" y="277063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112" name="Text 37"/>
          <p:cNvSpPr/>
          <p:nvPr/>
        </p:nvSpPr>
        <p:spPr>
          <a:xfrm>
            <a:off x="10848232" y="326440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100" dirty="0"/>
          </a:p>
        </p:txBody>
      </p:sp>
      <p:sp>
        <p:nvSpPr>
          <p:cNvPr id="113" name="Text 48"/>
          <p:cNvSpPr/>
          <p:nvPr/>
        </p:nvSpPr>
        <p:spPr>
          <a:xfrm>
            <a:off x="10848232" y="375818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  <p:sp>
        <p:nvSpPr>
          <p:cNvPr id="114" name="Text 60"/>
          <p:cNvSpPr/>
          <p:nvPr/>
        </p:nvSpPr>
        <p:spPr>
          <a:xfrm>
            <a:off x="10848232" y="4251960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  <p:sp>
        <p:nvSpPr>
          <p:cNvPr id="115" name="Text 71"/>
          <p:cNvSpPr/>
          <p:nvPr/>
        </p:nvSpPr>
        <p:spPr>
          <a:xfrm>
            <a:off x="10848232" y="4745736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16" name="Text 83"/>
          <p:cNvSpPr/>
          <p:nvPr/>
        </p:nvSpPr>
        <p:spPr>
          <a:xfrm>
            <a:off x="10848232" y="5239512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  <p:sp>
        <p:nvSpPr>
          <p:cNvPr id="117" name="Text 94"/>
          <p:cNvSpPr/>
          <p:nvPr/>
        </p:nvSpPr>
        <p:spPr>
          <a:xfrm>
            <a:off x="10848232" y="5733288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  <p:sp>
        <p:nvSpPr>
          <p:cNvPr id="118" name="Text 105"/>
          <p:cNvSpPr/>
          <p:nvPr/>
        </p:nvSpPr>
        <p:spPr>
          <a:xfrm>
            <a:off x="10848232" y="6227064"/>
            <a:ext cx="8908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생산성 분석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실인컴 &amp; 생산성 분석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실인컴 비교 · 주차별 인컴 추이 (2026년 5월)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6858000" cy="3986784"/>
          </a:xfrm>
          <a:prstGeom prst="roundRect">
            <a:avLst>
              <a:gd name="adj" fmla="val 25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241401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실인컴 비교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48640" y="2734056"/>
          <a:ext cx="6675120" cy="3273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6655918" y="543023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₩3,699,707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263398" y="5018697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₩3,414,606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319225" y="4607165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₩1,276,150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846425" y="4195633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₩206,404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621015" y="3784101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₩3,674,356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963251" y="33725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₩3,196,599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562254" y="29610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₩0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40080" y="600760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원(KRW)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498080" y="2276856"/>
            <a:ext cx="4233672" cy="1191768"/>
          </a:xfrm>
          <a:prstGeom prst="roundRect">
            <a:avLst>
              <a:gd name="adj" fmla="val 92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680960" y="2414016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7680960" y="241401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1위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275320" y="239572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AOP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680960" y="2679192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₩3,699,707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7680960" y="3185160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51pcs · 리젝 23건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498080" y="3651504"/>
            <a:ext cx="4233672" cy="1191768"/>
          </a:xfrm>
          <a:prstGeom prst="roundRect">
            <a:avLst>
              <a:gd name="adj" fmla="val 92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7680960" y="378866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/>
          <p:nvPr/>
        </p:nvSpPr>
        <p:spPr>
          <a:xfrm>
            <a:off x="7680960" y="37886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2위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275320" y="377037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윤채영 TL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680960" y="405384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₩3,674,356</a:t>
            </a:r>
            <a:endParaRPr lang="en-US" sz="2600" dirty="0"/>
          </a:p>
        </p:txBody>
      </p:sp>
      <p:sp>
        <p:nvSpPr>
          <p:cNvPr id="29" name="Text 25"/>
          <p:cNvSpPr/>
          <p:nvPr/>
        </p:nvSpPr>
        <p:spPr>
          <a:xfrm>
            <a:off x="7680960" y="4559808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52pcs · 리젝 26건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498080" y="5026152"/>
            <a:ext cx="4233672" cy="1191768"/>
          </a:xfrm>
          <a:prstGeom prst="roundRect">
            <a:avLst>
              <a:gd name="adj" fmla="val 92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/>
          <p:cNvSpPr/>
          <p:nvPr/>
        </p:nvSpPr>
        <p:spPr>
          <a:xfrm>
            <a:off x="7680960" y="5163312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/>
          <p:cNvSpPr/>
          <p:nvPr/>
        </p:nvSpPr>
        <p:spPr>
          <a:xfrm>
            <a:off x="7680960" y="516331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3위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8275320" y="514502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고윤경 LR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680960" y="5428488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₩3,414,606</a:t>
            </a:r>
            <a:endParaRPr lang="en-US" sz="2600" dirty="0"/>
          </a:p>
        </p:txBody>
      </p:sp>
      <p:sp>
        <p:nvSpPr>
          <p:cNvPr id="35" name="Text 31"/>
          <p:cNvSpPr/>
          <p:nvPr/>
        </p:nvSpPr>
        <p:spPr>
          <a:xfrm>
            <a:off x="7680960" y="5934456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45pcs · 리젝 21건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세일즈 디테일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주차별 세일즈 흐름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 개인 세일즈 패턴 · 컨시스턴시 분석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11277295" cy="3941064"/>
          </a:xfrm>
          <a:prstGeom prst="roundRect">
            <a:avLst>
              <a:gd name="adj" fmla="val 30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2414016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주차별 세일즈 (pcs)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94360" y="2752344"/>
          <a:ext cx="11002975" cy="3163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596188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pcs  |  간승학: 5/13 첫 필드 · 서경욱: 5월 부재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리쿠르팅 &amp; H/C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 &amp; 리쿠르팅 현황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Field H/C 128명 · 신규 합류 · 역할별 구성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367985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2386584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0080" y="2386584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971800"/>
            <a:ext cx="331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팀원 수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5922" y="2276856"/>
            <a:ext cx="367985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438802" y="2386584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438802" y="2386584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38802" y="2971800"/>
            <a:ext cx="331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Field H/C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54645" y="2276856"/>
            <a:ext cx="367985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237525" y="2386584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237525" y="2386584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4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37525" y="2971800"/>
            <a:ext cx="331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합류 (간승학)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419856"/>
            <a:ext cx="5349240" cy="2798064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685800" y="358444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팀 구성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58368" y="3895344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704088" y="395020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704088" y="39502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AOP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280160" y="3950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743200" y="3950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51pcs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58368" y="4197096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704088" y="425196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704088" y="42519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280160" y="4251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손예진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743200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42pcs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58368" y="4498848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704088" y="4553712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704088" y="45537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LR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280160" y="4553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고윤경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743200" y="4553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45pcs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58368" y="4800600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704088" y="4855464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04088" y="4855464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LR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280160" y="4855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박인선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2743200" y="4855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18pcs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58368" y="5102352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704088" y="5157216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704088" y="5157216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1280160" y="5157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김하진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743200" y="51572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4pcs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58368" y="5404104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704088" y="5458968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704088" y="545896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TL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1280160" y="5458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윤채영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743200" y="5458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52pcs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58368" y="5705856"/>
            <a:ext cx="4919472" cy="329184"/>
          </a:xfrm>
          <a:prstGeom prst="roundRect">
            <a:avLst>
              <a:gd name="adj" fmla="val 19444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704088" y="576072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704088" y="576072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LR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280160" y="5760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간승학 🆕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2743200" y="5760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5/13 첫 필드 · 후원 4명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6035040" y="3419856"/>
            <a:ext cx="5696712" cy="2798064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6263640" y="3584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세일즈 기여 비중</a:t>
            </a:r>
            <a:endParaRPr lang="en-US" sz="1400" dirty="0"/>
          </a:p>
        </p:txBody>
      </p:sp>
      <p:graphicFrame>
        <p:nvGraphicFramePr>
          <p:cNvPr id="58" name="Chart 0"/>
          <p:cNvGraphicFramePr/>
          <p:nvPr/>
        </p:nvGraphicFramePr>
        <p:xfrm>
          <a:off x="6126480" y="3895344"/>
          <a:ext cx="5605272" cy="2157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리쿠르팅 &amp; H/C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5월 리쿠르팅 상세 분석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리쿠터별 면접 · 쇼업 · 노쇼 현황 (유효 25명 · 당근마켓/알바몬 · OUT/IN)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3679850" cy="896112"/>
          </a:xfrm>
          <a:prstGeom prst="roundRect">
            <a:avLst>
              <a:gd name="adj" fmla="val 1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236829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236829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843784"/>
            <a:ext cx="33140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면접 제안 (취소 1 포함)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5922" y="2276856"/>
            <a:ext cx="3679850" cy="896112"/>
          </a:xfrm>
          <a:prstGeom prst="roundRect">
            <a:avLst>
              <a:gd name="adj" fmla="val 1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438802" y="236829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438802" y="236829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38802" y="2843784"/>
            <a:ext cx="33140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 (36%)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54645" y="2276856"/>
            <a:ext cx="3679850" cy="896112"/>
          </a:xfrm>
          <a:prstGeom prst="roundRect">
            <a:avLst>
              <a:gd name="adj" fmla="val 132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237525" y="236829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237525" y="236829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37525" y="2843784"/>
            <a:ext cx="33140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 (64%)</a:t>
            </a:r>
            <a:endParaRPr lang="en-US" sz="1100" dirty="0"/>
          </a:p>
        </p:txBody>
      </p:sp>
      <p:sp>
        <p:nvSpPr>
          <p:cNvPr id="200" name="S200"/>
          <p:cNvSpPr/>
          <p:nvPr/>
        </p:nvSpPr>
        <p:spPr>
          <a:xfrm>
            <a:off x="457200" y="3374136"/>
            <a:ext cx="2729230" cy="3000000"/>
          </a:xfrm>
          <a:prstGeom prst="roundRect">
            <a:avLst>
              <a:gd name="adj" fmla="val 41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1" name="S201"/>
          <p:cNvSpPr/>
          <p:nvPr/>
        </p:nvSpPr>
        <p:spPr>
          <a:xfrm>
            <a:off x="640080" y="3520440"/>
            <a:ext cx="620000" cy="256032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T202"/>
          <p:cNvSpPr/>
          <p:nvPr/>
        </p:nvSpPr>
        <p:spPr>
          <a:xfrm>
            <a:off x="640080" y="3520440"/>
            <a:ext cx="62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6명 쇼업</a:t>
            </a:r>
            <a:endParaRPr lang="ko-KR" altLang="en-US" sz="1000" dirty="0"/>
          </a:p>
        </p:txBody>
      </p:sp>
      <p:sp>
        <p:nvSpPr>
          <p:cNvPr id="203" name="T203"/>
          <p:cNvSpPr/>
          <p:nvPr/>
        </p:nvSpPr>
        <p:spPr>
          <a:xfrm>
            <a:off x="1350080" y="3505000"/>
            <a:ext cx="1659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AOP</a:t>
            </a:r>
            <a:endParaRPr lang="ko-KR" altLang="en-US" sz="1250" dirty="0"/>
          </a:p>
        </p:txBody>
      </p:sp>
      <p:sp>
        <p:nvSpPr>
          <p:cNvPr id="204" name="T204"/>
          <p:cNvSpPr/>
          <p:nvPr/>
        </p:nvSpPr>
        <p:spPr>
          <a:xfrm>
            <a:off x="2303550" y="3490000"/>
            <a:ext cx="7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46%</a:t>
            </a:r>
            <a:endParaRPr lang="ko-KR" altLang="en-US" sz="1400" dirty="0"/>
          </a:p>
        </p:txBody>
      </p:sp>
      <p:sp>
        <p:nvSpPr>
          <p:cNvPr id="205" name="T205"/>
          <p:cNvSpPr/>
          <p:nvPr/>
        </p:nvSpPr>
        <p:spPr>
          <a:xfrm>
            <a:off x="640080" y="3760000"/>
            <a:ext cx="23634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유효 13명 중 6명 쇼업</a:t>
            </a:r>
            <a:endParaRPr lang="ko-KR" altLang="en-US" sz="900" dirty="0"/>
          </a:p>
        </p:txBody>
      </p:sp>
      <p:sp>
        <p:nvSpPr>
          <p:cNvPr id="206" name="S206"/>
          <p:cNvSpPr/>
          <p:nvPr/>
        </p:nvSpPr>
        <p:spPr>
          <a:xfrm>
            <a:off x="658080" y="4090380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T207"/>
          <p:cNvSpPr/>
          <p:nvPr/>
        </p:nvSpPr>
        <p:spPr>
          <a:xfrm>
            <a:off x="840080" y="4060000"/>
            <a:ext cx="130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김유정</a:t>
            </a:r>
            <a:endParaRPr lang="ko-KR" altLang="en-US" sz="850" dirty="0"/>
          </a:p>
        </p:txBody>
      </p:sp>
      <p:sp>
        <p:nvSpPr>
          <p:cNvPr id="208" name="T208"/>
          <p:cNvSpPr/>
          <p:nvPr/>
        </p:nvSpPr>
        <p:spPr>
          <a:xfrm>
            <a:off x="840080" y="4060000"/>
            <a:ext cx="202923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30대여</a:t>
            </a:r>
            <a:endParaRPr lang="ko-KR" altLang="en-US" sz="800" dirty="0"/>
          </a:p>
        </p:txBody>
      </p:sp>
      <p:sp>
        <p:nvSpPr>
          <p:cNvPr id="209" name="T209"/>
          <p:cNvSpPr/>
          <p:nvPr/>
        </p:nvSpPr>
        <p:spPr>
          <a:xfrm>
            <a:off x="1953550" y="4060000"/>
            <a:ext cx="52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800" dirty="0"/>
          </a:p>
        </p:txBody>
      </p:sp>
      <p:sp>
        <p:nvSpPr>
          <p:cNvPr id="210" name="S210"/>
          <p:cNvSpPr/>
          <p:nvPr/>
        </p:nvSpPr>
        <p:spPr>
          <a:xfrm>
            <a:off x="658080" y="4259159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1" name="T211"/>
          <p:cNvSpPr/>
          <p:nvPr/>
        </p:nvSpPr>
        <p:spPr>
          <a:xfrm>
            <a:off x="840080" y="4228779"/>
            <a:ext cx="130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박재완</a:t>
            </a:r>
            <a:endParaRPr lang="ko-KR" altLang="en-US" sz="850" dirty="0"/>
          </a:p>
        </p:txBody>
      </p:sp>
      <p:sp>
        <p:nvSpPr>
          <p:cNvPr id="212" name="T212"/>
          <p:cNvSpPr/>
          <p:nvPr/>
        </p:nvSpPr>
        <p:spPr>
          <a:xfrm>
            <a:off x="840080" y="4228779"/>
            <a:ext cx="202923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20대남</a:t>
            </a:r>
            <a:endParaRPr lang="ko-KR" altLang="en-US" sz="800" dirty="0"/>
          </a:p>
        </p:txBody>
      </p:sp>
      <p:sp>
        <p:nvSpPr>
          <p:cNvPr id="213" name="T213"/>
          <p:cNvSpPr/>
          <p:nvPr/>
        </p:nvSpPr>
        <p:spPr>
          <a:xfrm>
            <a:off x="1953550" y="4228779"/>
            <a:ext cx="52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ko-KR" altLang="en-US" sz="800" dirty="0"/>
          </a:p>
        </p:txBody>
      </p:sp>
      <p:sp>
        <p:nvSpPr>
          <p:cNvPr id="214" name="S214"/>
          <p:cNvSpPr/>
          <p:nvPr/>
        </p:nvSpPr>
        <p:spPr>
          <a:xfrm>
            <a:off x="658080" y="4427938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5" name="T215"/>
          <p:cNvSpPr/>
          <p:nvPr/>
        </p:nvSpPr>
        <p:spPr>
          <a:xfrm>
            <a:off x="840080" y="4397558"/>
            <a:ext cx="130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간승학</a:t>
            </a:r>
            <a:endParaRPr lang="ko-KR" altLang="en-US" sz="850" dirty="0"/>
          </a:p>
        </p:txBody>
      </p:sp>
      <p:sp>
        <p:nvSpPr>
          <p:cNvPr id="216" name="T216"/>
          <p:cNvSpPr/>
          <p:nvPr/>
        </p:nvSpPr>
        <p:spPr>
          <a:xfrm>
            <a:off x="840080" y="4397558"/>
            <a:ext cx="202923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26세남</a:t>
            </a:r>
            <a:endParaRPr lang="ko-KR" altLang="en-US" sz="800" dirty="0"/>
          </a:p>
        </p:txBody>
      </p:sp>
      <p:sp>
        <p:nvSpPr>
          <p:cNvPr id="217" name="T217"/>
          <p:cNvSpPr/>
          <p:nvPr/>
        </p:nvSpPr>
        <p:spPr>
          <a:xfrm>
            <a:off x="1953550" y="4397558"/>
            <a:ext cx="52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ko-KR" altLang="en-US" sz="800" dirty="0"/>
          </a:p>
        </p:txBody>
      </p:sp>
      <p:sp>
        <p:nvSpPr>
          <p:cNvPr id="218" name="S218"/>
          <p:cNvSpPr/>
          <p:nvPr/>
        </p:nvSpPr>
        <p:spPr>
          <a:xfrm>
            <a:off x="658080" y="4596717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T219"/>
          <p:cNvSpPr/>
          <p:nvPr/>
        </p:nvSpPr>
        <p:spPr>
          <a:xfrm>
            <a:off x="840080" y="4566337"/>
            <a:ext cx="130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이건희</a:t>
            </a:r>
            <a:endParaRPr lang="ko-KR" altLang="en-US" sz="850" dirty="0"/>
          </a:p>
        </p:txBody>
      </p:sp>
      <p:sp>
        <p:nvSpPr>
          <p:cNvPr id="220" name="T220"/>
          <p:cNvSpPr/>
          <p:nvPr/>
        </p:nvSpPr>
        <p:spPr>
          <a:xfrm>
            <a:off x="840080" y="4566337"/>
            <a:ext cx="202923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20대남</a:t>
            </a:r>
            <a:endParaRPr lang="ko-KR" altLang="en-US" sz="800" dirty="0"/>
          </a:p>
        </p:txBody>
      </p:sp>
      <p:sp>
        <p:nvSpPr>
          <p:cNvPr id="221" name="T221"/>
          <p:cNvSpPr/>
          <p:nvPr/>
        </p:nvSpPr>
        <p:spPr>
          <a:xfrm>
            <a:off x="1953550" y="4566337"/>
            <a:ext cx="52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800" dirty="0"/>
          </a:p>
        </p:txBody>
      </p:sp>
      <p:sp>
        <p:nvSpPr>
          <p:cNvPr id="222" name="S222"/>
          <p:cNvSpPr/>
          <p:nvPr/>
        </p:nvSpPr>
        <p:spPr>
          <a:xfrm>
            <a:off x="658080" y="4765496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T223"/>
          <p:cNvSpPr/>
          <p:nvPr/>
        </p:nvSpPr>
        <p:spPr>
          <a:xfrm>
            <a:off x="840080" y="4735116"/>
            <a:ext cx="130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임찬혁</a:t>
            </a:r>
            <a:endParaRPr lang="ko-KR" altLang="en-US" sz="850" dirty="0"/>
          </a:p>
        </p:txBody>
      </p:sp>
      <p:sp>
        <p:nvSpPr>
          <p:cNvPr id="224" name="T224"/>
          <p:cNvSpPr/>
          <p:nvPr/>
        </p:nvSpPr>
        <p:spPr>
          <a:xfrm>
            <a:off x="840080" y="4735116"/>
            <a:ext cx="202923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20대남</a:t>
            </a:r>
            <a:endParaRPr lang="ko-KR" altLang="en-US" sz="800" dirty="0"/>
          </a:p>
        </p:txBody>
      </p:sp>
      <p:sp>
        <p:nvSpPr>
          <p:cNvPr id="225" name="T225"/>
          <p:cNvSpPr/>
          <p:nvPr/>
        </p:nvSpPr>
        <p:spPr>
          <a:xfrm>
            <a:off x="1953550" y="4735116"/>
            <a:ext cx="52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800" dirty="0"/>
          </a:p>
        </p:txBody>
      </p:sp>
      <p:sp>
        <p:nvSpPr>
          <p:cNvPr id="226" name="S226"/>
          <p:cNvSpPr/>
          <p:nvPr/>
        </p:nvSpPr>
        <p:spPr>
          <a:xfrm>
            <a:off x="658080" y="4934275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T227"/>
          <p:cNvSpPr/>
          <p:nvPr/>
        </p:nvSpPr>
        <p:spPr>
          <a:xfrm>
            <a:off x="840080" y="4903895"/>
            <a:ext cx="130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김민덕</a:t>
            </a:r>
            <a:endParaRPr lang="ko-KR" altLang="en-US" sz="850" dirty="0"/>
          </a:p>
        </p:txBody>
      </p:sp>
      <p:sp>
        <p:nvSpPr>
          <p:cNvPr id="228" name="T228"/>
          <p:cNvSpPr/>
          <p:nvPr/>
        </p:nvSpPr>
        <p:spPr>
          <a:xfrm>
            <a:off x="840080" y="4903895"/>
            <a:ext cx="202923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20세남</a:t>
            </a:r>
            <a:endParaRPr lang="ko-KR" altLang="en-US" sz="800" dirty="0"/>
          </a:p>
        </p:txBody>
      </p:sp>
      <p:sp>
        <p:nvSpPr>
          <p:cNvPr id="229" name="T229"/>
          <p:cNvSpPr/>
          <p:nvPr/>
        </p:nvSpPr>
        <p:spPr>
          <a:xfrm>
            <a:off x="1953550" y="4903895"/>
            <a:ext cx="52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ko-KR" altLang="en-US" sz="800" dirty="0"/>
          </a:p>
        </p:txBody>
      </p:sp>
      <p:sp>
        <p:nvSpPr>
          <p:cNvPr id="230" name="S230"/>
          <p:cNvSpPr/>
          <p:nvPr/>
        </p:nvSpPr>
        <p:spPr>
          <a:xfrm>
            <a:off x="658080" y="5103054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1" name="T231"/>
          <p:cNvSpPr/>
          <p:nvPr/>
        </p:nvSpPr>
        <p:spPr>
          <a:xfrm>
            <a:off x="840080" y="5072674"/>
            <a:ext cx="130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이다희</a:t>
            </a:r>
            <a:endParaRPr lang="ko-KR" altLang="en-US" sz="850" dirty="0"/>
          </a:p>
        </p:txBody>
      </p:sp>
      <p:sp>
        <p:nvSpPr>
          <p:cNvPr id="232" name="T232"/>
          <p:cNvSpPr/>
          <p:nvPr/>
        </p:nvSpPr>
        <p:spPr>
          <a:xfrm>
            <a:off x="840080" y="5072674"/>
            <a:ext cx="202923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20대여</a:t>
            </a:r>
            <a:endParaRPr lang="ko-KR" altLang="en-US" sz="800" dirty="0"/>
          </a:p>
        </p:txBody>
      </p:sp>
      <p:sp>
        <p:nvSpPr>
          <p:cNvPr id="233" name="T233"/>
          <p:cNvSpPr/>
          <p:nvPr/>
        </p:nvSpPr>
        <p:spPr>
          <a:xfrm>
            <a:off x="1953550" y="5072674"/>
            <a:ext cx="52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ko-KR" altLang="en-US" sz="800" dirty="0"/>
          </a:p>
        </p:txBody>
      </p:sp>
      <p:sp>
        <p:nvSpPr>
          <p:cNvPr id="234" name="S234"/>
          <p:cNvSpPr/>
          <p:nvPr/>
        </p:nvSpPr>
        <p:spPr>
          <a:xfrm>
            <a:off x="658080" y="5271833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5" name="T235"/>
          <p:cNvSpPr/>
          <p:nvPr/>
        </p:nvSpPr>
        <p:spPr>
          <a:xfrm>
            <a:off x="840080" y="5241453"/>
            <a:ext cx="130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박해명</a:t>
            </a:r>
            <a:endParaRPr lang="ko-KR" altLang="en-US" sz="850" dirty="0"/>
          </a:p>
        </p:txBody>
      </p:sp>
      <p:sp>
        <p:nvSpPr>
          <p:cNvPr id="236" name="T236"/>
          <p:cNvSpPr/>
          <p:nvPr/>
        </p:nvSpPr>
        <p:spPr>
          <a:xfrm>
            <a:off x="840080" y="5241453"/>
            <a:ext cx="202923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30대남</a:t>
            </a:r>
            <a:endParaRPr lang="ko-KR" altLang="en-US" sz="800" dirty="0"/>
          </a:p>
        </p:txBody>
      </p:sp>
      <p:sp>
        <p:nvSpPr>
          <p:cNvPr id="237" name="T237"/>
          <p:cNvSpPr/>
          <p:nvPr/>
        </p:nvSpPr>
        <p:spPr>
          <a:xfrm>
            <a:off x="1953550" y="5241453"/>
            <a:ext cx="52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ko-KR" altLang="en-US" sz="800" dirty="0"/>
          </a:p>
        </p:txBody>
      </p:sp>
      <p:sp>
        <p:nvSpPr>
          <p:cNvPr id="238" name="S238"/>
          <p:cNvSpPr/>
          <p:nvPr/>
        </p:nvSpPr>
        <p:spPr>
          <a:xfrm>
            <a:off x="658080" y="5440612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9" name="T239"/>
          <p:cNvSpPr/>
          <p:nvPr/>
        </p:nvSpPr>
        <p:spPr>
          <a:xfrm>
            <a:off x="840080" y="5410232"/>
            <a:ext cx="130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이주연</a:t>
            </a:r>
            <a:endParaRPr lang="ko-KR" altLang="en-US" sz="850" dirty="0"/>
          </a:p>
        </p:txBody>
      </p:sp>
      <p:sp>
        <p:nvSpPr>
          <p:cNvPr id="240" name="T240"/>
          <p:cNvSpPr/>
          <p:nvPr/>
        </p:nvSpPr>
        <p:spPr>
          <a:xfrm>
            <a:off x="840080" y="5410232"/>
            <a:ext cx="202923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20대여</a:t>
            </a:r>
            <a:endParaRPr lang="ko-KR" altLang="en-US" sz="800" dirty="0"/>
          </a:p>
        </p:txBody>
      </p:sp>
      <p:sp>
        <p:nvSpPr>
          <p:cNvPr id="241" name="T241"/>
          <p:cNvSpPr/>
          <p:nvPr/>
        </p:nvSpPr>
        <p:spPr>
          <a:xfrm>
            <a:off x="1953550" y="5410232"/>
            <a:ext cx="52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800" dirty="0"/>
          </a:p>
        </p:txBody>
      </p:sp>
      <p:sp>
        <p:nvSpPr>
          <p:cNvPr id="242" name="S242"/>
          <p:cNvSpPr/>
          <p:nvPr/>
        </p:nvSpPr>
        <p:spPr>
          <a:xfrm>
            <a:off x="658080" y="5609391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3" name="T243"/>
          <p:cNvSpPr/>
          <p:nvPr/>
        </p:nvSpPr>
        <p:spPr>
          <a:xfrm>
            <a:off x="840080" y="5579011"/>
            <a:ext cx="130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이현승</a:t>
            </a:r>
            <a:endParaRPr lang="ko-KR" altLang="en-US" sz="850" dirty="0"/>
          </a:p>
        </p:txBody>
      </p:sp>
      <p:sp>
        <p:nvSpPr>
          <p:cNvPr id="244" name="T244"/>
          <p:cNvSpPr/>
          <p:nvPr/>
        </p:nvSpPr>
        <p:spPr>
          <a:xfrm>
            <a:off x="840080" y="5579011"/>
            <a:ext cx="202923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20대남</a:t>
            </a:r>
            <a:endParaRPr lang="ko-KR" altLang="en-US" sz="800" dirty="0"/>
          </a:p>
        </p:txBody>
      </p:sp>
      <p:sp>
        <p:nvSpPr>
          <p:cNvPr id="245" name="T245"/>
          <p:cNvSpPr/>
          <p:nvPr/>
        </p:nvSpPr>
        <p:spPr>
          <a:xfrm>
            <a:off x="1953550" y="5579011"/>
            <a:ext cx="52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ko-KR" altLang="en-US" sz="800" dirty="0"/>
          </a:p>
        </p:txBody>
      </p:sp>
      <p:sp>
        <p:nvSpPr>
          <p:cNvPr id="246" name="S246"/>
          <p:cNvSpPr/>
          <p:nvPr/>
        </p:nvSpPr>
        <p:spPr>
          <a:xfrm>
            <a:off x="658080" y="5778170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7" name="T247"/>
          <p:cNvSpPr/>
          <p:nvPr/>
        </p:nvSpPr>
        <p:spPr>
          <a:xfrm>
            <a:off x="840080" y="5747790"/>
            <a:ext cx="130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이종훈</a:t>
            </a:r>
            <a:endParaRPr lang="ko-KR" altLang="en-US" sz="850" dirty="0"/>
          </a:p>
        </p:txBody>
      </p:sp>
      <p:sp>
        <p:nvSpPr>
          <p:cNvPr id="248" name="T248"/>
          <p:cNvSpPr/>
          <p:nvPr/>
        </p:nvSpPr>
        <p:spPr>
          <a:xfrm>
            <a:off x="840080" y="5747790"/>
            <a:ext cx="202923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20대남</a:t>
            </a:r>
            <a:endParaRPr lang="ko-KR" altLang="en-US" sz="800" dirty="0"/>
          </a:p>
        </p:txBody>
      </p:sp>
      <p:sp>
        <p:nvSpPr>
          <p:cNvPr id="249" name="T249"/>
          <p:cNvSpPr/>
          <p:nvPr/>
        </p:nvSpPr>
        <p:spPr>
          <a:xfrm>
            <a:off x="1953550" y="5747790"/>
            <a:ext cx="52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800" dirty="0"/>
          </a:p>
        </p:txBody>
      </p:sp>
      <p:sp>
        <p:nvSpPr>
          <p:cNvPr id="250" name="S250"/>
          <p:cNvSpPr/>
          <p:nvPr/>
        </p:nvSpPr>
        <p:spPr>
          <a:xfrm>
            <a:off x="658080" y="5946949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1" name="T251"/>
          <p:cNvSpPr/>
          <p:nvPr/>
        </p:nvSpPr>
        <p:spPr>
          <a:xfrm>
            <a:off x="840080" y="5916569"/>
            <a:ext cx="130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박인호</a:t>
            </a:r>
            <a:endParaRPr lang="ko-KR" altLang="en-US" sz="850" dirty="0"/>
          </a:p>
        </p:txBody>
      </p:sp>
      <p:sp>
        <p:nvSpPr>
          <p:cNvPr id="252" name="T252"/>
          <p:cNvSpPr/>
          <p:nvPr/>
        </p:nvSpPr>
        <p:spPr>
          <a:xfrm>
            <a:off x="840080" y="5916569"/>
            <a:ext cx="202923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20대남</a:t>
            </a:r>
            <a:endParaRPr lang="ko-KR" altLang="en-US" sz="800" dirty="0"/>
          </a:p>
        </p:txBody>
      </p:sp>
      <p:sp>
        <p:nvSpPr>
          <p:cNvPr id="253" name="T253"/>
          <p:cNvSpPr/>
          <p:nvPr/>
        </p:nvSpPr>
        <p:spPr>
          <a:xfrm>
            <a:off x="1953550" y="5916569"/>
            <a:ext cx="52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800" dirty="0"/>
          </a:p>
        </p:txBody>
      </p:sp>
      <p:sp>
        <p:nvSpPr>
          <p:cNvPr id="254" name="S254"/>
          <p:cNvSpPr/>
          <p:nvPr/>
        </p:nvSpPr>
        <p:spPr>
          <a:xfrm>
            <a:off x="658080" y="6115728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5" name="T255"/>
          <p:cNvSpPr/>
          <p:nvPr/>
        </p:nvSpPr>
        <p:spPr>
          <a:xfrm>
            <a:off x="840080" y="6085348"/>
            <a:ext cx="130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이주연</a:t>
            </a:r>
            <a:endParaRPr lang="ko-KR" altLang="en-US" sz="850" dirty="0"/>
          </a:p>
        </p:txBody>
      </p:sp>
      <p:sp>
        <p:nvSpPr>
          <p:cNvPr id="256" name="T256"/>
          <p:cNvSpPr/>
          <p:nvPr/>
        </p:nvSpPr>
        <p:spPr>
          <a:xfrm>
            <a:off x="840080" y="6085348"/>
            <a:ext cx="202923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20대여</a:t>
            </a:r>
            <a:endParaRPr lang="ko-KR" altLang="en-US" sz="800" dirty="0"/>
          </a:p>
        </p:txBody>
      </p:sp>
      <p:sp>
        <p:nvSpPr>
          <p:cNvPr id="257" name="T257"/>
          <p:cNvSpPr/>
          <p:nvPr/>
        </p:nvSpPr>
        <p:spPr>
          <a:xfrm>
            <a:off x="1953550" y="6085348"/>
            <a:ext cx="520000" cy="168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8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800" dirty="0"/>
          </a:p>
        </p:txBody>
      </p:sp>
      <p:sp>
        <p:nvSpPr>
          <p:cNvPr id="258" name="S258"/>
          <p:cNvSpPr/>
          <p:nvPr/>
        </p:nvSpPr>
        <p:spPr>
          <a:xfrm>
            <a:off x="3306555" y="3374136"/>
            <a:ext cx="2729230" cy="3000000"/>
          </a:xfrm>
          <a:prstGeom prst="roundRect">
            <a:avLst>
              <a:gd name="adj" fmla="val 41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9" name="S259"/>
          <p:cNvSpPr/>
          <p:nvPr/>
        </p:nvSpPr>
        <p:spPr>
          <a:xfrm>
            <a:off x="3489435" y="3520440"/>
            <a:ext cx="620000" cy="256032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0" name="T260"/>
          <p:cNvSpPr/>
          <p:nvPr/>
        </p:nvSpPr>
        <p:spPr>
          <a:xfrm>
            <a:off x="3489435" y="3520440"/>
            <a:ext cx="62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3명 쇼업</a:t>
            </a:r>
            <a:endParaRPr lang="ko-KR" altLang="en-US" sz="1000" dirty="0"/>
          </a:p>
        </p:txBody>
      </p:sp>
      <p:sp>
        <p:nvSpPr>
          <p:cNvPr id="261" name="T261"/>
          <p:cNvSpPr/>
          <p:nvPr/>
        </p:nvSpPr>
        <p:spPr>
          <a:xfrm>
            <a:off x="4199435" y="3505000"/>
            <a:ext cx="1659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고윤경 LR</a:t>
            </a:r>
            <a:endParaRPr lang="ko-KR" altLang="en-US" sz="1250" dirty="0"/>
          </a:p>
        </p:txBody>
      </p:sp>
      <p:sp>
        <p:nvSpPr>
          <p:cNvPr id="262" name="T262"/>
          <p:cNvSpPr/>
          <p:nvPr/>
        </p:nvSpPr>
        <p:spPr>
          <a:xfrm>
            <a:off x="5152905" y="3490000"/>
            <a:ext cx="7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38%</a:t>
            </a:r>
            <a:endParaRPr lang="ko-KR" altLang="en-US" sz="1400" dirty="0"/>
          </a:p>
        </p:txBody>
      </p:sp>
      <p:sp>
        <p:nvSpPr>
          <p:cNvPr id="263" name="T263"/>
          <p:cNvSpPr/>
          <p:nvPr/>
        </p:nvSpPr>
        <p:spPr>
          <a:xfrm>
            <a:off x="3489435" y="3760000"/>
            <a:ext cx="23634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유효 8명 중 3명 쇼업 · 취소 1</a:t>
            </a:r>
            <a:endParaRPr lang="ko-KR" altLang="en-US" sz="900" dirty="0"/>
          </a:p>
        </p:txBody>
      </p:sp>
      <p:sp>
        <p:nvSpPr>
          <p:cNvPr id="264" name="S264"/>
          <p:cNvSpPr/>
          <p:nvPr/>
        </p:nvSpPr>
        <p:spPr>
          <a:xfrm>
            <a:off x="3507435" y="4103882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T265"/>
          <p:cNvSpPr/>
          <p:nvPr/>
        </p:nvSpPr>
        <p:spPr>
          <a:xfrm>
            <a:off x="3689435" y="4060000"/>
            <a:ext cx="130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방민교</a:t>
            </a:r>
            <a:endParaRPr lang="ko-KR" altLang="en-US" sz="950" dirty="0"/>
          </a:p>
        </p:txBody>
      </p:sp>
      <p:sp>
        <p:nvSpPr>
          <p:cNvPr id="266" name="T266"/>
          <p:cNvSpPr/>
          <p:nvPr/>
        </p:nvSpPr>
        <p:spPr>
          <a:xfrm>
            <a:off x="3689435" y="4060000"/>
            <a:ext cx="202923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22세여</a:t>
            </a:r>
            <a:endParaRPr lang="ko-KR" altLang="en-US" sz="900" dirty="0"/>
          </a:p>
        </p:txBody>
      </p:sp>
      <p:sp>
        <p:nvSpPr>
          <p:cNvPr id="267" name="T267"/>
          <p:cNvSpPr/>
          <p:nvPr/>
        </p:nvSpPr>
        <p:spPr>
          <a:xfrm>
            <a:off x="4802905" y="4060000"/>
            <a:ext cx="52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900" dirty="0"/>
          </a:p>
        </p:txBody>
      </p:sp>
      <p:sp>
        <p:nvSpPr>
          <p:cNvPr id="268" name="S268"/>
          <p:cNvSpPr/>
          <p:nvPr/>
        </p:nvSpPr>
        <p:spPr>
          <a:xfrm>
            <a:off x="3507435" y="4347674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9" name="T269"/>
          <p:cNvSpPr/>
          <p:nvPr/>
        </p:nvSpPr>
        <p:spPr>
          <a:xfrm>
            <a:off x="3689435" y="4303792"/>
            <a:ext cx="130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김소윤</a:t>
            </a:r>
            <a:endParaRPr lang="ko-KR" altLang="en-US" sz="950" dirty="0"/>
          </a:p>
        </p:txBody>
      </p:sp>
      <p:sp>
        <p:nvSpPr>
          <p:cNvPr id="270" name="T270"/>
          <p:cNvSpPr/>
          <p:nvPr/>
        </p:nvSpPr>
        <p:spPr>
          <a:xfrm>
            <a:off x="3689435" y="4303792"/>
            <a:ext cx="202923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23세여</a:t>
            </a:r>
            <a:endParaRPr lang="ko-KR" altLang="en-US" sz="900" dirty="0"/>
          </a:p>
        </p:txBody>
      </p:sp>
      <p:sp>
        <p:nvSpPr>
          <p:cNvPr id="271" name="T271"/>
          <p:cNvSpPr/>
          <p:nvPr/>
        </p:nvSpPr>
        <p:spPr>
          <a:xfrm>
            <a:off x="4802905" y="4303792"/>
            <a:ext cx="52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ko-KR" altLang="en-US" sz="900" dirty="0"/>
          </a:p>
        </p:txBody>
      </p:sp>
      <p:sp>
        <p:nvSpPr>
          <p:cNvPr id="272" name="S272"/>
          <p:cNvSpPr/>
          <p:nvPr/>
        </p:nvSpPr>
        <p:spPr>
          <a:xfrm>
            <a:off x="3507435" y="4591466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3" name="T273"/>
          <p:cNvSpPr/>
          <p:nvPr/>
        </p:nvSpPr>
        <p:spPr>
          <a:xfrm>
            <a:off x="3689435" y="4547584"/>
            <a:ext cx="130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김승준</a:t>
            </a:r>
            <a:endParaRPr lang="ko-KR" altLang="en-US" sz="950" dirty="0"/>
          </a:p>
        </p:txBody>
      </p:sp>
      <p:sp>
        <p:nvSpPr>
          <p:cNvPr id="274" name="T274"/>
          <p:cNvSpPr/>
          <p:nvPr/>
        </p:nvSpPr>
        <p:spPr>
          <a:xfrm>
            <a:off x="3689435" y="4547584"/>
            <a:ext cx="202923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24세남</a:t>
            </a:r>
            <a:endParaRPr lang="ko-KR" altLang="en-US" sz="900" dirty="0"/>
          </a:p>
        </p:txBody>
      </p:sp>
      <p:sp>
        <p:nvSpPr>
          <p:cNvPr id="275" name="T275"/>
          <p:cNvSpPr/>
          <p:nvPr/>
        </p:nvSpPr>
        <p:spPr>
          <a:xfrm>
            <a:off x="4802905" y="4547584"/>
            <a:ext cx="52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900" dirty="0"/>
          </a:p>
        </p:txBody>
      </p:sp>
      <p:sp>
        <p:nvSpPr>
          <p:cNvPr id="276" name="S276"/>
          <p:cNvSpPr/>
          <p:nvPr/>
        </p:nvSpPr>
        <p:spPr>
          <a:xfrm>
            <a:off x="3507435" y="4835258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7" name="T277"/>
          <p:cNvSpPr/>
          <p:nvPr/>
        </p:nvSpPr>
        <p:spPr>
          <a:xfrm>
            <a:off x="3689435" y="4791376"/>
            <a:ext cx="130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조윤채</a:t>
            </a:r>
            <a:endParaRPr lang="ko-KR" altLang="en-US" sz="950" dirty="0"/>
          </a:p>
        </p:txBody>
      </p:sp>
      <p:sp>
        <p:nvSpPr>
          <p:cNvPr id="278" name="T278"/>
          <p:cNvSpPr/>
          <p:nvPr/>
        </p:nvSpPr>
        <p:spPr>
          <a:xfrm>
            <a:off x="3689435" y="4791376"/>
            <a:ext cx="202923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20세여</a:t>
            </a:r>
            <a:endParaRPr lang="ko-KR" altLang="en-US" sz="900" dirty="0"/>
          </a:p>
        </p:txBody>
      </p:sp>
      <p:sp>
        <p:nvSpPr>
          <p:cNvPr id="279" name="T279"/>
          <p:cNvSpPr/>
          <p:nvPr/>
        </p:nvSpPr>
        <p:spPr>
          <a:xfrm>
            <a:off x="4802905" y="4791376"/>
            <a:ext cx="52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900" dirty="0"/>
          </a:p>
        </p:txBody>
      </p:sp>
      <p:sp>
        <p:nvSpPr>
          <p:cNvPr id="280" name="S280"/>
          <p:cNvSpPr/>
          <p:nvPr/>
        </p:nvSpPr>
        <p:spPr>
          <a:xfrm>
            <a:off x="3507435" y="5079050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1" name="T281"/>
          <p:cNvSpPr/>
          <p:nvPr/>
        </p:nvSpPr>
        <p:spPr>
          <a:xfrm>
            <a:off x="3689435" y="5035168"/>
            <a:ext cx="130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이민혁</a:t>
            </a:r>
            <a:endParaRPr lang="ko-KR" altLang="en-US" sz="950" dirty="0"/>
          </a:p>
        </p:txBody>
      </p:sp>
      <p:sp>
        <p:nvSpPr>
          <p:cNvPr id="282" name="T282"/>
          <p:cNvSpPr/>
          <p:nvPr/>
        </p:nvSpPr>
        <p:spPr>
          <a:xfrm>
            <a:off x="3689435" y="5035168"/>
            <a:ext cx="202923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24세남</a:t>
            </a:r>
            <a:endParaRPr lang="ko-KR" altLang="en-US" sz="900" dirty="0"/>
          </a:p>
        </p:txBody>
      </p:sp>
      <p:sp>
        <p:nvSpPr>
          <p:cNvPr id="283" name="T283"/>
          <p:cNvSpPr/>
          <p:nvPr/>
        </p:nvSpPr>
        <p:spPr>
          <a:xfrm>
            <a:off x="4802905" y="5035168"/>
            <a:ext cx="52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900" dirty="0"/>
          </a:p>
        </p:txBody>
      </p:sp>
      <p:sp>
        <p:nvSpPr>
          <p:cNvPr id="284" name="S284"/>
          <p:cNvSpPr/>
          <p:nvPr/>
        </p:nvSpPr>
        <p:spPr>
          <a:xfrm>
            <a:off x="3507435" y="5322842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5" name="T285"/>
          <p:cNvSpPr/>
          <p:nvPr/>
        </p:nvSpPr>
        <p:spPr>
          <a:xfrm>
            <a:off x="3689435" y="5278960"/>
            <a:ext cx="130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박명화</a:t>
            </a:r>
            <a:endParaRPr lang="ko-KR" altLang="en-US" sz="950" dirty="0"/>
          </a:p>
        </p:txBody>
      </p:sp>
      <p:sp>
        <p:nvSpPr>
          <p:cNvPr id="286" name="T286"/>
          <p:cNvSpPr/>
          <p:nvPr/>
        </p:nvSpPr>
        <p:spPr>
          <a:xfrm>
            <a:off x="3689435" y="5278960"/>
            <a:ext cx="202923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25세여</a:t>
            </a:r>
            <a:endParaRPr lang="ko-KR" altLang="en-US" sz="900" dirty="0"/>
          </a:p>
        </p:txBody>
      </p:sp>
      <p:sp>
        <p:nvSpPr>
          <p:cNvPr id="287" name="T287"/>
          <p:cNvSpPr/>
          <p:nvPr/>
        </p:nvSpPr>
        <p:spPr>
          <a:xfrm>
            <a:off x="4802905" y="5278960"/>
            <a:ext cx="52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ko-KR" altLang="en-US" sz="900" dirty="0"/>
          </a:p>
        </p:txBody>
      </p:sp>
      <p:sp>
        <p:nvSpPr>
          <p:cNvPr id="288" name="S288"/>
          <p:cNvSpPr/>
          <p:nvPr/>
        </p:nvSpPr>
        <p:spPr>
          <a:xfrm>
            <a:off x="3507435" y="5566634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9" name="T289"/>
          <p:cNvSpPr/>
          <p:nvPr/>
        </p:nvSpPr>
        <p:spPr>
          <a:xfrm>
            <a:off x="3689435" y="5522752"/>
            <a:ext cx="130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김수민</a:t>
            </a:r>
            <a:endParaRPr lang="ko-KR" altLang="en-US" sz="950" dirty="0"/>
          </a:p>
        </p:txBody>
      </p:sp>
      <p:sp>
        <p:nvSpPr>
          <p:cNvPr id="290" name="T290"/>
          <p:cNvSpPr/>
          <p:nvPr/>
        </p:nvSpPr>
        <p:spPr>
          <a:xfrm>
            <a:off x="3689435" y="5522752"/>
            <a:ext cx="202923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28세여</a:t>
            </a:r>
            <a:endParaRPr lang="ko-KR" altLang="en-US" sz="900" dirty="0"/>
          </a:p>
        </p:txBody>
      </p:sp>
      <p:sp>
        <p:nvSpPr>
          <p:cNvPr id="291" name="T291"/>
          <p:cNvSpPr/>
          <p:nvPr/>
        </p:nvSpPr>
        <p:spPr>
          <a:xfrm>
            <a:off x="4802905" y="5522752"/>
            <a:ext cx="52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900" dirty="0"/>
          </a:p>
        </p:txBody>
      </p:sp>
      <p:sp>
        <p:nvSpPr>
          <p:cNvPr id="292" name="S292"/>
          <p:cNvSpPr/>
          <p:nvPr/>
        </p:nvSpPr>
        <p:spPr>
          <a:xfrm>
            <a:off x="3507435" y="5810426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3" name="T293"/>
          <p:cNvSpPr/>
          <p:nvPr/>
        </p:nvSpPr>
        <p:spPr>
          <a:xfrm>
            <a:off x="3689435" y="5766544"/>
            <a:ext cx="130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하경완</a:t>
            </a:r>
            <a:endParaRPr lang="ko-KR" altLang="en-US" sz="950" dirty="0"/>
          </a:p>
        </p:txBody>
      </p:sp>
      <p:sp>
        <p:nvSpPr>
          <p:cNvPr id="294" name="T294"/>
          <p:cNvSpPr/>
          <p:nvPr/>
        </p:nvSpPr>
        <p:spPr>
          <a:xfrm>
            <a:off x="3689435" y="5766544"/>
            <a:ext cx="202923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23세남</a:t>
            </a:r>
            <a:endParaRPr lang="ko-KR" altLang="en-US" sz="900" dirty="0"/>
          </a:p>
        </p:txBody>
      </p:sp>
      <p:sp>
        <p:nvSpPr>
          <p:cNvPr id="295" name="T295"/>
          <p:cNvSpPr/>
          <p:nvPr/>
        </p:nvSpPr>
        <p:spPr>
          <a:xfrm>
            <a:off x="4802905" y="5766544"/>
            <a:ext cx="52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쇼업</a:t>
            </a:r>
            <a:endParaRPr lang="ko-KR" altLang="en-US" sz="900" dirty="0"/>
          </a:p>
        </p:txBody>
      </p:sp>
      <p:sp>
        <p:nvSpPr>
          <p:cNvPr id="296" name="S296"/>
          <p:cNvSpPr/>
          <p:nvPr/>
        </p:nvSpPr>
        <p:spPr>
          <a:xfrm>
            <a:off x="3507435" y="6054218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7" name="T297"/>
          <p:cNvSpPr/>
          <p:nvPr/>
        </p:nvSpPr>
        <p:spPr>
          <a:xfrm>
            <a:off x="3689435" y="6010336"/>
            <a:ext cx="130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도한솔</a:t>
            </a:r>
            <a:endParaRPr lang="ko-KR" altLang="en-US" sz="950" dirty="0"/>
          </a:p>
        </p:txBody>
      </p:sp>
      <p:sp>
        <p:nvSpPr>
          <p:cNvPr id="298" name="T298"/>
          <p:cNvSpPr/>
          <p:nvPr/>
        </p:nvSpPr>
        <p:spPr>
          <a:xfrm>
            <a:off x="3689435" y="6010336"/>
            <a:ext cx="202923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32세여</a:t>
            </a:r>
            <a:endParaRPr lang="ko-KR" altLang="en-US" sz="900" dirty="0"/>
          </a:p>
        </p:txBody>
      </p:sp>
      <p:sp>
        <p:nvSpPr>
          <p:cNvPr id="299" name="T299"/>
          <p:cNvSpPr/>
          <p:nvPr/>
        </p:nvSpPr>
        <p:spPr>
          <a:xfrm>
            <a:off x="4802905" y="6010336"/>
            <a:ext cx="520000" cy="24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취소</a:t>
            </a:r>
            <a:endParaRPr lang="ko-KR" altLang="en-US" sz="900" dirty="0"/>
          </a:p>
        </p:txBody>
      </p:sp>
      <p:sp>
        <p:nvSpPr>
          <p:cNvPr id="300" name="S300"/>
          <p:cNvSpPr/>
          <p:nvPr/>
        </p:nvSpPr>
        <p:spPr>
          <a:xfrm>
            <a:off x="6155910" y="3374136"/>
            <a:ext cx="2729230" cy="3000000"/>
          </a:xfrm>
          <a:prstGeom prst="roundRect">
            <a:avLst>
              <a:gd name="adj" fmla="val 41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1" name="S301"/>
          <p:cNvSpPr/>
          <p:nvPr/>
        </p:nvSpPr>
        <p:spPr>
          <a:xfrm>
            <a:off x="6338790" y="3520440"/>
            <a:ext cx="620000" cy="256032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2" name="T302"/>
          <p:cNvSpPr/>
          <p:nvPr/>
        </p:nvSpPr>
        <p:spPr>
          <a:xfrm>
            <a:off x="6338790" y="3520440"/>
            <a:ext cx="62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0명 쇼업</a:t>
            </a:r>
            <a:endParaRPr lang="ko-KR" altLang="en-US" sz="1000" dirty="0"/>
          </a:p>
        </p:txBody>
      </p:sp>
      <p:sp>
        <p:nvSpPr>
          <p:cNvPr id="303" name="T303"/>
          <p:cNvSpPr/>
          <p:nvPr/>
        </p:nvSpPr>
        <p:spPr>
          <a:xfrm>
            <a:off x="7048790" y="3505000"/>
            <a:ext cx="1659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윤채영 TL</a:t>
            </a:r>
            <a:endParaRPr lang="ko-KR" altLang="en-US" sz="1250" dirty="0"/>
          </a:p>
        </p:txBody>
      </p:sp>
      <p:sp>
        <p:nvSpPr>
          <p:cNvPr id="304" name="T304"/>
          <p:cNvSpPr/>
          <p:nvPr/>
        </p:nvSpPr>
        <p:spPr>
          <a:xfrm>
            <a:off x="8002260" y="3490000"/>
            <a:ext cx="7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</a:t>
            </a:r>
            <a:endParaRPr lang="ko-KR" altLang="en-US" sz="1400" dirty="0"/>
          </a:p>
        </p:txBody>
      </p:sp>
      <p:sp>
        <p:nvSpPr>
          <p:cNvPr id="305" name="T305"/>
          <p:cNvSpPr/>
          <p:nvPr/>
        </p:nvSpPr>
        <p:spPr>
          <a:xfrm>
            <a:off x="6338790" y="3760000"/>
            <a:ext cx="23634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유효 1명 중 0명 쇼업</a:t>
            </a:r>
            <a:endParaRPr lang="ko-KR" altLang="en-US" sz="900" dirty="0"/>
          </a:p>
        </p:txBody>
      </p:sp>
      <p:sp>
        <p:nvSpPr>
          <p:cNvPr id="306" name="S306"/>
          <p:cNvSpPr/>
          <p:nvPr/>
        </p:nvSpPr>
        <p:spPr>
          <a:xfrm>
            <a:off x="6356790" y="4115800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7" name="T307"/>
          <p:cNvSpPr/>
          <p:nvPr/>
        </p:nvSpPr>
        <p:spPr>
          <a:xfrm>
            <a:off x="6538790" y="4060000"/>
            <a:ext cx="130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박채은</a:t>
            </a:r>
            <a:endParaRPr lang="ko-KR" altLang="en-US" sz="1050" dirty="0"/>
          </a:p>
        </p:txBody>
      </p:sp>
      <p:sp>
        <p:nvSpPr>
          <p:cNvPr id="308" name="T308"/>
          <p:cNvSpPr/>
          <p:nvPr/>
        </p:nvSpPr>
        <p:spPr>
          <a:xfrm>
            <a:off x="6538790" y="4060000"/>
            <a:ext cx="202923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22세여</a:t>
            </a:r>
            <a:endParaRPr lang="ko-KR" altLang="en-US" sz="1000" dirty="0"/>
          </a:p>
        </p:txBody>
      </p:sp>
      <p:sp>
        <p:nvSpPr>
          <p:cNvPr id="309" name="T309"/>
          <p:cNvSpPr/>
          <p:nvPr/>
        </p:nvSpPr>
        <p:spPr>
          <a:xfrm>
            <a:off x="7652260" y="4060000"/>
            <a:ext cx="52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1000" dirty="0"/>
          </a:p>
        </p:txBody>
      </p:sp>
      <p:sp>
        <p:nvSpPr>
          <p:cNvPr id="310" name="S310"/>
          <p:cNvSpPr/>
          <p:nvPr/>
        </p:nvSpPr>
        <p:spPr>
          <a:xfrm>
            <a:off x="9005265" y="3374136"/>
            <a:ext cx="2729230" cy="3000000"/>
          </a:xfrm>
          <a:prstGeom prst="roundRect">
            <a:avLst>
              <a:gd name="adj" fmla="val 41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1" name="S311"/>
          <p:cNvSpPr/>
          <p:nvPr/>
        </p:nvSpPr>
        <p:spPr>
          <a:xfrm>
            <a:off x="9188145" y="3520440"/>
            <a:ext cx="620000" cy="256032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2" name="T312"/>
          <p:cNvSpPr/>
          <p:nvPr/>
        </p:nvSpPr>
        <p:spPr>
          <a:xfrm>
            <a:off x="9188145" y="3520440"/>
            <a:ext cx="62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0명 쇼업</a:t>
            </a:r>
            <a:endParaRPr lang="ko-KR" altLang="en-US" sz="1000" dirty="0"/>
          </a:p>
        </p:txBody>
      </p:sp>
      <p:sp>
        <p:nvSpPr>
          <p:cNvPr id="313" name="T313"/>
          <p:cNvSpPr/>
          <p:nvPr/>
        </p:nvSpPr>
        <p:spPr>
          <a:xfrm>
            <a:off x="9898145" y="3505000"/>
            <a:ext cx="1659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손예진 LR</a:t>
            </a:r>
            <a:endParaRPr lang="ko-KR" altLang="en-US" sz="1250" dirty="0"/>
          </a:p>
        </p:txBody>
      </p:sp>
      <p:sp>
        <p:nvSpPr>
          <p:cNvPr id="314" name="T314"/>
          <p:cNvSpPr/>
          <p:nvPr/>
        </p:nvSpPr>
        <p:spPr>
          <a:xfrm>
            <a:off x="10851615" y="3490000"/>
            <a:ext cx="7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</a:t>
            </a:r>
            <a:endParaRPr lang="ko-KR" altLang="en-US" sz="1400" dirty="0"/>
          </a:p>
        </p:txBody>
      </p:sp>
      <p:sp>
        <p:nvSpPr>
          <p:cNvPr id="315" name="T315"/>
          <p:cNvSpPr/>
          <p:nvPr/>
        </p:nvSpPr>
        <p:spPr>
          <a:xfrm>
            <a:off x="9188145" y="3760000"/>
            <a:ext cx="23634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유효 3명 중 0명 쇼업</a:t>
            </a:r>
            <a:endParaRPr lang="ko-KR" altLang="en-US" sz="900" dirty="0"/>
          </a:p>
        </p:txBody>
      </p:sp>
      <p:sp>
        <p:nvSpPr>
          <p:cNvPr id="316" name="S316"/>
          <p:cNvSpPr/>
          <p:nvPr/>
        </p:nvSpPr>
        <p:spPr>
          <a:xfrm>
            <a:off x="9206145" y="4115800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7" name="T317"/>
          <p:cNvSpPr/>
          <p:nvPr/>
        </p:nvSpPr>
        <p:spPr>
          <a:xfrm>
            <a:off x="9388145" y="4060000"/>
            <a:ext cx="130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박시원</a:t>
            </a:r>
            <a:endParaRPr lang="ko-KR" altLang="en-US" sz="1050" dirty="0"/>
          </a:p>
        </p:txBody>
      </p:sp>
      <p:sp>
        <p:nvSpPr>
          <p:cNvPr id="318" name="T318"/>
          <p:cNvSpPr/>
          <p:nvPr/>
        </p:nvSpPr>
        <p:spPr>
          <a:xfrm>
            <a:off x="9388145" y="4060000"/>
            <a:ext cx="202923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28세여</a:t>
            </a:r>
            <a:endParaRPr lang="ko-KR" altLang="en-US" sz="1000" dirty="0"/>
          </a:p>
        </p:txBody>
      </p:sp>
      <p:sp>
        <p:nvSpPr>
          <p:cNvPr id="319" name="T319"/>
          <p:cNvSpPr/>
          <p:nvPr/>
        </p:nvSpPr>
        <p:spPr>
          <a:xfrm>
            <a:off x="10501615" y="4060000"/>
            <a:ext cx="52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1000" dirty="0"/>
          </a:p>
        </p:txBody>
      </p:sp>
      <p:sp>
        <p:nvSpPr>
          <p:cNvPr id="320" name="S320"/>
          <p:cNvSpPr/>
          <p:nvPr/>
        </p:nvSpPr>
        <p:spPr>
          <a:xfrm>
            <a:off x="9206145" y="4425800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1" name="T321"/>
          <p:cNvSpPr/>
          <p:nvPr/>
        </p:nvSpPr>
        <p:spPr>
          <a:xfrm>
            <a:off x="9388145" y="4370000"/>
            <a:ext cx="130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안준섭</a:t>
            </a:r>
            <a:endParaRPr lang="ko-KR" altLang="en-US" sz="1050" dirty="0"/>
          </a:p>
        </p:txBody>
      </p:sp>
      <p:sp>
        <p:nvSpPr>
          <p:cNvPr id="322" name="T322"/>
          <p:cNvSpPr/>
          <p:nvPr/>
        </p:nvSpPr>
        <p:spPr>
          <a:xfrm>
            <a:off x="9388145" y="4370000"/>
            <a:ext cx="202923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30세남</a:t>
            </a:r>
            <a:endParaRPr lang="ko-KR" altLang="en-US" sz="1000" dirty="0"/>
          </a:p>
        </p:txBody>
      </p:sp>
      <p:sp>
        <p:nvSpPr>
          <p:cNvPr id="323" name="T323"/>
          <p:cNvSpPr/>
          <p:nvPr/>
        </p:nvSpPr>
        <p:spPr>
          <a:xfrm>
            <a:off x="10501615" y="4370000"/>
            <a:ext cx="52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1000" dirty="0"/>
          </a:p>
        </p:txBody>
      </p:sp>
      <p:sp>
        <p:nvSpPr>
          <p:cNvPr id="324" name="S324"/>
          <p:cNvSpPr/>
          <p:nvPr/>
        </p:nvSpPr>
        <p:spPr>
          <a:xfrm>
            <a:off x="9206145" y="4735800"/>
            <a:ext cx="110000" cy="110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5" name="T325"/>
          <p:cNvSpPr/>
          <p:nvPr/>
        </p:nvSpPr>
        <p:spPr>
          <a:xfrm>
            <a:off x="9388145" y="4680000"/>
            <a:ext cx="130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김남준</a:t>
            </a:r>
            <a:endParaRPr lang="ko-KR" altLang="en-US" sz="1050" dirty="0"/>
          </a:p>
        </p:txBody>
      </p:sp>
      <p:sp>
        <p:nvSpPr>
          <p:cNvPr id="326" name="T326"/>
          <p:cNvSpPr/>
          <p:nvPr/>
        </p:nvSpPr>
        <p:spPr>
          <a:xfrm>
            <a:off x="9388145" y="4680000"/>
            <a:ext cx="202923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33세남</a:t>
            </a:r>
            <a:endParaRPr lang="ko-KR" altLang="en-US" sz="1000" dirty="0"/>
          </a:p>
        </p:txBody>
      </p:sp>
      <p:sp>
        <p:nvSpPr>
          <p:cNvPr id="327" name="T327"/>
          <p:cNvSpPr/>
          <p:nvPr/>
        </p:nvSpPr>
        <p:spPr>
          <a:xfrm>
            <a:off x="10501615" y="4680000"/>
            <a:ext cx="52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00" b="1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챌린지 &amp; 액션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Challenge &amp; Solution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이달의 핵심 도전과 해결책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11277295" cy="1240536"/>
          </a:xfrm>
          <a:prstGeom prst="roundRect">
            <a:avLst>
              <a:gd name="adj" fmla="val 9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40080" y="2414016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40080" y="24140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MANAGE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9120" y="235000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366760" y="235000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40080" y="27340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29352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리젝률 상승</a:t>
            </a:r>
          </a:p>
        </p:txBody>
      </p:sp>
      <p:sp>
        <p:nvSpPr>
          <p:cNvPr id="14" name="Text 11"/>
          <p:cNvSpPr/>
          <p:nvPr/>
        </p:nvSpPr>
        <p:spPr>
          <a:xfrm>
            <a:off x="640080" y="3282696"/>
            <a:ext cx="35661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클로징 멘트 점검 · 사인 직전 더블체크 필요</a:t>
            </a:r>
          </a:p>
        </p:txBody>
      </p:sp>
      <p:sp>
        <p:nvSpPr>
          <p:cNvPr id="15" name="Text 12"/>
          <p:cNvSpPr/>
          <p:nvPr/>
        </p:nvSpPr>
        <p:spPr>
          <a:xfrm>
            <a:off x="4572000" y="27340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0" y="2935224"/>
            <a:ext cx="365760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사인창 서명 직전 이름·예금주 본인 확인, 후원금액·정기 여부 한 번 더 더블체크</a:t>
            </a:r>
          </a:p>
        </p:txBody>
      </p:sp>
      <p:sp>
        <p:nvSpPr>
          <p:cNvPr id="17" name="Text 14"/>
          <p:cNvSpPr/>
          <p:nvPr/>
        </p:nvSpPr>
        <p:spPr>
          <a:xfrm>
            <a:off x="8549640" y="2734056"/>
            <a:ext cx="32305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549640" y="2935224"/>
            <a:ext cx="3230575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단계에서 이탈 인원 발생 → 리젝 사전 차단 효과 확인 (리젝 데이터로 추후 검증)</a:t>
            </a:r>
          </a:p>
        </p:txBody>
      </p:sp>
      <p:sp>
        <p:nvSpPr>
          <p:cNvPr id="19" name="Shape 16"/>
          <p:cNvSpPr/>
          <p:nvPr/>
        </p:nvSpPr>
        <p:spPr>
          <a:xfrm>
            <a:off x="457200" y="3617976"/>
            <a:ext cx="11277295" cy="1240536"/>
          </a:xfrm>
          <a:prstGeom prst="roundRect">
            <a:avLst>
              <a:gd name="adj" fmla="val 9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640080" y="3755136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40080" y="37551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RECRUIT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389120" y="369112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8366760" y="369112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40080" y="40751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CHALLENGE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0080" y="42763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당근 PR 정지</a:t>
            </a:r>
          </a:p>
        </p:txBody>
      </p:sp>
      <p:sp>
        <p:nvSpPr>
          <p:cNvPr id="26" name="Text 23"/>
          <p:cNvSpPr/>
          <p:nvPr/>
        </p:nvSpPr>
        <p:spPr>
          <a:xfrm>
            <a:off x="640080" y="4623816"/>
            <a:ext cx="35661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채널 제재로 부킹 넘버 down</a:t>
            </a:r>
          </a:p>
        </p:txBody>
      </p:sp>
      <p:sp>
        <p:nvSpPr>
          <p:cNvPr id="27" name="Text 24"/>
          <p:cNvSpPr/>
          <p:nvPr/>
        </p:nvSpPr>
        <p:spPr>
          <a:xfrm>
            <a:off x="4572000" y="40751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72000" y="4276344"/>
            <a:ext cx="365760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당근 제재 소명 접수 · 정지 해제 대기 후 재시도하며 공고 재개</a:t>
            </a:r>
          </a:p>
        </p:txBody>
      </p:sp>
      <p:sp>
        <p:nvSpPr>
          <p:cNvPr id="29" name="Text 26"/>
          <p:cNvSpPr/>
          <p:nvPr/>
        </p:nvSpPr>
        <p:spPr>
          <a:xfrm>
            <a:off x="8549640" y="4075176"/>
            <a:ext cx="32305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549640" y="4276344"/>
            <a:ext cx="3230575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정지 해제 인원부터 순차 복귀 · PR 넘버 회복 진행 중</a:t>
            </a:r>
          </a:p>
        </p:txBody>
      </p:sp>
      <p:sp>
        <p:nvSpPr>
          <p:cNvPr id="31" name="Shape 28"/>
          <p:cNvSpPr/>
          <p:nvPr/>
        </p:nvSpPr>
        <p:spPr>
          <a:xfrm>
            <a:off x="457200" y="4959096"/>
            <a:ext cx="11277295" cy="1240536"/>
          </a:xfrm>
          <a:prstGeom prst="roundRect">
            <a:avLst>
              <a:gd name="adj" fmla="val 95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640080" y="5096256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40080" y="5096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GROWTH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389120" y="503224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8366760" y="5032248"/>
            <a:ext cx="0" cy="1103376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640080" y="54162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40080" y="56174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더위 시작 · 컨디션 관리</a:t>
            </a:r>
          </a:p>
        </p:txBody>
      </p:sp>
      <p:sp>
        <p:nvSpPr>
          <p:cNvPr id="38" name="Text 35"/>
          <p:cNvSpPr/>
          <p:nvPr/>
        </p:nvSpPr>
        <p:spPr>
          <a:xfrm>
            <a:off x="640080" y="5964936"/>
            <a:ext cx="35661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기온 상승으로 더위에 약한 인원 등장</a:t>
            </a:r>
          </a:p>
        </p:txBody>
      </p:sp>
      <p:sp>
        <p:nvSpPr>
          <p:cNvPr id="39" name="Text 36"/>
          <p:cNvSpPr/>
          <p:nvPr/>
        </p:nvSpPr>
        <p:spPr>
          <a:xfrm>
            <a:off x="4572000" y="54162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0" y="5617464"/>
            <a:ext cx="365760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그늘 사이트 추천 · 기존 사이트 내 셋업 포인트를 그늘로 이동</a:t>
            </a:r>
          </a:p>
        </p:txBody>
      </p:sp>
      <p:sp>
        <p:nvSpPr>
          <p:cNvPr id="41" name="Text 38"/>
          <p:cNvSpPr/>
          <p:nvPr/>
        </p:nvSpPr>
        <p:spPr>
          <a:xfrm>
            <a:off x="8549640" y="5416296"/>
            <a:ext cx="32305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549640" y="5617464"/>
            <a:ext cx="3230575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더위 부담 완화 · 필드 지속성 및 컨디션 유지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챌린지 &amp; 액션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 &amp; How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이달의 핵심 성과 및 실행전략 (1/2)</a:t>
            </a:r>
          </a:p>
        </p:txBody>
      </p:sp>
      <p:sp>
        <p:nvSpPr>
          <p:cNvPr id="400" name="C400"/>
          <p:cNvSpPr/>
          <p:nvPr/>
        </p:nvSpPr>
        <p:spPr>
          <a:xfrm>
            <a:off x="457200" y="2620000"/>
            <a:ext cx="2639400" cy="3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401" name="B401"/>
          <p:cNvSpPr/>
          <p:nvPr/>
        </p:nvSpPr>
        <p:spPr>
          <a:xfrm>
            <a:off x="657200" y="2820000"/>
            <a:ext cx="440000" cy="300000"/>
          </a:xfrm>
          <a:prstGeom prst="roundRect">
            <a:avLst>
              <a:gd name="adj" fmla="val 28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02" name="T402"/>
          <p:cNvSpPr/>
          <p:nvPr/>
        </p:nvSpPr>
        <p:spPr>
          <a:xfrm>
            <a:off x="657200" y="3240000"/>
            <a:ext cx="22394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FLM 트레이닝 미팅 데뷔</a:t>
            </a:r>
          </a:p>
        </p:txBody>
      </p:sp>
      <p:sp>
        <p:nvSpPr>
          <p:cNvPr id="403" name="T403"/>
          <p:cNvSpPr/>
          <p:nvPr/>
        </p:nvSpPr>
        <p:spPr>
          <a:xfrm>
            <a:off x="657200" y="394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WIN</a:t>
            </a:r>
          </a:p>
        </p:txBody>
      </p:sp>
      <p:sp>
        <p:nvSpPr>
          <p:cNvPr id="404" name="T404"/>
          <p:cNvSpPr/>
          <p:nvPr/>
        </p:nvSpPr>
        <p:spPr>
          <a:xfrm>
            <a:off x="657200" y="418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주위 동료들에게 카톡으로 좋았던 이유를 상세히 공유</a:t>
            </a:r>
          </a:p>
        </p:txBody>
      </p:sp>
      <p:sp>
        <p:nvSpPr>
          <p:cNvPr id="405" name="T405"/>
          <p:cNvSpPr/>
          <p:nvPr/>
        </p:nvSpPr>
        <p:spPr>
          <a:xfrm>
            <a:off x="657200" y="478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406" name="T406"/>
          <p:cNvSpPr/>
          <p:nvPr/>
        </p:nvSpPr>
        <p:spPr>
          <a:xfrm>
            <a:off x="657200" y="502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다양한 예시와 실제 적용 가능성으로 좋은 피드백 확보</a:t>
            </a:r>
          </a:p>
        </p:txBody>
      </p:sp>
      <p:sp>
        <p:nvSpPr>
          <p:cNvPr id="407" name="C407"/>
          <p:cNvSpPr/>
          <p:nvPr/>
        </p:nvSpPr>
        <p:spPr>
          <a:xfrm>
            <a:off x="3336600" y="2620000"/>
            <a:ext cx="2639400" cy="3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408" name="B408"/>
          <p:cNvSpPr/>
          <p:nvPr/>
        </p:nvSpPr>
        <p:spPr>
          <a:xfrm>
            <a:off x="3536600" y="2820000"/>
            <a:ext cx="440000" cy="300000"/>
          </a:xfrm>
          <a:prstGeom prst="roundRect">
            <a:avLst>
              <a:gd name="adj" fmla="val 28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09" name="T409"/>
          <p:cNvSpPr/>
          <p:nvPr/>
        </p:nvSpPr>
        <p:spPr>
          <a:xfrm>
            <a:off x="3536600" y="3240000"/>
            <a:ext cx="22394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팀 Q/C 꾸준히 관리</a:t>
            </a:r>
          </a:p>
        </p:txBody>
      </p:sp>
      <p:sp>
        <p:nvSpPr>
          <p:cNvPr id="410" name="T410"/>
          <p:cNvSpPr/>
          <p:nvPr/>
        </p:nvSpPr>
        <p:spPr>
          <a:xfrm>
            <a:off x="3536600" y="394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3B82F6"/>
                </a:solidFill>
                <a:latin typeface="Pretendard"/>
                <a:ea typeface="Pretendard"/>
                <a:cs typeface="Pretendard"/>
              </a:rPr>
              <a:t>WIN</a:t>
            </a:r>
          </a:p>
        </p:txBody>
      </p:sp>
      <p:sp>
        <p:nvSpPr>
          <p:cNvPr id="411" name="T411"/>
          <p:cNvSpPr/>
          <p:nvPr/>
        </p:nvSpPr>
        <p:spPr>
          <a:xfrm>
            <a:off x="3536600" y="418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성장 가능성 높은 팀원에게 집중 투자</a:t>
            </a:r>
          </a:p>
        </p:txBody>
      </p:sp>
      <p:sp>
        <p:nvSpPr>
          <p:cNvPr id="412" name="T412"/>
          <p:cNvSpPr/>
          <p:nvPr/>
        </p:nvSpPr>
        <p:spPr>
          <a:xfrm>
            <a:off x="3536600" y="478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3B82F6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413" name="T413"/>
          <p:cNvSpPr/>
          <p:nvPr/>
        </p:nvSpPr>
        <p:spPr>
          <a:xfrm>
            <a:off x="3536600" y="502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퀄리파잉 진단 인원 직접 케어 · 재완·해명·여름 CUT로 주도권 확보</a:t>
            </a:r>
          </a:p>
        </p:txBody>
      </p:sp>
      <p:sp>
        <p:nvSpPr>
          <p:cNvPr id="414" name="C414"/>
          <p:cNvSpPr/>
          <p:nvPr/>
        </p:nvSpPr>
        <p:spPr>
          <a:xfrm>
            <a:off x="6216000" y="2620000"/>
            <a:ext cx="2639400" cy="3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415" name="B415"/>
          <p:cNvSpPr/>
          <p:nvPr/>
        </p:nvSpPr>
        <p:spPr>
          <a:xfrm>
            <a:off x="6416000" y="2820000"/>
            <a:ext cx="440000" cy="300000"/>
          </a:xfrm>
          <a:prstGeom prst="roundRect">
            <a:avLst>
              <a:gd name="adj" fmla="val 28000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16" name="T416"/>
          <p:cNvSpPr/>
          <p:nvPr/>
        </p:nvSpPr>
        <p:spPr>
          <a:xfrm>
            <a:off x="6416000" y="3240000"/>
            <a:ext cx="22394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팀원 인컴 증대</a:t>
            </a:r>
          </a:p>
        </p:txBody>
      </p:sp>
      <p:sp>
        <p:nvSpPr>
          <p:cNvPr id="417" name="T417"/>
          <p:cNvSpPr/>
          <p:nvPr/>
        </p:nvSpPr>
        <p:spPr>
          <a:xfrm>
            <a:off x="6416000" y="394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EA5EC1"/>
                </a:solidFill>
                <a:latin typeface="Pretendard"/>
                <a:ea typeface="Pretendard"/>
                <a:cs typeface="Pretendard"/>
              </a:rPr>
              <a:t>WIN</a:t>
            </a:r>
          </a:p>
        </p:txBody>
      </p:sp>
      <p:sp>
        <p:nvSpPr>
          <p:cNvPr id="418" name="T418"/>
          <p:cNvSpPr/>
          <p:nvPr/>
        </p:nvSpPr>
        <p:spPr>
          <a:xfrm>
            <a:off x="6416000" y="418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트레일워커 이벤트 현장에서 높은 성과</a:t>
            </a:r>
          </a:p>
        </p:txBody>
      </p:sp>
      <p:sp>
        <p:nvSpPr>
          <p:cNvPr id="419" name="T419"/>
          <p:cNvSpPr/>
          <p:nvPr/>
        </p:nvSpPr>
        <p:spPr>
          <a:xfrm>
            <a:off x="6416000" y="478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EA5EC1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420" name="T420"/>
          <p:cNvSpPr/>
          <p:nvPr/>
        </p:nvSpPr>
        <p:spPr>
          <a:xfrm>
            <a:off x="6416000" y="502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인컴 증대 + 뉴본드 시스템 체감</a:t>
            </a:r>
          </a:p>
        </p:txBody>
      </p:sp>
      <p:sp>
        <p:nvSpPr>
          <p:cNvPr id="421" name="C421"/>
          <p:cNvSpPr/>
          <p:nvPr/>
        </p:nvSpPr>
        <p:spPr>
          <a:xfrm>
            <a:off x="9095400" y="2620000"/>
            <a:ext cx="2639400" cy="3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422" name="B422"/>
          <p:cNvSpPr/>
          <p:nvPr/>
        </p:nvSpPr>
        <p:spPr>
          <a:xfrm>
            <a:off x="9295400" y="2820000"/>
            <a:ext cx="440000" cy="300000"/>
          </a:xfrm>
          <a:prstGeom prst="roundRect">
            <a:avLst>
              <a:gd name="adj" fmla="val 2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23" name="T423"/>
          <p:cNvSpPr/>
          <p:nvPr/>
        </p:nvSpPr>
        <p:spPr>
          <a:xfrm>
            <a:off x="9295400" y="3240000"/>
            <a:ext cx="22394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트레일워커 성공적 결과</a:t>
            </a:r>
          </a:p>
        </p:txBody>
      </p:sp>
      <p:sp>
        <p:nvSpPr>
          <p:cNvPr id="424" name="T424"/>
          <p:cNvSpPr/>
          <p:nvPr/>
        </p:nvSpPr>
        <p:spPr>
          <a:xfrm>
            <a:off x="9295400" y="394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WIN</a:t>
            </a:r>
          </a:p>
        </p:txBody>
      </p:sp>
      <p:sp>
        <p:nvSpPr>
          <p:cNvPr id="425" name="T425"/>
          <p:cNvSpPr/>
          <p:nvPr/>
        </p:nvSpPr>
        <p:spPr>
          <a:xfrm>
            <a:off x="9295400" y="418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브레인스토밍·사전 준비·그간의 경험치를 충실히 공유</a:t>
            </a:r>
          </a:p>
        </p:txBody>
      </p:sp>
      <p:sp>
        <p:nvSpPr>
          <p:cNvPr id="426" name="T426"/>
          <p:cNvSpPr/>
          <p:nvPr/>
        </p:nvSpPr>
        <p:spPr>
          <a:xfrm>
            <a:off x="9295400" y="478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427" name="T427"/>
          <p:cNvSpPr/>
          <p:nvPr/>
        </p:nvSpPr>
        <p:spPr>
          <a:xfrm>
            <a:off x="9295400" y="502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코어 간 본딩·분위기 강화 + 이벤트 긍정 경험치로 전략에 능한 팀으로 성장</a:t>
            </a:r>
          </a:p>
        </p:txBody>
      </p:sp>
      <p:sp>
        <p:nvSpPr>
          <p:cNvPr id="990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챌린지 &amp; 액션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 &amp; How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이달의 핵심 성과 및 실행전략 (2/2)</a:t>
            </a:r>
          </a:p>
        </p:txBody>
      </p:sp>
      <p:sp>
        <p:nvSpPr>
          <p:cNvPr id="500" name="C500"/>
          <p:cNvSpPr/>
          <p:nvPr/>
        </p:nvSpPr>
        <p:spPr>
          <a:xfrm>
            <a:off x="457200" y="2620000"/>
            <a:ext cx="2639400" cy="3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501" name="B501"/>
          <p:cNvSpPr/>
          <p:nvPr/>
        </p:nvSpPr>
        <p:spPr>
          <a:xfrm>
            <a:off x="657200" y="2820000"/>
            <a:ext cx="440000" cy="300000"/>
          </a:xfrm>
          <a:prstGeom prst="roundRect">
            <a:avLst>
              <a:gd name="adj" fmla="val 28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02" name="T502"/>
          <p:cNvSpPr/>
          <p:nvPr/>
        </p:nvSpPr>
        <p:spPr>
          <a:xfrm>
            <a:off x="657200" y="3240000"/>
            <a:ext cx="22394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당근 PR 스타터 → LR</a:t>
            </a:r>
          </a:p>
        </p:txBody>
      </p:sp>
      <p:sp>
        <p:nvSpPr>
          <p:cNvPr id="503" name="T503"/>
          <p:cNvSpPr/>
          <p:nvPr/>
        </p:nvSpPr>
        <p:spPr>
          <a:xfrm>
            <a:off x="657200" y="394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F59E0B"/>
                </a:solidFill>
                <a:latin typeface="Pretendard"/>
                <a:ea typeface="Pretendard"/>
                <a:cs typeface="Pretendard"/>
              </a:rPr>
              <a:t>WIN</a:t>
            </a:r>
          </a:p>
        </p:txBody>
      </p:sp>
      <p:sp>
        <p:nvSpPr>
          <p:cNvPr id="504" name="T504"/>
          <p:cNvSpPr/>
          <p:nvPr/>
        </p:nvSpPr>
        <p:spPr>
          <a:xfrm>
            <a:off x="657200" y="418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간승학 필드일수로 2주 내 리더 달성</a:t>
            </a:r>
          </a:p>
        </p:txBody>
      </p:sp>
      <p:sp>
        <p:nvSpPr>
          <p:cNvPr id="505" name="T505"/>
          <p:cNvSpPr/>
          <p:nvPr/>
        </p:nvSpPr>
        <p:spPr>
          <a:xfrm>
            <a:off x="657200" y="478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F59E0B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506" name="T506"/>
          <p:cNvSpPr/>
          <p:nvPr/>
        </p:nvSpPr>
        <p:spPr>
          <a:xfrm>
            <a:off x="657200" y="502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애매한 인원 CUT 후 집중 케어가 가능했던 결과</a:t>
            </a:r>
          </a:p>
        </p:txBody>
      </p:sp>
      <p:sp>
        <p:nvSpPr>
          <p:cNvPr id="507" name="C507"/>
          <p:cNvSpPr/>
          <p:nvPr/>
        </p:nvSpPr>
        <p:spPr>
          <a:xfrm>
            <a:off x="3336600" y="2620000"/>
            <a:ext cx="2639400" cy="3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508" name="B508"/>
          <p:cNvSpPr/>
          <p:nvPr/>
        </p:nvSpPr>
        <p:spPr>
          <a:xfrm>
            <a:off x="3536600" y="2820000"/>
            <a:ext cx="440000" cy="300000"/>
          </a:xfrm>
          <a:prstGeom prst="roundRect">
            <a:avLst>
              <a:gd name="adj" fmla="val 28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09" name="T509"/>
          <p:cNvSpPr/>
          <p:nvPr/>
        </p:nvSpPr>
        <p:spPr>
          <a:xfrm>
            <a:off x="3536600" y="3240000"/>
            <a:ext cx="22394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NO ZERO 300일 돌파</a:t>
            </a:r>
          </a:p>
        </p:txBody>
      </p:sp>
      <p:sp>
        <p:nvSpPr>
          <p:cNvPr id="510" name="T510"/>
          <p:cNvSpPr/>
          <p:nvPr/>
        </p:nvSpPr>
        <p:spPr>
          <a:xfrm>
            <a:off x="3536600" y="394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8B5CF6"/>
                </a:solidFill>
                <a:latin typeface="Pretendard"/>
                <a:ea typeface="Pretendard"/>
                <a:cs typeface="Pretendard"/>
              </a:rPr>
              <a:t>WIN</a:t>
            </a:r>
          </a:p>
        </p:txBody>
      </p:sp>
      <p:sp>
        <p:nvSpPr>
          <p:cNvPr id="511" name="T511"/>
          <p:cNvSpPr/>
          <p:nvPr/>
        </p:nvSpPr>
        <p:spPr>
          <a:xfrm>
            <a:off x="3536600" y="418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팀에 쉽게 0하지 않는 분위기를 주고자 함</a:t>
            </a:r>
          </a:p>
        </p:txBody>
      </p:sp>
      <p:sp>
        <p:nvSpPr>
          <p:cNvPr id="512" name="T512"/>
          <p:cNvSpPr/>
          <p:nvPr/>
        </p:nvSpPr>
        <p:spPr>
          <a:xfrm>
            <a:off x="3536600" y="478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8B5CF6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513" name="T513"/>
          <p:cNvSpPr/>
          <p:nvPr/>
        </p:nvSpPr>
        <p:spPr>
          <a:xfrm>
            <a:off x="3536600" y="502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리더가 더 많이 노력해 직접 증명</a:t>
            </a:r>
          </a:p>
        </p:txBody>
      </p:sp>
      <p:sp>
        <p:nvSpPr>
          <p:cNvPr id="514" name="C514"/>
          <p:cNvSpPr/>
          <p:nvPr/>
        </p:nvSpPr>
        <p:spPr>
          <a:xfrm>
            <a:off x="6216000" y="2620000"/>
            <a:ext cx="2639400" cy="3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515" name="B515"/>
          <p:cNvSpPr/>
          <p:nvPr/>
        </p:nvSpPr>
        <p:spPr>
          <a:xfrm>
            <a:off x="6416000" y="2820000"/>
            <a:ext cx="440000" cy="300000"/>
          </a:xfrm>
          <a:prstGeom prst="roundRect">
            <a:avLst>
              <a:gd name="adj" fmla="val 28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16" name="T516"/>
          <p:cNvSpPr/>
          <p:nvPr/>
        </p:nvSpPr>
        <p:spPr>
          <a:xfrm>
            <a:off x="6416000" y="3240000"/>
            <a:ext cx="22394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윤경·예진 B2B 세일즈 상승</a:t>
            </a:r>
          </a:p>
        </p:txBody>
      </p:sp>
      <p:sp>
        <p:nvSpPr>
          <p:cNvPr id="517" name="T517"/>
          <p:cNvSpPr/>
          <p:nvPr/>
        </p:nvSpPr>
        <p:spPr>
          <a:xfrm>
            <a:off x="6416000" y="394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06B6D4"/>
                </a:solidFill>
                <a:latin typeface="Pretendard"/>
                <a:ea typeface="Pretendard"/>
                <a:cs typeface="Pretendard"/>
              </a:rPr>
              <a:t>WIN</a:t>
            </a:r>
          </a:p>
        </p:txBody>
      </p:sp>
      <p:sp>
        <p:nvSpPr>
          <p:cNvPr id="518" name="T518"/>
          <p:cNvSpPr/>
          <p:nvPr/>
        </p:nvSpPr>
        <p:spPr>
          <a:xfrm>
            <a:off x="6416000" y="418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예승 리더님이 만들어준 기회</a:t>
            </a:r>
          </a:p>
        </p:txBody>
      </p:sp>
      <p:sp>
        <p:nvSpPr>
          <p:cNvPr id="519" name="T519"/>
          <p:cNvSpPr/>
          <p:nvPr/>
        </p:nvSpPr>
        <p:spPr>
          <a:xfrm>
            <a:off x="6416000" y="478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06B6D4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520" name="T520"/>
          <p:cNvSpPr/>
          <p:nvPr/>
        </p:nvSpPr>
        <p:spPr>
          <a:xfrm>
            <a:off x="6416000" y="502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잠실 유니세프 B2B 트레이닝 수료</a:t>
            </a:r>
          </a:p>
        </p:txBody>
      </p:sp>
      <p:sp>
        <p:nvSpPr>
          <p:cNvPr id="521" name="C521"/>
          <p:cNvSpPr/>
          <p:nvPr/>
        </p:nvSpPr>
        <p:spPr>
          <a:xfrm>
            <a:off x="9095400" y="2620000"/>
            <a:ext cx="2639400" cy="30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522" name="B522"/>
          <p:cNvSpPr/>
          <p:nvPr/>
        </p:nvSpPr>
        <p:spPr>
          <a:xfrm>
            <a:off x="9295400" y="2820000"/>
            <a:ext cx="440000" cy="300000"/>
          </a:xfrm>
          <a:prstGeom prst="roundRect">
            <a:avLst>
              <a:gd name="adj" fmla="val 28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23" name="T523"/>
          <p:cNvSpPr/>
          <p:nvPr/>
        </p:nvSpPr>
        <p:spPr>
          <a:xfrm>
            <a:off x="9295400" y="3240000"/>
            <a:ext cx="22394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ko-KR" altLang="en-US" sz="1300" b="1" dirty="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목표의식 UP · 세일즈 상승</a:t>
            </a:r>
          </a:p>
        </p:txBody>
      </p:sp>
      <p:sp>
        <p:nvSpPr>
          <p:cNvPr id="524" name="T524"/>
          <p:cNvSpPr/>
          <p:nvPr/>
        </p:nvSpPr>
        <p:spPr>
          <a:xfrm>
            <a:off x="9295400" y="394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EF4444"/>
                </a:solidFill>
                <a:latin typeface="Pretendard"/>
                <a:ea typeface="Pretendard"/>
                <a:cs typeface="Pretendard"/>
              </a:rPr>
              <a:t>WIN</a:t>
            </a:r>
          </a:p>
        </p:txBody>
      </p:sp>
      <p:sp>
        <p:nvSpPr>
          <p:cNvPr id="525" name="T525"/>
          <p:cNvSpPr/>
          <p:nvPr/>
        </p:nvSpPr>
        <p:spPr>
          <a:xfrm>
            <a:off x="9295400" y="418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홍대 미팅 참석 기회 확보</a:t>
            </a:r>
          </a:p>
        </p:txBody>
      </p:sp>
      <p:sp>
        <p:nvSpPr>
          <p:cNvPr id="526" name="T526"/>
          <p:cNvSpPr/>
          <p:nvPr/>
        </p:nvSpPr>
        <p:spPr>
          <a:xfrm>
            <a:off x="9295400" y="4780000"/>
            <a:ext cx="22394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00" b="1" dirty="0">
                <a:solidFill>
                  <a:srgbClr val="EF4444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527" name="T527"/>
          <p:cNvSpPr/>
          <p:nvPr/>
        </p:nvSpPr>
        <p:spPr>
          <a:xfrm>
            <a:off x="9295400" y="5020000"/>
            <a:ext cx="22394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98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참석: 재영·채영·예진·승학·승찬</a:t>
            </a:r>
          </a:p>
        </p:txBody>
      </p:sp>
      <p:sp>
        <p:nvSpPr>
          <p:cNvPr id="991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6월 Goal &amp; Plan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6월 Goal &amp; Action Plan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</a:t>
            </a: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목표 · Reward · Learning Plan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58568"/>
            <a:ext cx="11277295" cy="822960"/>
          </a:xfrm>
          <a:prstGeom prst="roundRect">
            <a:avLst>
              <a:gd name="adj" fmla="val 14444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 ZERO DAYS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2761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세일즈 · 컨시스턴시 · 팀 AVG 2.0 유지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412480" y="2313432"/>
            <a:ext cx="313639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549640" y="23317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6월 팀 목표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49640" y="25694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240pcs+ / ₩17,000,000</a:t>
            </a:r>
          </a:p>
        </p:txBody>
      </p:sp>
      <p:sp>
        <p:nvSpPr>
          <p:cNvPr id="13" name="Shape 10"/>
          <p:cNvSpPr/>
          <p:nvPr/>
        </p:nvSpPr>
        <p:spPr>
          <a:xfrm>
            <a:off x="457200" y="3172968"/>
            <a:ext cx="11277295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0080" y="33009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" y="3611880"/>
            <a:ext cx="91440" cy="9144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04672" y="35661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윤경·인선 TL 프로모션</a:t>
            </a:r>
          </a:p>
        </p:txBody>
      </p:sp>
      <p:sp>
        <p:nvSpPr>
          <p:cNvPr id="17" name="Shape 14"/>
          <p:cNvSpPr/>
          <p:nvPr/>
        </p:nvSpPr>
        <p:spPr>
          <a:xfrm>
            <a:off x="658368" y="38679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04672" y="38221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예진·승학 섹터 리더 도전</a:t>
            </a:r>
          </a:p>
        </p:txBody>
      </p:sp>
      <p:sp>
        <p:nvSpPr>
          <p:cNvPr id="19" name="Shape 16"/>
          <p:cNvSpPr/>
          <p:nvPr/>
        </p:nvSpPr>
        <p:spPr>
          <a:xfrm>
            <a:off x="658368" y="41239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04672" y="40782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 전원 리더힛 (하진·승찬·이수·영웅)</a:t>
            </a:r>
          </a:p>
        </p:txBody>
      </p:sp>
      <p:sp>
        <p:nvSpPr>
          <p:cNvPr id="21" name="Shape 18"/>
          <p:cNvSpPr/>
          <p:nvPr/>
        </p:nvSpPr>
        <p:spPr>
          <a:xfrm>
            <a:off x="658368" y="43799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804672" y="433425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콜링 주간 최소 15부킹 시도</a:t>
            </a:r>
          </a:p>
        </p:txBody>
      </p:sp>
      <p:sp>
        <p:nvSpPr>
          <p:cNvPr id="23" name="Shape 20"/>
          <p:cNvSpPr/>
          <p:nvPr/>
        </p:nvSpPr>
        <p:spPr>
          <a:xfrm>
            <a:off x="3547872" y="3264408"/>
            <a:ext cx="0" cy="13258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3730752" y="33009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749040" y="361188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3895344" y="356616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TL 프로모션 골 세팅 및 액션 점검</a:t>
            </a:r>
          </a:p>
        </p:txBody>
      </p:sp>
      <p:sp>
        <p:nvSpPr>
          <p:cNvPr id="27" name="Shape 24"/>
          <p:cNvSpPr/>
          <p:nvPr/>
        </p:nvSpPr>
        <p:spPr>
          <a:xfrm>
            <a:off x="3749040" y="38679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3895344" y="382219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 Test · 섹터 리딩 교육 실시</a:t>
            </a:r>
          </a:p>
        </p:txBody>
      </p:sp>
      <p:sp>
        <p:nvSpPr>
          <p:cNvPr id="29" name="Shape 26"/>
          <p:cNvSpPr/>
          <p:nvPr/>
        </p:nvSpPr>
        <p:spPr>
          <a:xfrm>
            <a:off x="3749040" y="4123944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3895344" y="4078224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 필드시간 확보 · 상위 리더와 리더힛 계획 수립</a:t>
            </a:r>
          </a:p>
        </p:txBody>
      </p:sp>
      <p:sp>
        <p:nvSpPr>
          <p:cNvPr id="31" name="Shape 28"/>
          <p:cNvSpPr/>
          <p:nvPr/>
        </p:nvSpPr>
        <p:spPr>
          <a:xfrm>
            <a:off x="3749040" y="43799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3895344" y="4334256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재영·채영 목표 달성 게이미피케이션 기획</a:t>
            </a:r>
          </a:p>
        </p:txBody>
      </p:sp>
      <p:sp>
        <p:nvSpPr>
          <p:cNvPr id="33" name="Shape 30"/>
          <p:cNvSpPr/>
          <p:nvPr/>
        </p:nvSpPr>
        <p:spPr>
          <a:xfrm>
            <a:off x="9345168" y="3264408"/>
            <a:ext cx="0" cy="13258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9509760" y="33009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Reward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9509760" y="3593592"/>
            <a:ext cx="1645920" cy="694944"/>
          </a:xfrm>
          <a:prstGeom prst="roundRect">
            <a:avLst>
              <a:gd name="adj" fmla="val 13158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9509760" y="3630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부모님</a:t>
            </a:r>
          </a:p>
        </p:txBody>
      </p:sp>
      <p:sp>
        <p:nvSpPr>
          <p:cNvPr id="37" name="Text 34"/>
          <p:cNvSpPr/>
          <p:nvPr/>
        </p:nvSpPr>
        <p:spPr>
          <a:xfrm>
            <a:off x="9509760" y="3922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💝</a:t>
            </a:r>
          </a:p>
        </p:txBody>
      </p:sp>
      <p:sp>
        <p:nvSpPr>
          <p:cNvPr id="38" name="Shape 35"/>
          <p:cNvSpPr/>
          <p:nvPr/>
        </p:nvSpPr>
        <p:spPr>
          <a:xfrm>
            <a:off x="457200" y="4861618"/>
            <a:ext cx="11277295" cy="1399032"/>
          </a:xfrm>
          <a:prstGeom prst="roundRect">
            <a:avLst>
              <a:gd name="adj" fmla="val 84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457200" y="4861618"/>
            <a:ext cx="11277295" cy="320040"/>
          </a:xfrm>
          <a:prstGeom prst="roundRect">
            <a:avLst>
              <a:gd name="adj" fmla="val 28571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457200" y="486161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Plan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85800" y="5245666"/>
            <a:ext cx="1371600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Networking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286000" y="5245666"/>
            <a:ext cx="9174175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런치 임재영–이성식리 팀 / 신재희–고윤경 · 오유림–손예진 · 최정우–윤채영  ·  티타임 이상훈·오진우 리더</a:t>
            </a:r>
          </a:p>
        </p:txBody>
      </p:sp>
      <p:sp>
        <p:nvSpPr>
          <p:cNvPr id="43" name="Shape 40"/>
          <p:cNvSpPr/>
          <p:nvPr/>
        </p:nvSpPr>
        <p:spPr>
          <a:xfrm>
            <a:off x="640080" y="544912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685800" y="5503984"/>
            <a:ext cx="1371600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Training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2286000" y="5503984"/>
            <a:ext cx="9174175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트레이닝 노트 작성해보기</a:t>
            </a:r>
          </a:p>
        </p:txBody>
      </p:sp>
      <p:sp>
        <p:nvSpPr>
          <p:cNvPr id="46" name="Shape 43"/>
          <p:cNvSpPr/>
          <p:nvPr/>
        </p:nvSpPr>
        <p:spPr>
          <a:xfrm>
            <a:off x="640080" y="5707438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685800" y="5762302"/>
            <a:ext cx="1371600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Reading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2286000" y="5762302"/>
            <a:ext cx="9174175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발타자르 그라시안 “완전한 인간”</a:t>
            </a:r>
          </a:p>
        </p:txBody>
      </p:sp>
      <p:sp>
        <p:nvSpPr>
          <p:cNvPr id="49" name="Shape 46"/>
          <p:cNvSpPr/>
          <p:nvPr/>
        </p:nvSpPr>
        <p:spPr>
          <a:xfrm>
            <a:off x="640080" y="5965756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685800" y="6020620"/>
            <a:ext cx="1371600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on 1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2286000" y="6020620"/>
            <a:ext cx="9174175" cy="16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임재영–이성식 (B2B 및 BOM 요청)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2064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267" dirty="0">
                <a:solidFill>
                  <a:srgbClr val="1C9C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PRESENCE · DAILY LOG</a:t>
            </a:r>
            <a:endParaRPr lang="en-US" sz="1467" dirty="0"/>
          </a:p>
        </p:txBody>
      </p:sp>
      <p:sp>
        <p:nvSpPr>
          <p:cNvPr id="3" name="Text 1"/>
          <p:cNvSpPr/>
          <p:nvPr/>
        </p:nvSpPr>
        <p:spPr>
          <a:xfrm>
            <a:off x="707136" y="829056"/>
            <a:ext cx="8534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4533" b="1" dirty="0">
                <a:solidFill>
                  <a:srgbClr val="0E3B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2026. 06. 12</a:t>
            </a:r>
            <a:r>
              <a:rPr lang="en-US" sz="2667" b="1" dirty="0">
                <a:solidFill>
                  <a:srgbClr val="8A9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(금)</a:t>
            </a:r>
            <a:endParaRPr lang="en-US" sz="4533" dirty="0"/>
          </a:p>
        </p:txBody>
      </p:sp>
      <p:sp>
        <p:nvSpPr>
          <p:cNvPr id="4" name="Text 2"/>
          <p:cNvSpPr/>
          <p:nvPr/>
        </p:nvSpPr>
        <p:spPr>
          <a:xfrm>
            <a:off x="7802880" y="670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33" b="1" dirty="0">
                <a:solidFill>
                  <a:srgbClr val="8A9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003 / 205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731520" y="1889760"/>
            <a:ext cx="2517648" cy="950976"/>
          </a:xfrm>
          <a:prstGeom prst="roundRect">
            <a:avLst>
              <a:gd name="adj" fmla="val 7692"/>
            </a:avLst>
          </a:prstGeom>
          <a:solidFill>
            <a:srgbClr val="F2F6F5"/>
          </a:solidFill>
          <a:ln w="12700">
            <a:solidFill>
              <a:srgbClr val="D7E1DE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926592" y="1987296"/>
            <a:ext cx="215188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C9C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3468624" y="1889760"/>
            <a:ext cx="2517648" cy="950976"/>
          </a:xfrm>
          <a:prstGeom prst="roundRect">
            <a:avLst>
              <a:gd name="adj" fmla="val 7692"/>
            </a:avLst>
          </a:prstGeom>
          <a:solidFill>
            <a:srgbClr val="F2F6F5"/>
          </a:solidFill>
          <a:ln w="12700">
            <a:solidFill>
              <a:srgbClr val="D7E1DE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Text 6"/>
          <p:cNvSpPr/>
          <p:nvPr/>
        </p:nvSpPr>
        <p:spPr>
          <a:xfrm>
            <a:off x="3663696" y="1987296"/>
            <a:ext cx="215188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C9C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섹터리더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6205728" y="1889760"/>
            <a:ext cx="2517648" cy="950976"/>
          </a:xfrm>
          <a:prstGeom prst="roundRect">
            <a:avLst>
              <a:gd name="adj" fmla="val 7692"/>
            </a:avLst>
          </a:prstGeom>
          <a:solidFill>
            <a:srgbClr val="F2F6F5"/>
          </a:solidFill>
          <a:ln w="12700">
            <a:solidFill>
              <a:srgbClr val="D7E1DE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"/>
          <p:cNvSpPr/>
          <p:nvPr/>
        </p:nvSpPr>
        <p:spPr>
          <a:xfrm>
            <a:off x="6400800" y="1987296"/>
            <a:ext cx="215188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C9C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필드인원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8942832" y="1889760"/>
            <a:ext cx="2517648" cy="950976"/>
          </a:xfrm>
          <a:prstGeom prst="roundRect">
            <a:avLst>
              <a:gd name="adj" fmla="val 7692"/>
            </a:avLst>
          </a:prstGeom>
          <a:solidFill>
            <a:srgbClr val="F2F6F5"/>
          </a:solidFill>
          <a:ln w="12700">
            <a:solidFill>
              <a:srgbClr val="D7E1DE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9137904" y="1987296"/>
            <a:ext cx="2151888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C9C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731520" y="3194304"/>
            <a:ext cx="10728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5875">
            <a:solidFill>
              <a:srgbClr val="D7E1DE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/>
          <p:nvPr/>
        </p:nvSpPr>
        <p:spPr>
          <a:xfrm>
            <a:off x="999744" y="3340608"/>
            <a:ext cx="10241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E3B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피드백</a:t>
            </a:r>
            <a:r>
              <a:rPr lang="en-US" sz="1467" dirty="0">
                <a:solidFill>
                  <a:srgbClr val="8A9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느낀점 · 특징 · 기억할 점</a:t>
            </a:r>
            <a:endParaRPr lang="en-US" sz="1867" dirty="0"/>
          </a:p>
        </p:txBody>
      </p:sp>
      <p:sp>
        <p:nvSpPr>
          <p:cNvPr id="15" name="Shape 13"/>
          <p:cNvSpPr/>
          <p:nvPr/>
        </p:nvSpPr>
        <p:spPr>
          <a:xfrm>
            <a:off x="1036320" y="4072128"/>
            <a:ext cx="10119360" cy="0"/>
          </a:xfrm>
          <a:prstGeom prst="line">
            <a:avLst/>
          </a:prstGeom>
          <a:noFill/>
          <a:ln w="12700">
            <a:solidFill>
              <a:srgbClr val="DCE5E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Shape 14"/>
          <p:cNvSpPr/>
          <p:nvPr/>
        </p:nvSpPr>
        <p:spPr>
          <a:xfrm>
            <a:off x="1036320" y="4559808"/>
            <a:ext cx="10119360" cy="0"/>
          </a:xfrm>
          <a:prstGeom prst="line">
            <a:avLst/>
          </a:prstGeom>
          <a:noFill/>
          <a:ln w="12700">
            <a:solidFill>
              <a:srgbClr val="DCE5E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Shape 15"/>
          <p:cNvSpPr/>
          <p:nvPr/>
        </p:nvSpPr>
        <p:spPr>
          <a:xfrm>
            <a:off x="1036320" y="5047488"/>
            <a:ext cx="10119360" cy="0"/>
          </a:xfrm>
          <a:prstGeom prst="line">
            <a:avLst/>
          </a:prstGeom>
          <a:noFill/>
          <a:ln w="12700">
            <a:solidFill>
              <a:srgbClr val="DCE5E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Shape 16"/>
          <p:cNvSpPr/>
          <p:nvPr/>
        </p:nvSpPr>
        <p:spPr>
          <a:xfrm>
            <a:off x="1036320" y="5535168"/>
            <a:ext cx="10119360" cy="0"/>
          </a:xfrm>
          <a:prstGeom prst="line">
            <a:avLst/>
          </a:prstGeom>
          <a:noFill/>
          <a:ln w="12700">
            <a:solidFill>
              <a:srgbClr val="DCE5E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Shape 17"/>
          <p:cNvSpPr/>
          <p:nvPr/>
        </p:nvSpPr>
        <p:spPr>
          <a:xfrm>
            <a:off x="1036320" y="6022848"/>
            <a:ext cx="10119360" cy="0"/>
          </a:xfrm>
          <a:prstGeom prst="line">
            <a:avLst/>
          </a:prstGeom>
          <a:noFill/>
          <a:ln w="12700">
            <a:solidFill>
              <a:srgbClr val="DCE5E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267" dirty="0">
                <a:solidFill>
                  <a:srgbClr val="7C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CALLBACK SHEET</a:t>
            </a:r>
            <a:endParaRPr lang="en-US" sz="1467" dirty="0"/>
          </a:p>
        </p:txBody>
      </p:sp>
      <p:sp>
        <p:nvSpPr>
          <p:cNvPr id="3" name="Text 1"/>
          <p:cNvSpPr/>
          <p:nvPr/>
        </p:nvSpPr>
        <p:spPr>
          <a:xfrm>
            <a:off x="707136" y="87782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3467" b="1" dirty="0">
                <a:solidFill>
                  <a:srgbClr val="0E3B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콜백싯 </a:t>
            </a:r>
            <a:r>
              <a:rPr lang="en-US" sz="2133" dirty="0">
                <a:solidFill>
                  <a:srgbClr val="8A9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2026. 06. 12 (금)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731520" y="1889760"/>
            <a:ext cx="10728960" cy="4328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22225">
            <a:solidFill>
              <a:srgbClr val="7C6FB0"/>
            </a:solidFill>
            <a:prstDash val="dash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Shape 3"/>
          <p:cNvSpPr/>
          <p:nvPr/>
        </p:nvSpPr>
        <p:spPr>
          <a:xfrm>
            <a:off x="5340096" y="2987040"/>
            <a:ext cx="1511808" cy="1146048"/>
          </a:xfrm>
          <a:prstGeom prst="roundRect">
            <a:avLst>
              <a:gd name="adj" fmla="val 7447"/>
            </a:avLst>
          </a:prstGeom>
          <a:solidFill>
            <a:srgbClr val="E9F0EE"/>
          </a:solidFill>
          <a:ln w="19050">
            <a:solidFill>
              <a:srgbClr val="7C6FB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4"/>
          <p:cNvSpPr/>
          <p:nvPr/>
        </p:nvSpPr>
        <p:spPr>
          <a:xfrm>
            <a:off x="5632704" y="3206496"/>
            <a:ext cx="292608" cy="292608"/>
          </a:xfrm>
          <a:prstGeom prst="ellipse">
            <a:avLst/>
          </a:prstGeom>
          <a:solidFill>
            <a:srgbClr val="E2A33B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5"/>
          <p:cNvSpPr/>
          <p:nvPr/>
        </p:nvSpPr>
        <p:spPr>
          <a:xfrm>
            <a:off x="5535168" y="3694176"/>
            <a:ext cx="1121664" cy="219456"/>
          </a:xfrm>
          <a:prstGeom prst="roundRect">
            <a:avLst>
              <a:gd name="adj" fmla="val 50000"/>
            </a:avLst>
          </a:prstGeom>
          <a:solidFill>
            <a:srgbClr val="1C9C8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6"/>
          <p:cNvSpPr/>
          <p:nvPr/>
        </p:nvSpPr>
        <p:spPr>
          <a:xfrm>
            <a:off x="6437376" y="3596640"/>
            <a:ext cx="560832" cy="560832"/>
          </a:xfrm>
          <a:prstGeom prst="ellipse">
            <a:avLst/>
          </a:prstGeom>
          <a:solidFill>
            <a:srgbClr val="7C6FB0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7"/>
          <p:cNvSpPr/>
          <p:nvPr/>
        </p:nvSpPr>
        <p:spPr>
          <a:xfrm>
            <a:off x="6681216" y="3718560"/>
            <a:ext cx="73152" cy="3169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6559296" y="3840480"/>
            <a:ext cx="316992" cy="731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9"/>
          <p:cNvSpPr/>
          <p:nvPr/>
        </p:nvSpPr>
        <p:spPr>
          <a:xfrm>
            <a:off x="731520" y="432816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E3B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콜백싯을 붙여넣어 주세요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731520" y="4840224"/>
            <a:ext cx="10728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33" dirty="0">
                <a:solidFill>
                  <a:srgbClr val="8A9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삽입 → 이 영역에 맞춰 콜백싯 사진 / 스캔본을 올려주세요</a:t>
            </a:r>
            <a:endParaRPr lang="en-US" sz="1533" dirty="0"/>
          </a:p>
        </p:txBody>
      </p:sp>
      <p:sp>
        <p:nvSpPr>
          <p:cNvPr id="13" name="Text 11"/>
          <p:cNvSpPr/>
          <p:nvPr/>
        </p:nvSpPr>
        <p:spPr>
          <a:xfrm>
            <a:off x="731520" y="636422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8A9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콜백싯 원본을 촬영하거나 스캔해 위 영역에 첨부하세요.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리쿠르팅 &amp; H/C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 IN &amp; OUT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IC 합류 · 프로모션 · 터미네이션 주간 흐름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76856"/>
            <a:ext cx="11277295" cy="621792"/>
          </a:xfrm>
          <a:prstGeom prst="roundRect">
            <a:avLst>
              <a:gd name="adj" fmla="val 14706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57200" y="227685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Ending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103120" y="2276856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H/C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834640" y="227685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IC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35040" y="227685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Promotion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0" y="227685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520440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57200" y="289864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04.26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03120" y="2898648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834640" y="289864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35040" y="28986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0" y="289864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11277295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57200" y="4142232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457200" y="352044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103120" y="352044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2834640" y="35204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35040" y="352044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229600" y="35204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4764024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57200" y="414223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05.10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103120" y="4142232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2834640" y="414223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035040" y="414223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229600" y="414223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" y="4764024"/>
            <a:ext cx="11277295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457200" y="5385816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457200" y="476402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05.17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2103120" y="4764024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2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</a:rPr>
              <a:t>9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2834640" y="476402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간승학</a:t>
            </a:r>
            <a:r>
              <a:rPr lang="en-US" altLang="ko-KR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박재완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035040" y="476402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229600" y="476402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57200" y="6007608"/>
            <a:ext cx="1127729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457200" y="538581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05.24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2103120" y="5385816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2834640" y="538581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/>
              <a:t>박해명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035040" y="538581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8229600" y="538581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박재완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57200" y="6172200"/>
            <a:ext cx="11277295" cy="45720"/>
          </a:xfrm>
          <a:prstGeom prst="roundRect">
            <a:avLst>
              <a:gd name="adj" fmla="val 260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Presence Team Tree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팀 조직도 · 임재영 AOP 포함 활동가 10명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746064" y="620877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4012688" y="6172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AOP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612688" y="620877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5879312" y="6172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LR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7479312" y="620877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9050">
            <a:solidFill>
              <a:srgbClr val="60A5F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7745936" y="6172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</a:t>
            </a:r>
            <a:endParaRPr lang="en-US" sz="950" dirty="0"/>
          </a:p>
        </p:txBody>
      </p:sp>
      <p:sp>
        <p:nvSpPr>
          <p:cNvPr id="300" name="N300"/>
          <p:cNvSpPr/>
          <p:nvPr/>
        </p:nvSpPr>
        <p:spPr>
          <a:xfrm>
            <a:off x="5411000" y="2231136"/>
            <a:ext cx="1370000" cy="440000"/>
          </a:xfrm>
          <a:prstGeom prst="roundRect">
            <a:avLst>
              <a:gd name="adj" fmla="val 13000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AOP</a:t>
            </a:r>
            <a:endParaRPr lang="ko-KR" altLang="en-US" sz="1100" dirty="0"/>
          </a:p>
        </p:txBody>
      </p:sp>
      <p:sp>
        <p:nvSpPr>
          <p:cNvPr id="301" name="L301"/>
          <p:cNvSpPr/>
          <p:nvPr/>
        </p:nvSpPr>
        <p:spPr>
          <a:xfrm>
            <a:off x="6096000" y="2671136"/>
            <a:ext cx="0" cy="30743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2" name="L302"/>
          <p:cNvSpPr/>
          <p:nvPr/>
        </p:nvSpPr>
        <p:spPr>
          <a:xfrm>
            <a:off x="3816000" y="2978568"/>
            <a:ext cx="6080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3" name="L303"/>
          <p:cNvSpPr/>
          <p:nvPr/>
        </p:nvSpPr>
        <p:spPr>
          <a:xfrm>
            <a:off x="3816000" y="2978568"/>
            <a:ext cx="0" cy="30743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4" name="L304"/>
          <p:cNvSpPr/>
          <p:nvPr/>
        </p:nvSpPr>
        <p:spPr>
          <a:xfrm>
            <a:off x="6856000" y="2978568"/>
            <a:ext cx="0" cy="30743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5" name="L305"/>
          <p:cNvSpPr/>
          <p:nvPr/>
        </p:nvSpPr>
        <p:spPr>
          <a:xfrm>
            <a:off x="8376000" y="2978568"/>
            <a:ext cx="0" cy="30743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6" name="L306"/>
          <p:cNvSpPr/>
          <p:nvPr/>
        </p:nvSpPr>
        <p:spPr>
          <a:xfrm>
            <a:off x="9896000" y="2978568"/>
            <a:ext cx="0" cy="30743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7" name="N307"/>
          <p:cNvSpPr/>
          <p:nvPr/>
        </p:nvSpPr>
        <p:spPr>
          <a:xfrm>
            <a:off x="3131000" y="3286000"/>
            <a:ext cx="1370000" cy="440000"/>
          </a:xfrm>
          <a:prstGeom prst="roundRect">
            <a:avLst>
              <a:gd name="adj" fmla="val 13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고윤경 LR</a:t>
            </a:r>
            <a:endParaRPr lang="ko-KR" altLang="en-US" sz="1100" dirty="0"/>
          </a:p>
        </p:txBody>
      </p:sp>
      <p:sp>
        <p:nvSpPr>
          <p:cNvPr id="308" name="N308"/>
          <p:cNvSpPr/>
          <p:nvPr/>
        </p:nvSpPr>
        <p:spPr>
          <a:xfrm>
            <a:off x="6171000" y="3286000"/>
            <a:ext cx="1370000" cy="440000"/>
          </a:xfrm>
          <a:prstGeom prst="roundRect">
            <a:avLst>
              <a:gd name="adj" fmla="val 13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박인선 LR</a:t>
            </a:r>
            <a:endParaRPr lang="ko-KR" altLang="en-US" sz="1100" dirty="0"/>
          </a:p>
        </p:txBody>
      </p:sp>
      <p:sp>
        <p:nvSpPr>
          <p:cNvPr id="309" name="N309"/>
          <p:cNvSpPr/>
          <p:nvPr/>
        </p:nvSpPr>
        <p:spPr>
          <a:xfrm>
            <a:off x="7691000" y="3286000"/>
            <a:ext cx="1370000" cy="440000"/>
          </a:xfrm>
          <a:prstGeom prst="roundRect">
            <a:avLst>
              <a:gd name="adj" fmla="val 13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윤채영 LR</a:t>
            </a:r>
            <a:endParaRPr lang="ko-KR" altLang="en-US" sz="1100" dirty="0"/>
          </a:p>
        </p:txBody>
      </p:sp>
      <p:sp>
        <p:nvSpPr>
          <p:cNvPr id="310" name="N310"/>
          <p:cNvSpPr/>
          <p:nvPr/>
        </p:nvSpPr>
        <p:spPr>
          <a:xfrm>
            <a:off x="9211000" y="3286000"/>
            <a:ext cx="1370000" cy="440000"/>
          </a:xfrm>
          <a:prstGeom prst="roundRect">
            <a:avLst>
              <a:gd name="adj" fmla="val 13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간승학 LR</a:t>
            </a:r>
            <a:endParaRPr lang="ko-KR" altLang="en-US" sz="1100" dirty="0"/>
          </a:p>
        </p:txBody>
      </p:sp>
      <p:sp>
        <p:nvSpPr>
          <p:cNvPr id="311" name="L311"/>
          <p:cNvSpPr/>
          <p:nvPr/>
        </p:nvSpPr>
        <p:spPr>
          <a:xfrm>
            <a:off x="3816000" y="3726000"/>
            <a:ext cx="0" cy="3075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2" name="L312"/>
          <p:cNvSpPr/>
          <p:nvPr/>
        </p:nvSpPr>
        <p:spPr>
          <a:xfrm>
            <a:off x="2296000" y="4033500"/>
            <a:ext cx="3040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3" name="L313"/>
          <p:cNvSpPr/>
          <p:nvPr/>
        </p:nvSpPr>
        <p:spPr>
          <a:xfrm>
            <a:off x="2296000" y="4033500"/>
            <a:ext cx="0" cy="3075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4" name="N314"/>
          <p:cNvSpPr/>
          <p:nvPr/>
        </p:nvSpPr>
        <p:spPr>
          <a:xfrm>
            <a:off x="1611000" y="4341000"/>
            <a:ext cx="1370000" cy="440000"/>
          </a:xfrm>
          <a:prstGeom prst="roundRect">
            <a:avLst>
              <a:gd name="adj" fmla="val 13000"/>
            </a:avLst>
          </a:prstGeom>
          <a:solidFill>
            <a:srgbClr val="EFF6FF"/>
          </a:solidFill>
          <a:ln w="19050">
            <a:solidFill>
              <a:srgbClr val="60A5FA"/>
            </a:solidFill>
            <a:prstDash val="dash"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김하진 IC</a:t>
            </a:r>
            <a:endParaRPr lang="ko-KR" altLang="en-US" sz="1100" dirty="0"/>
          </a:p>
        </p:txBody>
      </p:sp>
      <p:sp>
        <p:nvSpPr>
          <p:cNvPr id="315" name="L315"/>
          <p:cNvSpPr/>
          <p:nvPr/>
        </p:nvSpPr>
        <p:spPr>
          <a:xfrm>
            <a:off x="3816000" y="4033500"/>
            <a:ext cx="0" cy="3075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6" name="N316"/>
          <p:cNvSpPr/>
          <p:nvPr/>
        </p:nvSpPr>
        <p:spPr>
          <a:xfrm>
            <a:off x="3131000" y="4341000"/>
            <a:ext cx="1370000" cy="440000"/>
          </a:xfrm>
          <a:prstGeom prst="roundRect">
            <a:avLst>
              <a:gd name="adj" fmla="val 13000"/>
            </a:avLst>
          </a:prstGeom>
          <a:solidFill>
            <a:srgbClr val="EFF6FF"/>
          </a:solidFill>
          <a:ln w="19050">
            <a:solidFill>
              <a:srgbClr val="60A5FA"/>
            </a:solidFill>
            <a:prstDash val="dash"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권영웅 IC</a:t>
            </a:r>
            <a:endParaRPr lang="ko-KR" altLang="en-US" sz="1100" dirty="0"/>
          </a:p>
        </p:txBody>
      </p:sp>
      <p:sp>
        <p:nvSpPr>
          <p:cNvPr id="317" name="L317"/>
          <p:cNvSpPr/>
          <p:nvPr/>
        </p:nvSpPr>
        <p:spPr>
          <a:xfrm>
            <a:off x="5336000" y="4033500"/>
            <a:ext cx="0" cy="3075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8" name="N318"/>
          <p:cNvSpPr/>
          <p:nvPr/>
        </p:nvSpPr>
        <p:spPr>
          <a:xfrm>
            <a:off x="4651000" y="4341000"/>
            <a:ext cx="1370000" cy="440000"/>
          </a:xfrm>
          <a:prstGeom prst="roundRect">
            <a:avLst>
              <a:gd name="adj" fmla="val 13000"/>
            </a:avLst>
          </a:prstGeom>
          <a:solidFill>
            <a:srgbClr val="EFF6FF"/>
          </a:solidFill>
          <a:ln w="19050">
            <a:solidFill>
              <a:srgbClr val="60A5FA"/>
            </a:solidFill>
            <a:prstDash val="dash"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최이수 IC</a:t>
            </a:r>
            <a:endParaRPr lang="ko-KR" altLang="en-US" sz="1100" dirty="0"/>
          </a:p>
        </p:txBody>
      </p:sp>
      <p:sp>
        <p:nvSpPr>
          <p:cNvPr id="319" name="L319"/>
          <p:cNvSpPr/>
          <p:nvPr/>
        </p:nvSpPr>
        <p:spPr>
          <a:xfrm>
            <a:off x="6856000" y="3726000"/>
            <a:ext cx="0" cy="6150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0" name="N320"/>
          <p:cNvSpPr/>
          <p:nvPr/>
        </p:nvSpPr>
        <p:spPr>
          <a:xfrm>
            <a:off x="6171000" y="4341000"/>
            <a:ext cx="1370000" cy="440000"/>
          </a:xfrm>
          <a:prstGeom prst="roundRect">
            <a:avLst>
              <a:gd name="adj" fmla="val 13000"/>
            </a:avLst>
          </a:prstGeom>
          <a:solidFill>
            <a:srgbClr val="EFF6FF"/>
          </a:solidFill>
          <a:ln w="19050">
            <a:solidFill>
              <a:srgbClr val="60A5FA"/>
            </a:solidFill>
            <a:prstDash val="dash"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나승찬 IC</a:t>
            </a:r>
            <a:endParaRPr lang="ko-KR" altLang="en-US" sz="1100" dirty="0"/>
          </a:p>
        </p:txBody>
      </p:sp>
      <p:sp>
        <p:nvSpPr>
          <p:cNvPr id="321" name="L321"/>
          <p:cNvSpPr/>
          <p:nvPr/>
        </p:nvSpPr>
        <p:spPr>
          <a:xfrm>
            <a:off x="8376000" y="3726000"/>
            <a:ext cx="0" cy="6150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2" name="N322"/>
          <p:cNvSpPr/>
          <p:nvPr/>
        </p:nvSpPr>
        <p:spPr>
          <a:xfrm>
            <a:off x="7691000" y="4341000"/>
            <a:ext cx="1370000" cy="440000"/>
          </a:xfrm>
          <a:prstGeom prst="roundRect">
            <a:avLst>
              <a:gd name="adj" fmla="val 13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 wrap="square" lIns="36000" tIns="0" rIns="3600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손예진 LR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프로모션 계획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성장 &amp; 프로모션 계획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altLang="ko-KR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</a:t>
            </a:r>
            <a:r>
              <a:rPr lang="en-US" altLang="ko-KR" sz="16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</a:t>
            </a:r>
            <a:r>
              <a:rPr lang="en-US" altLang="ko-KR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스타터</a:t>
            </a:r>
            <a:r>
              <a:rPr lang="ko-KR" alt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공급 및 </a:t>
            </a: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 </a:t>
            </a:r>
            <a:r>
              <a:rPr lang="en-US" altLang="ko-KR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-&gt; Leader Hit </a:t>
            </a:r>
            <a:r>
              <a:rPr lang="ko-KR" alt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 </a:t>
            </a:r>
            <a:r>
              <a:rPr lang="en-US" sz="16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리테인</a:t>
            </a: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258568"/>
            <a:ext cx="11277295" cy="1005840"/>
          </a:xfrm>
          <a:prstGeom prst="roundRect">
            <a:avLst>
              <a:gd name="adj" fmla="val 1181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2350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확장 비전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LR이상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인원들이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독립 팀을 이끌 수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있도록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가이드제공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IC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공급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LR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프로모션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빌더</a:t>
            </a: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401568"/>
            <a:ext cx="367985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0080" y="3547872"/>
            <a:ext cx="3314090" cy="274320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40080" y="3547872"/>
            <a:ext cx="331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임재영 AOP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922776"/>
            <a:ext cx="3314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4105656"/>
            <a:ext cx="331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주에 최소 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r>
              <a:rPr lang="ko-KR" alt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부킹</a:t>
            </a: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</a:t>
            </a: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당근 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r>
              <a:rPr lang="ko-KR" alt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부킹</a:t>
            </a: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목표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" y="4535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04672" y="4462272"/>
            <a:ext cx="31769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</a:t>
            </a: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Fist </a:t>
            </a:r>
            <a:r>
              <a:rPr lang="ko-KR" alt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 직접 양육 및 팀원에게 </a:t>
            </a:r>
            <a:r>
              <a:rPr lang="en-US" altLang="ko-KR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</a:t>
            </a:r>
            <a:r>
              <a:rPr lang="en-US" altLang="ko-KR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공급</a:t>
            </a:r>
            <a:endParaRPr lang="en-US" altLang="ko-KR" sz="1000" dirty="0">
              <a:solidFill>
                <a:srgbClr val="45515E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948330" y="3538728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2948330" y="35387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⏱ 2년 </a:t>
            </a:r>
            <a:r>
              <a:rPr lang="en-US" altLang="ko-KR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개월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55922" y="3401568"/>
            <a:ext cx="367985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438802" y="3547872"/>
            <a:ext cx="3314090" cy="274320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4438802" y="3547872"/>
            <a:ext cx="331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고윤경 LR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38802" y="3922776"/>
            <a:ext cx="3314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438802" y="4105656"/>
            <a:ext cx="331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김하진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IC → LR 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New </a:t>
            </a:r>
            <a:r>
              <a:rPr lang="en-US" altLang="ko-KR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스타터</a:t>
            </a: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주내 </a:t>
            </a:r>
            <a:r>
              <a:rPr lang="ko-KR" alt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리더힛</a:t>
            </a: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전략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457090" y="4535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603394" y="4462272"/>
            <a:ext cx="31769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Ic</a:t>
            </a:r>
            <a:r>
              <a:rPr lang="en-US" altLang="ko-KR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ko-KR" alt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스타터</a:t>
            </a:r>
            <a:r>
              <a:rPr lang="ko-KR" alt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altLang="ko-KR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2</a:t>
            </a:r>
            <a:r>
              <a:rPr lang="ko-KR" alt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주차에 </a:t>
            </a:r>
            <a:r>
              <a:rPr lang="ko-KR" alt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트립운영</a:t>
            </a:r>
            <a:r>
              <a:rPr lang="ko-KR" alt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747053" y="3538728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6747053" y="35387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⏱ </a:t>
            </a:r>
            <a:r>
              <a:rPr lang="en-US" altLang="ko-KR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개월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054645" y="3401568"/>
            <a:ext cx="367985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8237525" y="3547872"/>
            <a:ext cx="3314090" cy="274320"/>
          </a:xfrm>
          <a:prstGeom prst="roundRect">
            <a:avLst>
              <a:gd name="adj" fmla="val 26667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8237525" y="3547872"/>
            <a:ext cx="3314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윤채영 TL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237525" y="3922776"/>
            <a:ext cx="33140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237525" y="4105656"/>
            <a:ext cx="331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</a:t>
            </a:r>
            <a:r>
              <a:rPr 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빌더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예진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new First 1 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</a:t>
            </a:r>
            <a:r>
              <a:rPr lang="en-US" sz="105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255813" y="4535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8402117" y="4462272"/>
            <a:ext cx="31769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당근</a:t>
            </a: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이외에도</a:t>
            </a: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스트릿</a:t>
            </a: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</a:t>
            </a:r>
            <a:r>
              <a:rPr 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콜링병행</a:t>
            </a: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0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예정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545775" y="3538728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10545775" y="35387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⏱ </a:t>
            </a:r>
            <a:r>
              <a:rPr lang="en-US" altLang="ko-KR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r>
              <a:rPr lang="en-US" sz="10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개월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57200" y="5074920"/>
            <a:ext cx="11277295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685800" y="5184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IC 유입 전략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85800" y="5513832"/>
            <a:ext cx="2636444" cy="612648"/>
          </a:xfrm>
          <a:prstGeom prst="roundRect">
            <a:avLst>
              <a:gd name="adj" fmla="val 1492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822960" y="5550408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당근마켓 PR + SNS 주 5회 이상 부킹 관리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3505124" y="5513832"/>
            <a:ext cx="2636444" cy="612648"/>
          </a:xfrm>
          <a:prstGeom prst="roundRect">
            <a:avLst>
              <a:gd name="adj" fmla="val 1492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3642284" y="5550408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 err="1"/>
              <a:t>팀내</a:t>
            </a:r>
            <a:r>
              <a:rPr lang="en-US" sz="1050" dirty="0"/>
              <a:t> </a:t>
            </a:r>
            <a:r>
              <a:rPr lang="en-US" sz="1050" dirty="0" err="1"/>
              <a:t>피알방</a:t>
            </a:r>
            <a:r>
              <a:rPr lang="en-US" sz="1050" dirty="0"/>
              <a:t> </a:t>
            </a:r>
            <a:r>
              <a:rPr lang="en-US" sz="1050" dirty="0" err="1"/>
              <a:t>개설</a:t>
            </a:r>
            <a:r>
              <a:rPr lang="en-US" altLang="ko-KR" sz="1050" dirty="0"/>
              <a:t>! </a:t>
            </a:r>
            <a:r>
              <a:rPr lang="en-US" sz="105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 err="1"/>
              <a:t>주간목표</a:t>
            </a:r>
            <a:r>
              <a:rPr lang="en-US" sz="1050" dirty="0"/>
              <a:t> </a:t>
            </a:r>
            <a:r>
              <a:rPr lang="en-US" sz="1050" dirty="0" err="1"/>
              <a:t>달성도</a:t>
            </a:r>
            <a:r>
              <a:rPr lang="en-US" sz="1050" dirty="0"/>
              <a:t> </a:t>
            </a:r>
            <a:r>
              <a:rPr lang="en-US" sz="1050" dirty="0" err="1"/>
              <a:t>체크</a:t>
            </a:r>
            <a:r>
              <a:rPr lang="en-US" sz="1050" dirty="0"/>
              <a:t> </a:t>
            </a:r>
            <a:r>
              <a:rPr lang="en-US" sz="1050" dirty="0" err="1"/>
              <a:t>동기부여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324448" y="5513832"/>
            <a:ext cx="2636444" cy="612648"/>
          </a:xfrm>
          <a:prstGeom prst="roundRect">
            <a:avLst>
              <a:gd name="adj" fmla="val 1492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6461608" y="5550408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마지막주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팀나잇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등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액티비티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</a:rPr>
              <a:t>계획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9143771" y="5513832"/>
            <a:ext cx="2636444" cy="612648"/>
          </a:xfrm>
          <a:prstGeom prst="roundRect">
            <a:avLst>
              <a:gd name="adj" fmla="val 14925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9280931" y="5550408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LR별 최소 1명 이상 신규 IC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트레이닝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있도록</a:t>
            </a: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서포팅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034" y="164592"/>
            <a:ext cx="721462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1371600" y="333756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Presence Team · 임재영 AOP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828800" y="4023360"/>
            <a:ext cx="8534095" cy="1737360"/>
          </a:xfrm>
          <a:prstGeom prst="roundRect">
            <a:avLst>
              <a:gd name="adj" fmla="val 9474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2103120" y="41879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212pcs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103120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세일즈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06240" y="41879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₩15,467,822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206240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실인컴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09360" y="41879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AVG 1.7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309360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월간 AVG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41879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128명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412480" y="4846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Field H/C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1639</Words>
  <Application>Microsoft Macintosh PowerPoint</Application>
  <PresentationFormat>와이드스크린</PresentationFormat>
  <Paragraphs>572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Pretendard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Jaeyoung Lim</cp:lastModifiedBy>
  <cp:revision>4</cp:revision>
  <dcterms:created xsi:type="dcterms:W3CDTF">2026-05-09T11:42:34Z</dcterms:created>
  <dcterms:modified xsi:type="dcterms:W3CDTF">2026-06-13T00:14:43Z</dcterms:modified>
</cp:coreProperties>
</file>